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NGX-F215</a:t>
            </a:r>
            <a:r>
              <a:rPr lang="en-US" dirty="0"/>
              <a:t>343</a:t>
            </a:r>
            <a:r>
              <a:rPr dirty="0"/>
              <a:t>: Prescription Claims &amp; Compliance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Definition &amp; Compliance Risks</a:t>
            </a:r>
          </a:p>
          <a:p>
            <a:r>
              <a:t>Prepared by Lead Solutions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Context: Carved-out RX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Integration &amp; display logic issues with CVS Consolidated Claims service</a:t>
            </a:r>
          </a:p>
          <a:p>
            <a:r>
              <a:rPr dirty="0"/>
              <a:t>Key challenge: Show prescription claims only within valid coverage windows</a:t>
            </a:r>
          </a:p>
          <a:p>
            <a:r>
              <a:rPr dirty="0"/>
              <a:t>Impacts 5 key integrations (PLP, PDB, </a:t>
            </a:r>
            <a:r>
              <a:rPr dirty="0" err="1"/>
              <a:t>PlaceOrder</a:t>
            </a:r>
            <a:r>
              <a:rPr dirty="0"/>
              <a:t>, Ship Consent, i90) across </a:t>
            </a:r>
            <a:r>
              <a:rPr lang="en-US" dirty="0"/>
              <a:t>multiple</a:t>
            </a:r>
            <a:r>
              <a:rPr dirty="0"/>
              <a:t> APIs</a:t>
            </a:r>
          </a:p>
          <a:p>
            <a:r>
              <a:rPr dirty="0"/>
              <a:t>High compliance stakes due to Medicaid carve-out rules in states like North Carolina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Consolidated Claims API Flow – Current vs Enhanced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Current: 2-year lookback period regardless of policy start date</a:t>
            </a:r>
          </a:p>
          <a:p>
            <a:r>
              <a:t>Risk: Displays claims prior to member’s effective coverage date</a:t>
            </a:r>
          </a:p>
          <a:p>
            <a:r>
              <a:t>Proposed enhancement: Restrict fromDate using policy effectiveDatetimeBegin</a:t>
            </a:r>
          </a:p>
          <a:p>
            <a:r>
              <a:t>Business impact: Improves accuracy, prevents pre-coverage claims display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Compliance Gap: CVS getClaimsHistory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Returns claims outside membership effective dates</a:t>
            </a:r>
          </a:p>
          <a:p>
            <a:r>
              <a:t>Exposes non-compliant data → privacy &amp; governance violation</a:t>
            </a:r>
          </a:p>
          <a:p>
            <a:r>
              <a:t>Membership effective dates ignored: effectiveDatetimeBegin &amp; End not applied</a:t>
            </a:r>
          </a:p>
          <a:p>
            <a:r>
              <a:t>High priority fix needed at pharmacyclaims service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Critical Risk: Prescription Summary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Returns ALL prescription history with no effective date filtering</a:t>
            </a:r>
          </a:p>
          <a:p>
            <a:r>
              <a:rPr dirty="0"/>
              <a:t>Unlimited exposure of historical data regardless of coverage period</a:t>
            </a:r>
          </a:p>
          <a:p>
            <a:r>
              <a:rPr dirty="0"/>
              <a:t>Violates compliance obligations</a:t>
            </a:r>
          </a:p>
          <a:p>
            <a:r>
              <a:rPr dirty="0"/>
              <a:t>Urgent fix required: filter prescriptions using membership effective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Compliance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Non-compliant data exposure creates HIPAA risk and legal liability</a:t>
            </a:r>
          </a:p>
          <a:p>
            <a:r>
              <a:t>Undermines member trust by exposing data outside valid coverage</a:t>
            </a:r>
          </a:p>
          <a:p>
            <a:r>
              <a:t>Increases risk of regulatory audit failure</a:t>
            </a:r>
          </a:p>
          <a:p>
            <a:r>
              <a:t>Inconsistent logic across services complicates governance and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Framing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Multiple APIs (</a:t>
            </a:r>
            <a:r>
              <a:rPr dirty="0" err="1"/>
              <a:t>ConsolidatedClaims</a:t>
            </a:r>
            <a:r>
              <a:rPr dirty="0"/>
              <a:t>, </a:t>
            </a:r>
            <a:r>
              <a:rPr dirty="0" err="1"/>
              <a:t>getClaimsHistory</a:t>
            </a:r>
            <a:r>
              <a:rPr dirty="0"/>
              <a:t>, Prescription Summary) fail to enforce coverage dates</a:t>
            </a:r>
          </a:p>
          <a:p>
            <a:r>
              <a:rPr dirty="0"/>
              <a:t>Urgent compliance exposure across prescription access flows</a:t>
            </a:r>
          </a:p>
          <a:p>
            <a:r>
              <a:rPr dirty="0"/>
              <a:t>Need for consistent eligibility and </a:t>
            </a:r>
            <a:r>
              <a:t>filtering logic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 Options &amp; Proposed Remediation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Options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Objective: Ensure prescription claim visibility aligns with membership effective dates</a:t>
            </a:r>
          </a:p>
          <a:p>
            <a:r>
              <a:t>Approaches evaluated: Centralized Service vs Distributed Validation</a:t>
            </a:r>
          </a:p>
          <a:p>
            <a:r>
              <a:t>Focus: Compliance, consistency, scalability, and maintainability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Option 1: Centralized Eligibility &amp; Display Logic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Middleware service between front-end apps and CVS Consolidated Claims API</a:t>
            </a:r>
          </a:p>
          <a:p>
            <a:r>
              <a:rPr dirty="0"/>
              <a:t>Evaluates attestation flags, plan effective dates, carve-out status</a:t>
            </a:r>
          </a:p>
          <a:p>
            <a:r>
              <a:rPr dirty="0"/>
              <a:t>Provides standardized, filtered responses to 5 key integrations</a:t>
            </a:r>
          </a:p>
          <a:p>
            <a:r>
              <a:rPr dirty="0"/>
              <a:t>Benefits: Consistency, simplified governance, centralized compliance control</a:t>
            </a:r>
          </a:p>
          <a:p>
            <a:r>
              <a:rPr dirty="0"/>
              <a:t>Risks: Single point of dependency, requires robust SLAs &amp;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Option 2: Distributed Validation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Shared validation module embedded in each front-end system</a:t>
            </a:r>
          </a:p>
          <a:p>
            <a:r>
              <a:rPr dirty="0"/>
              <a:t>Each integration applies rules for effective dates and carve-ou</a:t>
            </a:r>
            <a:r>
              <a:rPr sz="2800" dirty="0"/>
              <a:t>t</a:t>
            </a:r>
            <a:r>
              <a:rPr dirty="0"/>
              <a:t> checks</a:t>
            </a:r>
          </a:p>
          <a:p>
            <a:r>
              <a:rPr dirty="0"/>
              <a:t>Benefits: Faster independent team delivery, less central infrastructure overhead</a:t>
            </a:r>
          </a:p>
          <a:p>
            <a:r>
              <a:rPr dirty="0"/>
              <a:t>Risks: Higher risk of divergence, inconsistent compliance behavior over time</a:t>
            </a:r>
          </a:p>
          <a:p>
            <a:r>
              <a:rPr dirty="0"/>
              <a:t>Requires rigorous version control and regression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Recommended Approach: Centralized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Centralized gatekeeper ensures consistent application of compliance rules</a:t>
            </a:r>
          </a:p>
          <a:p>
            <a:r>
              <a:t>Simplifies maintenance – rule updates applied once, across all APIs</a:t>
            </a:r>
          </a:p>
          <a:p>
            <a:r>
              <a:t>Supports long-term scalability and auditability</a:t>
            </a:r>
          </a:p>
          <a:p>
            <a:r>
              <a:t>Backed by AWS-native services (Lambda, API Gateway, DynamoDB, ElastiCache)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Phase 1: Stand up centralized eligibility service with basic filtering rules</a:t>
            </a:r>
          </a:p>
          <a:p>
            <a:r>
              <a:rPr dirty="0"/>
              <a:t>Phase 2: Integrate with PLP, PDB, </a:t>
            </a:r>
            <a:r>
              <a:rPr dirty="0" err="1"/>
              <a:t>PlaceOrder</a:t>
            </a:r>
            <a:r>
              <a:rPr dirty="0"/>
              <a:t>, Ship Consent, i90 APIs</a:t>
            </a:r>
          </a:p>
          <a:p>
            <a:r>
              <a:rPr dirty="0"/>
              <a:t>Phase 3</a:t>
            </a:r>
            <a:r>
              <a:rPr lang="en-US" dirty="0"/>
              <a:t> (optional)</a:t>
            </a:r>
            <a:r>
              <a:rPr dirty="0"/>
              <a:t>: Add caching, observability, and audit logging</a:t>
            </a:r>
          </a:p>
          <a:p>
            <a:r>
              <a:rPr dirty="0"/>
              <a:t>Phase 4: Validate compliance with legal/privacy stakeholders &amp; security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Compliance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dirty="0"/>
              <a:t>Eliminates exposure of claims outside valid coverage </a:t>
            </a:r>
            <a:r>
              <a:rPr sz="2600" dirty="0"/>
              <a:t>periods</a:t>
            </a:r>
          </a:p>
          <a:p>
            <a:pPr lvl="1"/>
            <a:r>
              <a:rPr dirty="0"/>
              <a:t>Meets </a:t>
            </a:r>
            <a:r>
              <a:rPr lang="en-US" dirty="0"/>
              <a:t>compliance </a:t>
            </a:r>
            <a:r>
              <a:rPr dirty="0"/>
              <a:t>requirements</a:t>
            </a:r>
          </a:p>
          <a:p>
            <a:pPr lvl="1"/>
            <a:r>
              <a:rPr lang="en-US"/>
              <a:t>E</a:t>
            </a:r>
            <a:r>
              <a:t>nsur</a:t>
            </a:r>
            <a:r>
              <a:rPr lang="en-US"/>
              <a:t>es</a:t>
            </a:r>
            <a:r>
              <a:t> </a:t>
            </a:r>
            <a:r>
              <a:rPr dirty="0"/>
              <a:t>data integrity</a:t>
            </a:r>
          </a:p>
          <a:p>
            <a:pPr lvl="1"/>
            <a:r>
              <a:rPr dirty="0"/>
              <a:t>Improves maintainability with centralized rules engine</a:t>
            </a:r>
          </a:p>
          <a:p>
            <a:pPr lvl="1"/>
            <a:r>
              <a:rPr dirty="0"/>
              <a:t>Positions Aetna/CVS for rapid response to future Medicaid carve-out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554</Words>
  <Application>Microsoft Office PowerPoint</Application>
  <PresentationFormat>On-screen Show (4:3)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NGX-F215343: Prescription Claims &amp; Compliance Challenges</vt:lpstr>
      <vt:lpstr>Problem Context: Carved-out RX Access</vt:lpstr>
      <vt:lpstr>Consolidated Claims API Flow – Current vs Enhanced</vt:lpstr>
      <vt:lpstr>Compliance Gap: CVS getClaimsHistory</vt:lpstr>
      <vt:lpstr>Critical Risk: Prescription Summary API</vt:lpstr>
      <vt:lpstr>Business &amp; Compliance Impact</vt:lpstr>
      <vt:lpstr>Framing the Problem</vt:lpstr>
      <vt:lpstr>Solution Options &amp; Proposed Remediation</vt:lpstr>
      <vt:lpstr>Solution Options Overview</vt:lpstr>
      <vt:lpstr>Option 1: Centralized Eligibility &amp; Display Logic Service</vt:lpstr>
      <vt:lpstr>Option 2: Distributed Validation Libraries</vt:lpstr>
      <vt:lpstr>Recommended Approach: Centralized Service</vt:lpstr>
      <vt:lpstr>Implementation Roadmap</vt:lpstr>
      <vt:lpstr>Business &amp; Compliance 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Amram Dworkin</cp:lastModifiedBy>
  <cp:revision>4</cp:revision>
  <dcterms:created xsi:type="dcterms:W3CDTF">2013-01-27T09:14:16Z</dcterms:created>
  <dcterms:modified xsi:type="dcterms:W3CDTF">2025-10-02T14:21:15Z</dcterms:modified>
  <cp:category/>
</cp:coreProperties>
</file>