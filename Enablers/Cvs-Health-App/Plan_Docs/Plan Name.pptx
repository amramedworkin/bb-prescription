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bookmarkIdSeed="5">
  <p:sldMasterIdLst>
    <p:sldMasterId id="2147483658" r:id="rId5"/>
  </p:sldMasterIdLst>
  <p:notesMasterIdLst>
    <p:notesMasterId r:id="rId31"/>
  </p:notesMasterIdLst>
  <p:sldIdLst>
    <p:sldId id="256" r:id="rId6"/>
    <p:sldId id="310" r:id="rId7"/>
    <p:sldId id="259" r:id="rId8"/>
    <p:sldId id="261" r:id="rId9"/>
    <p:sldId id="296" r:id="rId10"/>
    <p:sldId id="301" r:id="rId11"/>
    <p:sldId id="302" r:id="rId12"/>
    <p:sldId id="303" r:id="rId13"/>
    <p:sldId id="304" r:id="rId14"/>
    <p:sldId id="305" r:id="rId15"/>
    <p:sldId id="262" r:id="rId16"/>
    <p:sldId id="298" r:id="rId17"/>
    <p:sldId id="308" r:id="rId18"/>
    <p:sldId id="300" r:id="rId19"/>
    <p:sldId id="309" r:id="rId20"/>
    <p:sldId id="297" r:id="rId21"/>
    <p:sldId id="307" r:id="rId22"/>
    <p:sldId id="286" r:id="rId23"/>
    <p:sldId id="287" r:id="rId24"/>
    <p:sldId id="288" r:id="rId25"/>
    <p:sldId id="293" r:id="rId26"/>
    <p:sldId id="294" r:id="rId27"/>
    <p:sldId id="295" r:id="rId28"/>
    <p:sldId id="264" r:id="rId29"/>
    <p:sldId id="279" r:id="rId30"/>
  </p:sldIdLst>
  <p:sldSz cx="9144000" cy="5143500" type="screen16x9"/>
  <p:notesSz cx="7023100" cy="93091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1C9E6A-B29C-448D-A07B-5274A5CED596}">
  <a:tblStyle styleId="{B21C9E6A-B29C-448D-A07B-5274A5CED596}"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705" autoAdjust="0"/>
  </p:normalViewPr>
  <p:slideViewPr>
    <p:cSldViewPr>
      <p:cViewPr varScale="1">
        <p:scale>
          <a:sx n="144" d="100"/>
          <a:sy n="144" d="100"/>
        </p:scale>
        <p:origin x="654" y="12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2310" y="4421823"/>
            <a:ext cx="5618480" cy="4189095"/>
          </a:xfrm>
          <a:prstGeom prst="rect">
            <a:avLst/>
          </a:prstGeom>
          <a:noFill/>
          <a:ln>
            <a:noFill/>
          </a:ln>
        </p:spPr>
        <p:txBody>
          <a:bodyPr spcFirstLastPara="1" wrap="square" lIns="93034" tIns="93034" rIns="93034" bIns="93034"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46489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35f391192_00:notes"/>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g35f391192_00:notes"/>
          <p:cNvSpPr txBox="1">
            <a:spLocks noGrp="1"/>
          </p:cNvSpPr>
          <p:nvPr>
            <p:ph type="body" idx="1"/>
          </p:nvPr>
        </p:nvSpPr>
        <p:spPr>
          <a:xfrm>
            <a:off x="702310" y="4421823"/>
            <a:ext cx="5618480" cy="4189095"/>
          </a:xfrm>
          <a:prstGeom prst="rect">
            <a:avLst/>
          </a:prstGeom>
        </p:spPr>
        <p:txBody>
          <a:bodyPr spcFirstLastPara="1" wrap="square" lIns="93034" tIns="93034" rIns="93034" bIns="93034" anchor="t" anchorCtr="0">
            <a:noAutofit/>
          </a:bodyPr>
          <a:lstStyle/>
          <a:p>
            <a:pPr marL="0" indent="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f391192_029:notes"/>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f391192_029:notes"/>
          <p:cNvSpPr txBox="1">
            <a:spLocks noGrp="1"/>
          </p:cNvSpPr>
          <p:nvPr>
            <p:ph type="body" idx="1"/>
          </p:nvPr>
        </p:nvSpPr>
        <p:spPr>
          <a:xfrm>
            <a:off x="702310" y="4421823"/>
            <a:ext cx="5618480" cy="4189095"/>
          </a:xfrm>
          <a:prstGeom prst="rect">
            <a:avLst/>
          </a:prstGeom>
        </p:spPr>
        <p:txBody>
          <a:bodyPr spcFirstLastPara="1" wrap="square" lIns="93034" tIns="93034" rIns="93034" bIns="93034" anchor="t" anchorCtr="0">
            <a:noAutofit/>
          </a:bodyPr>
          <a:lstStyle/>
          <a:p>
            <a:pPr marL="0" indent="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702310" y="4421823"/>
            <a:ext cx="5618480" cy="4189095"/>
          </a:xfrm>
          <a:prstGeom prst="rect">
            <a:avLst/>
          </a:prstGeom>
        </p:spPr>
        <p:txBody>
          <a:bodyPr spcFirstLastPara="1" wrap="square" lIns="93034" tIns="93034" rIns="93034" bIns="93034" anchor="t" anchorCtr="0">
            <a:noAutofit/>
          </a:bodyPr>
          <a:lstStyle/>
          <a:p>
            <a:pPr marL="0" indent="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5ed75ccf_015:notes"/>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5ed75ccf_015:notes"/>
          <p:cNvSpPr txBox="1">
            <a:spLocks noGrp="1"/>
          </p:cNvSpPr>
          <p:nvPr>
            <p:ph type="body" idx="1"/>
          </p:nvPr>
        </p:nvSpPr>
        <p:spPr>
          <a:xfrm>
            <a:off x="702310" y="4421823"/>
            <a:ext cx="5618480" cy="4189095"/>
          </a:xfrm>
          <a:prstGeom prst="rect">
            <a:avLst/>
          </a:prstGeom>
        </p:spPr>
        <p:txBody>
          <a:bodyPr spcFirstLastPara="1" wrap="square" lIns="93034" tIns="93034" rIns="93034" bIns="93034" anchor="t" anchorCtr="0">
            <a:noAutofit/>
          </a:bodyPr>
          <a:lstStyle/>
          <a:p>
            <a:pPr marL="0" indent="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f391192_029:notes"/>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f391192_029:notes"/>
          <p:cNvSpPr txBox="1">
            <a:spLocks noGrp="1"/>
          </p:cNvSpPr>
          <p:nvPr>
            <p:ph type="body" idx="1"/>
          </p:nvPr>
        </p:nvSpPr>
        <p:spPr>
          <a:xfrm>
            <a:off x="702310" y="4421823"/>
            <a:ext cx="5618480" cy="4189095"/>
          </a:xfrm>
          <a:prstGeom prst="rect">
            <a:avLst/>
          </a:prstGeom>
        </p:spPr>
        <p:txBody>
          <a:bodyPr spcFirstLastPara="1" wrap="square" lIns="93034" tIns="93034" rIns="93034" bIns="93034" anchor="t" anchorCtr="0">
            <a:noAutofit/>
          </a:bodyPr>
          <a:lstStyle/>
          <a:p>
            <a:pPr marL="0" indent="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5f391192_045:notes"/>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5f391192_045:notes"/>
          <p:cNvSpPr txBox="1">
            <a:spLocks noGrp="1"/>
          </p:cNvSpPr>
          <p:nvPr>
            <p:ph type="body" idx="1"/>
          </p:nvPr>
        </p:nvSpPr>
        <p:spPr>
          <a:xfrm>
            <a:off x="702310" y="4421823"/>
            <a:ext cx="5618480" cy="4189095"/>
          </a:xfrm>
          <a:prstGeom prst="rect">
            <a:avLst/>
          </a:prstGeom>
        </p:spPr>
        <p:txBody>
          <a:bodyPr spcFirstLastPara="1" wrap="square" lIns="93034" tIns="93034" rIns="93034" bIns="93034" anchor="t" anchorCtr="0">
            <a:noAutofit/>
          </a:bodyPr>
          <a:lstStyle/>
          <a:p>
            <a:pPr marL="0" indent="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5ed75ccf_022:notes"/>
          <p:cNvSpPr>
            <a:spLocks noGrp="1" noRot="1" noChangeAspect="1"/>
          </p:cNvSpPr>
          <p:nvPr>
            <p:ph type="sldImg" idx="2"/>
          </p:nvPr>
        </p:nvSpPr>
        <p:spPr>
          <a:xfrm>
            <a:off x="409575"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5ed75ccf_022:notes"/>
          <p:cNvSpPr txBox="1">
            <a:spLocks noGrp="1"/>
          </p:cNvSpPr>
          <p:nvPr>
            <p:ph type="body" idx="1"/>
          </p:nvPr>
        </p:nvSpPr>
        <p:spPr>
          <a:xfrm>
            <a:off x="702310" y="4421823"/>
            <a:ext cx="5618480" cy="4189095"/>
          </a:xfrm>
          <a:prstGeom prst="rect">
            <a:avLst/>
          </a:prstGeom>
        </p:spPr>
        <p:txBody>
          <a:bodyPr spcFirstLastPara="1" wrap="square" lIns="93034" tIns="93034" rIns="93034" bIns="93034" anchor="t" anchorCtr="0">
            <a:noAutofit/>
          </a:bodyPr>
          <a:lstStyle/>
          <a:p>
            <a:pPr marL="0" indent="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815525" y="1991825"/>
            <a:ext cx="5585400" cy="1159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b="0"/>
            </a:lvl1pPr>
            <a:lvl2pPr lvl="1">
              <a:spcBef>
                <a:spcPts val="0"/>
              </a:spcBef>
              <a:spcAft>
                <a:spcPts val="0"/>
              </a:spcAft>
              <a:buSzPts val="6000"/>
              <a:buNone/>
              <a:defRPr sz="6000" b="0"/>
            </a:lvl2pPr>
            <a:lvl3pPr lvl="2">
              <a:spcBef>
                <a:spcPts val="0"/>
              </a:spcBef>
              <a:spcAft>
                <a:spcPts val="0"/>
              </a:spcAft>
              <a:buSzPts val="6000"/>
              <a:buNone/>
              <a:defRPr sz="6000" b="0"/>
            </a:lvl3pPr>
            <a:lvl4pPr lvl="3">
              <a:spcBef>
                <a:spcPts val="0"/>
              </a:spcBef>
              <a:spcAft>
                <a:spcPts val="0"/>
              </a:spcAft>
              <a:buSzPts val="6000"/>
              <a:buNone/>
              <a:defRPr sz="6000" b="0"/>
            </a:lvl4pPr>
            <a:lvl5pPr lvl="4">
              <a:spcBef>
                <a:spcPts val="0"/>
              </a:spcBef>
              <a:spcAft>
                <a:spcPts val="0"/>
              </a:spcAft>
              <a:buSzPts val="6000"/>
              <a:buNone/>
              <a:defRPr sz="6000" b="0"/>
            </a:lvl5pPr>
            <a:lvl6pPr lvl="5">
              <a:spcBef>
                <a:spcPts val="0"/>
              </a:spcBef>
              <a:spcAft>
                <a:spcPts val="0"/>
              </a:spcAft>
              <a:buSzPts val="6000"/>
              <a:buNone/>
              <a:defRPr sz="6000" b="0"/>
            </a:lvl6pPr>
            <a:lvl7pPr lvl="6">
              <a:spcBef>
                <a:spcPts val="0"/>
              </a:spcBef>
              <a:spcAft>
                <a:spcPts val="0"/>
              </a:spcAft>
              <a:buSzPts val="6000"/>
              <a:buNone/>
              <a:defRPr sz="6000" b="0"/>
            </a:lvl7pPr>
            <a:lvl8pPr lvl="7">
              <a:spcBef>
                <a:spcPts val="0"/>
              </a:spcBef>
              <a:spcAft>
                <a:spcPts val="0"/>
              </a:spcAft>
              <a:buSzPts val="6000"/>
              <a:buNone/>
              <a:defRPr sz="6000" b="0"/>
            </a:lvl8pPr>
            <a:lvl9pPr lvl="8">
              <a:spcBef>
                <a:spcPts val="0"/>
              </a:spcBef>
              <a:spcAft>
                <a:spcPts val="0"/>
              </a:spcAft>
              <a:buSzPts val="6000"/>
              <a:buNone/>
              <a:defRPr sz="6000" b="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821551" y="1507150"/>
            <a:ext cx="55008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b="0"/>
            </a:lvl1pPr>
            <a:lvl2pPr lvl="1" rtl="0">
              <a:spcBef>
                <a:spcPts val="0"/>
              </a:spcBef>
              <a:spcAft>
                <a:spcPts val="0"/>
              </a:spcAft>
              <a:buSzPts val="4800"/>
              <a:buNone/>
              <a:defRPr sz="4800" b="0"/>
            </a:lvl2pPr>
            <a:lvl3pPr lvl="2" rtl="0">
              <a:spcBef>
                <a:spcPts val="0"/>
              </a:spcBef>
              <a:spcAft>
                <a:spcPts val="0"/>
              </a:spcAft>
              <a:buSzPts val="4800"/>
              <a:buNone/>
              <a:defRPr sz="4800" b="0"/>
            </a:lvl3pPr>
            <a:lvl4pPr lvl="3" rtl="0">
              <a:spcBef>
                <a:spcPts val="0"/>
              </a:spcBef>
              <a:spcAft>
                <a:spcPts val="0"/>
              </a:spcAft>
              <a:buSzPts val="4800"/>
              <a:buNone/>
              <a:defRPr sz="4800" b="0"/>
            </a:lvl4pPr>
            <a:lvl5pPr lvl="4" rtl="0">
              <a:spcBef>
                <a:spcPts val="0"/>
              </a:spcBef>
              <a:spcAft>
                <a:spcPts val="0"/>
              </a:spcAft>
              <a:buSzPts val="4800"/>
              <a:buNone/>
              <a:defRPr sz="4800" b="0"/>
            </a:lvl5pPr>
            <a:lvl6pPr lvl="5" rtl="0">
              <a:spcBef>
                <a:spcPts val="0"/>
              </a:spcBef>
              <a:spcAft>
                <a:spcPts val="0"/>
              </a:spcAft>
              <a:buSzPts val="4800"/>
              <a:buNone/>
              <a:defRPr sz="4800" b="0"/>
            </a:lvl6pPr>
            <a:lvl7pPr lvl="6" rtl="0">
              <a:spcBef>
                <a:spcPts val="0"/>
              </a:spcBef>
              <a:spcAft>
                <a:spcPts val="0"/>
              </a:spcAft>
              <a:buSzPts val="4800"/>
              <a:buNone/>
              <a:defRPr sz="4800" b="0"/>
            </a:lvl7pPr>
            <a:lvl8pPr lvl="7" rtl="0">
              <a:spcBef>
                <a:spcPts val="0"/>
              </a:spcBef>
              <a:spcAft>
                <a:spcPts val="0"/>
              </a:spcAft>
              <a:buSzPts val="4800"/>
              <a:buNone/>
              <a:defRPr sz="4800" b="0"/>
            </a:lvl8pPr>
            <a:lvl9pPr lvl="8" rtl="0">
              <a:spcBef>
                <a:spcPts val="0"/>
              </a:spcBef>
              <a:spcAft>
                <a:spcPts val="0"/>
              </a:spcAft>
              <a:buSzPts val="4800"/>
              <a:buNone/>
              <a:defRPr sz="4800" b="0"/>
            </a:lvl9pPr>
          </a:lstStyle>
          <a:p>
            <a:endParaRPr/>
          </a:p>
        </p:txBody>
      </p:sp>
      <p:sp>
        <p:nvSpPr>
          <p:cNvPr id="13" name="Google Shape;13;p3"/>
          <p:cNvSpPr txBox="1">
            <a:spLocks noGrp="1"/>
          </p:cNvSpPr>
          <p:nvPr>
            <p:ph type="subTitle" idx="1"/>
          </p:nvPr>
        </p:nvSpPr>
        <p:spPr>
          <a:xfrm>
            <a:off x="1821551" y="2535254"/>
            <a:ext cx="55008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400"/>
              <a:buNone/>
              <a:defRPr>
                <a:solidFill>
                  <a:schemeClr val="dk2"/>
                </a:solidFill>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14" name="Google Shape;14;p3"/>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1049501" y="796175"/>
            <a:ext cx="7020900" cy="7503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1" name="Google Shape;21;p5"/>
          <p:cNvSpPr txBox="1">
            <a:spLocks noGrp="1"/>
          </p:cNvSpPr>
          <p:nvPr>
            <p:ph type="body" idx="1"/>
          </p:nvPr>
        </p:nvSpPr>
        <p:spPr>
          <a:xfrm>
            <a:off x="1049501" y="1437426"/>
            <a:ext cx="7020900" cy="27069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22" name="Google Shape;22;p5"/>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1049501" y="796175"/>
            <a:ext cx="7020900" cy="7503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6"/>
          <p:cNvSpPr txBox="1">
            <a:spLocks noGrp="1"/>
          </p:cNvSpPr>
          <p:nvPr>
            <p:ph type="body" idx="1"/>
          </p:nvPr>
        </p:nvSpPr>
        <p:spPr>
          <a:xfrm>
            <a:off x="1049501" y="1459650"/>
            <a:ext cx="3417900" cy="27504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26" name="Google Shape;26;p6"/>
          <p:cNvSpPr txBox="1">
            <a:spLocks noGrp="1"/>
          </p:cNvSpPr>
          <p:nvPr>
            <p:ph type="body" idx="2"/>
          </p:nvPr>
        </p:nvSpPr>
        <p:spPr>
          <a:xfrm>
            <a:off x="4676725" y="1459650"/>
            <a:ext cx="3393600" cy="27504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27" name="Google Shape;27;p6"/>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049501" y="796175"/>
            <a:ext cx="7020900" cy="750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 name="Google Shape;30;p7"/>
          <p:cNvSpPr txBox="1">
            <a:spLocks noGrp="1"/>
          </p:cNvSpPr>
          <p:nvPr>
            <p:ph type="body" idx="1"/>
          </p:nvPr>
        </p:nvSpPr>
        <p:spPr>
          <a:xfrm>
            <a:off x="1081851" y="1435525"/>
            <a:ext cx="2229300" cy="2847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1" name="Google Shape;31;p7"/>
          <p:cNvSpPr txBox="1">
            <a:spLocks noGrp="1"/>
          </p:cNvSpPr>
          <p:nvPr>
            <p:ph type="body" idx="2"/>
          </p:nvPr>
        </p:nvSpPr>
        <p:spPr>
          <a:xfrm>
            <a:off x="3425301" y="1435525"/>
            <a:ext cx="2229300" cy="2847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2" name="Google Shape;32;p7"/>
          <p:cNvSpPr txBox="1">
            <a:spLocks noGrp="1"/>
          </p:cNvSpPr>
          <p:nvPr>
            <p:ph type="body" idx="3"/>
          </p:nvPr>
        </p:nvSpPr>
        <p:spPr>
          <a:xfrm>
            <a:off x="5768751" y="1435525"/>
            <a:ext cx="2229300" cy="2847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3" name="Google Shape;33;p7"/>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
        <p:nvSpPr>
          <p:cNvPr id="41" name="Google Shape;41;p10"/>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8">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49501" y="796175"/>
            <a:ext cx="7020900" cy="7503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1pPr>
            <a:lvl2pPr lvl="1">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2pPr>
            <a:lvl3pPr lvl="2">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3pPr>
            <a:lvl4pPr lvl="3">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4pPr>
            <a:lvl5pPr lvl="4">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5pPr>
            <a:lvl6pPr lvl="5">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6pPr>
            <a:lvl7pPr lvl="6">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7pPr>
            <a:lvl8pPr lvl="7">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8pPr>
            <a:lvl9pPr lvl="8">
              <a:spcBef>
                <a:spcPts val="0"/>
              </a:spcBef>
              <a:spcAft>
                <a:spcPts val="0"/>
              </a:spcAft>
              <a:buClr>
                <a:srgbClr val="2A95B7"/>
              </a:buClr>
              <a:buSzPts val="3000"/>
              <a:buFont typeface="Patrick Hand SC"/>
              <a:buNone/>
              <a:defRPr sz="3000" b="1">
                <a:solidFill>
                  <a:srgbClr val="2A95B7"/>
                </a:solidFill>
                <a:latin typeface="Patrick Hand SC"/>
                <a:ea typeface="Patrick Hand SC"/>
                <a:cs typeface="Patrick Hand SC"/>
                <a:sym typeface="Patrick Hand SC"/>
              </a:defRPr>
            </a:lvl9pPr>
          </a:lstStyle>
          <a:p>
            <a:endParaRPr/>
          </a:p>
        </p:txBody>
      </p:sp>
      <p:sp>
        <p:nvSpPr>
          <p:cNvPr id="7" name="Google Shape;7;p1"/>
          <p:cNvSpPr txBox="1">
            <a:spLocks noGrp="1"/>
          </p:cNvSpPr>
          <p:nvPr>
            <p:ph type="body" idx="1"/>
          </p:nvPr>
        </p:nvSpPr>
        <p:spPr>
          <a:xfrm>
            <a:off x="1049501" y="1437426"/>
            <a:ext cx="7020900" cy="27069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rgbClr val="2A95B7"/>
              </a:buClr>
              <a:buSzPts val="2400"/>
              <a:buFont typeface="Sniglet"/>
              <a:buChar char="+"/>
              <a:defRPr sz="2400">
                <a:solidFill>
                  <a:srgbClr val="434343"/>
                </a:solidFill>
                <a:latin typeface="Sniglet"/>
                <a:ea typeface="Sniglet"/>
                <a:cs typeface="Sniglet"/>
                <a:sym typeface="Sniglet"/>
              </a:defRPr>
            </a:lvl1pPr>
            <a:lvl2pPr marL="914400" lvl="1" indent="-381000">
              <a:spcBef>
                <a:spcPts val="0"/>
              </a:spcBef>
              <a:spcAft>
                <a:spcPts val="0"/>
              </a:spcAft>
              <a:buClr>
                <a:srgbClr val="2A95B7"/>
              </a:buClr>
              <a:buSzPts val="2400"/>
              <a:buFont typeface="Sniglet"/>
              <a:buChar char="+"/>
              <a:defRPr sz="2400">
                <a:solidFill>
                  <a:srgbClr val="434343"/>
                </a:solidFill>
                <a:latin typeface="Sniglet"/>
                <a:ea typeface="Sniglet"/>
                <a:cs typeface="Sniglet"/>
                <a:sym typeface="Sniglet"/>
              </a:defRPr>
            </a:lvl2pPr>
            <a:lvl3pPr marL="1371600" lvl="2" indent="-381000">
              <a:spcBef>
                <a:spcPts val="0"/>
              </a:spcBef>
              <a:spcAft>
                <a:spcPts val="0"/>
              </a:spcAft>
              <a:buClr>
                <a:srgbClr val="2A95B7"/>
              </a:buClr>
              <a:buSzPts val="2400"/>
              <a:buFont typeface="Sniglet"/>
              <a:buChar char="+"/>
              <a:defRPr sz="2400">
                <a:solidFill>
                  <a:srgbClr val="434343"/>
                </a:solidFill>
                <a:latin typeface="Sniglet"/>
                <a:ea typeface="Sniglet"/>
                <a:cs typeface="Sniglet"/>
                <a:sym typeface="Sniglet"/>
              </a:defRPr>
            </a:lvl3pPr>
            <a:lvl4pPr marL="1828800" lvl="3" indent="-381000">
              <a:spcBef>
                <a:spcPts val="0"/>
              </a:spcBef>
              <a:spcAft>
                <a:spcPts val="0"/>
              </a:spcAft>
              <a:buClr>
                <a:srgbClr val="2A95B7"/>
              </a:buClr>
              <a:buSzPts val="2400"/>
              <a:buFont typeface="Sniglet"/>
              <a:buChar char="+"/>
              <a:defRPr sz="2400">
                <a:solidFill>
                  <a:srgbClr val="434343"/>
                </a:solidFill>
                <a:latin typeface="Sniglet"/>
                <a:ea typeface="Sniglet"/>
                <a:cs typeface="Sniglet"/>
                <a:sym typeface="Sniglet"/>
              </a:defRPr>
            </a:lvl4pPr>
            <a:lvl5pPr marL="2286000" lvl="4" indent="-381000">
              <a:spcBef>
                <a:spcPts val="0"/>
              </a:spcBef>
              <a:spcAft>
                <a:spcPts val="0"/>
              </a:spcAft>
              <a:buClr>
                <a:srgbClr val="2A95B7"/>
              </a:buClr>
              <a:buSzPts val="2400"/>
              <a:buFont typeface="Sniglet"/>
              <a:buChar char="+"/>
              <a:defRPr sz="2400">
                <a:solidFill>
                  <a:srgbClr val="434343"/>
                </a:solidFill>
                <a:latin typeface="Sniglet"/>
                <a:ea typeface="Sniglet"/>
                <a:cs typeface="Sniglet"/>
                <a:sym typeface="Sniglet"/>
              </a:defRPr>
            </a:lvl5pPr>
            <a:lvl6pPr marL="2743200" lvl="5" indent="-381000">
              <a:spcBef>
                <a:spcPts val="0"/>
              </a:spcBef>
              <a:spcAft>
                <a:spcPts val="0"/>
              </a:spcAft>
              <a:buClr>
                <a:srgbClr val="2A95B7"/>
              </a:buClr>
              <a:buSzPts val="2400"/>
              <a:buFont typeface="Sniglet"/>
              <a:buChar char="+"/>
              <a:defRPr sz="2400">
                <a:solidFill>
                  <a:srgbClr val="434343"/>
                </a:solidFill>
                <a:latin typeface="Sniglet"/>
                <a:ea typeface="Sniglet"/>
                <a:cs typeface="Sniglet"/>
                <a:sym typeface="Sniglet"/>
              </a:defRPr>
            </a:lvl6pPr>
            <a:lvl7pPr marL="3200400" lvl="6" indent="-381000">
              <a:spcBef>
                <a:spcPts val="0"/>
              </a:spcBef>
              <a:spcAft>
                <a:spcPts val="0"/>
              </a:spcAft>
              <a:buClr>
                <a:srgbClr val="2A95B7"/>
              </a:buClr>
              <a:buSzPts val="2400"/>
              <a:buFont typeface="Sniglet"/>
              <a:buChar char="+"/>
              <a:defRPr sz="2400">
                <a:solidFill>
                  <a:srgbClr val="434343"/>
                </a:solidFill>
                <a:latin typeface="Sniglet"/>
                <a:ea typeface="Sniglet"/>
                <a:cs typeface="Sniglet"/>
                <a:sym typeface="Sniglet"/>
              </a:defRPr>
            </a:lvl7pPr>
            <a:lvl8pPr marL="3657600" lvl="7" indent="-381000">
              <a:spcBef>
                <a:spcPts val="0"/>
              </a:spcBef>
              <a:spcAft>
                <a:spcPts val="0"/>
              </a:spcAft>
              <a:buClr>
                <a:srgbClr val="434343"/>
              </a:buClr>
              <a:buSzPts val="2400"/>
              <a:buFont typeface="Sniglet"/>
              <a:buChar char="+"/>
              <a:defRPr sz="2400">
                <a:solidFill>
                  <a:srgbClr val="434343"/>
                </a:solidFill>
                <a:latin typeface="Sniglet"/>
                <a:ea typeface="Sniglet"/>
                <a:cs typeface="Sniglet"/>
                <a:sym typeface="Sniglet"/>
              </a:defRPr>
            </a:lvl8pPr>
            <a:lvl9pPr marL="4114800" lvl="8" indent="-381000">
              <a:spcBef>
                <a:spcPts val="0"/>
              </a:spcBef>
              <a:spcAft>
                <a:spcPts val="0"/>
              </a:spcAft>
              <a:buClr>
                <a:srgbClr val="434343"/>
              </a:buClr>
              <a:buSzPts val="2400"/>
              <a:buFont typeface="Sniglet"/>
              <a:buChar char="+"/>
              <a:defRPr sz="2400">
                <a:solidFill>
                  <a:srgbClr val="434343"/>
                </a:solidFill>
                <a:latin typeface="Sniglet"/>
                <a:ea typeface="Sniglet"/>
                <a:cs typeface="Sniglet"/>
                <a:sym typeface="Sniglet"/>
              </a:defRPr>
            </a:lvl9pPr>
          </a:lstStyle>
          <a:p>
            <a:endParaRPr/>
          </a:p>
        </p:txBody>
      </p:sp>
      <p:sp>
        <p:nvSpPr>
          <p:cNvPr id="8" name="Google Shape;8;p1"/>
          <p:cNvSpPr txBox="1">
            <a:spLocks noGrp="1"/>
          </p:cNvSpPr>
          <p:nvPr>
            <p:ph type="sldNum" idx="12"/>
          </p:nvPr>
        </p:nvSpPr>
        <p:spPr>
          <a:xfrm>
            <a:off x="8595301" y="4839750"/>
            <a:ext cx="548700" cy="303600"/>
          </a:xfrm>
          <a:prstGeom prst="rect">
            <a:avLst/>
          </a:prstGeom>
          <a:noFill/>
          <a:ln>
            <a:noFill/>
          </a:ln>
          <a:effectLst>
            <a:outerShdw blurRad="28575" dist="19050" dir="5400000" algn="bl" rotWithShape="0">
              <a:srgbClr val="000000">
                <a:alpha val="25000"/>
              </a:srgbClr>
            </a:outerShdw>
          </a:effectLst>
        </p:spPr>
        <p:txBody>
          <a:bodyPr spcFirstLastPara="1" wrap="square" lIns="91425" tIns="91425" rIns="91425" bIns="91425" anchor="t" anchorCtr="0">
            <a:noAutofit/>
          </a:bodyPr>
          <a:lstStyle>
            <a:lvl1pPr lvl="0" algn="r">
              <a:buNone/>
              <a:defRPr sz="1100">
                <a:solidFill>
                  <a:srgbClr val="FFFFFF"/>
                </a:solidFill>
                <a:latin typeface="Sniglet"/>
                <a:ea typeface="Sniglet"/>
                <a:cs typeface="Sniglet"/>
                <a:sym typeface="Sniglet"/>
              </a:defRPr>
            </a:lvl1pPr>
            <a:lvl2pPr lvl="1" algn="r">
              <a:buNone/>
              <a:defRPr sz="1100">
                <a:solidFill>
                  <a:srgbClr val="FFFFFF"/>
                </a:solidFill>
                <a:latin typeface="Sniglet"/>
                <a:ea typeface="Sniglet"/>
                <a:cs typeface="Sniglet"/>
                <a:sym typeface="Sniglet"/>
              </a:defRPr>
            </a:lvl2pPr>
            <a:lvl3pPr lvl="2" algn="r">
              <a:buNone/>
              <a:defRPr sz="1100">
                <a:solidFill>
                  <a:srgbClr val="FFFFFF"/>
                </a:solidFill>
                <a:latin typeface="Sniglet"/>
                <a:ea typeface="Sniglet"/>
                <a:cs typeface="Sniglet"/>
                <a:sym typeface="Sniglet"/>
              </a:defRPr>
            </a:lvl3pPr>
            <a:lvl4pPr lvl="3" algn="r">
              <a:buNone/>
              <a:defRPr sz="1100">
                <a:solidFill>
                  <a:srgbClr val="FFFFFF"/>
                </a:solidFill>
                <a:latin typeface="Sniglet"/>
                <a:ea typeface="Sniglet"/>
                <a:cs typeface="Sniglet"/>
                <a:sym typeface="Sniglet"/>
              </a:defRPr>
            </a:lvl4pPr>
            <a:lvl5pPr lvl="4" algn="r">
              <a:buNone/>
              <a:defRPr sz="1100">
                <a:solidFill>
                  <a:srgbClr val="FFFFFF"/>
                </a:solidFill>
                <a:latin typeface="Sniglet"/>
                <a:ea typeface="Sniglet"/>
                <a:cs typeface="Sniglet"/>
                <a:sym typeface="Sniglet"/>
              </a:defRPr>
            </a:lvl5pPr>
            <a:lvl6pPr lvl="5" algn="r">
              <a:buNone/>
              <a:defRPr sz="1100">
                <a:solidFill>
                  <a:srgbClr val="FFFFFF"/>
                </a:solidFill>
                <a:latin typeface="Sniglet"/>
                <a:ea typeface="Sniglet"/>
                <a:cs typeface="Sniglet"/>
                <a:sym typeface="Sniglet"/>
              </a:defRPr>
            </a:lvl6pPr>
            <a:lvl7pPr lvl="6" algn="r">
              <a:buNone/>
              <a:defRPr sz="1100">
                <a:solidFill>
                  <a:srgbClr val="FFFFFF"/>
                </a:solidFill>
                <a:latin typeface="Sniglet"/>
                <a:ea typeface="Sniglet"/>
                <a:cs typeface="Sniglet"/>
                <a:sym typeface="Sniglet"/>
              </a:defRPr>
            </a:lvl7pPr>
            <a:lvl8pPr lvl="7" algn="r">
              <a:buNone/>
              <a:defRPr sz="1100">
                <a:solidFill>
                  <a:srgbClr val="FFFFFF"/>
                </a:solidFill>
                <a:latin typeface="Sniglet"/>
                <a:ea typeface="Sniglet"/>
                <a:cs typeface="Sniglet"/>
                <a:sym typeface="Sniglet"/>
              </a:defRPr>
            </a:lvl8pPr>
            <a:lvl9pPr lvl="8" algn="r">
              <a:buNone/>
              <a:defRPr sz="1100">
                <a:solidFill>
                  <a:srgbClr val="FFFFFF"/>
                </a:solidFill>
                <a:latin typeface="Sniglet"/>
                <a:ea typeface="Sniglet"/>
                <a:cs typeface="Sniglet"/>
                <a:sym typeface="Sniglet"/>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6"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2"/>
          <p:cNvSpPr txBox="1">
            <a:spLocks noGrp="1"/>
          </p:cNvSpPr>
          <p:nvPr>
            <p:ph type="ctrTitle"/>
          </p:nvPr>
        </p:nvSpPr>
        <p:spPr>
          <a:xfrm>
            <a:off x="1815525" y="1991825"/>
            <a:ext cx="5585400" cy="115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Training Tuesdays</a:t>
            </a:r>
            <a:endParaRPr dirty="0"/>
          </a:p>
        </p:txBody>
      </p:sp>
      <p:pic>
        <p:nvPicPr>
          <p:cNvPr id="7170" name="Picture 2" descr="C:\Users\elizabeth.westman\AppData\Local\Microsoft\Windows\Temporary Internet Files\Content.IE5\6JI39Q7P\Training[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5369" y="550881"/>
            <a:ext cx="1600200" cy="1560576"/>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elizabeth.westman\AppData\Local\Microsoft\Windows\Temporary Internet Files\Content.IE5\ZDF3ZXBT\learn[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6494" y="2677567"/>
            <a:ext cx="1377950" cy="12358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329751"/>
            <a:ext cx="6934200" cy="784800"/>
          </a:xfrm>
        </p:spPr>
        <p:txBody>
          <a:bodyPr/>
          <a:lstStyle/>
          <a:p>
            <a:pPr marL="0" indent="0" algn="ctr"/>
            <a:endParaRPr lang="en-US" dirty="0"/>
          </a:p>
          <a:p>
            <a:pPr marL="0" indent="0" algn="ctr"/>
            <a:endParaRPr lang="en-US" dirty="0"/>
          </a:p>
          <a:p>
            <a:pPr marL="0" indent="0" algn="ctr"/>
            <a:endParaRPr lang="en-US" dirty="0"/>
          </a:p>
          <a:p>
            <a:pPr marL="0" indent="0" algn="ctr"/>
            <a:r>
              <a:rPr lang="en-US" dirty="0">
                <a:solidFill>
                  <a:schemeClr val="tx1"/>
                </a:solidFill>
              </a:rPr>
              <a:t>Thank you for participating in the inaugural session of Training Tuesdays.  We are excited to present these training opportunities and hope you will find them to be beneficial.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dirty="0"/>
          </a:p>
        </p:txBody>
      </p:sp>
      <p:sp>
        <p:nvSpPr>
          <p:cNvPr id="5" name="AutoShape 4" descr="Image result for welcome"/>
          <p:cNvSpPr>
            <a:spLocks noChangeAspect="1" noChangeArrowheads="1"/>
          </p:cNvSpPr>
          <p:nvPr/>
        </p:nvSpPr>
        <p:spPr bwMode="auto">
          <a:xfrm>
            <a:off x="63500" y="-814388"/>
            <a:ext cx="2762250" cy="17049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 name="AutoShape 6" descr="Image result for welcome"/>
          <p:cNvSpPr>
            <a:spLocks noChangeAspect="1" noChangeArrowheads="1"/>
          </p:cNvSpPr>
          <p:nvPr/>
        </p:nvSpPr>
        <p:spPr bwMode="auto">
          <a:xfrm>
            <a:off x="215900" y="-661988"/>
            <a:ext cx="2762250" cy="17049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3082" name="Picture 10" descr="Image result for welco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590550"/>
            <a:ext cx="3200399" cy="1977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602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ctrTitle"/>
          </p:nvPr>
        </p:nvSpPr>
        <p:spPr>
          <a:xfrm>
            <a:off x="1752600" y="1504950"/>
            <a:ext cx="55008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b="1" dirty="0"/>
              <a:t>Plan Name</a:t>
            </a:r>
            <a:endParaRPr sz="7200" b="1" dirty="0"/>
          </a:p>
        </p:txBody>
      </p:sp>
      <p:sp>
        <p:nvSpPr>
          <p:cNvPr id="74" name="Google Shape;74;p15"/>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838200" y="590550"/>
            <a:ext cx="6875300" cy="556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Plan Name: The Basics</a:t>
            </a:r>
            <a:endParaRPr sz="2400" dirty="0"/>
          </a:p>
        </p:txBody>
      </p:sp>
      <p:sp>
        <p:nvSpPr>
          <p:cNvPr id="87" name="Google Shape;87;p17"/>
          <p:cNvSpPr txBox="1">
            <a:spLocks noGrp="1"/>
          </p:cNvSpPr>
          <p:nvPr>
            <p:ph type="body" idx="1"/>
          </p:nvPr>
        </p:nvSpPr>
        <p:spPr>
          <a:xfrm>
            <a:off x="938212" y="1047750"/>
            <a:ext cx="7391400" cy="3200400"/>
          </a:xfrm>
          <a:prstGeom prst="rect">
            <a:avLst/>
          </a:prstGeom>
        </p:spPr>
        <p:txBody>
          <a:bodyPr spcFirstLastPara="1" wrap="square" lIns="91425" tIns="91425" rIns="91425" bIns="91425" anchor="t" anchorCtr="0">
            <a:noAutofit/>
          </a:bodyPr>
          <a:lstStyle/>
          <a:p>
            <a:pPr marL="344488" indent="-344488">
              <a:buFont typeface="Wingdings" panose="05000000000000000000" pitchFamily="2" charset="2"/>
              <a:buChar char="q"/>
            </a:pPr>
            <a:r>
              <a:rPr lang="en-US" sz="1800" dirty="0">
                <a:solidFill>
                  <a:schemeClr val="tx1"/>
                </a:solidFill>
              </a:rPr>
              <a:t>ERISA requires employee welfare benefit plans (group health plans) to have their own identifying information, including </a:t>
            </a:r>
            <a:r>
              <a:rPr lang="en-US" sz="1800" b="1" dirty="0">
                <a:solidFill>
                  <a:schemeClr val="tx1"/>
                </a:solidFill>
              </a:rPr>
              <a:t>plan name</a:t>
            </a:r>
            <a:r>
              <a:rPr lang="en-US" sz="1800" dirty="0">
                <a:solidFill>
                  <a:schemeClr val="tx1"/>
                </a:solidFill>
              </a:rPr>
              <a:t>, plan number &amp; plan year.</a:t>
            </a:r>
          </a:p>
          <a:p>
            <a:pPr marL="344488" indent="-344488">
              <a:buFont typeface="Wingdings" panose="05000000000000000000" pitchFamily="2" charset="2"/>
              <a:buChar char="q"/>
            </a:pPr>
            <a:r>
              <a:rPr lang="en-US" sz="1800" dirty="0">
                <a:solidFill>
                  <a:schemeClr val="tx1"/>
                </a:solidFill>
              </a:rPr>
              <a:t>Information must be included on plan’s form 5500 (if applicable) so the DOL can recognize the plan.</a:t>
            </a:r>
          </a:p>
          <a:p>
            <a:pPr marL="344488" indent="-344488">
              <a:buFont typeface="Wingdings" panose="05000000000000000000" pitchFamily="2" charset="2"/>
              <a:buChar char="q"/>
            </a:pPr>
            <a:r>
              <a:rPr lang="en-US" sz="1800" dirty="0">
                <a:solidFill>
                  <a:schemeClr val="tx1"/>
                </a:solidFill>
              </a:rPr>
              <a:t>Must be included in SPD so participants can identify their plan.</a:t>
            </a:r>
          </a:p>
          <a:p>
            <a:pPr marL="344488" indent="-344488">
              <a:buFont typeface="Wingdings" panose="05000000000000000000" pitchFamily="2" charset="2"/>
              <a:buChar char="q"/>
            </a:pPr>
            <a:r>
              <a:rPr lang="en-US" sz="1800" dirty="0">
                <a:solidFill>
                  <a:schemeClr val="tx1"/>
                </a:solidFill>
              </a:rPr>
              <a:t>There are no specific legal requirements in determining a plan name, however,  they typically include the Plan Sponsor’s name and a general description of the benefits provided (e.g. </a:t>
            </a:r>
            <a:r>
              <a:rPr lang="en-US" sz="1800" b="1" dirty="0">
                <a:solidFill>
                  <a:schemeClr val="tx1"/>
                </a:solidFill>
              </a:rPr>
              <a:t>The Jackson Laboratory Health Plan</a:t>
            </a:r>
            <a:r>
              <a:rPr lang="en-US" sz="1800" dirty="0">
                <a:solidFill>
                  <a:schemeClr val="tx1"/>
                </a:solidFill>
              </a:rPr>
              <a:t>).</a:t>
            </a:r>
            <a:endParaRPr lang="en-US" sz="1800" dirty="0"/>
          </a:p>
          <a:p>
            <a:pPr marL="76200" lvl="0" indent="0" algn="ctr" rtl="0">
              <a:spcBef>
                <a:spcPts val="600"/>
              </a:spcBef>
              <a:spcAft>
                <a:spcPts val="0"/>
              </a:spcAft>
              <a:buSzPts val="2400"/>
              <a:buNone/>
            </a:pPr>
            <a:endParaRPr lang="en-US" dirty="0"/>
          </a:p>
          <a:p>
            <a:pPr marL="76200" lvl="0" indent="0" algn="l" rtl="0">
              <a:spcBef>
                <a:spcPts val="600"/>
              </a:spcBef>
              <a:spcAft>
                <a:spcPts val="0"/>
              </a:spcAft>
              <a:buSzPts val="2400"/>
              <a:buNone/>
            </a:pPr>
            <a:endParaRPr dirty="0"/>
          </a:p>
        </p:txBody>
      </p:sp>
      <p:sp>
        <p:nvSpPr>
          <p:cNvPr id="88" name="Google Shape;88;p17"/>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dirty="0"/>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438150"/>
            <a:ext cx="1419225"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90551"/>
            <a:ext cx="8077200" cy="533400"/>
          </a:xfrm>
        </p:spPr>
        <p:txBody>
          <a:bodyPr/>
          <a:lstStyle/>
          <a:p>
            <a:r>
              <a:rPr lang="en-US" sz="2400" dirty="0"/>
              <a:t>Plan Name vs. Plan Administrator/Sponsor Name </a:t>
            </a:r>
          </a:p>
        </p:txBody>
      </p:sp>
      <p:sp>
        <p:nvSpPr>
          <p:cNvPr id="3" name="Text Placeholder 2"/>
          <p:cNvSpPr>
            <a:spLocks noGrp="1"/>
          </p:cNvSpPr>
          <p:nvPr>
            <p:ph type="body" idx="1"/>
          </p:nvPr>
        </p:nvSpPr>
        <p:spPr>
          <a:xfrm>
            <a:off x="762000" y="1200150"/>
            <a:ext cx="7239000" cy="3276600"/>
          </a:xfrm>
        </p:spPr>
        <p:txBody>
          <a:bodyPr/>
          <a:lstStyle/>
          <a:p>
            <a:pPr>
              <a:buFont typeface="Wingdings" panose="05000000000000000000" pitchFamily="2" charset="2"/>
              <a:buChar char="q"/>
            </a:pPr>
            <a:r>
              <a:rPr lang="en-US" sz="1800" dirty="0">
                <a:solidFill>
                  <a:schemeClr val="tx1"/>
                </a:solidFill>
              </a:rPr>
              <a:t>The Plan Name is different than the Plan Administrator/ Sponsor’s name.</a:t>
            </a:r>
          </a:p>
          <a:p>
            <a:pPr algn="just">
              <a:buFont typeface="Wingdings" panose="05000000000000000000" pitchFamily="2" charset="2"/>
              <a:buChar char="q"/>
            </a:pPr>
            <a:r>
              <a:rPr lang="en-US" sz="1800" dirty="0">
                <a:solidFill>
                  <a:schemeClr val="tx1"/>
                </a:solidFill>
              </a:rPr>
              <a:t>Plan Administrator/Sponsor name is typically the Client or Group’s legal business name.   </a:t>
            </a:r>
          </a:p>
          <a:p>
            <a:pPr algn="just">
              <a:buFont typeface="Wingdings" panose="05000000000000000000" pitchFamily="2" charset="2"/>
              <a:buChar char="q"/>
            </a:pPr>
            <a:r>
              <a:rPr lang="en-US" sz="1800" dirty="0">
                <a:solidFill>
                  <a:schemeClr val="tx1"/>
                </a:solidFill>
              </a:rPr>
              <a:t>Plan Administrator/Sponsor establishes the plan, determines the benefits, amends the plan and terminates the plan.</a:t>
            </a:r>
          </a:p>
          <a:p>
            <a:pPr algn="just">
              <a:buFont typeface="Wingdings" panose="05000000000000000000" pitchFamily="2" charset="2"/>
              <a:buChar char="q"/>
            </a:pPr>
            <a:r>
              <a:rPr lang="en-US" sz="1800" dirty="0">
                <a:solidFill>
                  <a:schemeClr val="tx1"/>
                </a:solidFill>
              </a:rPr>
              <a:t>The Plan Sponsor/Plan Administrator name </a:t>
            </a:r>
            <a:r>
              <a:rPr lang="en-US" sz="1800" b="1" dirty="0">
                <a:solidFill>
                  <a:schemeClr val="tx1"/>
                </a:solidFill>
              </a:rPr>
              <a:t>is not </a:t>
            </a:r>
            <a:r>
              <a:rPr lang="en-US" sz="1800" dirty="0">
                <a:solidFill>
                  <a:schemeClr val="tx1"/>
                </a:solidFill>
              </a:rPr>
              <a:t>the actual group health plan Plan Name and the </a:t>
            </a:r>
            <a:r>
              <a:rPr lang="en-US" sz="1800" i="1" dirty="0">
                <a:solidFill>
                  <a:schemeClr val="tx1"/>
                </a:solidFill>
              </a:rPr>
              <a:t>does not contain </a:t>
            </a:r>
            <a:r>
              <a:rPr lang="en-US" sz="1800" dirty="0">
                <a:solidFill>
                  <a:schemeClr val="tx1"/>
                </a:solidFill>
              </a:rPr>
              <a:t>Employee Health Plan, Medical Plan, etc.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dirty="0"/>
          </a:p>
        </p:txBody>
      </p:sp>
    </p:spTree>
    <p:extLst>
      <p:ext uri="{BB962C8B-B14F-4D97-AF65-F5344CB8AC3E}">
        <p14:creationId xmlns:p14="http://schemas.microsoft.com/office/powerpoint/2010/main" val="3691367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90550"/>
            <a:ext cx="7696200" cy="750300"/>
          </a:xfrm>
        </p:spPr>
        <p:txBody>
          <a:bodyPr/>
          <a:lstStyle/>
          <a:p>
            <a:pPr algn="ctr"/>
            <a:r>
              <a:rPr lang="en-US" sz="2400" dirty="0"/>
              <a:t>Plan Name –vs- Plan Administrator/Sponsor Name</a:t>
            </a:r>
            <a:br>
              <a:rPr lang="en-US" sz="2400" dirty="0"/>
            </a:br>
            <a:r>
              <a:rPr lang="en-US" sz="2400" dirty="0"/>
              <a:t>Examples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dirty="0"/>
          </a:p>
        </p:txBody>
      </p:sp>
      <p:sp>
        <p:nvSpPr>
          <p:cNvPr id="6" name="TextBox 5"/>
          <p:cNvSpPr txBox="1"/>
          <p:nvPr/>
        </p:nvSpPr>
        <p:spPr>
          <a:xfrm>
            <a:off x="838200" y="1581150"/>
            <a:ext cx="3429000" cy="2369880"/>
          </a:xfrm>
          <a:prstGeom prst="rect">
            <a:avLst/>
          </a:prstGeom>
          <a:noFill/>
        </p:spPr>
        <p:txBody>
          <a:bodyPr wrap="square" rtlCol="0">
            <a:spAutoFit/>
          </a:bodyPr>
          <a:lstStyle/>
          <a:p>
            <a:pPr algn="ctr"/>
            <a:r>
              <a:rPr lang="en-US" sz="1800" b="1" u="sng" dirty="0">
                <a:latin typeface="Sniglet"/>
              </a:rPr>
              <a:t>Plan Administrator/Sponsor Name</a:t>
            </a:r>
          </a:p>
          <a:p>
            <a:r>
              <a:rPr lang="en-US" sz="1600" dirty="0">
                <a:latin typeface="Sniglet"/>
              </a:rPr>
              <a:t>The Cheesecake Factory Incorporated </a:t>
            </a:r>
          </a:p>
          <a:p>
            <a:endParaRPr lang="en-US" sz="1600" dirty="0">
              <a:latin typeface="Sniglet"/>
            </a:endParaRPr>
          </a:p>
          <a:p>
            <a:r>
              <a:rPr lang="en-US" sz="1600" dirty="0">
                <a:latin typeface="Sniglet"/>
              </a:rPr>
              <a:t>Sandata Technologies, LLC</a:t>
            </a:r>
          </a:p>
          <a:p>
            <a:endParaRPr lang="en-US" sz="1600" dirty="0">
              <a:latin typeface="Sniglet"/>
            </a:endParaRPr>
          </a:p>
          <a:p>
            <a:endParaRPr lang="en-US" sz="1600" dirty="0">
              <a:latin typeface="Sniglet"/>
            </a:endParaRPr>
          </a:p>
          <a:p>
            <a:r>
              <a:rPr lang="en-US" sz="1600" dirty="0">
                <a:latin typeface="Sniglet"/>
              </a:rPr>
              <a:t>ACV Enviro Corporation</a:t>
            </a:r>
          </a:p>
        </p:txBody>
      </p:sp>
      <p:sp>
        <p:nvSpPr>
          <p:cNvPr id="7" name="TextBox 6"/>
          <p:cNvSpPr txBox="1"/>
          <p:nvPr/>
        </p:nvSpPr>
        <p:spPr>
          <a:xfrm>
            <a:off x="4572000" y="1334929"/>
            <a:ext cx="3848100" cy="2862322"/>
          </a:xfrm>
          <a:prstGeom prst="rect">
            <a:avLst/>
          </a:prstGeom>
          <a:noFill/>
        </p:spPr>
        <p:txBody>
          <a:bodyPr wrap="square" rtlCol="0">
            <a:spAutoFit/>
          </a:bodyPr>
          <a:lstStyle/>
          <a:p>
            <a:pPr algn="ctr"/>
            <a:r>
              <a:rPr lang="en-US" sz="1800" b="1" u="sng" dirty="0">
                <a:latin typeface="Sniglet"/>
              </a:rPr>
              <a:t>Plan Name</a:t>
            </a:r>
          </a:p>
          <a:p>
            <a:pPr algn="ctr"/>
            <a:endParaRPr lang="en-US" sz="1800" dirty="0">
              <a:latin typeface="Sniglet"/>
            </a:endParaRPr>
          </a:p>
          <a:p>
            <a:r>
              <a:rPr lang="en-US" sz="1600" dirty="0">
                <a:latin typeface="Sniglet"/>
              </a:rPr>
              <a:t>The Cheesecake Factory Incorporated Health &amp; Welfare Plan – Core 3000D Plan</a:t>
            </a:r>
          </a:p>
          <a:p>
            <a:endParaRPr lang="en-US" sz="1600" dirty="0">
              <a:latin typeface="Sniglet"/>
            </a:endParaRPr>
          </a:p>
          <a:p>
            <a:r>
              <a:rPr lang="en-US" sz="1600" dirty="0">
                <a:latin typeface="Sniglet"/>
              </a:rPr>
              <a:t>Sandata Technologies, LLC Employee Benefit Plan</a:t>
            </a:r>
          </a:p>
          <a:p>
            <a:endParaRPr lang="en-US" sz="1600" dirty="0">
              <a:latin typeface="Sniglet"/>
            </a:endParaRPr>
          </a:p>
          <a:p>
            <a:r>
              <a:rPr lang="en-US" sz="1600" dirty="0">
                <a:latin typeface="Sniglet"/>
              </a:rPr>
              <a:t>Allstate Power Vac Employee Benefit Plan</a:t>
            </a:r>
          </a:p>
        </p:txBody>
      </p:sp>
      <p:sp>
        <p:nvSpPr>
          <p:cNvPr id="8" name="Right Arrow 7"/>
          <p:cNvSpPr/>
          <p:nvPr/>
        </p:nvSpPr>
        <p:spPr>
          <a:xfrm>
            <a:off x="3429000" y="2242890"/>
            <a:ext cx="838200" cy="191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Arrow 8"/>
          <p:cNvSpPr/>
          <p:nvPr/>
        </p:nvSpPr>
        <p:spPr>
          <a:xfrm>
            <a:off x="3592606" y="2915734"/>
            <a:ext cx="838200" cy="191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ight Arrow 9"/>
          <p:cNvSpPr/>
          <p:nvPr/>
        </p:nvSpPr>
        <p:spPr>
          <a:xfrm>
            <a:off x="3352800" y="3701444"/>
            <a:ext cx="838200" cy="191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34034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Plan Name: Further Information </a:t>
            </a:r>
          </a:p>
        </p:txBody>
      </p:sp>
      <p:sp>
        <p:nvSpPr>
          <p:cNvPr id="3" name="Text Placeholder 2"/>
          <p:cNvSpPr>
            <a:spLocks noGrp="1"/>
          </p:cNvSpPr>
          <p:nvPr>
            <p:ph type="body" idx="1"/>
          </p:nvPr>
        </p:nvSpPr>
        <p:spPr>
          <a:xfrm>
            <a:off x="990600" y="1352550"/>
            <a:ext cx="7020900" cy="2706900"/>
          </a:xfrm>
        </p:spPr>
        <p:txBody>
          <a:bodyPr/>
          <a:lstStyle/>
          <a:p>
            <a:pPr marL="76200" indent="0">
              <a:buNone/>
            </a:pPr>
            <a:r>
              <a:rPr lang="en-US" sz="1800" dirty="0">
                <a:solidFill>
                  <a:schemeClr val="tx1"/>
                </a:solidFill>
              </a:rPr>
              <a:t>Occasionally, clients will not include their legal business name within their Plan Name.  Examples of this include, but are not limited to removing Inc. or LLC from Plan Name or using acronyms:</a:t>
            </a:r>
          </a:p>
          <a:p>
            <a:pPr marL="76200" indent="0">
              <a:buNone/>
            </a:pPr>
            <a:r>
              <a:rPr lang="en-US" dirty="0"/>
              <a:t> </a:t>
            </a:r>
          </a:p>
          <a:p>
            <a:pPr marL="76200" indent="0">
              <a:buNone/>
            </a:pPr>
            <a:r>
              <a:rPr lang="en-US" dirty="0"/>
              <a:t> </a:t>
            </a:r>
          </a:p>
          <a:p>
            <a:pPr marL="76200" indent="0" algn="ctr">
              <a:buNone/>
            </a:pP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504" y="2952750"/>
            <a:ext cx="7056437"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5598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47699" y="819150"/>
            <a:ext cx="5582773" cy="1524000"/>
          </a:xfrm>
        </p:spPr>
        <p:txBody>
          <a:bodyPr/>
          <a:lstStyle/>
          <a:p>
            <a:pPr algn="ctr"/>
            <a:r>
              <a:rPr lang="en-US" sz="1800" dirty="0">
                <a:solidFill>
                  <a:schemeClr val="tx1"/>
                </a:solidFill>
                <a:latin typeface="Sniglet"/>
              </a:rPr>
              <a:t>For Sebago Technics, “Inc.” should </a:t>
            </a:r>
            <a:r>
              <a:rPr lang="en-US" sz="1800" b="1" u="sng" dirty="0">
                <a:solidFill>
                  <a:schemeClr val="tx1"/>
                </a:solidFill>
                <a:latin typeface="Sniglet"/>
              </a:rPr>
              <a:t>not</a:t>
            </a:r>
            <a:r>
              <a:rPr lang="en-US" sz="1800" dirty="0">
                <a:solidFill>
                  <a:schemeClr val="tx1"/>
                </a:solidFill>
                <a:latin typeface="Sniglet"/>
              </a:rPr>
              <a:t> be included as part of Plan Name. </a:t>
            </a:r>
            <a:br>
              <a:rPr lang="en-US" sz="1800" dirty="0">
                <a:solidFill>
                  <a:schemeClr val="tx1"/>
                </a:solidFill>
                <a:latin typeface="Sniglet"/>
              </a:rPr>
            </a:br>
            <a:br>
              <a:rPr lang="en-US" sz="1800" dirty="0">
                <a:solidFill>
                  <a:schemeClr val="tx1"/>
                </a:solidFill>
                <a:latin typeface="Sniglet"/>
              </a:rPr>
            </a:br>
            <a:r>
              <a:rPr lang="en-US" sz="1800" dirty="0">
                <a:solidFill>
                  <a:schemeClr val="tx1"/>
                </a:solidFill>
                <a:latin typeface="Sniglet"/>
              </a:rPr>
              <a:t>Remove Inc. (also remove comma) from Name of Plan in document template.</a:t>
            </a:r>
          </a:p>
        </p:txBody>
      </p:sp>
      <p:sp>
        <p:nvSpPr>
          <p:cNvPr id="4" name="TextBox 3"/>
          <p:cNvSpPr txBox="1"/>
          <p:nvPr/>
        </p:nvSpPr>
        <p:spPr>
          <a:xfrm>
            <a:off x="3043324" y="2476420"/>
            <a:ext cx="2991525" cy="1277273"/>
          </a:xfrm>
          <a:prstGeom prst="rect">
            <a:avLst/>
          </a:prstGeom>
          <a:noFill/>
        </p:spPr>
        <p:txBody>
          <a:bodyPr wrap="none" rtlCol="0">
            <a:spAutoFit/>
          </a:bodyPr>
          <a:lstStyle/>
          <a:p>
            <a:pPr algn="ctr"/>
            <a:r>
              <a:rPr lang="en-US" sz="1100" b="1" dirty="0">
                <a:ea typeface="Times New Roman"/>
              </a:rPr>
              <a:t>SUMMARY OF MATERIAL MODIFICATION</a:t>
            </a:r>
            <a:endParaRPr lang="en-US" sz="1100" dirty="0">
              <a:ea typeface="Times New Roman"/>
              <a:cs typeface="Times New Roman"/>
            </a:endParaRPr>
          </a:p>
          <a:p>
            <a:pPr algn="ctr"/>
            <a:r>
              <a:rPr lang="en-US" sz="1100" b="1" dirty="0">
                <a:ea typeface="Times New Roman"/>
              </a:rPr>
              <a:t>AND </a:t>
            </a:r>
            <a:endParaRPr lang="en-US" sz="1100" dirty="0">
              <a:ea typeface="Times New Roman"/>
              <a:cs typeface="Times New Roman"/>
            </a:endParaRPr>
          </a:p>
          <a:p>
            <a:pPr algn="ctr"/>
            <a:r>
              <a:rPr lang="en-US" sz="1100" b="1" dirty="0">
                <a:ea typeface="Times New Roman"/>
              </a:rPr>
              <a:t>AMENDMENT #</a:t>
            </a:r>
            <a:r>
              <a:rPr lang="en-US" sz="1100" b="1" dirty="0">
                <a:highlight>
                  <a:srgbClr val="FFFF00"/>
                </a:highlight>
                <a:ea typeface="Times New Roman"/>
              </a:rPr>
              <a:t>1</a:t>
            </a:r>
            <a:endParaRPr lang="en-US" sz="1100" b="1" dirty="0">
              <a:ea typeface="Times New Roman"/>
              <a:cs typeface="Times New Roman"/>
            </a:endParaRPr>
          </a:p>
          <a:p>
            <a:pPr algn="ctr"/>
            <a:r>
              <a:rPr lang="en-US" sz="1100" b="1" dirty="0">
                <a:ea typeface="Times New Roman"/>
              </a:rPr>
              <a:t>TO THE </a:t>
            </a:r>
            <a:endParaRPr lang="en-US" sz="1100" dirty="0">
              <a:ea typeface="Times New Roman"/>
              <a:cs typeface="Times New Roman"/>
            </a:endParaRPr>
          </a:p>
          <a:p>
            <a:pPr algn="ctr"/>
            <a:r>
              <a:rPr lang="en-US" sz="1100" b="1" dirty="0">
                <a:ea typeface="Times New Roman"/>
              </a:rPr>
              <a:t>SEBAGO TECHNICS, INC.</a:t>
            </a:r>
          </a:p>
          <a:p>
            <a:pPr algn="ctr"/>
            <a:r>
              <a:rPr lang="en-US" sz="1100" b="1" dirty="0">
                <a:ea typeface="Times New Roman"/>
                <a:cs typeface="Times New Roman"/>
              </a:rPr>
              <a:t>PLAN</a:t>
            </a:r>
            <a:endParaRPr lang="en-US" sz="1100" dirty="0">
              <a:ea typeface="Times New Roman"/>
              <a:cs typeface="Times New Roman"/>
            </a:endParaRPr>
          </a:p>
          <a:p>
            <a:pPr algn="ctr"/>
            <a:r>
              <a:rPr lang="en-US" sz="1100" b="1" dirty="0">
                <a:ea typeface="Times New Roman"/>
              </a:rPr>
              <a:t>GROUP NO. </a:t>
            </a:r>
            <a:r>
              <a:rPr lang="en-US" sz="1100" b="1" dirty="0">
                <a:highlight>
                  <a:srgbClr val="FFFF00"/>
                </a:highlight>
                <a:ea typeface="Times New Roman"/>
              </a:rPr>
              <a:t>____</a:t>
            </a:r>
            <a:endParaRPr lang="en-US" sz="1100" dirty="0">
              <a:ea typeface="Times New Roman"/>
              <a:cs typeface="Times New Roman"/>
            </a:endParaRPr>
          </a:p>
        </p:txBody>
      </p:sp>
      <p:sp>
        <p:nvSpPr>
          <p:cNvPr id="5" name="TextBox 4"/>
          <p:cNvSpPr txBox="1"/>
          <p:nvPr/>
        </p:nvSpPr>
        <p:spPr>
          <a:xfrm>
            <a:off x="990600" y="3776481"/>
            <a:ext cx="6838732" cy="246221"/>
          </a:xfrm>
          <a:prstGeom prst="rect">
            <a:avLst/>
          </a:prstGeom>
          <a:noFill/>
        </p:spPr>
        <p:txBody>
          <a:bodyPr wrap="none" rtlCol="0">
            <a:spAutoFit/>
          </a:bodyPr>
          <a:lstStyle/>
          <a:p>
            <a:r>
              <a:rPr lang="en-US" sz="1000" dirty="0">
                <a:ea typeface="Times New Roman"/>
              </a:rPr>
              <a:t>This Summary of Material Modification and Amendment describes changes to the </a:t>
            </a:r>
            <a:r>
              <a:rPr lang="en-US" sz="1000" dirty="0">
                <a:highlight>
                  <a:srgbClr val="FFFF00"/>
                </a:highlight>
                <a:ea typeface="Times New Roman"/>
              </a:rPr>
              <a:t>Sebago Technics, Inc. Plan </a:t>
            </a:r>
            <a:r>
              <a:rPr lang="en-US" sz="1000" dirty="0">
                <a:ea typeface="Times New Roman"/>
              </a:rPr>
              <a:t>effective</a:t>
            </a:r>
            <a:endParaRPr lang="en-US" sz="1000" dirty="0"/>
          </a:p>
        </p:txBody>
      </p:sp>
      <p:pic>
        <p:nvPicPr>
          <p:cNvPr id="4099" name="Picture 3" descr="C:\Users\elizabeth.westman\AppData\Local\Microsoft\Windows\Temporary Internet Files\Content.IE5\UYW2MQ1W\500px-RedX.svg[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38" y="3115056"/>
            <a:ext cx="400050" cy="4000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Users\elizabeth.westman\AppData\Local\Microsoft\Windows\Temporary Internet Files\Content.IE5\UYW2MQ1W\500px-RedX.svg[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399" y="3753693"/>
            <a:ext cx="352425" cy="35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071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895350"/>
            <a:ext cx="5585400" cy="1905000"/>
          </a:xfrm>
        </p:spPr>
        <p:txBody>
          <a:bodyPr/>
          <a:lstStyle/>
          <a:p>
            <a:pPr algn="ctr"/>
            <a:br>
              <a:rPr lang="en-US" sz="2400" dirty="0">
                <a:solidFill>
                  <a:schemeClr val="tx1"/>
                </a:solidFill>
                <a:latin typeface="Sniglet"/>
              </a:rPr>
            </a:br>
            <a:br>
              <a:rPr lang="en-US" sz="1800" dirty="0">
                <a:solidFill>
                  <a:schemeClr val="tx1"/>
                </a:solidFill>
                <a:latin typeface="Sniglet"/>
              </a:rPr>
            </a:br>
            <a:r>
              <a:rPr lang="en-US" sz="1800" dirty="0">
                <a:solidFill>
                  <a:schemeClr val="tx1"/>
                </a:solidFill>
                <a:latin typeface="Sniglet"/>
              </a:rPr>
              <a:t>The same rule applies to Rosehill Gardens, Inc.</a:t>
            </a:r>
            <a:br>
              <a:rPr lang="en-US" sz="1800" dirty="0">
                <a:solidFill>
                  <a:schemeClr val="tx1"/>
                </a:solidFill>
                <a:latin typeface="Sniglet"/>
              </a:rPr>
            </a:br>
            <a:r>
              <a:rPr lang="en-US" sz="1800" dirty="0">
                <a:solidFill>
                  <a:schemeClr val="tx1"/>
                </a:solidFill>
                <a:latin typeface="Sniglet"/>
              </a:rPr>
              <a:t> </a:t>
            </a:r>
            <a:br>
              <a:rPr lang="en-US" sz="1800" dirty="0">
                <a:solidFill>
                  <a:schemeClr val="tx1"/>
                </a:solidFill>
                <a:latin typeface="Sniglet"/>
              </a:rPr>
            </a:br>
            <a:r>
              <a:rPr lang="en-US" sz="1800" dirty="0">
                <a:solidFill>
                  <a:schemeClr val="tx1"/>
                </a:solidFill>
                <a:latin typeface="Sniglet"/>
              </a:rPr>
              <a:t>Inc. is not part of the Plan Name so it should NOT appear in documents where Plan Name is shown:</a:t>
            </a:r>
            <a:br>
              <a:rPr lang="en-US" sz="2000" dirty="0">
                <a:solidFill>
                  <a:schemeClr val="tx1"/>
                </a:solidFill>
                <a:latin typeface="Sniglet"/>
              </a:rPr>
            </a:br>
            <a:endParaRPr lang="en-US" sz="2000" dirty="0">
              <a:solidFill>
                <a:schemeClr val="tx1"/>
              </a:solidFill>
              <a:latin typeface="Sniglet"/>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952750"/>
            <a:ext cx="7056437"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3573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3" name="TextBox 2"/>
          <p:cNvSpPr txBox="1"/>
          <p:nvPr/>
        </p:nvSpPr>
        <p:spPr>
          <a:xfrm>
            <a:off x="1302573" y="1276350"/>
            <a:ext cx="6629400" cy="923330"/>
          </a:xfrm>
          <a:prstGeom prst="rect">
            <a:avLst/>
          </a:prstGeom>
          <a:noFill/>
        </p:spPr>
        <p:txBody>
          <a:bodyPr wrap="square" rtlCol="0">
            <a:spAutoFit/>
          </a:bodyPr>
          <a:lstStyle/>
          <a:p>
            <a:pPr algn="ctr"/>
            <a:r>
              <a:rPr lang="en-US" sz="1800" dirty="0">
                <a:solidFill>
                  <a:schemeClr val="tx1"/>
                </a:solidFill>
                <a:latin typeface="Sniglet"/>
              </a:rPr>
              <a:t>For Oregon Mennonite Residential Services, the legal business name </a:t>
            </a:r>
            <a:r>
              <a:rPr lang="en-US" sz="1800" dirty="0">
                <a:solidFill>
                  <a:schemeClr val="accent3">
                    <a:lumMod val="50000"/>
                  </a:schemeClr>
                </a:solidFill>
                <a:latin typeface="Sniglet"/>
              </a:rPr>
              <a:t>(Oregon Mennonite Residential Services, Inc.) </a:t>
            </a:r>
            <a:r>
              <a:rPr lang="en-US" sz="1800" dirty="0">
                <a:solidFill>
                  <a:schemeClr val="tx1"/>
                </a:solidFill>
                <a:latin typeface="Sniglet"/>
              </a:rPr>
              <a:t>and </a:t>
            </a:r>
            <a:r>
              <a:rPr lang="en-US" sz="1800" b="1" i="1" dirty="0">
                <a:solidFill>
                  <a:srgbClr val="7030A0"/>
                </a:solidFill>
                <a:latin typeface="Sniglet"/>
              </a:rPr>
              <a:t>Plan</a:t>
            </a:r>
            <a:r>
              <a:rPr lang="en-US" sz="1800" dirty="0">
                <a:solidFill>
                  <a:srgbClr val="7030A0"/>
                </a:solidFill>
                <a:latin typeface="Sniglet"/>
              </a:rPr>
              <a:t> Name (OMRS POS Plan)</a:t>
            </a:r>
            <a:r>
              <a:rPr lang="en-US" sz="1800" dirty="0">
                <a:solidFill>
                  <a:schemeClr val="accent3">
                    <a:lumMod val="75000"/>
                  </a:schemeClr>
                </a:solidFill>
                <a:latin typeface="Sniglet"/>
              </a:rPr>
              <a:t> </a:t>
            </a:r>
            <a:r>
              <a:rPr lang="en-US" sz="1800" dirty="0">
                <a:solidFill>
                  <a:schemeClr val="tx1"/>
                </a:solidFill>
                <a:latin typeface="Sniglet"/>
              </a:rPr>
              <a:t>are different. </a:t>
            </a: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406" y="2445844"/>
            <a:ext cx="5940425"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498003" y="2952186"/>
            <a:ext cx="6238540" cy="1200329"/>
          </a:xfrm>
          <a:prstGeom prst="rect">
            <a:avLst/>
          </a:prstGeom>
          <a:noFill/>
        </p:spPr>
        <p:txBody>
          <a:bodyPr wrap="square" rtlCol="0">
            <a:spAutoFit/>
          </a:bodyPr>
          <a:lstStyle/>
          <a:p>
            <a:pPr marL="228600" lvl="1" algn="just"/>
            <a:r>
              <a:rPr lang="en-US" sz="1800" dirty="0">
                <a:latin typeface="Sniglet"/>
              </a:rPr>
              <a:t>In this case, the Client does not use their legal business name + the name of the Plan. Instead they chose an acronym of their name &amp; the plan type as their Plan Name.  </a:t>
            </a:r>
          </a:p>
        </p:txBody>
      </p:sp>
      <p:sp>
        <p:nvSpPr>
          <p:cNvPr id="5" name="5-Point Star 4"/>
          <p:cNvSpPr/>
          <p:nvPr/>
        </p:nvSpPr>
        <p:spPr>
          <a:xfrm>
            <a:off x="1498003" y="3072537"/>
            <a:ext cx="263083" cy="22916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37908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ctrTitle" idx="4294967295"/>
          </p:nvPr>
        </p:nvSpPr>
        <p:spPr>
          <a:xfrm>
            <a:off x="1981201" y="2266950"/>
            <a:ext cx="4953000" cy="1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t>Plan Name Source of Truth</a:t>
            </a:r>
            <a:endParaRPr sz="4000" dirty="0"/>
          </a:p>
        </p:txBody>
      </p:sp>
      <p:sp>
        <p:nvSpPr>
          <p:cNvPr id="99" name="Google Shape;99;p18"/>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dirty="0"/>
          </a:p>
        </p:txBody>
      </p:sp>
      <p:pic>
        <p:nvPicPr>
          <p:cNvPr id="5122" name="Picture 2" descr="C:\Users\elizabeth.westman\AppData\Local\Microsoft\Windows\Temporary Internet Files\Content.IE5\7ETWFR0Q\600px-Hyperlink-internet-search.svg[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666750"/>
            <a:ext cx="1600200" cy="1600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590550"/>
            <a:ext cx="7020900" cy="533400"/>
          </a:xfrm>
        </p:spPr>
        <p:txBody>
          <a:bodyPr/>
          <a:lstStyle/>
          <a:p>
            <a:r>
              <a:rPr lang="en-US" sz="2400" dirty="0"/>
              <a:t>Where to Find Plan Name for Documents</a:t>
            </a:r>
          </a:p>
        </p:txBody>
      </p:sp>
      <p:sp>
        <p:nvSpPr>
          <p:cNvPr id="4" name="Text Placeholder 3"/>
          <p:cNvSpPr>
            <a:spLocks noGrp="1"/>
          </p:cNvSpPr>
          <p:nvPr>
            <p:ph type="body" idx="1"/>
          </p:nvPr>
        </p:nvSpPr>
        <p:spPr>
          <a:xfrm>
            <a:off x="838200" y="1123950"/>
            <a:ext cx="7315200" cy="2706900"/>
          </a:xfrm>
        </p:spPr>
        <p:txBody>
          <a:bodyPr/>
          <a:lstStyle/>
          <a:p>
            <a:pPr marL="0" indent="0">
              <a:buNone/>
            </a:pPr>
            <a:r>
              <a:rPr lang="en-US" sz="1800" b="1" u="sng" dirty="0">
                <a:solidFill>
                  <a:schemeClr val="tx1"/>
                </a:solidFill>
              </a:rPr>
              <a:t>New Groups</a:t>
            </a:r>
          </a:p>
          <a:p>
            <a:pPr marL="461963" indent="-461963">
              <a:buFont typeface="Wingdings" panose="05000000000000000000" pitchFamily="2" charset="2"/>
              <a:buChar char="q"/>
            </a:pPr>
            <a:r>
              <a:rPr lang="en-US" sz="1800" dirty="0">
                <a:solidFill>
                  <a:schemeClr val="tx1"/>
                </a:solidFill>
              </a:rPr>
              <a:t>Plan Name is requested/supplied on the Client Information Form during implementation (available on Implementation SharePoint site)</a:t>
            </a:r>
          </a:p>
          <a:p>
            <a:pPr marL="461963" indent="-461963">
              <a:buFont typeface="Wingdings" panose="05000000000000000000" pitchFamily="2" charset="2"/>
              <a:buChar char="q"/>
            </a:pPr>
            <a:r>
              <a:rPr lang="en-US" sz="1800" dirty="0">
                <a:solidFill>
                  <a:schemeClr val="tx1"/>
                </a:solidFill>
              </a:rPr>
              <a:t>Can be confirmed during Benefit Question Calls</a:t>
            </a:r>
          </a:p>
          <a:p>
            <a:pPr marL="461963" indent="-461963">
              <a:buFont typeface="Wingdings" panose="05000000000000000000" pitchFamily="2" charset="2"/>
              <a:buChar char="q"/>
            </a:pPr>
            <a:endParaRPr lang="en-US" sz="1800" dirty="0">
              <a:solidFill>
                <a:srgbClr val="0070C0"/>
              </a:solidFill>
            </a:endParaRPr>
          </a:p>
          <a:p>
            <a:pPr marL="0" indent="0">
              <a:buNone/>
            </a:pPr>
            <a:r>
              <a:rPr lang="en-US" sz="1800" b="1" u="sng" dirty="0">
                <a:solidFill>
                  <a:schemeClr val="tx1"/>
                </a:solidFill>
              </a:rPr>
              <a:t>Renewals</a:t>
            </a:r>
          </a:p>
          <a:p>
            <a:pPr marL="461963" indent="-461963">
              <a:buFont typeface="Wingdings" panose="05000000000000000000" pitchFamily="2" charset="2"/>
              <a:buChar char="q"/>
            </a:pPr>
            <a:r>
              <a:rPr lang="en-US" sz="1800" dirty="0">
                <a:solidFill>
                  <a:schemeClr val="tx1"/>
                </a:solidFill>
              </a:rPr>
              <a:t>Latest General Plan Information Section of the Plan Document</a:t>
            </a:r>
          </a:p>
          <a:p>
            <a:pPr marL="461963" indent="-461963">
              <a:buFont typeface="Wingdings" panose="05000000000000000000" pitchFamily="2" charset="2"/>
              <a:buChar char="q"/>
            </a:pPr>
            <a:endParaRPr lang="en-US" sz="1800" dirty="0">
              <a:solidFill>
                <a:srgbClr val="0070C0"/>
              </a:solidFill>
            </a:endParaRPr>
          </a:p>
          <a:p>
            <a:pPr marL="0" indent="0">
              <a:buNone/>
            </a:pPr>
            <a:endParaRPr lang="en-US" sz="1800" dirty="0">
              <a:solidFill>
                <a:srgbClr val="0070C0"/>
              </a:solidFil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3700692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590550"/>
            <a:ext cx="7020900" cy="533400"/>
          </a:xfrm>
        </p:spPr>
        <p:txBody>
          <a:bodyPr/>
          <a:lstStyle/>
          <a:p>
            <a:r>
              <a:rPr lang="en-US" sz="2400" dirty="0"/>
              <a:t>Additional Resources </a:t>
            </a:r>
          </a:p>
        </p:txBody>
      </p:sp>
      <p:sp>
        <p:nvSpPr>
          <p:cNvPr id="4" name="Text Placeholder 3"/>
          <p:cNvSpPr>
            <a:spLocks noGrp="1"/>
          </p:cNvSpPr>
          <p:nvPr>
            <p:ph type="body" idx="1"/>
          </p:nvPr>
        </p:nvSpPr>
        <p:spPr>
          <a:xfrm>
            <a:off x="914400" y="1047750"/>
            <a:ext cx="7020900" cy="2706900"/>
          </a:xfrm>
        </p:spPr>
        <p:txBody>
          <a:bodyPr/>
          <a:lstStyle/>
          <a:p>
            <a:pPr marL="398463" indent="-398463">
              <a:buFont typeface="Wingdings" panose="05000000000000000000" pitchFamily="2" charset="2"/>
              <a:buChar char="q"/>
            </a:pPr>
            <a:r>
              <a:rPr lang="en-US" sz="1800" dirty="0">
                <a:solidFill>
                  <a:schemeClr val="tx1"/>
                </a:solidFill>
              </a:rPr>
              <a:t>For ERISA Plans, the Free ERISA website can also be used as a tool to verify the Plan Name.</a:t>
            </a:r>
          </a:p>
          <a:p>
            <a:pPr marL="398463" indent="-398463">
              <a:buFont typeface="Wingdings" panose="05000000000000000000" pitchFamily="2" charset="2"/>
              <a:buChar char="q"/>
            </a:pPr>
            <a:r>
              <a:rPr lang="en-US" sz="1800" dirty="0">
                <a:solidFill>
                  <a:schemeClr val="tx1"/>
                </a:solidFill>
              </a:rPr>
              <a:t>Go to </a:t>
            </a:r>
            <a:r>
              <a:rPr lang="en-US" sz="1800" dirty="0">
                <a:solidFill>
                  <a:srgbClr val="0070C0"/>
                </a:solidFill>
              </a:rPr>
              <a:t>https://freeerisa.benefitspro.com/?login =true </a:t>
            </a:r>
            <a:r>
              <a:rPr lang="en-US" sz="1800" dirty="0">
                <a:solidFill>
                  <a:schemeClr val="tx1"/>
                </a:solidFill>
              </a:rPr>
              <a:t>to register – registration is free. </a:t>
            </a:r>
          </a:p>
          <a:p>
            <a:pPr marL="344488" indent="-344488">
              <a:buClr>
                <a:schemeClr val="accent1"/>
              </a:buClr>
              <a:buFont typeface="Wingdings" panose="05000000000000000000" pitchFamily="2" charset="2"/>
              <a:buChar char="q"/>
            </a:pPr>
            <a:r>
              <a:rPr lang="en-US" sz="1800" dirty="0">
                <a:solidFill>
                  <a:schemeClr val="tx1"/>
                </a:solidFill>
              </a:rPr>
              <a:t>Search by the client’s name to find a list of all form 5500 filings.  </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525" y="3218318"/>
            <a:ext cx="5238750" cy="1209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9919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3" name="TextBox 2"/>
          <p:cNvSpPr txBox="1"/>
          <p:nvPr/>
        </p:nvSpPr>
        <p:spPr>
          <a:xfrm>
            <a:off x="1066800" y="895350"/>
            <a:ext cx="6629400" cy="923330"/>
          </a:xfrm>
          <a:prstGeom prst="rect">
            <a:avLst/>
          </a:prstGeom>
          <a:noFill/>
        </p:spPr>
        <p:txBody>
          <a:bodyPr wrap="square" rtlCol="0">
            <a:spAutoFit/>
          </a:bodyPr>
          <a:lstStyle/>
          <a:p>
            <a:pPr marL="344488" indent="-344488">
              <a:buClr>
                <a:schemeClr val="accent1"/>
              </a:buClr>
              <a:buFont typeface="Wingdings" panose="05000000000000000000" pitchFamily="2" charset="2"/>
              <a:buChar char="q"/>
            </a:pPr>
            <a:r>
              <a:rPr lang="en-US" sz="1800" dirty="0">
                <a:latin typeface="Sniglet"/>
              </a:rPr>
              <a:t>Scroll down list until you find applicable Plan.</a:t>
            </a:r>
          </a:p>
          <a:p>
            <a:pPr marL="344488" indent="-344488">
              <a:buClr>
                <a:schemeClr val="accent1"/>
              </a:buClr>
              <a:buFont typeface="Wingdings" panose="05000000000000000000" pitchFamily="2" charset="2"/>
              <a:buChar char="q"/>
            </a:pPr>
            <a:r>
              <a:rPr lang="en-US" sz="1800" dirty="0">
                <a:latin typeface="Sniglet"/>
              </a:rPr>
              <a:t>Update Plan Name and Plan # in your amendment or restate if necessary.    </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799" y="2190750"/>
            <a:ext cx="4505325" cy="2152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0906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dirty="0"/>
          </a:p>
        </p:txBody>
      </p:sp>
      <p:sp>
        <p:nvSpPr>
          <p:cNvPr id="4" name="TextBox 3"/>
          <p:cNvSpPr txBox="1"/>
          <p:nvPr/>
        </p:nvSpPr>
        <p:spPr>
          <a:xfrm>
            <a:off x="838200" y="1123950"/>
            <a:ext cx="5638800" cy="584775"/>
          </a:xfrm>
          <a:prstGeom prst="rect">
            <a:avLst/>
          </a:prstGeom>
          <a:noFill/>
        </p:spPr>
        <p:txBody>
          <a:bodyPr wrap="square" rtlCol="0">
            <a:spAutoFit/>
          </a:bodyPr>
          <a:lstStyle/>
          <a:p>
            <a:pPr algn="ctr"/>
            <a:r>
              <a:rPr lang="en-US" sz="3200" dirty="0">
                <a:latin typeface="Sniglet"/>
              </a:rPr>
              <a:t>When in doubt, don’t assume</a:t>
            </a:r>
          </a:p>
        </p:txBody>
      </p:sp>
      <p:pic>
        <p:nvPicPr>
          <p:cNvPr id="2052" name="Picture 4" descr="Image result for donkey carto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1149562"/>
            <a:ext cx="1114425" cy="19335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219200" y="1885950"/>
            <a:ext cx="5257800" cy="1200329"/>
          </a:xfrm>
          <a:prstGeom prst="rect">
            <a:avLst/>
          </a:prstGeom>
          <a:noFill/>
        </p:spPr>
        <p:txBody>
          <a:bodyPr wrap="square" rtlCol="0">
            <a:spAutoFit/>
          </a:bodyPr>
          <a:lstStyle/>
          <a:p>
            <a:pPr marL="285750" indent="-285750">
              <a:buFont typeface="Wingdings" panose="05000000000000000000" pitchFamily="2" charset="2"/>
              <a:buChar char="q"/>
            </a:pPr>
            <a:r>
              <a:rPr lang="en-US" sz="1800" dirty="0">
                <a:latin typeface="Sniglet"/>
              </a:rPr>
              <a:t>Ask for assistance from QA, Supervisor</a:t>
            </a:r>
          </a:p>
          <a:p>
            <a:pPr marL="285750" indent="-285750">
              <a:buFont typeface="Wingdings" panose="05000000000000000000" pitchFamily="2" charset="2"/>
              <a:buChar char="q"/>
            </a:pPr>
            <a:r>
              <a:rPr lang="en-US" sz="1800" dirty="0">
                <a:latin typeface="Sniglet"/>
              </a:rPr>
              <a:t>Refer to Free ERISA website</a:t>
            </a:r>
          </a:p>
          <a:p>
            <a:pPr marL="285750" indent="-285750">
              <a:buFont typeface="Wingdings" panose="05000000000000000000" pitchFamily="2" charset="2"/>
              <a:buChar char="q"/>
            </a:pPr>
            <a:r>
              <a:rPr lang="en-US" sz="1800" dirty="0">
                <a:latin typeface="Sniglet"/>
              </a:rPr>
              <a:t>Request the Account Owner/Implementation Manager obtain confirmation from the Client</a:t>
            </a:r>
          </a:p>
        </p:txBody>
      </p:sp>
    </p:spTree>
    <p:extLst>
      <p:ext uri="{BB962C8B-B14F-4D97-AF65-F5344CB8AC3E}">
        <p14:creationId xmlns:p14="http://schemas.microsoft.com/office/powerpoint/2010/main" val="345069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ctrTitle"/>
          </p:nvPr>
        </p:nvSpPr>
        <p:spPr>
          <a:xfrm>
            <a:off x="1219200" y="1962150"/>
            <a:ext cx="6206419"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b="1" dirty="0"/>
              <a:t>Applying Plan Name in Documents</a:t>
            </a:r>
            <a:endParaRPr sz="4000" b="1" dirty="0"/>
          </a:p>
        </p:txBody>
      </p:sp>
      <p:sp>
        <p:nvSpPr>
          <p:cNvPr id="74" name="Google Shape;74;p15"/>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16</a:t>
            </a:fld>
            <a:endParaRPr dirty="0"/>
          </a:p>
        </p:txBody>
      </p:sp>
    </p:spTree>
    <p:extLst>
      <p:ext uri="{BB962C8B-B14F-4D97-AF65-F5344CB8AC3E}">
        <p14:creationId xmlns:p14="http://schemas.microsoft.com/office/powerpoint/2010/main" val="4228221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590550"/>
            <a:ext cx="5500800" cy="533400"/>
          </a:xfrm>
        </p:spPr>
        <p:txBody>
          <a:bodyPr/>
          <a:lstStyle/>
          <a:p>
            <a:r>
              <a:rPr lang="en-US" sz="2400" b="1" dirty="0"/>
              <a:t>Plan Name - Contracts</a:t>
            </a:r>
          </a:p>
        </p:txBody>
      </p:sp>
      <p:sp>
        <p:nvSpPr>
          <p:cNvPr id="3" name="Subtitle 2"/>
          <p:cNvSpPr>
            <a:spLocks noGrp="1"/>
          </p:cNvSpPr>
          <p:nvPr>
            <p:ph type="subTitle" idx="1"/>
          </p:nvPr>
        </p:nvSpPr>
        <p:spPr>
          <a:xfrm>
            <a:off x="914400" y="1276350"/>
            <a:ext cx="7315200" cy="784800"/>
          </a:xfrm>
        </p:spPr>
        <p:txBody>
          <a:bodyPr/>
          <a:lstStyle/>
          <a:p>
            <a:pPr>
              <a:buFont typeface="Wingdings" panose="05000000000000000000" pitchFamily="2" charset="2"/>
              <a:buChar char="q"/>
            </a:pPr>
            <a:r>
              <a:rPr lang="en-US" sz="1800" dirty="0">
                <a:solidFill>
                  <a:schemeClr val="tx1"/>
                </a:solidFill>
              </a:rPr>
              <a:t>Verify Plan Name(s) via Plan Document using General Plan Information section</a:t>
            </a:r>
          </a:p>
          <a:p>
            <a:pPr>
              <a:buFont typeface="Wingdings" panose="05000000000000000000" pitchFamily="2" charset="2"/>
              <a:buChar char="q"/>
            </a:pPr>
            <a:r>
              <a:rPr lang="en-US" sz="1800" dirty="0">
                <a:solidFill>
                  <a:schemeClr val="tx1"/>
                </a:solidFill>
              </a:rPr>
              <a:t>Do not assume Plan Name always is “Employee Benefit Plan”</a:t>
            </a:r>
          </a:p>
          <a:p>
            <a:pPr>
              <a:buFont typeface="Wingdings" panose="05000000000000000000" pitchFamily="2" charset="2"/>
              <a:buChar char="q"/>
            </a:pPr>
            <a:r>
              <a:rPr lang="en-US" sz="1800" dirty="0">
                <a:solidFill>
                  <a:schemeClr val="tx1"/>
                </a:solidFill>
              </a:rPr>
              <a:t>Include all applicable Plan Names in introductory paragraph of the ASA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dirty="0"/>
          </a:p>
        </p:txBody>
      </p:sp>
      <p:sp>
        <p:nvSpPr>
          <p:cNvPr id="5" name="Rectangle 4"/>
          <p:cNvSpPr/>
          <p:nvPr/>
        </p:nvSpPr>
        <p:spPr>
          <a:xfrm>
            <a:off x="1905000" y="2724150"/>
            <a:ext cx="5486400" cy="1631216"/>
          </a:xfrm>
          <a:prstGeom prst="rect">
            <a:avLst/>
          </a:prstGeom>
        </p:spPr>
        <p:txBody>
          <a:bodyPr wrap="square">
            <a:spAutoFit/>
          </a:bodyPr>
          <a:lstStyle/>
          <a:p>
            <a:r>
              <a:rPr lang="en-US" sz="1000" dirty="0"/>
              <a:t>This Administrative Services Agreement (this “</a:t>
            </a:r>
            <a:r>
              <a:rPr lang="en-US" sz="1000" b="1" dirty="0"/>
              <a:t>Agreement</a:t>
            </a:r>
            <a:r>
              <a:rPr lang="en-US" sz="1000" dirty="0"/>
              <a:t>”), effective as of </a:t>
            </a:r>
            <a:r>
              <a:rPr lang="en-US" sz="1000" b="1" dirty="0"/>
              <a:t>{---Effective Date---}</a:t>
            </a:r>
            <a:r>
              <a:rPr lang="en-US" sz="1000" dirty="0"/>
              <a:t> (the “</a:t>
            </a:r>
            <a:r>
              <a:rPr lang="en-US" sz="1000" b="1" dirty="0"/>
              <a:t>Effective Date</a:t>
            </a:r>
            <a:r>
              <a:rPr lang="en-US" sz="1000" dirty="0"/>
              <a:t>”), is by and between </a:t>
            </a:r>
            <a:r>
              <a:rPr lang="en-US" sz="1000" b="1" dirty="0"/>
              <a:t>Meritain Health, Inc.</a:t>
            </a:r>
            <a:r>
              <a:rPr lang="en-US" sz="1000" dirty="0"/>
              <a:t>, (including any of its affiliates performing Services hereunder) having its principal office at </a:t>
            </a:r>
            <a:r>
              <a:rPr lang="en-US" sz="1000" b="1" dirty="0"/>
              <a:t>300 Corporate Parkway, Amherst, New York 14226</a:t>
            </a:r>
            <a:r>
              <a:rPr lang="en-US" sz="1000" dirty="0"/>
              <a:t> (“</a:t>
            </a:r>
            <a:r>
              <a:rPr lang="en-US" sz="1000" b="1" dirty="0"/>
              <a:t>Meritain</a:t>
            </a:r>
            <a:r>
              <a:rPr lang="en-US" sz="1000" dirty="0"/>
              <a:t>”) and </a:t>
            </a:r>
            <a:r>
              <a:rPr lang="en-US" sz="1000" b="1" dirty="0"/>
              <a:t>{---Client Name---}</a:t>
            </a:r>
            <a:r>
              <a:rPr lang="en-US" sz="1000" dirty="0"/>
              <a:t>  having its principal office at </a:t>
            </a:r>
            <a:r>
              <a:rPr lang="en-US" sz="1000" b="1" dirty="0"/>
              <a:t>{---Street1---}, {---Street2---}, {---City---}, {---State/Province---} {---Postal Code---}</a:t>
            </a:r>
            <a:r>
              <a:rPr lang="en-US" sz="1000" dirty="0"/>
              <a:t>  (“</a:t>
            </a:r>
            <a:r>
              <a:rPr lang="en-US" sz="1000" b="1" dirty="0"/>
              <a:t>Client</a:t>
            </a:r>
            <a:r>
              <a:rPr lang="en-US" sz="1000" dirty="0"/>
              <a:t>”). This Agreement applies to services to be provided by Meritain to Client in connection with Client’s self-funded employee welfare benefit plan(s) formally known as: </a:t>
            </a:r>
            <a:r>
              <a:rPr lang="en-US" sz="1000" b="1" dirty="0">
                <a:solidFill>
                  <a:srgbClr val="FF0000"/>
                </a:solidFill>
              </a:rPr>
              <a:t>{---Legal Plan Name---}</a:t>
            </a:r>
            <a:r>
              <a:rPr lang="en-US" sz="1000" dirty="0">
                <a:solidFill>
                  <a:srgbClr val="FF0000"/>
                </a:solidFill>
              </a:rPr>
              <a:t> </a:t>
            </a:r>
            <a:r>
              <a:rPr lang="en-US" sz="1000" dirty="0"/>
              <a:t> (the “</a:t>
            </a:r>
            <a:r>
              <a:rPr lang="en-US" sz="1000" b="1" dirty="0"/>
              <a:t>Plan</a:t>
            </a:r>
            <a:r>
              <a:rPr lang="en-US" sz="1000" dirty="0"/>
              <a:t>”).</a:t>
            </a:r>
            <a:r>
              <a:rPr lang="en-US" sz="1000" b="1" dirty="0"/>
              <a:t> </a:t>
            </a:r>
            <a:r>
              <a:rPr lang="en-US" sz="1000" dirty="0"/>
              <a:t>In consideration of the mutual covenants and promises stated herein, and other good and valuable consideration, the receipt and sufficiency of which are acknowledged by each party, the parties agree as follows:</a:t>
            </a:r>
          </a:p>
        </p:txBody>
      </p:sp>
    </p:spTree>
    <p:extLst>
      <p:ext uri="{BB962C8B-B14F-4D97-AF65-F5344CB8AC3E}">
        <p14:creationId xmlns:p14="http://schemas.microsoft.com/office/powerpoint/2010/main" val="2363703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796175"/>
            <a:ext cx="7232201" cy="750300"/>
          </a:xfrm>
        </p:spPr>
        <p:txBody>
          <a:bodyPr/>
          <a:lstStyle/>
          <a:p>
            <a:r>
              <a:rPr lang="en-US" sz="2400" dirty="0"/>
              <a:t>Plan Name: Amendment/SBC Instructions</a:t>
            </a:r>
          </a:p>
        </p:txBody>
      </p:sp>
      <p:sp>
        <p:nvSpPr>
          <p:cNvPr id="7" name="Text Placeholder 6"/>
          <p:cNvSpPr>
            <a:spLocks noGrp="1"/>
          </p:cNvSpPr>
          <p:nvPr>
            <p:ph type="body" idx="1"/>
          </p:nvPr>
        </p:nvSpPr>
        <p:spPr>
          <a:xfrm>
            <a:off x="1049501" y="1437426"/>
            <a:ext cx="7020900" cy="1820124"/>
          </a:xfrm>
        </p:spPr>
        <p:txBody>
          <a:bodyPr/>
          <a:lstStyle/>
          <a:p>
            <a:pPr marL="344488" indent="-344488">
              <a:buFont typeface="Wingdings" panose="05000000000000000000" pitchFamily="2" charset="2"/>
              <a:buChar char="q"/>
            </a:pPr>
            <a:r>
              <a:rPr lang="en-US" sz="1800" dirty="0">
                <a:solidFill>
                  <a:schemeClr val="tx1"/>
                </a:solidFill>
              </a:rPr>
              <a:t>To verify Plan Name, DO NOT look at prior amendments. Go to 1</a:t>
            </a:r>
            <a:r>
              <a:rPr lang="en-US" sz="1800" baseline="30000" dirty="0">
                <a:solidFill>
                  <a:schemeClr val="tx1"/>
                </a:solidFill>
              </a:rPr>
              <a:t>st</a:t>
            </a:r>
            <a:r>
              <a:rPr lang="en-US" sz="1800" dirty="0">
                <a:solidFill>
                  <a:schemeClr val="tx1"/>
                </a:solidFill>
              </a:rPr>
              <a:t> line of most recent General Plan Information section.</a:t>
            </a:r>
          </a:p>
          <a:p>
            <a:pPr marL="344488" indent="-344488">
              <a:buFont typeface="Wingdings" panose="05000000000000000000" pitchFamily="2" charset="2"/>
              <a:buChar char="q"/>
            </a:pPr>
            <a:r>
              <a:rPr lang="en-US" sz="1800" dirty="0">
                <a:solidFill>
                  <a:schemeClr val="tx1"/>
                </a:solidFill>
              </a:rPr>
              <a:t>In amendment template, everywhere you see </a:t>
            </a:r>
            <a:r>
              <a:rPr lang="en-US" sz="1800" i="1" dirty="0">
                <a:solidFill>
                  <a:srgbClr val="92D050"/>
                </a:solidFill>
              </a:rPr>
              <a:t>“Group Name Name of Plan”</a:t>
            </a:r>
            <a:r>
              <a:rPr lang="en-US" sz="1800" dirty="0">
                <a:solidFill>
                  <a:schemeClr val="tx1"/>
                </a:solidFill>
              </a:rPr>
              <a:t>, </a:t>
            </a:r>
            <a:r>
              <a:rPr lang="en-US" sz="1800" b="1" dirty="0">
                <a:solidFill>
                  <a:schemeClr val="tx1"/>
                </a:solidFill>
              </a:rPr>
              <a:t>match name exactly as it appears in General Plan Information</a:t>
            </a:r>
            <a:r>
              <a:rPr lang="en-US" sz="1800" dirty="0">
                <a:solidFill>
                  <a:schemeClr val="tx1"/>
                </a:solidFill>
              </a:rPr>
              <a:t>.</a:t>
            </a:r>
            <a:r>
              <a:rPr lang="en-US" sz="1800" b="1" dirty="0">
                <a:solidFill>
                  <a:schemeClr val="tx1"/>
                </a:solidFill>
              </a:rPr>
              <a:t> </a:t>
            </a:r>
          </a:p>
          <a:p>
            <a:pPr marL="344488" indent="-344488">
              <a:buFont typeface="Wingdings" panose="05000000000000000000" pitchFamily="2" charset="2"/>
              <a:buChar char="q"/>
            </a:pPr>
            <a:r>
              <a:rPr lang="en-US" sz="1800" dirty="0">
                <a:solidFill>
                  <a:schemeClr val="tx1"/>
                </a:solidFill>
              </a:rPr>
              <a:t>Include this same name in the header section of the SBC.</a:t>
            </a:r>
            <a:r>
              <a:rPr lang="en-US" sz="1800" b="1" dirty="0">
                <a:solidFill>
                  <a:schemeClr val="tx1"/>
                </a:solidFill>
              </a:rPr>
              <a:t> </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pic>
        <p:nvPicPr>
          <p:cNvPr id="2051" name="Picture 3" descr="C:\Users\elizabeth.westman\AppData\Local\Microsoft\Windows\Temporary Internet Files\Content.IE5\9LMFV9XP\leadership[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514350"/>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654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307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588" y="1123950"/>
            <a:ext cx="6854825" cy="289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3345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3" name="TextBox 2"/>
          <p:cNvSpPr txBox="1"/>
          <p:nvPr/>
        </p:nvSpPr>
        <p:spPr>
          <a:xfrm>
            <a:off x="1371600" y="971550"/>
            <a:ext cx="6324600" cy="923330"/>
          </a:xfrm>
          <a:prstGeom prst="rect">
            <a:avLst/>
          </a:prstGeom>
          <a:noFill/>
        </p:spPr>
        <p:txBody>
          <a:bodyPr wrap="square" rtlCol="0">
            <a:spAutoFit/>
          </a:bodyPr>
          <a:lstStyle/>
          <a:p>
            <a:pPr algn="ctr"/>
            <a:r>
              <a:rPr lang="en-US" sz="1800" dirty="0">
                <a:solidFill>
                  <a:schemeClr val="tx1"/>
                </a:solidFill>
                <a:latin typeface="Sniglet"/>
              </a:rPr>
              <a:t>Before the signature lines, </a:t>
            </a:r>
            <a:r>
              <a:rPr lang="en-US" sz="1800" dirty="0">
                <a:solidFill>
                  <a:schemeClr val="accent4"/>
                </a:solidFill>
                <a:latin typeface="Sniglet"/>
              </a:rPr>
              <a:t>“Name of Plan” </a:t>
            </a:r>
            <a:r>
              <a:rPr lang="en-US" sz="1800" dirty="0">
                <a:solidFill>
                  <a:schemeClr val="tx1"/>
                </a:solidFill>
                <a:latin typeface="Sniglet"/>
              </a:rPr>
              <a:t>is </a:t>
            </a:r>
            <a:r>
              <a:rPr lang="en-US" sz="1800" i="1" dirty="0">
                <a:solidFill>
                  <a:schemeClr val="tx1"/>
                </a:solidFill>
                <a:latin typeface="Sniglet"/>
              </a:rPr>
              <a:t>just</a:t>
            </a:r>
            <a:r>
              <a:rPr lang="en-US" sz="1800" dirty="0">
                <a:solidFill>
                  <a:schemeClr val="tx1"/>
                </a:solidFill>
                <a:latin typeface="Sniglet"/>
              </a:rPr>
              <a:t> the Plan Name </a:t>
            </a:r>
            <a:r>
              <a:rPr lang="en-US" sz="1800" b="1" dirty="0">
                <a:solidFill>
                  <a:schemeClr val="tx1"/>
                </a:solidFill>
                <a:latin typeface="Sniglet"/>
              </a:rPr>
              <a:t>without</a:t>
            </a:r>
            <a:r>
              <a:rPr lang="en-US" sz="1800" dirty="0">
                <a:solidFill>
                  <a:schemeClr val="tx1"/>
                </a:solidFill>
                <a:latin typeface="Sniglet"/>
              </a:rPr>
              <a:t> the Group’s Name, e.g. Health Plan or Employee Benefit Plan.   </a:t>
            </a:r>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724150"/>
            <a:ext cx="6854825" cy="153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descr="C:\Users\elizabeth.westman\AppData\Local\Microsoft\Windows\Temporary Internet Files\Content.IE5\8USVDXZJ\AK_signatur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399" y="3256490"/>
            <a:ext cx="509129" cy="24811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C:\Users\elizabeth.westman\AppData\Local\Microsoft\Windows\Temporary Internet Files\Content.IE5\6JI39Q7P\Manuel_Oribe_Signatur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3674172"/>
            <a:ext cx="1042040" cy="153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303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Name: Multiple Documents</a:t>
            </a:r>
          </a:p>
        </p:txBody>
      </p:sp>
      <p:sp>
        <p:nvSpPr>
          <p:cNvPr id="3" name="Text Placeholder 2"/>
          <p:cNvSpPr>
            <a:spLocks noGrp="1"/>
          </p:cNvSpPr>
          <p:nvPr>
            <p:ph type="body" idx="1"/>
          </p:nvPr>
        </p:nvSpPr>
        <p:spPr>
          <a:xfrm>
            <a:off x="1049501" y="1437426"/>
            <a:ext cx="6875299" cy="1439124"/>
          </a:xfrm>
        </p:spPr>
        <p:txBody>
          <a:bodyPr/>
          <a:lstStyle/>
          <a:p>
            <a:pPr marL="76200" indent="0" algn="ctr">
              <a:buNone/>
            </a:pPr>
            <a:r>
              <a:rPr lang="en-US" sz="2000" dirty="0">
                <a:solidFill>
                  <a:schemeClr val="tx1"/>
                </a:solidFill>
              </a:rPr>
              <a:t>Some clients have multiple Plan Documents. Examples of this include, but are not limited to separate docs for each plan option or separate docs for union and non-union Employees.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5" name="Documents"/>
          <p:cNvSpPr>
            <a:spLocks noEditPoints="1" noChangeArrowheads="1"/>
          </p:cNvSpPr>
          <p:nvPr/>
        </p:nvSpPr>
        <p:spPr bwMode="auto">
          <a:xfrm>
            <a:off x="4038600" y="2962275"/>
            <a:ext cx="1047750" cy="1047750"/>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976079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3" name="TextBox 2"/>
          <p:cNvSpPr txBox="1"/>
          <p:nvPr/>
        </p:nvSpPr>
        <p:spPr>
          <a:xfrm>
            <a:off x="3657600" y="1200149"/>
            <a:ext cx="4114800" cy="2585323"/>
          </a:xfrm>
          <a:prstGeom prst="rect">
            <a:avLst/>
          </a:prstGeom>
          <a:noFill/>
        </p:spPr>
        <p:txBody>
          <a:bodyPr wrap="square" rtlCol="0">
            <a:spAutoFit/>
          </a:bodyPr>
          <a:lstStyle/>
          <a:p>
            <a:r>
              <a:rPr lang="en-US" sz="1800" dirty="0">
                <a:solidFill>
                  <a:schemeClr val="tx1"/>
                </a:solidFill>
                <a:latin typeface="Sniglet"/>
              </a:rPr>
              <a:t>For clients with multiple Plan Documents, they should be named differently to distinguish each doc.  If you come across a client with multiple docs which are all named the same, add the </a:t>
            </a:r>
            <a:r>
              <a:rPr lang="en-US" sz="1800" b="1" dirty="0">
                <a:solidFill>
                  <a:schemeClr val="tx1"/>
                </a:solidFill>
                <a:latin typeface="Sniglet"/>
              </a:rPr>
              <a:t>Name of the Plan </a:t>
            </a:r>
            <a:r>
              <a:rPr lang="en-US" sz="1800" b="1" i="1" dirty="0">
                <a:solidFill>
                  <a:schemeClr val="tx1"/>
                </a:solidFill>
                <a:latin typeface="Sniglet"/>
              </a:rPr>
              <a:t>option</a:t>
            </a:r>
            <a:r>
              <a:rPr lang="en-US" sz="1800" dirty="0">
                <a:solidFill>
                  <a:schemeClr val="tx1"/>
                </a:solidFill>
                <a:latin typeface="Sniglet"/>
              </a:rPr>
              <a:t> to the footer, saved name AND the amendment heading (even if it is not listed in General Plan Information). </a:t>
            </a:r>
          </a:p>
        </p:txBody>
      </p:sp>
      <p:pic>
        <p:nvPicPr>
          <p:cNvPr id="4099" name="Picture 3" descr="C:\Users\elizabeth.westman\AppData\Local\Microsoft\Windows\Temporary Internet Files\Content.IE5\9LMFV9XP\magnifier[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00149"/>
            <a:ext cx="2286000" cy="2862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775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6800" y="666750"/>
            <a:ext cx="7020900" cy="533400"/>
          </a:xfrm>
        </p:spPr>
        <p:txBody>
          <a:bodyPr/>
          <a:lstStyle/>
          <a:p>
            <a:pPr algn="ctr"/>
            <a:r>
              <a:rPr lang="en-US" sz="1800" b="0" dirty="0">
                <a:solidFill>
                  <a:schemeClr val="tx1"/>
                </a:solidFill>
                <a:latin typeface="Sniglet"/>
              </a:rPr>
              <a:t>Piedmont Eye Center (16240) has 4 Plan Documents:  </a:t>
            </a:r>
          </a:p>
        </p:txBody>
      </p:sp>
      <p:sp>
        <p:nvSpPr>
          <p:cNvPr id="5" name="Text Placeholder 4"/>
          <p:cNvSpPr>
            <a:spLocks noGrp="1"/>
          </p:cNvSpPr>
          <p:nvPr>
            <p:ph type="body" idx="1"/>
          </p:nvPr>
        </p:nvSpPr>
        <p:spPr>
          <a:xfrm>
            <a:off x="1676400" y="1200150"/>
            <a:ext cx="2667000" cy="838200"/>
          </a:xfrm>
        </p:spPr>
        <p:txBody>
          <a:bodyPr/>
          <a:lstStyle/>
          <a:p>
            <a:pPr>
              <a:buFont typeface="Wingdings" panose="05000000000000000000" pitchFamily="2" charset="2"/>
              <a:buChar char="q"/>
            </a:pPr>
            <a:r>
              <a:rPr lang="en-US" dirty="0">
                <a:solidFill>
                  <a:schemeClr val="tx1"/>
                </a:solidFill>
              </a:rPr>
              <a:t>500/25 Plan</a:t>
            </a:r>
          </a:p>
          <a:p>
            <a:pPr>
              <a:buFont typeface="Wingdings" panose="05000000000000000000" pitchFamily="2" charset="2"/>
              <a:buChar char="q"/>
            </a:pPr>
            <a:r>
              <a:rPr lang="en-US" dirty="0">
                <a:solidFill>
                  <a:schemeClr val="tx1"/>
                </a:solidFill>
              </a:rPr>
              <a:t>1000/30 Plan </a:t>
            </a:r>
          </a:p>
        </p:txBody>
      </p:sp>
      <p:sp>
        <p:nvSpPr>
          <p:cNvPr id="6" name="Text Placeholder 5"/>
          <p:cNvSpPr>
            <a:spLocks noGrp="1"/>
          </p:cNvSpPr>
          <p:nvPr>
            <p:ph type="body" idx="2"/>
          </p:nvPr>
        </p:nvSpPr>
        <p:spPr>
          <a:xfrm>
            <a:off x="4800600" y="1200150"/>
            <a:ext cx="2638475" cy="959700"/>
          </a:xfrm>
        </p:spPr>
        <p:txBody>
          <a:bodyPr/>
          <a:lstStyle/>
          <a:p>
            <a:pPr>
              <a:buFont typeface="Wingdings" panose="05000000000000000000" pitchFamily="2" charset="2"/>
              <a:buChar char="q"/>
            </a:pPr>
            <a:r>
              <a:rPr lang="en-US" dirty="0">
                <a:solidFill>
                  <a:schemeClr val="tx1"/>
                </a:solidFill>
              </a:rPr>
              <a:t>2000/30 Plan </a:t>
            </a:r>
          </a:p>
          <a:p>
            <a:pPr>
              <a:buFont typeface="Wingdings" panose="05000000000000000000" pitchFamily="2" charset="2"/>
              <a:buChar char="q"/>
            </a:pPr>
            <a:r>
              <a:rPr lang="en-US" dirty="0">
                <a:solidFill>
                  <a:schemeClr val="tx1"/>
                </a:solidFill>
              </a:rPr>
              <a:t>5000 HSA Plan </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7" name="TextBox 6"/>
          <p:cNvSpPr txBox="1"/>
          <p:nvPr/>
        </p:nvSpPr>
        <p:spPr>
          <a:xfrm>
            <a:off x="952499" y="2266950"/>
            <a:ext cx="7543800" cy="646331"/>
          </a:xfrm>
          <a:prstGeom prst="rect">
            <a:avLst/>
          </a:prstGeom>
          <a:noFill/>
        </p:spPr>
        <p:txBody>
          <a:bodyPr wrap="square" rtlCol="0">
            <a:spAutoFit/>
          </a:bodyPr>
          <a:lstStyle/>
          <a:p>
            <a:r>
              <a:rPr lang="en-US" sz="1800" dirty="0">
                <a:solidFill>
                  <a:schemeClr val="tx1"/>
                </a:solidFill>
                <a:latin typeface="Sniglet"/>
              </a:rPr>
              <a:t>Amendment #4 for the 500 Plan should be saved as 16240-04-500Plan. </a:t>
            </a:r>
          </a:p>
          <a:p>
            <a:r>
              <a:rPr lang="en-US" sz="1800" dirty="0">
                <a:solidFill>
                  <a:schemeClr val="tx1"/>
                </a:solidFill>
                <a:latin typeface="Sniglet"/>
              </a:rPr>
              <a:t>Plan option name should also be included in header:  </a:t>
            </a:r>
          </a:p>
        </p:txBody>
      </p:sp>
      <p:sp>
        <p:nvSpPr>
          <p:cNvPr id="8" name="TextBox 7"/>
          <p:cNvSpPr txBox="1"/>
          <p:nvPr/>
        </p:nvSpPr>
        <p:spPr>
          <a:xfrm>
            <a:off x="2209800" y="3150096"/>
            <a:ext cx="4191000" cy="1277273"/>
          </a:xfrm>
          <a:prstGeom prst="rect">
            <a:avLst/>
          </a:prstGeom>
          <a:noFill/>
        </p:spPr>
        <p:txBody>
          <a:bodyPr wrap="square" rtlCol="0">
            <a:spAutoFit/>
          </a:bodyPr>
          <a:lstStyle/>
          <a:p>
            <a:pPr algn="ctr"/>
            <a:r>
              <a:rPr lang="en-US" sz="1100" b="1" dirty="0"/>
              <a:t>SUMMARY OF MATERIAL MODIFICATION</a:t>
            </a:r>
          </a:p>
          <a:p>
            <a:pPr algn="ctr"/>
            <a:r>
              <a:rPr lang="en-US" sz="1100" b="1" dirty="0"/>
              <a:t>AND </a:t>
            </a:r>
          </a:p>
          <a:p>
            <a:pPr algn="ctr"/>
            <a:r>
              <a:rPr lang="en-US" sz="1100" b="1" dirty="0"/>
              <a:t>AMENDMENT #4</a:t>
            </a:r>
          </a:p>
          <a:p>
            <a:pPr algn="ctr"/>
            <a:r>
              <a:rPr lang="en-US" sz="1100" b="1" dirty="0"/>
              <a:t>TO THE </a:t>
            </a:r>
          </a:p>
          <a:p>
            <a:pPr algn="ctr"/>
            <a:r>
              <a:rPr lang="en-US" sz="1100" b="1" dirty="0"/>
              <a:t>PEC EMPLOYEE BENEFIT PLAN</a:t>
            </a:r>
          </a:p>
          <a:p>
            <a:pPr algn="ctr"/>
            <a:r>
              <a:rPr lang="en-US" sz="1100" b="1" dirty="0"/>
              <a:t>500 PLAN</a:t>
            </a:r>
          </a:p>
          <a:p>
            <a:pPr algn="ctr"/>
            <a:r>
              <a:rPr lang="en-US" sz="1100" b="1" dirty="0"/>
              <a:t>GROUP NO. 16240</a:t>
            </a:r>
          </a:p>
        </p:txBody>
      </p:sp>
      <p:pic>
        <p:nvPicPr>
          <p:cNvPr id="5128" name="Picture 8" descr="C:\Users\elizabeth.westman\AppData\Local\Microsoft\Windows\Temporary Internet Files\Content.IE5\6JI39Q7P\Nuvola_arrow_left_pink[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1248" y="4083181"/>
            <a:ext cx="160279" cy="127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195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1049501" y="796175"/>
            <a:ext cx="7020900" cy="75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Plan Name: R</a:t>
            </a:r>
            <a:r>
              <a:rPr lang="en-US" dirty="0"/>
              <a:t>e</a:t>
            </a:r>
            <a:r>
              <a:rPr lang="en" dirty="0"/>
              <a:t>minders</a:t>
            </a:r>
            <a:endParaRPr dirty="0"/>
          </a:p>
        </p:txBody>
      </p:sp>
      <p:sp>
        <p:nvSpPr>
          <p:cNvPr id="113" name="Google Shape;113;p20"/>
          <p:cNvSpPr txBox="1">
            <a:spLocks noGrp="1"/>
          </p:cNvSpPr>
          <p:nvPr>
            <p:ph type="body" idx="1"/>
          </p:nvPr>
        </p:nvSpPr>
        <p:spPr>
          <a:xfrm>
            <a:off x="842587" y="2160096"/>
            <a:ext cx="2347149" cy="1038848"/>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sz="1500" dirty="0">
                <a:solidFill>
                  <a:schemeClr val="tx1"/>
                </a:solidFill>
              </a:rPr>
              <a:t>Use General Plan Information to verify the Plan Name.</a:t>
            </a:r>
          </a:p>
          <a:p>
            <a:pPr marL="0" lvl="0" indent="0" algn="l" rtl="0">
              <a:spcBef>
                <a:spcPts val="600"/>
              </a:spcBef>
              <a:spcAft>
                <a:spcPts val="0"/>
              </a:spcAft>
              <a:buNone/>
            </a:pPr>
            <a:endParaRPr lang="en-US" dirty="0">
              <a:solidFill>
                <a:schemeClr val="tx1"/>
              </a:solidFill>
            </a:endParaRPr>
          </a:p>
        </p:txBody>
      </p:sp>
      <p:sp>
        <p:nvSpPr>
          <p:cNvPr id="114" name="Google Shape;114;p20"/>
          <p:cNvSpPr txBox="1">
            <a:spLocks noGrp="1"/>
          </p:cNvSpPr>
          <p:nvPr>
            <p:ph type="body" idx="2"/>
          </p:nvPr>
        </p:nvSpPr>
        <p:spPr>
          <a:xfrm>
            <a:off x="3289877" y="2066302"/>
            <a:ext cx="2289699" cy="1038848"/>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sz="1500" dirty="0">
                <a:solidFill>
                  <a:schemeClr val="tx1"/>
                </a:solidFill>
              </a:rPr>
              <a:t>Don’t copy the Plan Name from prior amendments.  </a:t>
            </a:r>
            <a:endParaRPr sz="1500" dirty="0">
              <a:solidFill>
                <a:schemeClr val="tx1"/>
              </a:solidFill>
            </a:endParaRPr>
          </a:p>
        </p:txBody>
      </p:sp>
      <p:sp>
        <p:nvSpPr>
          <p:cNvPr id="115" name="Google Shape;115;p20"/>
          <p:cNvSpPr txBox="1">
            <a:spLocks noGrp="1"/>
          </p:cNvSpPr>
          <p:nvPr>
            <p:ph type="body" idx="3"/>
          </p:nvPr>
        </p:nvSpPr>
        <p:spPr>
          <a:xfrm>
            <a:off x="5638800" y="2066303"/>
            <a:ext cx="2359251" cy="1191248"/>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sz="1500" dirty="0">
                <a:solidFill>
                  <a:schemeClr val="tx1"/>
                </a:solidFill>
              </a:rPr>
              <a:t>Use Free ERISA website when the Plan Name is unknown or in question for ERISA Plans.</a:t>
            </a:r>
            <a:endParaRPr sz="1500" dirty="0">
              <a:solidFill>
                <a:schemeClr val="tx1"/>
              </a:solidFill>
            </a:endParaRPr>
          </a:p>
          <a:p>
            <a:pPr marL="0" lvl="0" indent="0" algn="l" rtl="0">
              <a:spcBef>
                <a:spcPts val="600"/>
              </a:spcBef>
              <a:spcAft>
                <a:spcPts val="0"/>
              </a:spcAft>
              <a:buNone/>
            </a:pPr>
            <a:endParaRPr dirty="0"/>
          </a:p>
        </p:txBody>
      </p:sp>
      <p:sp>
        <p:nvSpPr>
          <p:cNvPr id="116" name="Google Shape;116;p20"/>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24</a:t>
            </a:fld>
            <a:endParaRPr dirty="0"/>
          </a:p>
        </p:txBody>
      </p:sp>
      <p:pic>
        <p:nvPicPr>
          <p:cNvPr id="6149" name="Picture 5" descr="C:\Users\elizabeth.westman\AppData\Local\Microsoft\Windows\Temporary Internet Files\Content.IE5\8USVDXZJ\MB_line_1_icon[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386" y="1428750"/>
            <a:ext cx="637552" cy="637552"/>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C:\Users\elizabeth.westman\AppData\Local\Microsoft\Windows\Temporary Internet Files\Content.IE5\ZDF3ZXBT\2-graphic[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1353" y="1399552"/>
            <a:ext cx="666750" cy="666750"/>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C:\Users\elizabeth.westman\AppData\Local\Microsoft\Windows\Temporary Internet Files\Content.IE5\6JI39Q7P\640px-Bundesautobahn_3_number.svg[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6775" y="1391464"/>
            <a:ext cx="736600" cy="674838"/>
          </a:xfrm>
          <a:prstGeom prst="rect">
            <a:avLst/>
          </a:prstGeom>
          <a:noFill/>
          <a:extLst>
            <a:ext uri="{909E8E84-426E-40DD-AFC4-6F175D3DCCD1}">
              <a14:hiddenFill xmlns:a14="http://schemas.microsoft.com/office/drawing/2010/main">
                <a:solidFill>
                  <a:srgbClr val="FFFFFF"/>
                </a:solidFill>
              </a14:hiddenFill>
            </a:ext>
          </a:extLst>
        </p:spPr>
      </p:pic>
      <p:pic>
        <p:nvPicPr>
          <p:cNvPr id="6155" name="Picture 11" descr="C:\Users\elizabeth.westman\AppData\Local\Microsoft\Windows\Temporary Internet Files\Content.IE5\ZDF3ZXBT\reminder-smiley-face[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0307" y="3333750"/>
            <a:ext cx="907796" cy="8988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5"/>
          <p:cNvSpPr txBox="1">
            <a:spLocks noGrp="1"/>
          </p:cNvSpPr>
          <p:nvPr>
            <p:ph type="title"/>
          </p:nvPr>
        </p:nvSpPr>
        <p:spPr>
          <a:xfrm>
            <a:off x="2093926" y="1100975"/>
            <a:ext cx="5976300" cy="75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6000"/>
              <a:t>Thanks!</a:t>
            </a:r>
            <a:endParaRPr sz="6000" dirty="0"/>
          </a:p>
        </p:txBody>
      </p:sp>
      <p:sp>
        <p:nvSpPr>
          <p:cNvPr id="247" name="Google Shape;247;p35"/>
          <p:cNvSpPr txBox="1">
            <a:spLocks noGrp="1"/>
          </p:cNvSpPr>
          <p:nvPr>
            <p:ph type="body" idx="1"/>
          </p:nvPr>
        </p:nvSpPr>
        <p:spPr>
          <a:xfrm>
            <a:off x="2100000" y="2190750"/>
            <a:ext cx="5100900" cy="1896325"/>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dirty="0">
                <a:solidFill>
                  <a:schemeClr val="tx1"/>
                </a:solidFill>
              </a:rPr>
              <a:t>Any questions?</a:t>
            </a:r>
            <a:endParaRPr sz="3600" dirty="0">
              <a:solidFill>
                <a:schemeClr val="tx1"/>
              </a:solidFill>
            </a:endParaRPr>
          </a:p>
          <a:p>
            <a:pPr marL="0" lvl="0" indent="0" algn="ctr" rtl="0">
              <a:spcBef>
                <a:spcPts val="600"/>
              </a:spcBef>
              <a:spcAft>
                <a:spcPts val="0"/>
              </a:spcAft>
              <a:buClr>
                <a:schemeClr val="dk1"/>
              </a:buClr>
              <a:buSzPts val="1100"/>
              <a:buFont typeface="Arial"/>
              <a:buNone/>
            </a:pPr>
            <a:r>
              <a:rPr lang="en-US" sz="1800" dirty="0">
                <a:solidFill>
                  <a:schemeClr val="tx1"/>
                </a:solidFill>
              </a:rPr>
              <a:t>Please send questions related to specific scenarios to Beth Westman via email.  </a:t>
            </a:r>
            <a:endParaRPr sz="1800" dirty="0">
              <a:solidFill>
                <a:schemeClr val="tx1"/>
              </a:solidFill>
            </a:endParaRPr>
          </a:p>
        </p:txBody>
      </p:sp>
      <p:sp>
        <p:nvSpPr>
          <p:cNvPr id="248" name="Google Shape;248;p35"/>
          <p:cNvSpPr/>
          <p:nvPr/>
        </p:nvSpPr>
        <p:spPr>
          <a:xfrm flipH="1">
            <a:off x="1082114" y="898786"/>
            <a:ext cx="923991" cy="851362"/>
          </a:xfrm>
          <a:custGeom>
            <a:avLst/>
            <a:gdLst/>
            <a:ahLst/>
            <a:cxnLst/>
            <a:rect l="l" t="t" r="r" b="b"/>
            <a:pathLst>
              <a:path w="16717" h="15403" extrusionOk="0">
                <a:moveTo>
                  <a:pt x="9149" y="511"/>
                </a:moveTo>
                <a:lnTo>
                  <a:pt x="9587" y="560"/>
                </a:lnTo>
                <a:lnTo>
                  <a:pt x="10025" y="608"/>
                </a:lnTo>
                <a:lnTo>
                  <a:pt x="10439" y="681"/>
                </a:lnTo>
                <a:lnTo>
                  <a:pt x="10877" y="779"/>
                </a:lnTo>
                <a:lnTo>
                  <a:pt x="11290" y="900"/>
                </a:lnTo>
                <a:lnTo>
                  <a:pt x="11704" y="1046"/>
                </a:lnTo>
                <a:lnTo>
                  <a:pt x="12093" y="1217"/>
                </a:lnTo>
                <a:lnTo>
                  <a:pt x="12483" y="1411"/>
                </a:lnTo>
                <a:lnTo>
                  <a:pt x="12994" y="1703"/>
                </a:lnTo>
                <a:lnTo>
                  <a:pt x="13505" y="2020"/>
                </a:lnTo>
                <a:lnTo>
                  <a:pt x="13967" y="2360"/>
                </a:lnTo>
                <a:lnTo>
                  <a:pt x="14210" y="2555"/>
                </a:lnTo>
                <a:lnTo>
                  <a:pt x="14405" y="2750"/>
                </a:lnTo>
                <a:lnTo>
                  <a:pt x="14332" y="2871"/>
                </a:lnTo>
                <a:lnTo>
                  <a:pt x="14308" y="3017"/>
                </a:lnTo>
                <a:lnTo>
                  <a:pt x="14308" y="3066"/>
                </a:lnTo>
                <a:lnTo>
                  <a:pt x="14332" y="3090"/>
                </a:lnTo>
                <a:lnTo>
                  <a:pt x="14405" y="3139"/>
                </a:lnTo>
                <a:lnTo>
                  <a:pt x="14478" y="3139"/>
                </a:lnTo>
                <a:lnTo>
                  <a:pt x="14551" y="3090"/>
                </a:lnTo>
                <a:lnTo>
                  <a:pt x="14624" y="2993"/>
                </a:lnTo>
                <a:lnTo>
                  <a:pt x="14867" y="3285"/>
                </a:lnTo>
                <a:lnTo>
                  <a:pt x="14770" y="3358"/>
                </a:lnTo>
                <a:lnTo>
                  <a:pt x="14697" y="3431"/>
                </a:lnTo>
                <a:lnTo>
                  <a:pt x="14600" y="3601"/>
                </a:lnTo>
                <a:lnTo>
                  <a:pt x="14575" y="3674"/>
                </a:lnTo>
                <a:lnTo>
                  <a:pt x="14575" y="3723"/>
                </a:lnTo>
                <a:lnTo>
                  <a:pt x="14575" y="3772"/>
                </a:lnTo>
                <a:lnTo>
                  <a:pt x="14600" y="3796"/>
                </a:lnTo>
                <a:lnTo>
                  <a:pt x="14648" y="3796"/>
                </a:lnTo>
                <a:lnTo>
                  <a:pt x="14721" y="3772"/>
                </a:lnTo>
                <a:lnTo>
                  <a:pt x="14867" y="3699"/>
                </a:lnTo>
                <a:lnTo>
                  <a:pt x="15086" y="3601"/>
                </a:lnTo>
                <a:lnTo>
                  <a:pt x="15208" y="3820"/>
                </a:lnTo>
                <a:lnTo>
                  <a:pt x="15305" y="4064"/>
                </a:lnTo>
                <a:lnTo>
                  <a:pt x="15111" y="4137"/>
                </a:lnTo>
                <a:lnTo>
                  <a:pt x="15013" y="4185"/>
                </a:lnTo>
                <a:lnTo>
                  <a:pt x="14916" y="4234"/>
                </a:lnTo>
                <a:lnTo>
                  <a:pt x="14892" y="4307"/>
                </a:lnTo>
                <a:lnTo>
                  <a:pt x="14892" y="4380"/>
                </a:lnTo>
                <a:lnTo>
                  <a:pt x="14940" y="4429"/>
                </a:lnTo>
                <a:lnTo>
                  <a:pt x="15013" y="4453"/>
                </a:lnTo>
                <a:lnTo>
                  <a:pt x="15135" y="4453"/>
                </a:lnTo>
                <a:lnTo>
                  <a:pt x="15232" y="4429"/>
                </a:lnTo>
                <a:lnTo>
                  <a:pt x="15427" y="4380"/>
                </a:lnTo>
                <a:lnTo>
                  <a:pt x="15573" y="4915"/>
                </a:lnTo>
                <a:lnTo>
                  <a:pt x="15403" y="4964"/>
                </a:lnTo>
                <a:lnTo>
                  <a:pt x="15232" y="5061"/>
                </a:lnTo>
                <a:lnTo>
                  <a:pt x="15086" y="5183"/>
                </a:lnTo>
                <a:lnTo>
                  <a:pt x="15038" y="5256"/>
                </a:lnTo>
                <a:lnTo>
                  <a:pt x="15013" y="5329"/>
                </a:lnTo>
                <a:lnTo>
                  <a:pt x="15013" y="5378"/>
                </a:lnTo>
                <a:lnTo>
                  <a:pt x="15038" y="5402"/>
                </a:lnTo>
                <a:lnTo>
                  <a:pt x="15062" y="5426"/>
                </a:lnTo>
                <a:lnTo>
                  <a:pt x="15111" y="5451"/>
                </a:lnTo>
                <a:lnTo>
                  <a:pt x="15208" y="5451"/>
                </a:lnTo>
                <a:lnTo>
                  <a:pt x="15305" y="5426"/>
                </a:lnTo>
                <a:lnTo>
                  <a:pt x="15476" y="5353"/>
                </a:lnTo>
                <a:lnTo>
                  <a:pt x="15695" y="5305"/>
                </a:lnTo>
                <a:lnTo>
                  <a:pt x="15792" y="5743"/>
                </a:lnTo>
                <a:lnTo>
                  <a:pt x="15622" y="5816"/>
                </a:lnTo>
                <a:lnTo>
                  <a:pt x="15451" y="5864"/>
                </a:lnTo>
                <a:lnTo>
                  <a:pt x="15305" y="5937"/>
                </a:lnTo>
                <a:lnTo>
                  <a:pt x="15159" y="6035"/>
                </a:lnTo>
                <a:lnTo>
                  <a:pt x="15013" y="6132"/>
                </a:lnTo>
                <a:lnTo>
                  <a:pt x="15013" y="6181"/>
                </a:lnTo>
                <a:lnTo>
                  <a:pt x="15013" y="6205"/>
                </a:lnTo>
                <a:lnTo>
                  <a:pt x="15038" y="6229"/>
                </a:lnTo>
                <a:lnTo>
                  <a:pt x="15403" y="6229"/>
                </a:lnTo>
                <a:lnTo>
                  <a:pt x="15719" y="6181"/>
                </a:lnTo>
                <a:lnTo>
                  <a:pt x="15914" y="6156"/>
                </a:lnTo>
                <a:lnTo>
                  <a:pt x="16035" y="6594"/>
                </a:lnTo>
                <a:lnTo>
                  <a:pt x="15768" y="6691"/>
                </a:lnTo>
                <a:lnTo>
                  <a:pt x="15549" y="6764"/>
                </a:lnTo>
                <a:lnTo>
                  <a:pt x="15184" y="6910"/>
                </a:lnTo>
                <a:lnTo>
                  <a:pt x="15135" y="6935"/>
                </a:lnTo>
                <a:lnTo>
                  <a:pt x="15062" y="6983"/>
                </a:lnTo>
                <a:lnTo>
                  <a:pt x="15038" y="7032"/>
                </a:lnTo>
                <a:lnTo>
                  <a:pt x="15013" y="7081"/>
                </a:lnTo>
                <a:lnTo>
                  <a:pt x="15038" y="7056"/>
                </a:lnTo>
                <a:lnTo>
                  <a:pt x="15013" y="7105"/>
                </a:lnTo>
                <a:lnTo>
                  <a:pt x="15013" y="7129"/>
                </a:lnTo>
                <a:lnTo>
                  <a:pt x="15038" y="7154"/>
                </a:lnTo>
                <a:lnTo>
                  <a:pt x="15086" y="7202"/>
                </a:lnTo>
                <a:lnTo>
                  <a:pt x="15208" y="7227"/>
                </a:lnTo>
                <a:lnTo>
                  <a:pt x="15403" y="7227"/>
                </a:lnTo>
                <a:lnTo>
                  <a:pt x="15622" y="7178"/>
                </a:lnTo>
                <a:lnTo>
                  <a:pt x="15841" y="7129"/>
                </a:lnTo>
                <a:lnTo>
                  <a:pt x="16108" y="7056"/>
                </a:lnTo>
                <a:lnTo>
                  <a:pt x="16108" y="7397"/>
                </a:lnTo>
                <a:lnTo>
                  <a:pt x="16108" y="7713"/>
                </a:lnTo>
                <a:lnTo>
                  <a:pt x="16035" y="7713"/>
                </a:lnTo>
                <a:lnTo>
                  <a:pt x="15670" y="7762"/>
                </a:lnTo>
                <a:lnTo>
                  <a:pt x="15330" y="7786"/>
                </a:lnTo>
                <a:lnTo>
                  <a:pt x="14965" y="7835"/>
                </a:lnTo>
                <a:lnTo>
                  <a:pt x="14600" y="7932"/>
                </a:lnTo>
                <a:lnTo>
                  <a:pt x="14575" y="7957"/>
                </a:lnTo>
                <a:lnTo>
                  <a:pt x="14575" y="7981"/>
                </a:lnTo>
                <a:lnTo>
                  <a:pt x="14575" y="8005"/>
                </a:lnTo>
                <a:lnTo>
                  <a:pt x="14600" y="8030"/>
                </a:lnTo>
                <a:lnTo>
                  <a:pt x="15330" y="8151"/>
                </a:lnTo>
                <a:lnTo>
                  <a:pt x="15500" y="8176"/>
                </a:lnTo>
                <a:lnTo>
                  <a:pt x="15695" y="8200"/>
                </a:lnTo>
                <a:lnTo>
                  <a:pt x="15865" y="8176"/>
                </a:lnTo>
                <a:lnTo>
                  <a:pt x="16035" y="8127"/>
                </a:lnTo>
                <a:lnTo>
                  <a:pt x="16035" y="8176"/>
                </a:lnTo>
                <a:lnTo>
                  <a:pt x="15938" y="8565"/>
                </a:lnTo>
                <a:lnTo>
                  <a:pt x="15816" y="8930"/>
                </a:lnTo>
                <a:lnTo>
                  <a:pt x="15524" y="8881"/>
                </a:lnTo>
                <a:lnTo>
                  <a:pt x="15232" y="8833"/>
                </a:lnTo>
                <a:lnTo>
                  <a:pt x="15013" y="8784"/>
                </a:lnTo>
                <a:lnTo>
                  <a:pt x="14794" y="8760"/>
                </a:lnTo>
                <a:lnTo>
                  <a:pt x="14332" y="8784"/>
                </a:lnTo>
                <a:lnTo>
                  <a:pt x="14308" y="8784"/>
                </a:lnTo>
                <a:lnTo>
                  <a:pt x="14308" y="8808"/>
                </a:lnTo>
                <a:lnTo>
                  <a:pt x="14308" y="8833"/>
                </a:lnTo>
                <a:lnTo>
                  <a:pt x="14332" y="8833"/>
                </a:lnTo>
                <a:lnTo>
                  <a:pt x="14478" y="8881"/>
                </a:lnTo>
                <a:lnTo>
                  <a:pt x="14624" y="8954"/>
                </a:lnTo>
                <a:lnTo>
                  <a:pt x="14965" y="9125"/>
                </a:lnTo>
                <a:lnTo>
                  <a:pt x="15281" y="9271"/>
                </a:lnTo>
                <a:lnTo>
                  <a:pt x="15451" y="9319"/>
                </a:lnTo>
                <a:lnTo>
                  <a:pt x="15622" y="9368"/>
                </a:lnTo>
                <a:lnTo>
                  <a:pt x="15500" y="9636"/>
                </a:lnTo>
                <a:lnTo>
                  <a:pt x="15354" y="9903"/>
                </a:lnTo>
                <a:lnTo>
                  <a:pt x="15135" y="9782"/>
                </a:lnTo>
                <a:lnTo>
                  <a:pt x="14916" y="9684"/>
                </a:lnTo>
                <a:lnTo>
                  <a:pt x="14429" y="9563"/>
                </a:lnTo>
                <a:lnTo>
                  <a:pt x="14210" y="9490"/>
                </a:lnTo>
                <a:lnTo>
                  <a:pt x="13943" y="9441"/>
                </a:lnTo>
                <a:lnTo>
                  <a:pt x="13699" y="9417"/>
                </a:lnTo>
                <a:lnTo>
                  <a:pt x="13553" y="9417"/>
                </a:lnTo>
                <a:lnTo>
                  <a:pt x="13456" y="9465"/>
                </a:lnTo>
                <a:lnTo>
                  <a:pt x="13432" y="9490"/>
                </a:lnTo>
                <a:lnTo>
                  <a:pt x="13432" y="9514"/>
                </a:lnTo>
                <a:lnTo>
                  <a:pt x="13578" y="9636"/>
                </a:lnTo>
                <a:lnTo>
                  <a:pt x="13772" y="9733"/>
                </a:lnTo>
                <a:lnTo>
                  <a:pt x="14137" y="9855"/>
                </a:lnTo>
                <a:lnTo>
                  <a:pt x="14648" y="10049"/>
                </a:lnTo>
                <a:lnTo>
                  <a:pt x="14892" y="10147"/>
                </a:lnTo>
                <a:lnTo>
                  <a:pt x="15135" y="10244"/>
                </a:lnTo>
                <a:lnTo>
                  <a:pt x="14794" y="10706"/>
                </a:lnTo>
                <a:lnTo>
                  <a:pt x="14721" y="10658"/>
                </a:lnTo>
                <a:lnTo>
                  <a:pt x="14624" y="10633"/>
                </a:lnTo>
                <a:lnTo>
                  <a:pt x="14405" y="10560"/>
                </a:lnTo>
                <a:lnTo>
                  <a:pt x="13991" y="10512"/>
                </a:lnTo>
                <a:lnTo>
                  <a:pt x="13772" y="10439"/>
                </a:lnTo>
                <a:lnTo>
                  <a:pt x="13505" y="10366"/>
                </a:lnTo>
                <a:lnTo>
                  <a:pt x="13359" y="10341"/>
                </a:lnTo>
                <a:lnTo>
                  <a:pt x="13213" y="10317"/>
                </a:lnTo>
                <a:lnTo>
                  <a:pt x="13115" y="10341"/>
                </a:lnTo>
                <a:lnTo>
                  <a:pt x="12994" y="10390"/>
                </a:lnTo>
                <a:lnTo>
                  <a:pt x="12994" y="10414"/>
                </a:lnTo>
                <a:lnTo>
                  <a:pt x="13018" y="10536"/>
                </a:lnTo>
                <a:lnTo>
                  <a:pt x="13091" y="10609"/>
                </a:lnTo>
                <a:lnTo>
                  <a:pt x="13188" y="10682"/>
                </a:lnTo>
                <a:lnTo>
                  <a:pt x="13310" y="10731"/>
                </a:lnTo>
                <a:lnTo>
                  <a:pt x="13553" y="10828"/>
                </a:lnTo>
                <a:lnTo>
                  <a:pt x="13772" y="10877"/>
                </a:lnTo>
                <a:lnTo>
                  <a:pt x="14113" y="10998"/>
                </a:lnTo>
                <a:lnTo>
                  <a:pt x="14308" y="11047"/>
                </a:lnTo>
                <a:lnTo>
                  <a:pt x="14502" y="11071"/>
                </a:lnTo>
                <a:lnTo>
                  <a:pt x="14089" y="11509"/>
                </a:lnTo>
                <a:lnTo>
                  <a:pt x="13943" y="11412"/>
                </a:lnTo>
                <a:lnTo>
                  <a:pt x="13772" y="11339"/>
                </a:lnTo>
                <a:lnTo>
                  <a:pt x="13432" y="11242"/>
                </a:lnTo>
                <a:lnTo>
                  <a:pt x="13067" y="11144"/>
                </a:lnTo>
                <a:lnTo>
                  <a:pt x="12702" y="11071"/>
                </a:lnTo>
                <a:lnTo>
                  <a:pt x="12337" y="11047"/>
                </a:lnTo>
                <a:lnTo>
                  <a:pt x="11972" y="11096"/>
                </a:lnTo>
                <a:lnTo>
                  <a:pt x="11947" y="11096"/>
                </a:lnTo>
                <a:lnTo>
                  <a:pt x="11899" y="11120"/>
                </a:lnTo>
                <a:lnTo>
                  <a:pt x="11874" y="11193"/>
                </a:lnTo>
                <a:lnTo>
                  <a:pt x="11850" y="11266"/>
                </a:lnTo>
                <a:lnTo>
                  <a:pt x="11874" y="11290"/>
                </a:lnTo>
                <a:lnTo>
                  <a:pt x="11899" y="11363"/>
                </a:lnTo>
                <a:lnTo>
                  <a:pt x="11972" y="11412"/>
                </a:lnTo>
                <a:lnTo>
                  <a:pt x="12580" y="11509"/>
                </a:lnTo>
                <a:lnTo>
                  <a:pt x="12872" y="11582"/>
                </a:lnTo>
                <a:lnTo>
                  <a:pt x="13164" y="11655"/>
                </a:lnTo>
                <a:lnTo>
                  <a:pt x="13432" y="11753"/>
                </a:lnTo>
                <a:lnTo>
                  <a:pt x="13675" y="11850"/>
                </a:lnTo>
                <a:lnTo>
                  <a:pt x="13359" y="12118"/>
                </a:lnTo>
                <a:lnTo>
                  <a:pt x="13018" y="12337"/>
                </a:lnTo>
                <a:lnTo>
                  <a:pt x="12994" y="12288"/>
                </a:lnTo>
                <a:lnTo>
                  <a:pt x="12945" y="12239"/>
                </a:lnTo>
                <a:lnTo>
                  <a:pt x="12775" y="12166"/>
                </a:lnTo>
                <a:lnTo>
                  <a:pt x="12604" y="12142"/>
                </a:lnTo>
                <a:lnTo>
                  <a:pt x="12410" y="12118"/>
                </a:lnTo>
                <a:lnTo>
                  <a:pt x="12215" y="12069"/>
                </a:lnTo>
                <a:lnTo>
                  <a:pt x="11850" y="11947"/>
                </a:lnTo>
                <a:lnTo>
                  <a:pt x="11558" y="11826"/>
                </a:lnTo>
                <a:lnTo>
                  <a:pt x="11242" y="11704"/>
                </a:lnTo>
                <a:lnTo>
                  <a:pt x="11096" y="11655"/>
                </a:lnTo>
                <a:lnTo>
                  <a:pt x="10950" y="11607"/>
                </a:lnTo>
                <a:lnTo>
                  <a:pt x="10779" y="11582"/>
                </a:lnTo>
                <a:lnTo>
                  <a:pt x="10633" y="11582"/>
                </a:lnTo>
                <a:lnTo>
                  <a:pt x="10609" y="11607"/>
                </a:lnTo>
                <a:lnTo>
                  <a:pt x="10609" y="11655"/>
                </a:lnTo>
                <a:lnTo>
                  <a:pt x="10682" y="11753"/>
                </a:lnTo>
                <a:lnTo>
                  <a:pt x="10804" y="11874"/>
                </a:lnTo>
                <a:lnTo>
                  <a:pt x="10925" y="11947"/>
                </a:lnTo>
                <a:lnTo>
                  <a:pt x="11047" y="12045"/>
                </a:lnTo>
                <a:lnTo>
                  <a:pt x="11315" y="12166"/>
                </a:lnTo>
                <a:lnTo>
                  <a:pt x="11582" y="12288"/>
                </a:lnTo>
                <a:lnTo>
                  <a:pt x="11826" y="12385"/>
                </a:lnTo>
                <a:lnTo>
                  <a:pt x="12093" y="12483"/>
                </a:lnTo>
                <a:lnTo>
                  <a:pt x="12361" y="12556"/>
                </a:lnTo>
                <a:lnTo>
                  <a:pt x="12507" y="12580"/>
                </a:lnTo>
                <a:lnTo>
                  <a:pt x="12629" y="12580"/>
                </a:lnTo>
                <a:lnTo>
                  <a:pt x="12239" y="12799"/>
                </a:lnTo>
                <a:lnTo>
                  <a:pt x="11850" y="12969"/>
                </a:lnTo>
                <a:lnTo>
                  <a:pt x="11801" y="12921"/>
                </a:lnTo>
                <a:lnTo>
                  <a:pt x="11680" y="12823"/>
                </a:lnTo>
                <a:lnTo>
                  <a:pt x="11558" y="12775"/>
                </a:lnTo>
                <a:lnTo>
                  <a:pt x="11266" y="12677"/>
                </a:lnTo>
                <a:lnTo>
                  <a:pt x="10998" y="12604"/>
                </a:lnTo>
                <a:lnTo>
                  <a:pt x="10731" y="12531"/>
                </a:lnTo>
                <a:lnTo>
                  <a:pt x="10585" y="12458"/>
                </a:lnTo>
                <a:lnTo>
                  <a:pt x="10439" y="12385"/>
                </a:lnTo>
                <a:lnTo>
                  <a:pt x="10171" y="12239"/>
                </a:lnTo>
                <a:lnTo>
                  <a:pt x="10025" y="12166"/>
                </a:lnTo>
                <a:lnTo>
                  <a:pt x="9879" y="12118"/>
                </a:lnTo>
                <a:lnTo>
                  <a:pt x="9733" y="12093"/>
                </a:lnTo>
                <a:lnTo>
                  <a:pt x="9563" y="12093"/>
                </a:lnTo>
                <a:lnTo>
                  <a:pt x="9514" y="12118"/>
                </a:lnTo>
                <a:lnTo>
                  <a:pt x="9490" y="12142"/>
                </a:lnTo>
                <a:lnTo>
                  <a:pt x="9490" y="12191"/>
                </a:lnTo>
                <a:lnTo>
                  <a:pt x="9514" y="12215"/>
                </a:lnTo>
                <a:lnTo>
                  <a:pt x="9733" y="12410"/>
                </a:lnTo>
                <a:lnTo>
                  <a:pt x="9952" y="12580"/>
                </a:lnTo>
                <a:lnTo>
                  <a:pt x="10220" y="12750"/>
                </a:lnTo>
                <a:lnTo>
                  <a:pt x="10463" y="12872"/>
                </a:lnTo>
                <a:lnTo>
                  <a:pt x="10682" y="12969"/>
                </a:lnTo>
                <a:lnTo>
                  <a:pt x="10901" y="13042"/>
                </a:lnTo>
                <a:lnTo>
                  <a:pt x="11363" y="13188"/>
                </a:lnTo>
                <a:lnTo>
                  <a:pt x="10852" y="13359"/>
                </a:lnTo>
                <a:lnTo>
                  <a:pt x="10317" y="13505"/>
                </a:lnTo>
                <a:lnTo>
                  <a:pt x="10317" y="13480"/>
                </a:lnTo>
                <a:lnTo>
                  <a:pt x="10366" y="13359"/>
                </a:lnTo>
                <a:lnTo>
                  <a:pt x="10366" y="13310"/>
                </a:lnTo>
                <a:lnTo>
                  <a:pt x="10342" y="13261"/>
                </a:lnTo>
                <a:lnTo>
                  <a:pt x="10293" y="13213"/>
                </a:lnTo>
                <a:lnTo>
                  <a:pt x="10244" y="13164"/>
                </a:lnTo>
                <a:lnTo>
                  <a:pt x="9198" y="12604"/>
                </a:lnTo>
                <a:lnTo>
                  <a:pt x="9028" y="12507"/>
                </a:lnTo>
                <a:lnTo>
                  <a:pt x="8809" y="12410"/>
                </a:lnTo>
                <a:lnTo>
                  <a:pt x="8711" y="12385"/>
                </a:lnTo>
                <a:lnTo>
                  <a:pt x="8590" y="12361"/>
                </a:lnTo>
                <a:lnTo>
                  <a:pt x="8492" y="12385"/>
                </a:lnTo>
                <a:lnTo>
                  <a:pt x="8419" y="12434"/>
                </a:lnTo>
                <a:lnTo>
                  <a:pt x="8419" y="12458"/>
                </a:lnTo>
                <a:lnTo>
                  <a:pt x="8444" y="12556"/>
                </a:lnTo>
                <a:lnTo>
                  <a:pt x="8517" y="12629"/>
                </a:lnTo>
                <a:lnTo>
                  <a:pt x="8687" y="12799"/>
                </a:lnTo>
                <a:lnTo>
                  <a:pt x="9028" y="13042"/>
                </a:lnTo>
                <a:lnTo>
                  <a:pt x="9490" y="13334"/>
                </a:lnTo>
                <a:lnTo>
                  <a:pt x="9733" y="13456"/>
                </a:lnTo>
                <a:lnTo>
                  <a:pt x="10001" y="13553"/>
                </a:lnTo>
                <a:lnTo>
                  <a:pt x="9539" y="13651"/>
                </a:lnTo>
                <a:lnTo>
                  <a:pt x="9076" y="13699"/>
                </a:lnTo>
                <a:lnTo>
                  <a:pt x="9052" y="13651"/>
                </a:lnTo>
                <a:lnTo>
                  <a:pt x="8857" y="13480"/>
                </a:lnTo>
                <a:lnTo>
                  <a:pt x="8638" y="13334"/>
                </a:lnTo>
                <a:lnTo>
                  <a:pt x="8176" y="13067"/>
                </a:lnTo>
                <a:lnTo>
                  <a:pt x="7762" y="12799"/>
                </a:lnTo>
                <a:lnTo>
                  <a:pt x="7568" y="12677"/>
                </a:lnTo>
                <a:lnTo>
                  <a:pt x="7349" y="12604"/>
                </a:lnTo>
                <a:lnTo>
                  <a:pt x="7300" y="12604"/>
                </a:lnTo>
                <a:lnTo>
                  <a:pt x="7276" y="12653"/>
                </a:lnTo>
                <a:lnTo>
                  <a:pt x="7276" y="12775"/>
                </a:lnTo>
                <a:lnTo>
                  <a:pt x="7300" y="12872"/>
                </a:lnTo>
                <a:lnTo>
                  <a:pt x="7373" y="12969"/>
                </a:lnTo>
                <a:lnTo>
                  <a:pt x="7446" y="13042"/>
                </a:lnTo>
                <a:lnTo>
                  <a:pt x="7616" y="13213"/>
                </a:lnTo>
                <a:lnTo>
                  <a:pt x="7787" y="13334"/>
                </a:lnTo>
                <a:lnTo>
                  <a:pt x="8103" y="13553"/>
                </a:lnTo>
                <a:lnTo>
                  <a:pt x="8444" y="13748"/>
                </a:lnTo>
                <a:lnTo>
                  <a:pt x="8346" y="13748"/>
                </a:lnTo>
                <a:lnTo>
                  <a:pt x="7835" y="13772"/>
                </a:lnTo>
                <a:lnTo>
                  <a:pt x="7349" y="13724"/>
                </a:lnTo>
                <a:lnTo>
                  <a:pt x="7373" y="13699"/>
                </a:lnTo>
                <a:lnTo>
                  <a:pt x="7397" y="13651"/>
                </a:lnTo>
                <a:lnTo>
                  <a:pt x="7422" y="13578"/>
                </a:lnTo>
                <a:lnTo>
                  <a:pt x="7397" y="13529"/>
                </a:lnTo>
                <a:lnTo>
                  <a:pt x="7373" y="13456"/>
                </a:lnTo>
                <a:lnTo>
                  <a:pt x="7324" y="13383"/>
                </a:lnTo>
                <a:lnTo>
                  <a:pt x="7203" y="13286"/>
                </a:lnTo>
                <a:lnTo>
                  <a:pt x="6911" y="13091"/>
                </a:lnTo>
                <a:lnTo>
                  <a:pt x="6643" y="12872"/>
                </a:lnTo>
                <a:lnTo>
                  <a:pt x="6521" y="12799"/>
                </a:lnTo>
                <a:lnTo>
                  <a:pt x="6448" y="12750"/>
                </a:lnTo>
                <a:lnTo>
                  <a:pt x="6424" y="12702"/>
                </a:lnTo>
                <a:lnTo>
                  <a:pt x="6424" y="12677"/>
                </a:lnTo>
                <a:lnTo>
                  <a:pt x="6400" y="12677"/>
                </a:lnTo>
                <a:lnTo>
                  <a:pt x="6375" y="12702"/>
                </a:lnTo>
                <a:lnTo>
                  <a:pt x="6351" y="12775"/>
                </a:lnTo>
                <a:lnTo>
                  <a:pt x="6327" y="12823"/>
                </a:lnTo>
                <a:lnTo>
                  <a:pt x="6351" y="12969"/>
                </a:lnTo>
                <a:lnTo>
                  <a:pt x="6400" y="13042"/>
                </a:lnTo>
                <a:lnTo>
                  <a:pt x="6448" y="13140"/>
                </a:lnTo>
                <a:lnTo>
                  <a:pt x="6570" y="13286"/>
                </a:lnTo>
                <a:lnTo>
                  <a:pt x="6716" y="13432"/>
                </a:lnTo>
                <a:lnTo>
                  <a:pt x="6862" y="13553"/>
                </a:lnTo>
                <a:lnTo>
                  <a:pt x="7032" y="13675"/>
                </a:lnTo>
                <a:lnTo>
                  <a:pt x="7032" y="13675"/>
                </a:lnTo>
                <a:lnTo>
                  <a:pt x="6619" y="13578"/>
                </a:lnTo>
                <a:lnTo>
                  <a:pt x="6229" y="13456"/>
                </a:lnTo>
                <a:lnTo>
                  <a:pt x="5864" y="13334"/>
                </a:lnTo>
                <a:lnTo>
                  <a:pt x="5670" y="13286"/>
                </a:lnTo>
                <a:lnTo>
                  <a:pt x="5475" y="13261"/>
                </a:lnTo>
                <a:lnTo>
                  <a:pt x="5280" y="13237"/>
                </a:lnTo>
                <a:lnTo>
                  <a:pt x="5086" y="13261"/>
                </a:lnTo>
                <a:lnTo>
                  <a:pt x="4988" y="13286"/>
                </a:lnTo>
                <a:lnTo>
                  <a:pt x="4915" y="13334"/>
                </a:lnTo>
                <a:lnTo>
                  <a:pt x="4842" y="13407"/>
                </a:lnTo>
                <a:lnTo>
                  <a:pt x="4818" y="13505"/>
                </a:lnTo>
                <a:lnTo>
                  <a:pt x="4672" y="13651"/>
                </a:lnTo>
                <a:lnTo>
                  <a:pt x="4502" y="13797"/>
                </a:lnTo>
                <a:lnTo>
                  <a:pt x="4331" y="13943"/>
                </a:lnTo>
                <a:lnTo>
                  <a:pt x="4161" y="14064"/>
                </a:lnTo>
                <a:lnTo>
                  <a:pt x="3869" y="14259"/>
                </a:lnTo>
                <a:lnTo>
                  <a:pt x="3553" y="14405"/>
                </a:lnTo>
                <a:lnTo>
                  <a:pt x="3212" y="14551"/>
                </a:lnTo>
                <a:lnTo>
                  <a:pt x="2896" y="14648"/>
                </a:lnTo>
                <a:lnTo>
                  <a:pt x="2555" y="14745"/>
                </a:lnTo>
                <a:lnTo>
                  <a:pt x="2190" y="14818"/>
                </a:lnTo>
                <a:lnTo>
                  <a:pt x="1825" y="14867"/>
                </a:lnTo>
                <a:lnTo>
                  <a:pt x="1485" y="14891"/>
                </a:lnTo>
                <a:lnTo>
                  <a:pt x="1314" y="14891"/>
                </a:lnTo>
                <a:lnTo>
                  <a:pt x="1144" y="14867"/>
                </a:lnTo>
                <a:lnTo>
                  <a:pt x="1436" y="14672"/>
                </a:lnTo>
                <a:lnTo>
                  <a:pt x="1728" y="14453"/>
                </a:lnTo>
                <a:lnTo>
                  <a:pt x="1996" y="14210"/>
                </a:lnTo>
                <a:lnTo>
                  <a:pt x="2239" y="13991"/>
                </a:lnTo>
                <a:lnTo>
                  <a:pt x="2604" y="13626"/>
                </a:lnTo>
                <a:lnTo>
                  <a:pt x="2774" y="13432"/>
                </a:lnTo>
                <a:lnTo>
                  <a:pt x="2944" y="13188"/>
                </a:lnTo>
                <a:lnTo>
                  <a:pt x="3066" y="12945"/>
                </a:lnTo>
                <a:lnTo>
                  <a:pt x="3163" y="12702"/>
                </a:lnTo>
                <a:lnTo>
                  <a:pt x="3212" y="12458"/>
                </a:lnTo>
                <a:lnTo>
                  <a:pt x="3212" y="12337"/>
                </a:lnTo>
                <a:lnTo>
                  <a:pt x="3212" y="12215"/>
                </a:lnTo>
                <a:lnTo>
                  <a:pt x="3236" y="12118"/>
                </a:lnTo>
                <a:lnTo>
                  <a:pt x="3212" y="12045"/>
                </a:lnTo>
                <a:lnTo>
                  <a:pt x="3188" y="11972"/>
                </a:lnTo>
                <a:lnTo>
                  <a:pt x="3115" y="11923"/>
                </a:lnTo>
                <a:lnTo>
                  <a:pt x="2920" y="11826"/>
                </a:lnTo>
                <a:lnTo>
                  <a:pt x="2750" y="11704"/>
                </a:lnTo>
                <a:lnTo>
                  <a:pt x="2409" y="11461"/>
                </a:lnTo>
                <a:lnTo>
                  <a:pt x="2117" y="11169"/>
                </a:lnTo>
                <a:lnTo>
                  <a:pt x="1850" y="10852"/>
                </a:lnTo>
                <a:lnTo>
                  <a:pt x="1631" y="10512"/>
                </a:lnTo>
                <a:lnTo>
                  <a:pt x="1412" y="10147"/>
                </a:lnTo>
                <a:lnTo>
                  <a:pt x="1241" y="9757"/>
                </a:lnTo>
                <a:lnTo>
                  <a:pt x="1095" y="9368"/>
                </a:lnTo>
                <a:lnTo>
                  <a:pt x="949" y="8979"/>
                </a:lnTo>
                <a:lnTo>
                  <a:pt x="828" y="8565"/>
                </a:lnTo>
                <a:lnTo>
                  <a:pt x="755" y="8127"/>
                </a:lnTo>
                <a:lnTo>
                  <a:pt x="682" y="7689"/>
                </a:lnTo>
                <a:lnTo>
                  <a:pt x="657" y="7251"/>
                </a:lnTo>
                <a:lnTo>
                  <a:pt x="657" y="6837"/>
                </a:lnTo>
                <a:lnTo>
                  <a:pt x="706" y="6399"/>
                </a:lnTo>
                <a:lnTo>
                  <a:pt x="803" y="5986"/>
                </a:lnTo>
                <a:lnTo>
                  <a:pt x="925" y="5548"/>
                </a:lnTo>
                <a:lnTo>
                  <a:pt x="1120" y="5110"/>
                </a:lnTo>
                <a:lnTo>
                  <a:pt x="1339" y="4696"/>
                </a:lnTo>
                <a:lnTo>
                  <a:pt x="1606" y="4307"/>
                </a:lnTo>
                <a:lnTo>
                  <a:pt x="1898" y="3869"/>
                </a:lnTo>
                <a:lnTo>
                  <a:pt x="2166" y="3431"/>
                </a:lnTo>
                <a:lnTo>
                  <a:pt x="2434" y="3017"/>
                </a:lnTo>
                <a:lnTo>
                  <a:pt x="2604" y="2823"/>
                </a:lnTo>
                <a:lnTo>
                  <a:pt x="2774" y="2628"/>
                </a:lnTo>
                <a:lnTo>
                  <a:pt x="3115" y="2336"/>
                </a:lnTo>
                <a:lnTo>
                  <a:pt x="3431" y="2068"/>
                </a:lnTo>
                <a:lnTo>
                  <a:pt x="3772" y="1825"/>
                </a:lnTo>
                <a:lnTo>
                  <a:pt x="4137" y="1582"/>
                </a:lnTo>
                <a:lnTo>
                  <a:pt x="4502" y="1387"/>
                </a:lnTo>
                <a:lnTo>
                  <a:pt x="4867" y="1192"/>
                </a:lnTo>
                <a:lnTo>
                  <a:pt x="5256" y="1046"/>
                </a:lnTo>
                <a:lnTo>
                  <a:pt x="5670" y="900"/>
                </a:lnTo>
                <a:lnTo>
                  <a:pt x="6083" y="803"/>
                </a:lnTo>
                <a:lnTo>
                  <a:pt x="6497" y="706"/>
                </a:lnTo>
                <a:lnTo>
                  <a:pt x="6935" y="633"/>
                </a:lnTo>
                <a:lnTo>
                  <a:pt x="7373" y="584"/>
                </a:lnTo>
                <a:lnTo>
                  <a:pt x="7811" y="535"/>
                </a:lnTo>
                <a:lnTo>
                  <a:pt x="8249" y="511"/>
                </a:lnTo>
                <a:close/>
                <a:moveTo>
                  <a:pt x="8444" y="0"/>
                </a:moveTo>
                <a:lnTo>
                  <a:pt x="7641" y="24"/>
                </a:lnTo>
                <a:lnTo>
                  <a:pt x="6838" y="122"/>
                </a:lnTo>
                <a:lnTo>
                  <a:pt x="6351" y="195"/>
                </a:lnTo>
                <a:lnTo>
                  <a:pt x="5889" y="292"/>
                </a:lnTo>
                <a:lnTo>
                  <a:pt x="5426" y="414"/>
                </a:lnTo>
                <a:lnTo>
                  <a:pt x="4964" y="560"/>
                </a:lnTo>
                <a:lnTo>
                  <a:pt x="4502" y="730"/>
                </a:lnTo>
                <a:lnTo>
                  <a:pt x="4088" y="949"/>
                </a:lnTo>
                <a:lnTo>
                  <a:pt x="3674" y="1217"/>
                </a:lnTo>
                <a:lnTo>
                  <a:pt x="3285" y="1509"/>
                </a:lnTo>
                <a:lnTo>
                  <a:pt x="2823" y="1922"/>
                </a:lnTo>
                <a:lnTo>
                  <a:pt x="2385" y="2312"/>
                </a:lnTo>
                <a:lnTo>
                  <a:pt x="2166" y="2531"/>
                </a:lnTo>
                <a:lnTo>
                  <a:pt x="1947" y="2725"/>
                </a:lnTo>
                <a:lnTo>
                  <a:pt x="1752" y="2969"/>
                </a:lnTo>
                <a:lnTo>
                  <a:pt x="1582" y="3212"/>
                </a:lnTo>
                <a:lnTo>
                  <a:pt x="1266" y="3723"/>
                </a:lnTo>
                <a:lnTo>
                  <a:pt x="974" y="4283"/>
                </a:lnTo>
                <a:lnTo>
                  <a:pt x="682" y="4842"/>
                </a:lnTo>
                <a:lnTo>
                  <a:pt x="438" y="5402"/>
                </a:lnTo>
                <a:lnTo>
                  <a:pt x="341" y="5645"/>
                </a:lnTo>
                <a:lnTo>
                  <a:pt x="268" y="5889"/>
                </a:lnTo>
                <a:lnTo>
                  <a:pt x="195" y="6132"/>
                </a:lnTo>
                <a:lnTo>
                  <a:pt x="146" y="6375"/>
                </a:lnTo>
                <a:lnTo>
                  <a:pt x="122" y="6886"/>
                </a:lnTo>
                <a:lnTo>
                  <a:pt x="122" y="7397"/>
                </a:lnTo>
                <a:lnTo>
                  <a:pt x="171" y="7908"/>
                </a:lnTo>
                <a:lnTo>
                  <a:pt x="268" y="8419"/>
                </a:lnTo>
                <a:lnTo>
                  <a:pt x="390" y="8906"/>
                </a:lnTo>
                <a:lnTo>
                  <a:pt x="536" y="9392"/>
                </a:lnTo>
                <a:lnTo>
                  <a:pt x="682" y="9830"/>
                </a:lnTo>
                <a:lnTo>
                  <a:pt x="876" y="10244"/>
                </a:lnTo>
                <a:lnTo>
                  <a:pt x="1095" y="10658"/>
                </a:lnTo>
                <a:lnTo>
                  <a:pt x="1339" y="11047"/>
                </a:lnTo>
                <a:lnTo>
                  <a:pt x="1631" y="11412"/>
                </a:lnTo>
                <a:lnTo>
                  <a:pt x="1947" y="11728"/>
                </a:lnTo>
                <a:lnTo>
                  <a:pt x="2117" y="11874"/>
                </a:lnTo>
                <a:lnTo>
                  <a:pt x="2312" y="12020"/>
                </a:lnTo>
                <a:lnTo>
                  <a:pt x="2507" y="12142"/>
                </a:lnTo>
                <a:lnTo>
                  <a:pt x="2701" y="12239"/>
                </a:lnTo>
                <a:lnTo>
                  <a:pt x="2677" y="12458"/>
                </a:lnTo>
                <a:lnTo>
                  <a:pt x="2604" y="12653"/>
                </a:lnTo>
                <a:lnTo>
                  <a:pt x="2482" y="12848"/>
                </a:lnTo>
                <a:lnTo>
                  <a:pt x="2361" y="13042"/>
                </a:lnTo>
                <a:lnTo>
                  <a:pt x="2215" y="13213"/>
                </a:lnTo>
                <a:lnTo>
                  <a:pt x="2069" y="13359"/>
                </a:lnTo>
                <a:lnTo>
                  <a:pt x="1752" y="13675"/>
                </a:lnTo>
                <a:lnTo>
                  <a:pt x="1412" y="13967"/>
                </a:lnTo>
                <a:lnTo>
                  <a:pt x="1047" y="14259"/>
                </a:lnTo>
                <a:lnTo>
                  <a:pt x="828" y="14381"/>
                </a:lnTo>
                <a:lnTo>
                  <a:pt x="633" y="14478"/>
                </a:lnTo>
                <a:lnTo>
                  <a:pt x="414" y="14575"/>
                </a:lnTo>
                <a:lnTo>
                  <a:pt x="195" y="14648"/>
                </a:lnTo>
                <a:lnTo>
                  <a:pt x="98" y="14697"/>
                </a:lnTo>
                <a:lnTo>
                  <a:pt x="25" y="14794"/>
                </a:lnTo>
                <a:lnTo>
                  <a:pt x="0" y="14891"/>
                </a:lnTo>
                <a:lnTo>
                  <a:pt x="25" y="14989"/>
                </a:lnTo>
                <a:lnTo>
                  <a:pt x="49" y="15086"/>
                </a:lnTo>
                <a:lnTo>
                  <a:pt x="146" y="15159"/>
                </a:lnTo>
                <a:lnTo>
                  <a:pt x="244" y="15208"/>
                </a:lnTo>
                <a:lnTo>
                  <a:pt x="365" y="15208"/>
                </a:lnTo>
                <a:lnTo>
                  <a:pt x="414" y="15183"/>
                </a:lnTo>
                <a:lnTo>
                  <a:pt x="560" y="15256"/>
                </a:lnTo>
                <a:lnTo>
                  <a:pt x="682" y="15305"/>
                </a:lnTo>
                <a:lnTo>
                  <a:pt x="998" y="15378"/>
                </a:lnTo>
                <a:lnTo>
                  <a:pt x="1314" y="15402"/>
                </a:lnTo>
                <a:lnTo>
                  <a:pt x="1679" y="15402"/>
                </a:lnTo>
                <a:lnTo>
                  <a:pt x="2020" y="15354"/>
                </a:lnTo>
                <a:lnTo>
                  <a:pt x="2336" y="15305"/>
                </a:lnTo>
                <a:lnTo>
                  <a:pt x="2896" y="15183"/>
                </a:lnTo>
                <a:lnTo>
                  <a:pt x="3261" y="15062"/>
                </a:lnTo>
                <a:lnTo>
                  <a:pt x="3626" y="14916"/>
                </a:lnTo>
                <a:lnTo>
                  <a:pt x="3991" y="14770"/>
                </a:lnTo>
                <a:lnTo>
                  <a:pt x="4331" y="14575"/>
                </a:lnTo>
                <a:lnTo>
                  <a:pt x="4575" y="14429"/>
                </a:lnTo>
                <a:lnTo>
                  <a:pt x="4818" y="14259"/>
                </a:lnTo>
                <a:lnTo>
                  <a:pt x="5037" y="14040"/>
                </a:lnTo>
                <a:lnTo>
                  <a:pt x="5134" y="13918"/>
                </a:lnTo>
                <a:lnTo>
                  <a:pt x="5207" y="13797"/>
                </a:lnTo>
                <a:lnTo>
                  <a:pt x="5426" y="13821"/>
                </a:lnTo>
                <a:lnTo>
                  <a:pt x="5645" y="13845"/>
                </a:lnTo>
                <a:lnTo>
                  <a:pt x="6059" y="13967"/>
                </a:lnTo>
                <a:lnTo>
                  <a:pt x="6497" y="14113"/>
                </a:lnTo>
                <a:lnTo>
                  <a:pt x="6692" y="14186"/>
                </a:lnTo>
                <a:lnTo>
                  <a:pt x="6911" y="14235"/>
                </a:lnTo>
                <a:lnTo>
                  <a:pt x="7178" y="14283"/>
                </a:lnTo>
                <a:lnTo>
                  <a:pt x="7446" y="14308"/>
                </a:lnTo>
                <a:lnTo>
                  <a:pt x="7981" y="14332"/>
                </a:lnTo>
                <a:lnTo>
                  <a:pt x="8517" y="14308"/>
                </a:lnTo>
                <a:lnTo>
                  <a:pt x="9052" y="14259"/>
                </a:lnTo>
                <a:lnTo>
                  <a:pt x="9490" y="14210"/>
                </a:lnTo>
                <a:lnTo>
                  <a:pt x="9952" y="14137"/>
                </a:lnTo>
                <a:lnTo>
                  <a:pt x="10390" y="14040"/>
                </a:lnTo>
                <a:lnTo>
                  <a:pt x="10828" y="13918"/>
                </a:lnTo>
                <a:lnTo>
                  <a:pt x="11266" y="13797"/>
                </a:lnTo>
                <a:lnTo>
                  <a:pt x="11680" y="13651"/>
                </a:lnTo>
                <a:lnTo>
                  <a:pt x="12093" y="13480"/>
                </a:lnTo>
                <a:lnTo>
                  <a:pt x="12507" y="13286"/>
                </a:lnTo>
                <a:lnTo>
                  <a:pt x="12921" y="13067"/>
                </a:lnTo>
                <a:lnTo>
                  <a:pt x="13310" y="12823"/>
                </a:lnTo>
                <a:lnTo>
                  <a:pt x="13699" y="12556"/>
                </a:lnTo>
                <a:lnTo>
                  <a:pt x="14089" y="12264"/>
                </a:lnTo>
                <a:lnTo>
                  <a:pt x="14429" y="11947"/>
                </a:lnTo>
                <a:lnTo>
                  <a:pt x="14770" y="11607"/>
                </a:lnTo>
                <a:lnTo>
                  <a:pt x="15111" y="11266"/>
                </a:lnTo>
                <a:lnTo>
                  <a:pt x="15403" y="10901"/>
                </a:lnTo>
                <a:lnTo>
                  <a:pt x="15670" y="10512"/>
                </a:lnTo>
                <a:lnTo>
                  <a:pt x="15914" y="10098"/>
                </a:lnTo>
                <a:lnTo>
                  <a:pt x="16133" y="9684"/>
                </a:lnTo>
                <a:lnTo>
                  <a:pt x="16327" y="9246"/>
                </a:lnTo>
                <a:lnTo>
                  <a:pt x="16473" y="8808"/>
                </a:lnTo>
                <a:lnTo>
                  <a:pt x="16595" y="8346"/>
                </a:lnTo>
                <a:lnTo>
                  <a:pt x="16668" y="7884"/>
                </a:lnTo>
                <a:lnTo>
                  <a:pt x="16717" y="7421"/>
                </a:lnTo>
                <a:lnTo>
                  <a:pt x="16717" y="7178"/>
                </a:lnTo>
                <a:lnTo>
                  <a:pt x="16692" y="6959"/>
                </a:lnTo>
                <a:lnTo>
                  <a:pt x="16595" y="6497"/>
                </a:lnTo>
                <a:lnTo>
                  <a:pt x="16473" y="6035"/>
                </a:lnTo>
                <a:lnTo>
                  <a:pt x="16352" y="5597"/>
                </a:lnTo>
                <a:lnTo>
                  <a:pt x="16206" y="5134"/>
                </a:lnTo>
                <a:lnTo>
                  <a:pt x="16084" y="4672"/>
                </a:lnTo>
                <a:lnTo>
                  <a:pt x="15962" y="4210"/>
                </a:lnTo>
                <a:lnTo>
                  <a:pt x="15792" y="3772"/>
                </a:lnTo>
                <a:lnTo>
                  <a:pt x="15597" y="3358"/>
                </a:lnTo>
                <a:lnTo>
                  <a:pt x="15354" y="2993"/>
                </a:lnTo>
                <a:lnTo>
                  <a:pt x="15062" y="2652"/>
                </a:lnTo>
                <a:lnTo>
                  <a:pt x="14770" y="2336"/>
                </a:lnTo>
                <a:lnTo>
                  <a:pt x="14429" y="2044"/>
                </a:lnTo>
                <a:lnTo>
                  <a:pt x="14089" y="1776"/>
                </a:lnTo>
                <a:lnTo>
                  <a:pt x="13724" y="1509"/>
                </a:lnTo>
                <a:lnTo>
                  <a:pt x="13334" y="1265"/>
                </a:lnTo>
                <a:lnTo>
                  <a:pt x="12969" y="1046"/>
                </a:lnTo>
                <a:lnTo>
                  <a:pt x="12580" y="827"/>
                </a:lnTo>
                <a:lnTo>
                  <a:pt x="12166" y="633"/>
                </a:lnTo>
                <a:lnTo>
                  <a:pt x="11777" y="487"/>
                </a:lnTo>
                <a:lnTo>
                  <a:pt x="11363" y="341"/>
                </a:lnTo>
                <a:lnTo>
                  <a:pt x="10950" y="219"/>
                </a:lnTo>
                <a:lnTo>
                  <a:pt x="10512" y="146"/>
                </a:lnTo>
                <a:lnTo>
                  <a:pt x="10074" y="73"/>
                </a:lnTo>
                <a:lnTo>
                  <a:pt x="9271" y="0"/>
                </a:lnTo>
                <a:close/>
              </a:path>
            </a:pathLst>
          </a:custGeom>
          <a:solidFill>
            <a:srgbClr val="2A95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2A95B7"/>
              </a:solidFill>
            </a:endParaRPr>
          </a:p>
        </p:txBody>
      </p:sp>
      <p:sp>
        <p:nvSpPr>
          <p:cNvPr id="249" name="Google Shape;249;p35"/>
          <p:cNvSpPr txBox="1">
            <a:spLocks noGrp="1"/>
          </p:cNvSpPr>
          <p:nvPr>
            <p:ph type="sldNum" idx="12"/>
          </p:nvPr>
        </p:nvSpPr>
        <p:spPr>
          <a:xfrm>
            <a:off x="8595301" y="4839750"/>
            <a:ext cx="548700" cy="30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25</a:t>
            </a:fld>
            <a:endParaRPr dirty="0"/>
          </a:p>
        </p:txBody>
      </p:sp>
      <p:pic>
        <p:nvPicPr>
          <p:cNvPr id="7170" name="Picture 2" descr="C:\Users\elizabeth.westman\AppData\Local\Microsoft\Windows\Temporary Internet Files\Content.IE5\8USVDXZJ\question[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819150"/>
            <a:ext cx="11430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Users\elizabeth.westman\AppData\Local\Microsoft\Windows\Temporary Internet Files\Content.IE5\ZDF3ZXBT\emailwi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3638550"/>
            <a:ext cx="809946" cy="7208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Seyton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C09F2B791BE24395504A35BC58D5DD" ma:contentTypeVersion="18" ma:contentTypeDescription="Create a new document." ma:contentTypeScope="" ma:versionID="135b3a665bdd9d99339ace7ebed73beb">
  <xsd:schema xmlns:xsd="http://www.w3.org/2001/XMLSchema" xmlns:xs="http://www.w3.org/2001/XMLSchema" xmlns:p="http://schemas.microsoft.com/office/2006/metadata/properties" xmlns:ns2="70f5ec0f-76d9-4c37-bdbc-22304095606b" xmlns:ns3="26b9b148-d2e1-4f95-bbc3-7de3236783fe" targetNamespace="http://schemas.microsoft.com/office/2006/metadata/properties" ma:root="true" ma:fieldsID="d6b3e3fb939ed42913ab4c7c3f21e368" ns2:_="" ns3:_="">
    <xsd:import namespace="70f5ec0f-76d9-4c37-bdbc-22304095606b"/>
    <xsd:import namespace="26b9b148-d2e1-4f95-bbc3-7de3236783fe"/>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3:MediaServiceDateTaken" minOccurs="0"/>
                <xsd:element ref="ns3:lcf76f155ced4ddcb4097134ff3c332f" minOccurs="0"/>
                <xsd:element ref="ns2:TaxCatchAll" minOccurs="0"/>
                <xsd:element ref="ns2:SharedWithUsers" minOccurs="0"/>
                <xsd:element ref="ns2:SharedWithDetail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f5ec0f-76d9-4c37-bdbc-22304095606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2" nillable="true" ma:displayName="Taxonomy Catch All Column" ma:hidden="true" ma:list="{787b13c1-d6ba-4bc7-b021-2a198522c931}" ma:internalName="TaxCatchAll" ma:showField="CatchAllData" ma:web="70f5ec0f-76d9-4c37-bdbc-22304095606b">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6b9b148-d2e1-4f95-bbc3-7de3236783f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773e5d3-86f4-436a-b35a-a9b626cf631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70f5ec0f-76d9-4c37-bdbc-22304095606b">7T2Z56A6TXW5-813235018-357</_dlc_DocId>
    <_dlc_DocIdUrl xmlns="70f5ec0f-76d9-4c37-bdbc-22304095606b">
      <Url>https://aetnao365.sharepoint.com/sites/MRTN-PlanDocs/_layouts/15/DocIdRedir.aspx?ID=7T2Z56A6TXW5-813235018-357</Url>
      <Description>7T2Z56A6TXW5-813235018-357</Description>
    </_dlc_DocIdUrl>
    <lcf76f155ced4ddcb4097134ff3c332f xmlns="26b9b148-d2e1-4f95-bbc3-7de3236783fe">
      <Terms xmlns="http://schemas.microsoft.com/office/infopath/2007/PartnerControls"/>
    </lcf76f155ced4ddcb4097134ff3c332f>
    <TaxCatchAll xmlns="70f5ec0f-76d9-4c37-bdbc-22304095606b" xsi:nil="true"/>
  </documentManagement>
</p:properties>
</file>

<file path=customXml/itemProps1.xml><?xml version="1.0" encoding="utf-8"?>
<ds:datastoreItem xmlns:ds="http://schemas.openxmlformats.org/officeDocument/2006/customXml" ds:itemID="{7CAA8460-8893-46B7-ADFA-F6613A747B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f5ec0f-76d9-4c37-bdbc-22304095606b"/>
    <ds:schemaRef ds:uri="26b9b148-d2e1-4f95-bbc3-7de3236783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F27FF2-EA9A-40A9-AE1F-F73475602E27}">
  <ds:schemaRefs>
    <ds:schemaRef ds:uri="http://schemas.microsoft.com/sharepoint/events"/>
  </ds:schemaRefs>
</ds:datastoreItem>
</file>

<file path=customXml/itemProps3.xml><?xml version="1.0" encoding="utf-8"?>
<ds:datastoreItem xmlns:ds="http://schemas.openxmlformats.org/officeDocument/2006/customXml" ds:itemID="{47789ECF-4F3F-4D76-87EC-0597F32A0E37}">
  <ds:schemaRefs>
    <ds:schemaRef ds:uri="http://schemas.microsoft.com/sharepoint/v3/contenttype/forms"/>
  </ds:schemaRefs>
</ds:datastoreItem>
</file>

<file path=customXml/itemProps4.xml><?xml version="1.0" encoding="utf-8"?>
<ds:datastoreItem xmlns:ds="http://schemas.openxmlformats.org/officeDocument/2006/customXml" ds:itemID="{8891908B-EE7E-4F5E-B615-BB6B43A02C25}">
  <ds:schemaRefs>
    <ds:schemaRef ds:uri="http://purl.org/dc/terms/"/>
    <ds:schemaRef ds:uri="http://schemas.openxmlformats.org/package/2006/metadata/core-properties"/>
    <ds:schemaRef ds:uri="http://schemas.microsoft.com/office/2006/documentManagement/types"/>
    <ds:schemaRef ds:uri="26b9b148-d2e1-4f95-bbc3-7de3236783fe"/>
    <ds:schemaRef ds:uri="http://purl.org/dc/elements/1.1/"/>
    <ds:schemaRef ds:uri="http://schemas.microsoft.com/office/2006/metadata/properties"/>
    <ds:schemaRef ds:uri="http://schemas.microsoft.com/office/infopath/2007/PartnerControls"/>
    <ds:schemaRef ds:uri="70f5ec0f-76d9-4c37-bdbc-22304095606b"/>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874</TotalTime>
  <Words>1215</Words>
  <Application>Microsoft Office PowerPoint</Application>
  <PresentationFormat>On-screen Show (16:9)</PresentationFormat>
  <Paragraphs>122</Paragraphs>
  <Slides>25</Slides>
  <Notes>7</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Seyton template</vt:lpstr>
      <vt:lpstr>Training Tuesdays</vt:lpstr>
      <vt:lpstr>PowerPoint Presentation</vt:lpstr>
      <vt:lpstr>Plan Name</vt:lpstr>
      <vt:lpstr>Plan Name: The Basics</vt:lpstr>
      <vt:lpstr>Plan Name vs. Plan Administrator/Sponsor Name </vt:lpstr>
      <vt:lpstr>Plan Name –vs- Plan Administrator/Sponsor Name Examples</vt:lpstr>
      <vt:lpstr>Plan Name: Further Information </vt:lpstr>
      <vt:lpstr>For Sebago Technics, “Inc.” should not be included as part of Plan Name.   Remove Inc. (also remove comma) from Name of Plan in document template.</vt:lpstr>
      <vt:lpstr>  The same rule applies to Rosehill Gardens, Inc.   Inc. is not part of the Plan Name so it should NOT appear in documents where Plan Name is shown: </vt:lpstr>
      <vt:lpstr>PowerPoint Presentation</vt:lpstr>
      <vt:lpstr>Plan Name Source of Truth</vt:lpstr>
      <vt:lpstr>Where to Find Plan Name for Documents</vt:lpstr>
      <vt:lpstr>Additional Resources </vt:lpstr>
      <vt:lpstr>PowerPoint Presentation</vt:lpstr>
      <vt:lpstr>PowerPoint Presentation</vt:lpstr>
      <vt:lpstr>Applying Plan Name in Documents</vt:lpstr>
      <vt:lpstr>Plan Name - Contracts</vt:lpstr>
      <vt:lpstr>Plan Name: Amendment/SBC Instructions</vt:lpstr>
      <vt:lpstr>PowerPoint Presentation</vt:lpstr>
      <vt:lpstr>PowerPoint Presentation</vt:lpstr>
      <vt:lpstr>Plan Name: Multiple Documents</vt:lpstr>
      <vt:lpstr>PowerPoint Presentation</vt:lpstr>
      <vt:lpstr>Piedmont Eye Center (16240) has 4 Plan Documents:  </vt:lpstr>
      <vt:lpstr>Plan Name: Reminders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Zielinski, Emily</dc:creator>
  <cp:lastModifiedBy>Bifulk, Jessica A</cp:lastModifiedBy>
  <cp:revision>85</cp:revision>
  <cp:lastPrinted>2019-10-28T21:01:29Z</cp:lastPrinted>
  <dcterms:modified xsi:type="dcterms:W3CDTF">2025-10-14T10:32:09Z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db3a819d-eaec-493d-8eee-206369ed08f1</vt:lpwstr>
  </property>
  <property fmtid="{D5CDD505-2E9C-101B-9397-08002B2CF9AE}" pid="3" name="ContentTypeId">
    <vt:lpwstr>0x0101000CC09F2B791BE24395504A35BC58D5DD</vt:lpwstr>
  </property>
  <property fmtid="{D5CDD505-2E9C-101B-9397-08002B2CF9AE}" pid="4" name="Order">
    <vt:r8>50800</vt:r8>
  </property>
  <property fmtid="{D5CDD505-2E9C-101B-9397-08002B2CF9AE}" pid="5" name="MSIP_Label_67599526-06ca-49cc-9fa9-5307800a949a_Enabled">
    <vt:lpwstr>true</vt:lpwstr>
  </property>
  <property fmtid="{D5CDD505-2E9C-101B-9397-08002B2CF9AE}" pid="6" name="MSIP_Label_67599526-06ca-49cc-9fa9-5307800a949a_SetDate">
    <vt:lpwstr>2023-03-31T21:04:18Z</vt:lpwstr>
  </property>
  <property fmtid="{D5CDD505-2E9C-101B-9397-08002B2CF9AE}" pid="7" name="MSIP_Label_67599526-06ca-49cc-9fa9-5307800a949a_Method">
    <vt:lpwstr>Standard</vt:lpwstr>
  </property>
  <property fmtid="{D5CDD505-2E9C-101B-9397-08002B2CF9AE}" pid="8" name="MSIP_Label_67599526-06ca-49cc-9fa9-5307800a949a_Name">
    <vt:lpwstr>67599526-06ca-49cc-9fa9-5307800a949a</vt:lpwstr>
  </property>
  <property fmtid="{D5CDD505-2E9C-101B-9397-08002B2CF9AE}" pid="9" name="MSIP_Label_67599526-06ca-49cc-9fa9-5307800a949a_SiteId">
    <vt:lpwstr>fabb61b8-3afe-4e75-b934-a47f782b8cd7</vt:lpwstr>
  </property>
  <property fmtid="{D5CDD505-2E9C-101B-9397-08002B2CF9AE}" pid="10" name="MSIP_Label_67599526-06ca-49cc-9fa9-5307800a949a_ActionId">
    <vt:lpwstr>51da804f-78e1-431c-844a-87db85fb8a81</vt:lpwstr>
  </property>
  <property fmtid="{D5CDD505-2E9C-101B-9397-08002B2CF9AE}" pid="11" name="MSIP_Label_67599526-06ca-49cc-9fa9-5307800a949a_ContentBits">
    <vt:lpwstr>0</vt:lpwstr>
  </property>
  <property fmtid="{D5CDD505-2E9C-101B-9397-08002B2CF9AE}" pid="12" name="MediaServiceImageTags">
    <vt:lpwstr/>
  </property>
</Properties>
</file>