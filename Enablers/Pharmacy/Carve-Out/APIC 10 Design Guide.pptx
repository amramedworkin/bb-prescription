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notesSlides/notesSlide1.xml" ContentType="application/vnd.openxmlformats-officedocument.presentationml.notesSlide+xml"/>
  <Override PartName="/ppt/tags/tag16.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72" r:id="rId4"/>
  </p:sldMasterIdLst>
  <p:notesMasterIdLst>
    <p:notesMasterId r:id="rId170"/>
  </p:notesMasterIdLst>
  <p:handoutMasterIdLst>
    <p:handoutMasterId r:id="rId171"/>
  </p:handoutMasterIdLst>
  <p:sldIdLst>
    <p:sldId id="403" r:id="rId5"/>
    <p:sldId id="1024" r:id="rId6"/>
    <p:sldId id="800" r:id="rId7"/>
    <p:sldId id="802" r:id="rId8"/>
    <p:sldId id="760" r:id="rId9"/>
    <p:sldId id="1001" r:id="rId10"/>
    <p:sldId id="1002" r:id="rId11"/>
    <p:sldId id="1003" r:id="rId12"/>
    <p:sldId id="1004" r:id="rId13"/>
    <p:sldId id="1025" r:id="rId14"/>
    <p:sldId id="1005" r:id="rId15"/>
    <p:sldId id="1006" r:id="rId16"/>
    <p:sldId id="1007" r:id="rId17"/>
    <p:sldId id="1008" r:id="rId18"/>
    <p:sldId id="870" r:id="rId19"/>
    <p:sldId id="726" r:id="rId20"/>
    <p:sldId id="727" r:id="rId21"/>
    <p:sldId id="728" r:id="rId22"/>
    <p:sldId id="729" r:id="rId23"/>
    <p:sldId id="898" r:id="rId24"/>
    <p:sldId id="899" r:id="rId25"/>
    <p:sldId id="1067" r:id="rId26"/>
    <p:sldId id="1022" r:id="rId27"/>
    <p:sldId id="900" r:id="rId28"/>
    <p:sldId id="901" r:id="rId29"/>
    <p:sldId id="926" r:id="rId30"/>
    <p:sldId id="925" r:id="rId31"/>
    <p:sldId id="924" r:id="rId32"/>
    <p:sldId id="927" r:id="rId33"/>
    <p:sldId id="928" r:id="rId34"/>
    <p:sldId id="929" r:id="rId35"/>
    <p:sldId id="930" r:id="rId36"/>
    <p:sldId id="931" r:id="rId37"/>
    <p:sldId id="932" r:id="rId38"/>
    <p:sldId id="933" r:id="rId39"/>
    <p:sldId id="1023" r:id="rId40"/>
    <p:sldId id="903" r:id="rId41"/>
    <p:sldId id="904" r:id="rId42"/>
    <p:sldId id="905" r:id="rId43"/>
    <p:sldId id="906" r:id="rId44"/>
    <p:sldId id="907" r:id="rId45"/>
    <p:sldId id="918" r:id="rId46"/>
    <p:sldId id="909" r:id="rId47"/>
    <p:sldId id="910" r:id="rId48"/>
    <p:sldId id="911" r:id="rId49"/>
    <p:sldId id="912" r:id="rId50"/>
    <p:sldId id="913" r:id="rId51"/>
    <p:sldId id="914" r:id="rId52"/>
    <p:sldId id="915" r:id="rId53"/>
    <p:sldId id="916" r:id="rId54"/>
    <p:sldId id="919" r:id="rId55"/>
    <p:sldId id="920" r:id="rId56"/>
    <p:sldId id="922" r:id="rId57"/>
    <p:sldId id="921" r:id="rId58"/>
    <p:sldId id="923" r:id="rId59"/>
    <p:sldId id="934" r:id="rId60"/>
    <p:sldId id="935" r:id="rId61"/>
    <p:sldId id="936" r:id="rId62"/>
    <p:sldId id="937" r:id="rId63"/>
    <p:sldId id="938" r:id="rId64"/>
    <p:sldId id="939" r:id="rId65"/>
    <p:sldId id="940" r:id="rId66"/>
    <p:sldId id="941" r:id="rId67"/>
    <p:sldId id="1019" r:id="rId68"/>
    <p:sldId id="942" r:id="rId69"/>
    <p:sldId id="943" r:id="rId70"/>
    <p:sldId id="944" r:id="rId71"/>
    <p:sldId id="945" r:id="rId72"/>
    <p:sldId id="946" r:id="rId73"/>
    <p:sldId id="947" r:id="rId74"/>
    <p:sldId id="948" r:id="rId75"/>
    <p:sldId id="949" r:id="rId76"/>
    <p:sldId id="951" r:id="rId77"/>
    <p:sldId id="952" r:id="rId78"/>
    <p:sldId id="953" r:id="rId79"/>
    <p:sldId id="954" r:id="rId80"/>
    <p:sldId id="955" r:id="rId81"/>
    <p:sldId id="956" r:id="rId82"/>
    <p:sldId id="957" r:id="rId83"/>
    <p:sldId id="958" r:id="rId84"/>
    <p:sldId id="959" r:id="rId85"/>
    <p:sldId id="960" r:id="rId86"/>
    <p:sldId id="961" r:id="rId87"/>
    <p:sldId id="962" r:id="rId88"/>
    <p:sldId id="963" r:id="rId89"/>
    <p:sldId id="964" r:id="rId90"/>
    <p:sldId id="965" r:id="rId91"/>
    <p:sldId id="966" r:id="rId92"/>
    <p:sldId id="967" r:id="rId93"/>
    <p:sldId id="968" r:id="rId94"/>
    <p:sldId id="969" r:id="rId95"/>
    <p:sldId id="970" r:id="rId96"/>
    <p:sldId id="971" r:id="rId97"/>
    <p:sldId id="972" r:id="rId98"/>
    <p:sldId id="973" r:id="rId99"/>
    <p:sldId id="974" r:id="rId100"/>
    <p:sldId id="975" r:id="rId101"/>
    <p:sldId id="976" r:id="rId102"/>
    <p:sldId id="977" r:id="rId103"/>
    <p:sldId id="978" r:id="rId104"/>
    <p:sldId id="979" r:id="rId105"/>
    <p:sldId id="980" r:id="rId106"/>
    <p:sldId id="981" r:id="rId107"/>
    <p:sldId id="984" r:id="rId108"/>
    <p:sldId id="985" r:id="rId109"/>
    <p:sldId id="1066" r:id="rId110"/>
    <p:sldId id="982" r:id="rId111"/>
    <p:sldId id="1027" r:id="rId112"/>
    <p:sldId id="1028" r:id="rId113"/>
    <p:sldId id="1029" r:id="rId114"/>
    <p:sldId id="1030" r:id="rId115"/>
    <p:sldId id="1031" r:id="rId116"/>
    <p:sldId id="1040" r:id="rId117"/>
    <p:sldId id="1041" r:id="rId118"/>
    <p:sldId id="1032" r:id="rId119"/>
    <p:sldId id="1043" r:id="rId120"/>
    <p:sldId id="1053" r:id="rId121"/>
    <p:sldId id="1042" r:id="rId122"/>
    <p:sldId id="1036" r:id="rId123"/>
    <p:sldId id="1045" r:id="rId124"/>
    <p:sldId id="1054" r:id="rId125"/>
    <p:sldId id="1046" r:id="rId126"/>
    <p:sldId id="1050" r:id="rId127"/>
    <p:sldId id="1047" r:id="rId128"/>
    <p:sldId id="1049" r:id="rId129"/>
    <p:sldId id="1048" r:id="rId130"/>
    <p:sldId id="1033" r:id="rId131"/>
    <p:sldId id="1051" r:id="rId132"/>
    <p:sldId id="1039" r:id="rId133"/>
    <p:sldId id="1057" r:id="rId134"/>
    <p:sldId id="1058" r:id="rId135"/>
    <p:sldId id="1059" r:id="rId136"/>
    <p:sldId id="1060" r:id="rId137"/>
    <p:sldId id="1064" r:id="rId138"/>
    <p:sldId id="1063" r:id="rId139"/>
    <p:sldId id="1065" r:id="rId140"/>
    <p:sldId id="1055" r:id="rId141"/>
    <p:sldId id="1056" r:id="rId142"/>
    <p:sldId id="990" r:id="rId143"/>
    <p:sldId id="991" r:id="rId144"/>
    <p:sldId id="992" r:id="rId145"/>
    <p:sldId id="993" r:id="rId146"/>
    <p:sldId id="994" r:id="rId147"/>
    <p:sldId id="995" r:id="rId148"/>
    <p:sldId id="997" r:id="rId149"/>
    <p:sldId id="998" r:id="rId150"/>
    <p:sldId id="999" r:id="rId151"/>
    <p:sldId id="1000" r:id="rId152"/>
    <p:sldId id="996" r:id="rId153"/>
    <p:sldId id="1009" r:id="rId154"/>
    <p:sldId id="1010" r:id="rId155"/>
    <p:sldId id="1011" r:id="rId156"/>
    <p:sldId id="1020" r:id="rId157"/>
    <p:sldId id="1021" r:id="rId158"/>
    <p:sldId id="1026" r:id="rId159"/>
    <p:sldId id="1069" r:id="rId160"/>
    <p:sldId id="1068" r:id="rId161"/>
    <p:sldId id="1012" r:id="rId162"/>
    <p:sldId id="1013" r:id="rId163"/>
    <p:sldId id="1014" r:id="rId164"/>
    <p:sldId id="1015" r:id="rId165"/>
    <p:sldId id="1016" r:id="rId166"/>
    <p:sldId id="1017" r:id="rId167"/>
    <p:sldId id="1018" r:id="rId168"/>
    <p:sldId id="722" r:id="rId169"/>
  </p:sldIdLst>
  <p:sldSz cx="12192000" cy="6858000"/>
  <p:notesSz cx="6858000" cy="9144000"/>
  <p:custDataLst>
    <p:tags r:id="rId17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0E48800-9E7C-4A71-910B-78549B05CB43}">
          <p14:sldIdLst>
            <p14:sldId id="403"/>
            <p14:sldId id="1024"/>
            <p14:sldId id="800"/>
          </p14:sldIdLst>
        </p14:section>
        <p14:section name="Setup" id="{3FFEF143-9063-4223-B72C-7DF18AA70EC9}">
          <p14:sldIdLst>
            <p14:sldId id="802"/>
            <p14:sldId id="760"/>
            <p14:sldId id="1001"/>
            <p14:sldId id="1002"/>
            <p14:sldId id="1003"/>
            <p14:sldId id="1004"/>
            <p14:sldId id="1025"/>
            <p14:sldId id="1005"/>
            <p14:sldId id="1006"/>
            <p14:sldId id="1007"/>
            <p14:sldId id="1008"/>
          </p14:sldIdLst>
        </p14:section>
        <p14:section name="Importing Swagger 2.0 as a proxy" id="{7DD27E98-2189-4B4D-8969-D0FA42FD56A3}">
          <p14:sldIdLst>
            <p14:sldId id="870"/>
            <p14:sldId id="726"/>
            <p14:sldId id="727"/>
            <p14:sldId id="728"/>
            <p14:sldId id="729"/>
            <p14:sldId id="898"/>
            <p14:sldId id="899"/>
            <p14:sldId id="1067"/>
          </p14:sldIdLst>
        </p14:section>
        <p14:section name="Assemble for Proxy Invoke" id="{4C4C1E34-E664-4F34-8F12-A0C85679A78C}">
          <p14:sldIdLst>
            <p14:sldId id="1022"/>
            <p14:sldId id="900"/>
            <p14:sldId id="901"/>
          </p14:sldIdLst>
        </p14:section>
        <p14:section name="Mapping to Swagger Services" id="{84CA66CB-776A-4B36-A7C0-00A0E208CD6E}">
          <p14:sldIdLst>
            <p14:sldId id="926"/>
            <p14:sldId id="925"/>
            <p14:sldId id="924"/>
            <p14:sldId id="927"/>
            <p14:sldId id="928"/>
            <p14:sldId id="929"/>
            <p14:sldId id="930"/>
            <p14:sldId id="931"/>
            <p14:sldId id="932"/>
            <p14:sldId id="933"/>
          </p14:sldIdLst>
        </p14:section>
        <p14:section name="Mapping to XML Services" id="{CA292C20-92C1-4F03-ADCE-F3C61A512031}">
          <p14:sldIdLst>
            <p14:sldId id="1023"/>
            <p14:sldId id="903"/>
            <p14:sldId id="904"/>
            <p14:sldId id="905"/>
            <p14:sldId id="906"/>
            <p14:sldId id="907"/>
            <p14:sldId id="918"/>
            <p14:sldId id="909"/>
            <p14:sldId id="910"/>
            <p14:sldId id="911"/>
            <p14:sldId id="912"/>
            <p14:sldId id="913"/>
            <p14:sldId id="914"/>
            <p14:sldId id="915"/>
            <p14:sldId id="916"/>
            <p14:sldId id="919"/>
            <p14:sldId id="920"/>
            <p14:sldId id="922"/>
            <p14:sldId id="921"/>
            <p14:sldId id="923"/>
          </p14:sldIdLst>
        </p14:section>
        <p14:section name="Moving a proxy API from V5 to V10" id="{75D3CBB9-2F18-4E91-874D-5134155EF9B6}">
          <p14:sldIdLst>
            <p14:sldId id="934"/>
            <p14:sldId id="935"/>
            <p14:sldId id="936"/>
            <p14:sldId id="937"/>
            <p14:sldId id="938"/>
            <p14:sldId id="939"/>
            <p14:sldId id="940"/>
            <p14:sldId id="941"/>
          </p14:sldIdLst>
        </p14:section>
        <p14:section name="Moving a mapped API from V5 to V10" id="{19E3809E-029A-4DCC-883D-AA7AC085369E}">
          <p14:sldIdLst>
            <p14:sldId id="1019"/>
          </p14:sldIdLst>
        </p14:section>
        <p14:section name="Importing an OpenAPI 3.0 for proxy API" id="{D6F0C3EE-6122-4C61-A813-328C9B8657D8}">
          <p14:sldIdLst>
            <p14:sldId id="942"/>
            <p14:sldId id="943"/>
            <p14:sldId id="944"/>
            <p14:sldId id="945"/>
            <p14:sldId id="946"/>
            <p14:sldId id="947"/>
          </p14:sldIdLst>
        </p14:section>
        <p14:section name="Importing a SOAP proxy API" id="{ADBAF608-EFC7-4A26-B259-959138D8D061}">
          <p14:sldIdLst>
            <p14:sldId id="948"/>
            <p14:sldId id="949"/>
            <p14:sldId id="951"/>
            <p14:sldId id="952"/>
            <p14:sldId id="953"/>
            <p14:sldId id="954"/>
            <p14:sldId id="955"/>
            <p14:sldId id="956"/>
            <p14:sldId id="957"/>
          </p14:sldIdLst>
        </p14:section>
        <p14:section name="Cloning a V10 API" id="{643A60EE-618A-418A-96FE-98A25CF327B0}">
          <p14:sldIdLst>
            <p14:sldId id="958"/>
            <p14:sldId id="959"/>
            <p14:sldId id="960"/>
            <p14:sldId id="961"/>
            <p14:sldId id="962"/>
          </p14:sldIdLst>
        </p14:section>
        <p14:section name="Create a new version of an API" id="{FF3C5715-7368-4F4B-8263-7306F49E4F8B}">
          <p14:sldIdLst>
            <p14:sldId id="963"/>
            <p14:sldId id="964"/>
            <p14:sldId id="965"/>
          </p14:sldIdLst>
        </p14:section>
        <p14:section name="Create a new OpenAPI 2.0 using V10" id="{84E93E83-C2E5-4687-9122-A211D70D9600}">
          <p14:sldIdLst>
            <p14:sldId id="966"/>
            <p14:sldId id="967"/>
            <p14:sldId id="968"/>
            <p14:sldId id="969"/>
            <p14:sldId id="970"/>
            <p14:sldId id="971"/>
            <p14:sldId id="972"/>
            <p14:sldId id="973"/>
            <p14:sldId id="974"/>
            <p14:sldId id="975"/>
            <p14:sldId id="976"/>
            <p14:sldId id="977"/>
            <p14:sldId id="978"/>
            <p14:sldId id="979"/>
          </p14:sldIdLst>
        </p14:section>
        <p14:section name="Create a complex definition using API Connect V10" id="{0F94D2C9-7900-49B0-B9FD-64AFE0524ECD}">
          <p14:sldIdLst>
            <p14:sldId id="980"/>
            <p14:sldId id="981"/>
            <p14:sldId id="984"/>
            <p14:sldId id="985"/>
            <p14:sldId id="1066"/>
          </p14:sldIdLst>
        </p14:section>
        <p14:section name="Create a new OpenAPI 3.0 using V10" id="{1BE13B75-CB31-4213-8937-288A44F048EA}">
          <p14:sldIdLst>
            <p14:sldId id="982"/>
            <p14:sldId id="1027"/>
            <p14:sldId id="1028"/>
            <p14:sldId id="1029"/>
            <p14:sldId id="1030"/>
            <p14:sldId id="1031"/>
            <p14:sldId id="1040"/>
            <p14:sldId id="1041"/>
            <p14:sldId id="1032"/>
            <p14:sldId id="1043"/>
            <p14:sldId id="1053"/>
            <p14:sldId id="1042"/>
            <p14:sldId id="1036"/>
            <p14:sldId id="1045"/>
            <p14:sldId id="1054"/>
            <p14:sldId id="1046"/>
            <p14:sldId id="1050"/>
            <p14:sldId id="1047"/>
            <p14:sldId id="1049"/>
            <p14:sldId id="1048"/>
            <p14:sldId id="1033"/>
            <p14:sldId id="1051"/>
            <p14:sldId id="1039"/>
          </p14:sldIdLst>
        </p14:section>
        <p14:section name="Create Complex Schema" id="{6A57315C-CE17-4ABF-B458-3633B981B1BE}">
          <p14:sldIdLst>
            <p14:sldId id="1057"/>
            <p14:sldId id="1058"/>
            <p14:sldId id="1059"/>
            <p14:sldId id="1060"/>
            <p14:sldId id="1064"/>
            <p14:sldId id="1063"/>
            <p14:sldId id="1065"/>
          </p14:sldIdLst>
        </p14:section>
        <p14:section name="Creating an API Product" id="{2813AFFC-E8E0-423D-B718-B73822EB3B9B}">
          <p14:sldIdLst>
            <p14:sldId id="1055"/>
            <p14:sldId id="1056"/>
            <p14:sldId id="990"/>
            <p14:sldId id="991"/>
            <p14:sldId id="992"/>
            <p14:sldId id="993"/>
            <p14:sldId id="994"/>
            <p14:sldId id="995"/>
            <p14:sldId id="997"/>
            <p14:sldId id="998"/>
            <p14:sldId id="999"/>
            <p14:sldId id="1000"/>
            <p14:sldId id="996"/>
          </p14:sldIdLst>
        </p14:section>
        <p14:section name="Publish an API Product to the Portal" id="{4D1FDC9F-C829-4AC8-A6FA-C6EF4A948578}">
          <p14:sldIdLst>
            <p14:sldId id="1009"/>
            <p14:sldId id="1010"/>
            <p14:sldId id="1011"/>
            <p14:sldId id="1020"/>
            <p14:sldId id="1021"/>
            <p14:sldId id="1026"/>
            <p14:sldId id="1069"/>
            <p14:sldId id="1068"/>
            <p14:sldId id="1012"/>
          </p14:sldIdLst>
        </p14:section>
        <p14:section name="Delete an API Product from the Portal" id="{DDF0E822-E932-4F8C-BAB2-BB09F42214FA}">
          <p14:sldIdLst>
            <p14:sldId id="1013"/>
            <p14:sldId id="1014"/>
            <p14:sldId id="1015"/>
            <p14:sldId id="1016"/>
          </p14:sldIdLst>
        </p14:section>
        <p14:section name="Download Swagger Realization" id="{EB89B13C-F6CE-4974-90BD-9398F52FF5E7}">
          <p14:sldIdLst>
            <p14:sldId id="1017"/>
            <p14:sldId id="1018"/>
          </p14:sldIdLst>
        </p14:section>
        <p14:section name="The End" id="{52C50CC3-CEA3-4AC8-8DA4-1BBF6A8A7AE1}">
          <p14:sldIdLst>
            <p14:sldId id="722"/>
          </p14:sldIdLst>
        </p14:section>
      </p14:sectionLst>
    </p:ext>
    <p:ext uri="{EFAFB233-063F-42B5-8137-9DF3F51BA10A}">
      <p15:sldGuideLst xmlns:p15="http://schemas.microsoft.com/office/powerpoint/2012/main">
        <p15:guide id="1" orient="horz" pos="280" userDrawn="1">
          <p15:clr>
            <a:srgbClr val="A4A3A4"/>
          </p15:clr>
        </p15:guide>
        <p15:guide id="3" orient="horz" pos="2352" userDrawn="1">
          <p15:clr>
            <a:srgbClr val="A4A3A4"/>
          </p15:clr>
        </p15:guide>
        <p15:guide id="4" orient="horz" pos="3795" userDrawn="1">
          <p15:clr>
            <a:srgbClr val="A4A3A4"/>
          </p15:clr>
        </p15:guide>
        <p15:guide id="6" orient="horz" pos="4175" userDrawn="1">
          <p15:clr>
            <a:srgbClr val="A4A3A4"/>
          </p15:clr>
        </p15:guide>
        <p15:guide id="7" pos="293" userDrawn="1">
          <p15:clr>
            <a:srgbClr val="A4A3A4"/>
          </p15:clr>
        </p15:guide>
        <p15:guide id="8" pos="7399" userDrawn="1">
          <p15:clr>
            <a:srgbClr val="A4A3A4"/>
          </p15:clr>
        </p15:guide>
        <p15:guide id="9" pos="1463" userDrawn="1">
          <p15:clr>
            <a:srgbClr val="A4A3A4"/>
          </p15:clr>
        </p15:guide>
        <p15:guide id="10" pos="6193" userDrawn="1">
          <p15:clr>
            <a:srgbClr val="A4A3A4"/>
          </p15:clr>
        </p15:guide>
        <p15:guide id="11" pos="3841" userDrawn="1">
          <p15:clr>
            <a:srgbClr val="A4A3A4"/>
          </p15:clr>
        </p15:guide>
        <p15:guide id="12" pos="2640" userDrawn="1">
          <p15:clr>
            <a:srgbClr val="A4A3A4"/>
          </p15:clr>
        </p15:guide>
        <p15:guide id="13" pos="5016" userDrawn="1">
          <p15:clr>
            <a:srgbClr val="A4A3A4"/>
          </p15:clr>
        </p15:guide>
        <p15:guide id="14" orient="horz" pos="279" userDrawn="1">
          <p15:clr>
            <a:srgbClr val="A4A3A4"/>
          </p15:clr>
        </p15:guide>
        <p15:guide id="15" orient="horz" pos="768" userDrawn="1">
          <p15:clr>
            <a:srgbClr val="A4A3A4"/>
          </p15:clr>
        </p15:guide>
        <p15:guide id="16" orient="horz" pos="4152" userDrawn="1">
          <p15:clr>
            <a:srgbClr val="A4A3A4"/>
          </p15:clr>
        </p15:guide>
        <p15:guide id="17" orient="horz" pos="912" userDrawn="1">
          <p15:clr>
            <a:srgbClr val="A4A3A4"/>
          </p15:clr>
        </p15:guide>
        <p15:guide id="18" orient="horz" pos="3931" userDrawn="1">
          <p15:clr>
            <a:srgbClr val="A4A3A4"/>
          </p15:clr>
        </p15:guide>
        <p15:guide id="19" pos="3792" userDrawn="1">
          <p15:clr>
            <a:srgbClr val="A4A3A4"/>
          </p15:clr>
        </p15:guide>
        <p15:guide id="20" pos="3888" userDrawn="1">
          <p15:clr>
            <a:srgbClr val="A4A3A4"/>
          </p15:clr>
        </p15:guide>
        <p15:guide id="21" orient="horz" pos="2304" userDrawn="1">
          <p15:clr>
            <a:srgbClr val="A4A3A4"/>
          </p15:clr>
        </p15:guide>
        <p15:guide id="22" orient="horz" pos="2400" userDrawn="1">
          <p15:clr>
            <a:srgbClr val="A4A3A4"/>
          </p15:clr>
        </p15:guide>
        <p15:guide id="23" orient="horz" pos="286" userDrawn="1">
          <p15:clr>
            <a:srgbClr val="A4A3A4"/>
          </p15:clr>
        </p15:guide>
        <p15:guide id="24" orient="horz" pos="285" userDrawn="1">
          <p15:clr>
            <a:srgbClr val="A4A3A4"/>
          </p15:clr>
        </p15:guide>
        <p15:guide id="25" orient="horz" pos="401" userDrawn="1">
          <p15:clr>
            <a:srgbClr val="A4A3A4"/>
          </p15:clr>
        </p15:guide>
        <p15:guide id="26" orient="horz" pos="1039" userDrawn="1">
          <p15:clr>
            <a:srgbClr val="A4A3A4"/>
          </p15:clr>
        </p15:guide>
        <p15:guide id="27" pos="3435" userDrawn="1">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ilkins Jr, Charles H" initials="FJCH" lastIdx="23" clrIdx="0">
    <p:extLst>
      <p:ext uri="{19B8F6BF-5375-455C-9EA6-DF929625EA0E}">
        <p15:presenceInfo xmlns:p15="http://schemas.microsoft.com/office/powerpoint/2012/main" userId="S::charliefilkins@aetna.com::f85f340a-99fb-44c3-8b7c-7f7d8d4da6d7" providerId="AD"/>
      </p:ext>
    </p:extLst>
  </p:cmAuthor>
  <p:cmAuthor id="2" name="Waldern, Stephen" initials="WS" lastIdx="2" clrIdx="1">
    <p:extLst>
      <p:ext uri="{19B8F6BF-5375-455C-9EA6-DF929625EA0E}">
        <p15:presenceInfo xmlns:p15="http://schemas.microsoft.com/office/powerpoint/2012/main" userId="S::SWaldern@aetna.com::d861083f-4f93-4864-8f7f-da8a8294ee4d" providerId="AD"/>
      </p:ext>
    </p:extLst>
  </p:cmAuthor>
  <p:cmAuthor id="3" name="Klein, Roy" initials="KR" lastIdx="2" clrIdx="2">
    <p:extLst>
      <p:ext uri="{19B8F6BF-5375-455C-9EA6-DF929625EA0E}">
        <p15:presenceInfo xmlns:p15="http://schemas.microsoft.com/office/powerpoint/2012/main" userId="S::kleinr@aetna.com::3a6eb0b2-dd7c-49eb-8aa1-ef57e4ee72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411"/>
    <a:srgbClr val="F7F7F7"/>
    <a:srgbClr val="F2F2F2"/>
    <a:srgbClr val="D9D9D9"/>
    <a:srgbClr val="B2DAE1"/>
    <a:srgbClr val="00859B"/>
    <a:srgbClr val="D20962"/>
    <a:srgbClr val="E5B2CF"/>
    <a:srgbClr val="E46B95"/>
    <a:srgbClr val="AA0061"/>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E0C48F-269E-4D11-A84A-1A21F2687DED}" v="60" dt="2025-05-08T20:51:24.0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0"/>
        <p:guide orient="horz" pos="2352"/>
        <p:guide orient="horz" pos="3795"/>
        <p:guide orient="horz" pos="4175"/>
        <p:guide pos="293"/>
        <p:guide pos="7399"/>
        <p:guide pos="1463"/>
        <p:guide pos="6193"/>
        <p:guide pos="3841"/>
        <p:guide pos="2640"/>
        <p:guide pos="5016"/>
        <p:guide orient="horz" pos="279"/>
        <p:guide orient="horz" pos="768"/>
        <p:guide orient="horz" pos="4152"/>
        <p:guide orient="horz" pos="912"/>
        <p:guide orient="horz" pos="3931"/>
        <p:guide pos="3792"/>
        <p:guide pos="3888"/>
        <p:guide orient="horz" pos="2304"/>
        <p:guide orient="horz" pos="2400"/>
        <p:guide orient="horz" pos="286"/>
        <p:guide orient="horz" pos="285"/>
        <p:guide orient="horz" pos="401"/>
        <p:guide orient="horz" pos="1039"/>
        <p:guide pos="3435"/>
      </p:guideLst>
    </p:cSldViewPr>
  </p:slideViewPr>
  <p:notesViewPr>
    <p:cSldViewPr snapToGrid="0">
      <p:cViewPr>
        <p:scale>
          <a:sx n="1" d="2"/>
          <a:sy n="1" d="2"/>
        </p:scale>
        <p:origin x="0" y="0"/>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notesMaster" Target="notesMasters/notesMaster1.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handoutMaster" Target="handoutMasters/handoutMaster1.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77" Type="http://schemas.openxmlformats.org/officeDocument/2006/relationships/tableStyles" Target="tableStyles.xml"/><Relationship Id="rId172" Type="http://schemas.openxmlformats.org/officeDocument/2006/relationships/tags" Target="tags/tag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slide" Target="slides/slide163.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178" Type="http://schemas.microsoft.com/office/2015/10/relationships/revisionInfo" Target="revisionInfo.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commentAuthors" Target="commentAuthors.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presProps" Target="presProp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viewProps" Target="viewProps.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theme" Target="theme/theme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 Type="http://schemas.openxmlformats.org/officeDocument/2006/relationships/customXml" Target="../customXml/item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sz="1000">
              <a:latin typeface="Open Sans Light"/>
              <a:cs typeface="Open Sans Light"/>
            </a:endParaRPr>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fld id="{82541AEF-3112-6549-914A-E0D9B60F40EA}" type="datetimeFigureOut">
              <a:rPr lang="en-US" sz="1000" smtClean="0">
                <a:latin typeface="Open Sans Light"/>
                <a:cs typeface="Open Sans Light"/>
              </a:rPr>
              <a:t>10/7/2025</a:t>
            </a:fld>
            <a:endParaRPr lang="en-US" sz="1000">
              <a:latin typeface="Open Sans Light"/>
              <a:cs typeface="Open Sans Light"/>
            </a:endParaRPr>
          </a:p>
        </p:txBody>
      </p:sp>
      <p:sp>
        <p:nvSpPr>
          <p:cNvPr id="4" name="Footer Placeholder 3"/>
          <p:cNvSpPr>
            <a:spLocks noGrp="1"/>
          </p:cNvSpPr>
          <p:nvPr>
            <p:ph type="ftr" sz="quarter" idx="2"/>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sz="1000">
              <a:latin typeface="Open Sans Light"/>
              <a:cs typeface="Open Sans Light"/>
            </a:endParaRPr>
          </a:p>
        </p:txBody>
      </p:sp>
      <p:sp>
        <p:nvSpPr>
          <p:cNvPr id="5" name="Slide Number Placeholder 4"/>
          <p:cNvSpPr>
            <a:spLocks noGrp="1"/>
          </p:cNvSpPr>
          <p:nvPr>
            <p:ph type="sldNum" sz="quarter" idx="3"/>
          </p:nvPr>
        </p:nvSpPr>
        <p:spPr>
          <a:xfrm>
            <a:off x="5180013" y="6513513"/>
            <a:ext cx="3962400" cy="342900"/>
          </a:xfrm>
          <a:prstGeom prst="rect">
            <a:avLst/>
          </a:prstGeom>
        </p:spPr>
        <p:txBody>
          <a:bodyPr vert="horz" lIns="91440" tIns="45720" rIns="91440" bIns="45720" rtlCol="0" anchor="b"/>
          <a:lstStyle>
            <a:lvl1pPr algn="r">
              <a:defRPr sz="1200"/>
            </a:lvl1pPr>
          </a:lstStyle>
          <a:p>
            <a:fld id="{BF293638-C25A-9844-8D5B-B0309EC5F961}" type="slidenum">
              <a:rPr lang="en-US" sz="1000" smtClean="0">
                <a:latin typeface="Open Sans Light"/>
                <a:cs typeface="Open Sans Light"/>
              </a:rPr>
              <a:t>‹#›</a:t>
            </a:fld>
            <a:endParaRPr lang="en-US" sz="1000">
              <a:latin typeface="Open Sans Light"/>
              <a:cs typeface="Open Sans Light"/>
            </a:endParaRPr>
          </a:p>
        </p:txBody>
      </p:sp>
    </p:spTree>
    <p:extLst>
      <p:ext uri="{BB962C8B-B14F-4D97-AF65-F5344CB8AC3E}">
        <p14:creationId xmlns:p14="http://schemas.microsoft.com/office/powerpoint/2010/main" val="34768346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000">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000">
                <a:latin typeface="Arial" panose="020B0604020202020204" pitchFamily="34" charset="0"/>
                <a:cs typeface="Arial" panose="020B0604020202020204" pitchFamily="34" charset="0"/>
                <a:sym typeface="Arial" panose="020B0604020202020204" pitchFamily="34" charset="0"/>
              </a:defRPr>
            </a:lvl1pPr>
          </a:lstStyle>
          <a:p>
            <a:fld id="{EC2C7003-A6A9-A249-88AD-8CFDA7DED64B}" type="datetimeFigureOut">
              <a:rPr lang="en-US" smtClean="0"/>
              <a:pPr/>
              <a:t>10/7/2025</a:t>
            </a:fld>
            <a:endParaRPr lang="en-US"/>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000">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000">
                <a:latin typeface="Arial" panose="020B0604020202020204" pitchFamily="34" charset="0"/>
                <a:cs typeface="Arial" panose="020B0604020202020204" pitchFamily="34" charset="0"/>
                <a:sym typeface="Arial" panose="020B0604020202020204" pitchFamily="34" charset="0"/>
              </a:defRPr>
            </a:lvl1pPr>
          </a:lstStyle>
          <a:p>
            <a:fld id="{50AD15A5-6128-B84F-818D-8AA5BDD9AF9D}" type="slidenum">
              <a:rPr lang="en-US" smtClean="0"/>
              <a:pPr/>
              <a:t>‹#›</a:t>
            </a:fld>
            <a:endParaRPr lang="en-US"/>
          </a:p>
        </p:txBody>
      </p:sp>
    </p:spTree>
    <p:extLst>
      <p:ext uri="{BB962C8B-B14F-4D97-AF65-F5344CB8AC3E}">
        <p14:creationId xmlns:p14="http://schemas.microsoft.com/office/powerpoint/2010/main" val="352626992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defTabSz="457200" rtl="0" eaLnBrk="1" latinLnBrk="0" hangingPunct="1">
      <a:defRPr sz="12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defTabSz="457200" rtl="0" eaLnBrk="1" latinLnBrk="0" hangingPunct="1">
      <a:defRPr sz="12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defTabSz="457200" rtl="0" eaLnBrk="1" latinLnBrk="0" hangingPunct="1">
      <a:defRPr sz="12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defTabSz="457200" rtl="0" eaLnBrk="1" latinLnBrk="0" hangingPunct="1">
      <a:defRPr sz="12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0AD15A5-6128-B84F-818D-8AA5BDD9AF9D}" type="slidenum">
              <a:rPr lang="en-US" smtClean="0"/>
              <a:pPr/>
              <a:t>1</a:t>
            </a:fld>
            <a:endParaRPr lang="en-US"/>
          </a:p>
        </p:txBody>
      </p:sp>
    </p:spTree>
    <p:extLst>
      <p:ext uri="{BB962C8B-B14F-4D97-AF65-F5344CB8AC3E}">
        <p14:creationId xmlns:p14="http://schemas.microsoft.com/office/powerpoint/2010/main" val="841154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0AD15A5-6128-B84F-818D-8AA5BDD9AF9D}" type="slidenum">
              <a:rPr lang="en-US" smtClean="0"/>
              <a:pPr/>
              <a:t>2</a:t>
            </a:fld>
            <a:endParaRPr lang="en-US"/>
          </a:p>
        </p:txBody>
      </p:sp>
    </p:spTree>
    <p:extLst>
      <p:ext uri="{BB962C8B-B14F-4D97-AF65-F5344CB8AC3E}">
        <p14:creationId xmlns:p14="http://schemas.microsoft.com/office/powerpoint/2010/main" val="2808447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0AD15A5-6128-B84F-818D-8AA5BDD9AF9D}" type="slidenum">
              <a:rPr lang="en-US" smtClean="0"/>
              <a:pPr/>
              <a:t>70</a:t>
            </a:fld>
            <a:endParaRPr lang="en-US"/>
          </a:p>
        </p:txBody>
      </p:sp>
    </p:spTree>
    <p:extLst>
      <p:ext uri="{BB962C8B-B14F-4D97-AF65-F5344CB8AC3E}">
        <p14:creationId xmlns:p14="http://schemas.microsoft.com/office/powerpoint/2010/main" val="31441152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3.png"/><Relationship Id="rId5" Type="http://schemas.openxmlformats.org/officeDocument/2006/relationships/slide" Target="../slides/slide1.xml"/><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slide" Target="../slides/slide1.xml"/><Relationship Id="rId4"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slide" Target="../slides/slide1.xml"/><Relationship Id="rId4"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image" Target="../media/image4.jpeg"/><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64E69"/>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6571110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Rectangle 2"/>
          <p:cNvSpPr>
            <a:spLocks noChangeAspect="1"/>
          </p:cNvSpPr>
          <p:nvPr/>
        </p:nvSpPr>
        <p:spPr>
          <a:xfrm>
            <a:off x="7751366" y="0"/>
            <a:ext cx="444063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b="1">
              <a:solidFill>
                <a:schemeClr val="accent4"/>
              </a:solidFill>
              <a:latin typeface="Arial" panose="020B0604020202020204" pitchFamily="34" charset="0"/>
              <a:cs typeface="Arial" panose="020B0604020202020204" pitchFamily="34" charset="0"/>
              <a:sym typeface="Arial" panose="020B0604020202020204" pitchFamily="34" charset="0"/>
            </a:endParaRPr>
          </a:p>
        </p:txBody>
      </p:sp>
      <p:sp>
        <p:nvSpPr>
          <p:cNvPr id="7" name="Rectangle 6"/>
          <p:cNvSpPr/>
          <p:nvPr/>
        </p:nvSpPr>
        <p:spPr>
          <a:xfrm>
            <a:off x="7629890" y="0"/>
            <a:ext cx="121476" cy="685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b="1">
              <a:latin typeface="Arial" panose="020B0604020202020204" pitchFamily="34" charset="0"/>
              <a:cs typeface="Arial" panose="020B0604020202020204" pitchFamily="34" charset="0"/>
              <a:sym typeface="Arial" panose="020B0604020202020204" pitchFamily="34" charset="0"/>
            </a:endParaRPr>
          </a:p>
        </p:txBody>
      </p:sp>
      <p:sp>
        <p:nvSpPr>
          <p:cNvPr id="26" name="Text Placeholder 7"/>
          <p:cNvSpPr>
            <a:spLocks noGrp="1"/>
          </p:cNvSpPr>
          <p:nvPr>
            <p:ph type="body" sz="quarter" idx="11" hasCustomPrompt="1"/>
          </p:nvPr>
        </p:nvSpPr>
        <p:spPr>
          <a:xfrm>
            <a:off x="4078427" y="5460984"/>
            <a:ext cx="2844943" cy="431800"/>
          </a:xfrm>
          <a:prstGeom prst="rect">
            <a:avLst/>
          </a:prstGeom>
        </p:spPr>
        <p:txBody>
          <a:bodyPr rIns="0" anchor="b"/>
          <a:lstStyle>
            <a:lvl1pPr algn="r">
              <a:defRPr sz="1200" baseline="0">
                <a:solidFill>
                  <a:srgbClr val="FFFFFF"/>
                </a:solidFill>
                <a:latin typeface="Arial" panose="020B0604020202020204" pitchFamily="34" charset="0"/>
                <a:cs typeface="Arial" panose="020B0604020202020204" pitchFamily="34" charset="0"/>
                <a:sym typeface="Arial" panose="020B0604020202020204" pitchFamily="34" charset="0"/>
              </a:defRPr>
            </a:lvl1pPr>
          </a:lstStyle>
          <a:p>
            <a:pPr lvl="0"/>
            <a:r>
              <a:rPr lang="en-US"/>
              <a:t>Presenter Name</a:t>
            </a:r>
            <a:endParaRPr lang="tr-TR"/>
          </a:p>
        </p:txBody>
      </p:sp>
      <p:sp>
        <p:nvSpPr>
          <p:cNvPr id="27" name="Title 1"/>
          <p:cNvSpPr>
            <a:spLocks noGrp="1"/>
          </p:cNvSpPr>
          <p:nvPr>
            <p:ph type="ctrTitle" hasCustomPrompt="1"/>
          </p:nvPr>
        </p:nvSpPr>
        <p:spPr>
          <a:xfrm>
            <a:off x="822960" y="640080"/>
            <a:ext cx="5585018" cy="2630356"/>
          </a:xfrm>
          <a:prstGeom prst="rect">
            <a:avLst/>
          </a:prstGeom>
        </p:spPr>
        <p:txBody>
          <a:bodyPr lIns="0" anchor="t"/>
          <a:lstStyle>
            <a:lvl1pPr algn="l">
              <a:lnSpc>
                <a:spcPct val="80000"/>
              </a:lnSpc>
              <a:defRPr sz="7200" b="1" baseline="0">
                <a:solidFill>
                  <a:schemeClr val="bg1"/>
                </a:solidFill>
                <a:latin typeface="Arial" panose="020B0604020202020204" pitchFamily="34" charset="0"/>
                <a:cs typeface="Arial" panose="020B0604020202020204" pitchFamily="34" charset="0"/>
                <a:sym typeface="Arial" panose="020B0604020202020204" pitchFamily="34" charset="0"/>
              </a:defRPr>
            </a:lvl1pPr>
          </a:lstStyle>
          <a:p>
            <a:r>
              <a:rPr lang="en-US"/>
              <a:t>Cover Slide Title</a:t>
            </a:r>
          </a:p>
        </p:txBody>
      </p:sp>
      <p:sp>
        <p:nvSpPr>
          <p:cNvPr id="30" name="Text Placeholder 7"/>
          <p:cNvSpPr>
            <a:spLocks noGrp="1"/>
          </p:cNvSpPr>
          <p:nvPr>
            <p:ph type="body" sz="quarter" idx="12" hasCustomPrompt="1"/>
          </p:nvPr>
        </p:nvSpPr>
        <p:spPr>
          <a:xfrm>
            <a:off x="822960" y="3383280"/>
            <a:ext cx="5578857" cy="431800"/>
          </a:xfrm>
          <a:prstGeom prst="rect">
            <a:avLst/>
          </a:prstGeom>
        </p:spPr>
        <p:txBody>
          <a:bodyPr lIns="0" anchor="ctr" anchorCtr="0"/>
          <a:lstStyle>
            <a:lvl1pPr algn="l">
              <a:defRPr sz="2400" baseline="0">
                <a:solidFill>
                  <a:srgbClr val="FFFFFF"/>
                </a:solidFill>
                <a:latin typeface="Arial" panose="020B0604020202020204" pitchFamily="34" charset="0"/>
                <a:cs typeface="Arial" panose="020B0604020202020204" pitchFamily="34" charset="0"/>
                <a:sym typeface="Arial" panose="020B0604020202020204" pitchFamily="34" charset="0"/>
              </a:defRPr>
            </a:lvl1pPr>
          </a:lstStyle>
          <a:p>
            <a:pPr lvl="0"/>
            <a:r>
              <a:rPr lang="en-US"/>
              <a:t>Second Level Title</a:t>
            </a:r>
            <a:endParaRPr lang="tr-TR"/>
          </a:p>
        </p:txBody>
      </p:sp>
      <p:sp>
        <p:nvSpPr>
          <p:cNvPr id="31" name="Text Placeholder 7"/>
          <p:cNvSpPr>
            <a:spLocks noGrp="1"/>
          </p:cNvSpPr>
          <p:nvPr>
            <p:ph type="body" sz="quarter" idx="13" hasCustomPrompt="1"/>
          </p:nvPr>
        </p:nvSpPr>
        <p:spPr>
          <a:xfrm>
            <a:off x="4078427" y="5892928"/>
            <a:ext cx="2844943" cy="431800"/>
          </a:xfrm>
          <a:prstGeom prst="rect">
            <a:avLst/>
          </a:prstGeom>
        </p:spPr>
        <p:txBody>
          <a:bodyPr rIns="0" anchor="b"/>
          <a:lstStyle>
            <a:lvl1pPr algn="r">
              <a:defRPr sz="1800" baseline="0">
                <a:solidFill>
                  <a:srgbClr val="FFFFFF"/>
                </a:solidFill>
                <a:latin typeface="Arial" panose="020B0604020202020204" pitchFamily="34" charset="0"/>
                <a:cs typeface="Arial" panose="020B0604020202020204" pitchFamily="34" charset="0"/>
                <a:sym typeface="Arial" panose="020B0604020202020204" pitchFamily="34" charset="0"/>
              </a:defRPr>
            </a:lvl1pPr>
          </a:lstStyle>
          <a:p>
            <a:pPr lvl="0"/>
            <a:r>
              <a:rPr lang="en-US"/>
              <a:t>Date</a:t>
            </a:r>
            <a:endParaRPr lang="tr-TR"/>
          </a:p>
        </p:txBody>
      </p:sp>
      <p:sp>
        <p:nvSpPr>
          <p:cNvPr id="32" name="Picture Placeholder 5"/>
          <p:cNvSpPr>
            <a:spLocks noGrp="1"/>
          </p:cNvSpPr>
          <p:nvPr>
            <p:ph type="pic" sz="quarter" idx="14" hasCustomPrompt="1"/>
          </p:nvPr>
        </p:nvSpPr>
        <p:spPr>
          <a:xfrm>
            <a:off x="7751365" y="1"/>
            <a:ext cx="4440635" cy="3383280"/>
          </a:xfrm>
          <a:prstGeom prst="rect">
            <a:avLst/>
          </a:prstGeom>
          <a:solidFill>
            <a:schemeClr val="bg2"/>
          </a:solidFill>
        </p:spPr>
        <p:txBody>
          <a:bodyPr anchor="ctr"/>
          <a:lstStyle>
            <a:lvl1pPr algn="ctr">
              <a:defRPr sz="320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IMAGE</a:t>
            </a:r>
          </a:p>
        </p:txBody>
      </p:sp>
      <p:sp>
        <p:nvSpPr>
          <p:cNvPr id="28" name="Rectangle 27"/>
          <p:cNvSpPr/>
          <p:nvPr userDrawn="1"/>
        </p:nvSpPr>
        <p:spPr>
          <a:xfrm>
            <a:off x="7749346" y="3375049"/>
            <a:ext cx="4442654" cy="118872"/>
          </a:xfrm>
          <a:prstGeom prst="rect">
            <a:avLst/>
          </a:prstGeom>
          <a:solidFill>
            <a:srgbClr val="043B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anose="020B0604020202020204" pitchFamily="34" charset="0"/>
              <a:cs typeface="Arial" panose="020B0604020202020204" pitchFamily="34" charset="0"/>
              <a:sym typeface="Arial" panose="020B0604020202020204" pitchFamily="34" charset="0"/>
            </a:endParaRPr>
          </a:p>
        </p:txBody>
      </p:sp>
      <p:grpSp>
        <p:nvGrpSpPr>
          <p:cNvPr id="33" name="Group 32">
            <a:extLst>
              <a:ext uri="{FF2B5EF4-FFF2-40B4-BE49-F238E27FC236}">
                <a16:creationId xmlns:a16="http://schemas.microsoft.com/office/drawing/2014/main" id="{0860573B-7502-4EE6-AE67-B3B2FFD71F32}"/>
              </a:ext>
            </a:extLst>
          </p:cNvPr>
          <p:cNvGrpSpPr>
            <a:grpSpLocks noChangeAspect="1"/>
          </p:cNvGrpSpPr>
          <p:nvPr userDrawn="1"/>
        </p:nvGrpSpPr>
        <p:grpSpPr>
          <a:xfrm>
            <a:off x="9472900" y="5931510"/>
            <a:ext cx="2192529" cy="292877"/>
            <a:chOff x="279400" y="2781300"/>
            <a:chExt cx="8585200" cy="1092200"/>
          </a:xfrm>
        </p:grpSpPr>
        <p:sp>
          <p:nvSpPr>
            <p:cNvPr id="34" name="Freeform 5">
              <a:extLst>
                <a:ext uri="{FF2B5EF4-FFF2-40B4-BE49-F238E27FC236}">
                  <a16:creationId xmlns:a16="http://schemas.microsoft.com/office/drawing/2014/main" id="{264CBBCF-7D70-4513-96B2-BDE78A1BE2AC}"/>
                </a:ext>
              </a:extLst>
            </p:cNvPr>
            <p:cNvSpPr>
              <a:spLocks/>
            </p:cNvSpPr>
            <p:nvPr/>
          </p:nvSpPr>
          <p:spPr bwMode="auto">
            <a:xfrm>
              <a:off x="4605338" y="2816225"/>
              <a:ext cx="958850" cy="1035050"/>
            </a:xfrm>
            <a:custGeom>
              <a:avLst/>
              <a:gdLst>
                <a:gd name="T0" fmla="*/ 142 w 604"/>
                <a:gd name="T1" fmla="*/ 272 h 652"/>
                <a:gd name="T2" fmla="*/ 142 w 604"/>
                <a:gd name="T3" fmla="*/ 57 h 652"/>
                <a:gd name="T4" fmla="*/ 206 w 604"/>
                <a:gd name="T5" fmla="*/ 57 h 652"/>
                <a:gd name="T6" fmla="*/ 206 w 604"/>
                <a:gd name="T7" fmla="*/ 0 h 652"/>
                <a:gd name="T8" fmla="*/ 0 w 604"/>
                <a:gd name="T9" fmla="*/ 0 h 652"/>
                <a:gd name="T10" fmla="*/ 0 w 604"/>
                <a:gd name="T11" fmla="*/ 57 h 652"/>
                <a:gd name="T12" fmla="*/ 64 w 604"/>
                <a:gd name="T13" fmla="*/ 57 h 652"/>
                <a:gd name="T14" fmla="*/ 64 w 604"/>
                <a:gd name="T15" fmla="*/ 587 h 652"/>
                <a:gd name="T16" fmla="*/ 0 w 604"/>
                <a:gd name="T17" fmla="*/ 587 h 652"/>
                <a:gd name="T18" fmla="*/ 0 w 604"/>
                <a:gd name="T19" fmla="*/ 652 h 652"/>
                <a:gd name="T20" fmla="*/ 206 w 604"/>
                <a:gd name="T21" fmla="*/ 652 h 652"/>
                <a:gd name="T22" fmla="*/ 206 w 604"/>
                <a:gd name="T23" fmla="*/ 587 h 652"/>
                <a:gd name="T24" fmla="*/ 142 w 604"/>
                <a:gd name="T25" fmla="*/ 587 h 652"/>
                <a:gd name="T26" fmla="*/ 142 w 604"/>
                <a:gd name="T27" fmla="*/ 329 h 652"/>
                <a:gd name="T28" fmla="*/ 462 w 604"/>
                <a:gd name="T29" fmla="*/ 329 h 652"/>
                <a:gd name="T30" fmla="*/ 462 w 604"/>
                <a:gd name="T31" fmla="*/ 587 h 652"/>
                <a:gd name="T32" fmla="*/ 398 w 604"/>
                <a:gd name="T33" fmla="*/ 587 h 652"/>
                <a:gd name="T34" fmla="*/ 398 w 604"/>
                <a:gd name="T35" fmla="*/ 652 h 652"/>
                <a:gd name="T36" fmla="*/ 604 w 604"/>
                <a:gd name="T37" fmla="*/ 652 h 652"/>
                <a:gd name="T38" fmla="*/ 604 w 604"/>
                <a:gd name="T39" fmla="*/ 587 h 652"/>
                <a:gd name="T40" fmla="*/ 540 w 604"/>
                <a:gd name="T41" fmla="*/ 587 h 652"/>
                <a:gd name="T42" fmla="*/ 540 w 604"/>
                <a:gd name="T43" fmla="*/ 57 h 652"/>
                <a:gd name="T44" fmla="*/ 604 w 604"/>
                <a:gd name="T45" fmla="*/ 57 h 652"/>
                <a:gd name="T46" fmla="*/ 604 w 604"/>
                <a:gd name="T47" fmla="*/ 0 h 652"/>
                <a:gd name="T48" fmla="*/ 398 w 604"/>
                <a:gd name="T49" fmla="*/ 0 h 652"/>
                <a:gd name="T50" fmla="*/ 398 w 604"/>
                <a:gd name="T51" fmla="*/ 57 h 652"/>
                <a:gd name="T52" fmla="*/ 462 w 604"/>
                <a:gd name="T53" fmla="*/ 57 h 652"/>
                <a:gd name="T54" fmla="*/ 462 w 604"/>
                <a:gd name="T55" fmla="*/ 272 h 652"/>
                <a:gd name="T56" fmla="*/ 142 w 604"/>
                <a:gd name="T57" fmla="*/ 27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04" h="652">
                  <a:moveTo>
                    <a:pt x="142" y="272"/>
                  </a:moveTo>
                  <a:lnTo>
                    <a:pt x="142" y="57"/>
                  </a:lnTo>
                  <a:lnTo>
                    <a:pt x="206" y="57"/>
                  </a:lnTo>
                  <a:lnTo>
                    <a:pt x="206" y="0"/>
                  </a:lnTo>
                  <a:lnTo>
                    <a:pt x="0" y="0"/>
                  </a:lnTo>
                  <a:lnTo>
                    <a:pt x="0" y="57"/>
                  </a:lnTo>
                  <a:lnTo>
                    <a:pt x="64" y="57"/>
                  </a:lnTo>
                  <a:lnTo>
                    <a:pt x="64" y="587"/>
                  </a:lnTo>
                  <a:lnTo>
                    <a:pt x="0" y="587"/>
                  </a:lnTo>
                  <a:lnTo>
                    <a:pt x="0" y="652"/>
                  </a:lnTo>
                  <a:lnTo>
                    <a:pt x="206" y="652"/>
                  </a:lnTo>
                  <a:lnTo>
                    <a:pt x="206" y="587"/>
                  </a:lnTo>
                  <a:lnTo>
                    <a:pt x="142" y="587"/>
                  </a:lnTo>
                  <a:lnTo>
                    <a:pt x="142" y="329"/>
                  </a:lnTo>
                  <a:lnTo>
                    <a:pt x="462" y="329"/>
                  </a:lnTo>
                  <a:lnTo>
                    <a:pt x="462" y="587"/>
                  </a:lnTo>
                  <a:lnTo>
                    <a:pt x="398" y="587"/>
                  </a:lnTo>
                  <a:lnTo>
                    <a:pt x="398" y="652"/>
                  </a:lnTo>
                  <a:lnTo>
                    <a:pt x="604" y="652"/>
                  </a:lnTo>
                  <a:lnTo>
                    <a:pt x="604" y="587"/>
                  </a:lnTo>
                  <a:lnTo>
                    <a:pt x="540" y="587"/>
                  </a:lnTo>
                  <a:lnTo>
                    <a:pt x="540" y="57"/>
                  </a:lnTo>
                  <a:lnTo>
                    <a:pt x="604" y="57"/>
                  </a:lnTo>
                  <a:lnTo>
                    <a:pt x="604" y="0"/>
                  </a:lnTo>
                  <a:lnTo>
                    <a:pt x="398" y="0"/>
                  </a:lnTo>
                  <a:lnTo>
                    <a:pt x="398" y="57"/>
                  </a:lnTo>
                  <a:lnTo>
                    <a:pt x="462" y="57"/>
                  </a:lnTo>
                  <a:lnTo>
                    <a:pt x="462" y="272"/>
                  </a:lnTo>
                  <a:lnTo>
                    <a:pt x="142" y="2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5" name="Freeform 6">
              <a:extLst>
                <a:ext uri="{FF2B5EF4-FFF2-40B4-BE49-F238E27FC236}">
                  <a16:creationId xmlns:a16="http://schemas.microsoft.com/office/drawing/2014/main" id="{CB55B7D8-3723-4CA7-83E2-4ECF2520F18B}"/>
                </a:ext>
              </a:extLst>
            </p:cNvPr>
            <p:cNvSpPr>
              <a:spLocks/>
            </p:cNvSpPr>
            <p:nvPr/>
          </p:nvSpPr>
          <p:spPr bwMode="auto">
            <a:xfrm>
              <a:off x="8042275" y="2816225"/>
              <a:ext cx="822325" cy="1035050"/>
            </a:xfrm>
            <a:custGeom>
              <a:avLst/>
              <a:gdLst>
                <a:gd name="T0" fmla="*/ 27 w 73"/>
                <a:gd name="T1" fmla="*/ 82 h 91"/>
                <a:gd name="T2" fmla="*/ 19 w 73"/>
                <a:gd name="T3" fmla="*/ 82 h 91"/>
                <a:gd name="T4" fmla="*/ 19 w 73"/>
                <a:gd name="T5" fmla="*/ 54 h 91"/>
                <a:gd name="T6" fmla="*/ 37 w 73"/>
                <a:gd name="T7" fmla="*/ 35 h 91"/>
                <a:gd name="T8" fmla="*/ 55 w 73"/>
                <a:gd name="T9" fmla="*/ 54 h 91"/>
                <a:gd name="T10" fmla="*/ 55 w 73"/>
                <a:gd name="T11" fmla="*/ 82 h 91"/>
                <a:gd name="T12" fmla="*/ 46 w 73"/>
                <a:gd name="T13" fmla="*/ 82 h 91"/>
                <a:gd name="T14" fmla="*/ 46 w 73"/>
                <a:gd name="T15" fmla="*/ 91 h 91"/>
                <a:gd name="T16" fmla="*/ 73 w 73"/>
                <a:gd name="T17" fmla="*/ 91 h 91"/>
                <a:gd name="T18" fmla="*/ 73 w 73"/>
                <a:gd name="T19" fmla="*/ 82 h 91"/>
                <a:gd name="T20" fmla="*/ 65 w 73"/>
                <a:gd name="T21" fmla="*/ 82 h 91"/>
                <a:gd name="T22" fmla="*/ 65 w 73"/>
                <a:gd name="T23" fmla="*/ 54 h 91"/>
                <a:gd name="T24" fmla="*/ 38 w 73"/>
                <a:gd name="T25" fmla="*/ 26 h 91"/>
                <a:gd name="T26" fmla="*/ 19 w 73"/>
                <a:gd name="T27" fmla="*/ 35 h 91"/>
                <a:gd name="T28" fmla="*/ 19 w 73"/>
                <a:gd name="T29" fmla="*/ 0 h 91"/>
                <a:gd name="T30" fmla="*/ 0 w 73"/>
                <a:gd name="T31" fmla="*/ 0 h 91"/>
                <a:gd name="T32" fmla="*/ 0 w 73"/>
                <a:gd name="T33" fmla="*/ 8 h 91"/>
                <a:gd name="T34" fmla="*/ 9 w 73"/>
                <a:gd name="T35" fmla="*/ 8 h 91"/>
                <a:gd name="T36" fmla="*/ 9 w 73"/>
                <a:gd name="T37" fmla="*/ 82 h 91"/>
                <a:gd name="T38" fmla="*/ 0 w 73"/>
                <a:gd name="T39" fmla="*/ 82 h 91"/>
                <a:gd name="T40" fmla="*/ 0 w 73"/>
                <a:gd name="T41" fmla="*/ 91 h 91"/>
                <a:gd name="T42" fmla="*/ 27 w 73"/>
                <a:gd name="T43" fmla="*/ 91 h 91"/>
                <a:gd name="T44" fmla="*/ 27 w 73"/>
                <a:gd name="T45" fmla="*/ 8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3" h="91">
                  <a:moveTo>
                    <a:pt x="27" y="82"/>
                  </a:moveTo>
                  <a:cubicBezTo>
                    <a:pt x="19" y="82"/>
                    <a:pt x="19" y="82"/>
                    <a:pt x="19" y="82"/>
                  </a:cubicBezTo>
                  <a:cubicBezTo>
                    <a:pt x="19" y="54"/>
                    <a:pt x="19" y="54"/>
                    <a:pt x="19" y="54"/>
                  </a:cubicBezTo>
                  <a:cubicBezTo>
                    <a:pt x="19" y="41"/>
                    <a:pt x="25" y="35"/>
                    <a:pt x="37" y="35"/>
                  </a:cubicBezTo>
                  <a:cubicBezTo>
                    <a:pt x="48" y="35"/>
                    <a:pt x="55" y="41"/>
                    <a:pt x="55" y="54"/>
                  </a:cubicBezTo>
                  <a:cubicBezTo>
                    <a:pt x="55" y="82"/>
                    <a:pt x="55" y="82"/>
                    <a:pt x="55" y="82"/>
                  </a:cubicBezTo>
                  <a:cubicBezTo>
                    <a:pt x="46" y="82"/>
                    <a:pt x="46" y="82"/>
                    <a:pt x="46" y="82"/>
                  </a:cubicBezTo>
                  <a:cubicBezTo>
                    <a:pt x="46" y="91"/>
                    <a:pt x="46" y="91"/>
                    <a:pt x="46" y="91"/>
                  </a:cubicBezTo>
                  <a:cubicBezTo>
                    <a:pt x="73" y="91"/>
                    <a:pt x="73" y="91"/>
                    <a:pt x="73" y="91"/>
                  </a:cubicBezTo>
                  <a:cubicBezTo>
                    <a:pt x="73" y="82"/>
                    <a:pt x="73" y="82"/>
                    <a:pt x="73" y="82"/>
                  </a:cubicBezTo>
                  <a:cubicBezTo>
                    <a:pt x="65" y="82"/>
                    <a:pt x="65" y="82"/>
                    <a:pt x="65" y="82"/>
                  </a:cubicBezTo>
                  <a:cubicBezTo>
                    <a:pt x="65" y="54"/>
                    <a:pt x="65" y="54"/>
                    <a:pt x="65" y="54"/>
                  </a:cubicBezTo>
                  <a:cubicBezTo>
                    <a:pt x="65" y="39"/>
                    <a:pt x="55" y="26"/>
                    <a:pt x="38" y="26"/>
                  </a:cubicBezTo>
                  <a:cubicBezTo>
                    <a:pt x="30" y="26"/>
                    <a:pt x="23" y="29"/>
                    <a:pt x="19" y="35"/>
                  </a:cubicBezTo>
                  <a:cubicBezTo>
                    <a:pt x="19" y="0"/>
                    <a:pt x="19" y="0"/>
                    <a:pt x="19" y="0"/>
                  </a:cubicBezTo>
                  <a:cubicBezTo>
                    <a:pt x="0" y="0"/>
                    <a:pt x="0" y="0"/>
                    <a:pt x="0" y="0"/>
                  </a:cubicBezTo>
                  <a:cubicBezTo>
                    <a:pt x="0" y="8"/>
                    <a:pt x="0" y="8"/>
                    <a:pt x="0" y="8"/>
                  </a:cubicBezTo>
                  <a:cubicBezTo>
                    <a:pt x="9" y="8"/>
                    <a:pt x="9" y="8"/>
                    <a:pt x="9" y="8"/>
                  </a:cubicBezTo>
                  <a:cubicBezTo>
                    <a:pt x="9" y="82"/>
                    <a:pt x="9" y="82"/>
                    <a:pt x="9" y="82"/>
                  </a:cubicBezTo>
                  <a:cubicBezTo>
                    <a:pt x="0" y="82"/>
                    <a:pt x="0" y="82"/>
                    <a:pt x="0" y="82"/>
                  </a:cubicBezTo>
                  <a:cubicBezTo>
                    <a:pt x="0" y="91"/>
                    <a:pt x="0" y="91"/>
                    <a:pt x="0" y="91"/>
                  </a:cubicBezTo>
                  <a:cubicBezTo>
                    <a:pt x="27" y="91"/>
                    <a:pt x="27" y="91"/>
                    <a:pt x="27" y="91"/>
                  </a:cubicBezTo>
                  <a:lnTo>
                    <a:pt x="27" y="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6" name="Freeform 7">
              <a:extLst>
                <a:ext uri="{FF2B5EF4-FFF2-40B4-BE49-F238E27FC236}">
                  <a16:creationId xmlns:a16="http://schemas.microsoft.com/office/drawing/2014/main" id="{66826270-096D-4A0F-B57D-78D557210E97}"/>
                </a:ext>
              </a:extLst>
            </p:cNvPr>
            <p:cNvSpPr>
              <a:spLocks noEditPoints="1"/>
            </p:cNvSpPr>
            <p:nvPr/>
          </p:nvSpPr>
          <p:spPr bwMode="auto">
            <a:xfrm>
              <a:off x="6419850" y="3111500"/>
              <a:ext cx="822325" cy="750888"/>
            </a:xfrm>
            <a:custGeom>
              <a:avLst/>
              <a:gdLst>
                <a:gd name="T0" fmla="*/ 73 w 73"/>
                <a:gd name="T1" fmla="*/ 10 h 66"/>
                <a:gd name="T2" fmla="*/ 73 w 73"/>
                <a:gd name="T3" fmla="*/ 2 h 66"/>
                <a:gd name="T4" fmla="*/ 54 w 73"/>
                <a:gd name="T5" fmla="*/ 2 h 66"/>
                <a:gd name="T6" fmla="*/ 54 w 73"/>
                <a:gd name="T7" fmla="*/ 11 h 66"/>
                <a:gd name="T8" fmla="*/ 31 w 73"/>
                <a:gd name="T9" fmla="*/ 0 h 66"/>
                <a:gd name="T10" fmla="*/ 0 w 73"/>
                <a:gd name="T11" fmla="*/ 33 h 66"/>
                <a:gd name="T12" fmla="*/ 31 w 73"/>
                <a:gd name="T13" fmla="*/ 66 h 66"/>
                <a:gd name="T14" fmla="*/ 54 w 73"/>
                <a:gd name="T15" fmla="*/ 55 h 66"/>
                <a:gd name="T16" fmla="*/ 54 w 73"/>
                <a:gd name="T17" fmla="*/ 65 h 66"/>
                <a:gd name="T18" fmla="*/ 73 w 73"/>
                <a:gd name="T19" fmla="*/ 65 h 66"/>
                <a:gd name="T20" fmla="*/ 73 w 73"/>
                <a:gd name="T21" fmla="*/ 56 h 66"/>
                <a:gd name="T22" fmla="*/ 64 w 73"/>
                <a:gd name="T23" fmla="*/ 56 h 66"/>
                <a:gd name="T24" fmla="*/ 64 w 73"/>
                <a:gd name="T25" fmla="*/ 10 h 66"/>
                <a:gd name="T26" fmla="*/ 73 w 73"/>
                <a:gd name="T27" fmla="*/ 10 h 66"/>
                <a:gd name="T28" fmla="*/ 33 w 73"/>
                <a:gd name="T29" fmla="*/ 58 h 66"/>
                <a:gd name="T30" fmla="*/ 11 w 73"/>
                <a:gd name="T31" fmla="*/ 33 h 66"/>
                <a:gd name="T32" fmla="*/ 33 w 73"/>
                <a:gd name="T33" fmla="*/ 9 h 66"/>
                <a:gd name="T34" fmla="*/ 54 w 73"/>
                <a:gd name="T35" fmla="*/ 33 h 66"/>
                <a:gd name="T36" fmla="*/ 33 w 73"/>
                <a:gd name="T37" fmla="*/ 5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 h="66">
                  <a:moveTo>
                    <a:pt x="73" y="10"/>
                  </a:moveTo>
                  <a:cubicBezTo>
                    <a:pt x="73" y="2"/>
                    <a:pt x="73" y="2"/>
                    <a:pt x="73" y="2"/>
                  </a:cubicBezTo>
                  <a:cubicBezTo>
                    <a:pt x="54" y="2"/>
                    <a:pt x="54" y="2"/>
                    <a:pt x="54" y="2"/>
                  </a:cubicBezTo>
                  <a:cubicBezTo>
                    <a:pt x="54" y="11"/>
                    <a:pt x="54" y="11"/>
                    <a:pt x="54" y="11"/>
                  </a:cubicBezTo>
                  <a:cubicBezTo>
                    <a:pt x="49" y="4"/>
                    <a:pt x="41" y="0"/>
                    <a:pt x="31" y="0"/>
                  </a:cubicBezTo>
                  <a:cubicBezTo>
                    <a:pt x="13" y="0"/>
                    <a:pt x="0" y="14"/>
                    <a:pt x="0" y="33"/>
                  </a:cubicBezTo>
                  <a:cubicBezTo>
                    <a:pt x="0" y="52"/>
                    <a:pt x="13" y="66"/>
                    <a:pt x="31" y="66"/>
                  </a:cubicBezTo>
                  <a:cubicBezTo>
                    <a:pt x="41" y="66"/>
                    <a:pt x="49" y="62"/>
                    <a:pt x="54" y="55"/>
                  </a:cubicBezTo>
                  <a:cubicBezTo>
                    <a:pt x="54" y="65"/>
                    <a:pt x="54" y="65"/>
                    <a:pt x="54" y="65"/>
                  </a:cubicBezTo>
                  <a:cubicBezTo>
                    <a:pt x="73" y="65"/>
                    <a:pt x="73" y="65"/>
                    <a:pt x="73" y="65"/>
                  </a:cubicBezTo>
                  <a:cubicBezTo>
                    <a:pt x="73" y="56"/>
                    <a:pt x="73" y="56"/>
                    <a:pt x="73" y="56"/>
                  </a:cubicBezTo>
                  <a:cubicBezTo>
                    <a:pt x="64" y="56"/>
                    <a:pt x="64" y="56"/>
                    <a:pt x="64" y="56"/>
                  </a:cubicBezTo>
                  <a:cubicBezTo>
                    <a:pt x="64" y="10"/>
                    <a:pt x="64" y="10"/>
                    <a:pt x="64" y="10"/>
                  </a:cubicBezTo>
                  <a:lnTo>
                    <a:pt x="73" y="10"/>
                  </a:lnTo>
                  <a:close/>
                  <a:moveTo>
                    <a:pt x="33" y="58"/>
                  </a:moveTo>
                  <a:cubicBezTo>
                    <a:pt x="20" y="58"/>
                    <a:pt x="11" y="47"/>
                    <a:pt x="11" y="33"/>
                  </a:cubicBezTo>
                  <a:cubicBezTo>
                    <a:pt x="11" y="19"/>
                    <a:pt x="20" y="9"/>
                    <a:pt x="33" y="9"/>
                  </a:cubicBezTo>
                  <a:cubicBezTo>
                    <a:pt x="46" y="9"/>
                    <a:pt x="54" y="19"/>
                    <a:pt x="54" y="33"/>
                  </a:cubicBezTo>
                  <a:cubicBezTo>
                    <a:pt x="54" y="47"/>
                    <a:pt x="46" y="58"/>
                    <a:pt x="33" y="5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7" name="Freeform 8">
              <a:extLst>
                <a:ext uri="{FF2B5EF4-FFF2-40B4-BE49-F238E27FC236}">
                  <a16:creationId xmlns:a16="http://schemas.microsoft.com/office/drawing/2014/main" id="{D644210C-71FB-46C2-BB06-3DAD03BC87A0}"/>
                </a:ext>
              </a:extLst>
            </p:cNvPr>
            <p:cNvSpPr>
              <a:spLocks noEditPoints="1"/>
            </p:cNvSpPr>
            <p:nvPr/>
          </p:nvSpPr>
          <p:spPr bwMode="auto">
            <a:xfrm>
              <a:off x="5608638" y="3111500"/>
              <a:ext cx="731838" cy="750888"/>
            </a:xfrm>
            <a:custGeom>
              <a:avLst/>
              <a:gdLst>
                <a:gd name="T0" fmla="*/ 65 w 65"/>
                <a:gd name="T1" fmla="*/ 32 h 66"/>
                <a:gd name="T2" fmla="*/ 33 w 65"/>
                <a:gd name="T3" fmla="*/ 0 h 66"/>
                <a:gd name="T4" fmla="*/ 0 w 65"/>
                <a:gd name="T5" fmla="*/ 33 h 66"/>
                <a:gd name="T6" fmla="*/ 33 w 65"/>
                <a:gd name="T7" fmla="*/ 66 h 66"/>
                <a:gd name="T8" fmla="*/ 63 w 65"/>
                <a:gd name="T9" fmla="*/ 48 h 66"/>
                <a:gd name="T10" fmla="*/ 53 w 65"/>
                <a:gd name="T11" fmla="*/ 48 h 66"/>
                <a:gd name="T12" fmla="*/ 34 w 65"/>
                <a:gd name="T13" fmla="*/ 58 h 66"/>
                <a:gd name="T14" fmla="*/ 11 w 65"/>
                <a:gd name="T15" fmla="*/ 37 h 66"/>
                <a:gd name="T16" fmla="*/ 65 w 65"/>
                <a:gd name="T17" fmla="*/ 37 h 66"/>
                <a:gd name="T18" fmla="*/ 65 w 65"/>
                <a:gd name="T19" fmla="*/ 32 h 66"/>
                <a:gd name="T20" fmla="*/ 11 w 65"/>
                <a:gd name="T21" fmla="*/ 28 h 66"/>
                <a:gd name="T22" fmla="*/ 33 w 65"/>
                <a:gd name="T23" fmla="*/ 8 h 66"/>
                <a:gd name="T24" fmla="*/ 55 w 65"/>
                <a:gd name="T25" fmla="*/ 28 h 66"/>
                <a:gd name="T26" fmla="*/ 11 w 65"/>
                <a:gd name="T27"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 h="66">
                  <a:moveTo>
                    <a:pt x="65" y="32"/>
                  </a:moveTo>
                  <a:cubicBezTo>
                    <a:pt x="65" y="13"/>
                    <a:pt x="53" y="0"/>
                    <a:pt x="33" y="0"/>
                  </a:cubicBezTo>
                  <a:cubicBezTo>
                    <a:pt x="14" y="0"/>
                    <a:pt x="0" y="14"/>
                    <a:pt x="0" y="33"/>
                  </a:cubicBezTo>
                  <a:cubicBezTo>
                    <a:pt x="0" y="53"/>
                    <a:pt x="14" y="66"/>
                    <a:pt x="33" y="66"/>
                  </a:cubicBezTo>
                  <a:cubicBezTo>
                    <a:pt x="47" y="66"/>
                    <a:pt x="58" y="59"/>
                    <a:pt x="63" y="48"/>
                  </a:cubicBezTo>
                  <a:cubicBezTo>
                    <a:pt x="53" y="48"/>
                    <a:pt x="53" y="48"/>
                    <a:pt x="53" y="48"/>
                  </a:cubicBezTo>
                  <a:cubicBezTo>
                    <a:pt x="50" y="54"/>
                    <a:pt x="43" y="58"/>
                    <a:pt x="34" y="58"/>
                  </a:cubicBezTo>
                  <a:cubicBezTo>
                    <a:pt x="19" y="58"/>
                    <a:pt x="12" y="49"/>
                    <a:pt x="11" y="37"/>
                  </a:cubicBezTo>
                  <a:cubicBezTo>
                    <a:pt x="65" y="37"/>
                    <a:pt x="65" y="37"/>
                    <a:pt x="65" y="37"/>
                  </a:cubicBezTo>
                  <a:lnTo>
                    <a:pt x="65" y="32"/>
                  </a:lnTo>
                  <a:close/>
                  <a:moveTo>
                    <a:pt x="11" y="28"/>
                  </a:moveTo>
                  <a:cubicBezTo>
                    <a:pt x="12" y="17"/>
                    <a:pt x="20" y="8"/>
                    <a:pt x="33" y="8"/>
                  </a:cubicBezTo>
                  <a:cubicBezTo>
                    <a:pt x="47" y="8"/>
                    <a:pt x="54" y="18"/>
                    <a:pt x="55" y="28"/>
                  </a:cubicBezTo>
                  <a:lnTo>
                    <a:pt x="1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 name="Freeform 9">
              <a:extLst>
                <a:ext uri="{FF2B5EF4-FFF2-40B4-BE49-F238E27FC236}">
                  <a16:creationId xmlns:a16="http://schemas.microsoft.com/office/drawing/2014/main" id="{6BD464F9-CB86-4782-98A8-138D13B22E79}"/>
                </a:ext>
              </a:extLst>
            </p:cNvPr>
            <p:cNvSpPr>
              <a:spLocks/>
            </p:cNvSpPr>
            <p:nvPr/>
          </p:nvSpPr>
          <p:spPr bwMode="auto">
            <a:xfrm>
              <a:off x="7613650" y="2952750"/>
              <a:ext cx="360363" cy="898525"/>
            </a:xfrm>
            <a:custGeom>
              <a:avLst/>
              <a:gdLst>
                <a:gd name="T0" fmla="*/ 20 w 32"/>
                <a:gd name="T1" fmla="*/ 62 h 79"/>
                <a:gd name="T2" fmla="*/ 20 w 32"/>
                <a:gd name="T3" fmla="*/ 24 h 79"/>
                <a:gd name="T4" fmla="*/ 32 w 32"/>
                <a:gd name="T5" fmla="*/ 24 h 79"/>
                <a:gd name="T6" fmla="*/ 32 w 32"/>
                <a:gd name="T7" fmla="*/ 16 h 79"/>
                <a:gd name="T8" fmla="*/ 20 w 32"/>
                <a:gd name="T9" fmla="*/ 16 h 79"/>
                <a:gd name="T10" fmla="*/ 20 w 32"/>
                <a:gd name="T11" fmla="*/ 0 h 79"/>
                <a:gd name="T12" fmla="*/ 9 w 32"/>
                <a:gd name="T13" fmla="*/ 0 h 79"/>
                <a:gd name="T14" fmla="*/ 9 w 32"/>
                <a:gd name="T15" fmla="*/ 16 h 79"/>
                <a:gd name="T16" fmla="*/ 0 w 32"/>
                <a:gd name="T17" fmla="*/ 16 h 79"/>
                <a:gd name="T18" fmla="*/ 0 w 32"/>
                <a:gd name="T19" fmla="*/ 24 h 79"/>
                <a:gd name="T20" fmla="*/ 9 w 32"/>
                <a:gd name="T21" fmla="*/ 24 h 79"/>
                <a:gd name="T22" fmla="*/ 9 w 32"/>
                <a:gd name="T23" fmla="*/ 63 h 79"/>
                <a:gd name="T24" fmla="*/ 26 w 32"/>
                <a:gd name="T25" fmla="*/ 79 h 79"/>
                <a:gd name="T26" fmla="*/ 32 w 32"/>
                <a:gd name="T27" fmla="*/ 79 h 79"/>
                <a:gd name="T28" fmla="*/ 32 w 32"/>
                <a:gd name="T29" fmla="*/ 70 h 79"/>
                <a:gd name="T30" fmla="*/ 27 w 32"/>
                <a:gd name="T31" fmla="*/ 71 h 79"/>
                <a:gd name="T32" fmla="*/ 20 w 32"/>
                <a:gd name="T33" fmla="*/ 6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79">
                  <a:moveTo>
                    <a:pt x="20" y="62"/>
                  </a:moveTo>
                  <a:cubicBezTo>
                    <a:pt x="20" y="24"/>
                    <a:pt x="20" y="24"/>
                    <a:pt x="20" y="24"/>
                  </a:cubicBezTo>
                  <a:cubicBezTo>
                    <a:pt x="32" y="24"/>
                    <a:pt x="32" y="24"/>
                    <a:pt x="32" y="24"/>
                  </a:cubicBezTo>
                  <a:cubicBezTo>
                    <a:pt x="32" y="16"/>
                    <a:pt x="32" y="16"/>
                    <a:pt x="32" y="16"/>
                  </a:cubicBezTo>
                  <a:cubicBezTo>
                    <a:pt x="20" y="16"/>
                    <a:pt x="20" y="16"/>
                    <a:pt x="20" y="16"/>
                  </a:cubicBezTo>
                  <a:cubicBezTo>
                    <a:pt x="20" y="0"/>
                    <a:pt x="20" y="0"/>
                    <a:pt x="20" y="0"/>
                  </a:cubicBezTo>
                  <a:cubicBezTo>
                    <a:pt x="9" y="0"/>
                    <a:pt x="9" y="0"/>
                    <a:pt x="9" y="0"/>
                  </a:cubicBezTo>
                  <a:cubicBezTo>
                    <a:pt x="9" y="16"/>
                    <a:pt x="9" y="16"/>
                    <a:pt x="9" y="16"/>
                  </a:cubicBezTo>
                  <a:cubicBezTo>
                    <a:pt x="0" y="16"/>
                    <a:pt x="0" y="16"/>
                    <a:pt x="0" y="16"/>
                  </a:cubicBezTo>
                  <a:cubicBezTo>
                    <a:pt x="0" y="24"/>
                    <a:pt x="0" y="24"/>
                    <a:pt x="0" y="24"/>
                  </a:cubicBezTo>
                  <a:cubicBezTo>
                    <a:pt x="9" y="24"/>
                    <a:pt x="9" y="24"/>
                    <a:pt x="9" y="24"/>
                  </a:cubicBezTo>
                  <a:cubicBezTo>
                    <a:pt x="9" y="63"/>
                    <a:pt x="9" y="63"/>
                    <a:pt x="9" y="63"/>
                  </a:cubicBezTo>
                  <a:cubicBezTo>
                    <a:pt x="9" y="74"/>
                    <a:pt x="14" y="79"/>
                    <a:pt x="26" y="79"/>
                  </a:cubicBezTo>
                  <a:cubicBezTo>
                    <a:pt x="28" y="79"/>
                    <a:pt x="31" y="79"/>
                    <a:pt x="32" y="79"/>
                  </a:cubicBezTo>
                  <a:cubicBezTo>
                    <a:pt x="32" y="70"/>
                    <a:pt x="32" y="70"/>
                    <a:pt x="32" y="70"/>
                  </a:cubicBezTo>
                  <a:cubicBezTo>
                    <a:pt x="30" y="71"/>
                    <a:pt x="29" y="71"/>
                    <a:pt x="27" y="71"/>
                  </a:cubicBezTo>
                  <a:cubicBezTo>
                    <a:pt x="22" y="71"/>
                    <a:pt x="20" y="69"/>
                    <a:pt x="20" y="6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 name="Freeform 10">
              <a:extLst>
                <a:ext uri="{FF2B5EF4-FFF2-40B4-BE49-F238E27FC236}">
                  <a16:creationId xmlns:a16="http://schemas.microsoft.com/office/drawing/2014/main" id="{4A8BDCE4-6FCC-47A7-9CDE-4AC06B36DA13}"/>
                </a:ext>
              </a:extLst>
            </p:cNvPr>
            <p:cNvSpPr>
              <a:spLocks/>
            </p:cNvSpPr>
            <p:nvPr/>
          </p:nvSpPr>
          <p:spPr bwMode="auto">
            <a:xfrm>
              <a:off x="7275513" y="2816225"/>
              <a:ext cx="338138" cy="1035050"/>
            </a:xfrm>
            <a:custGeom>
              <a:avLst/>
              <a:gdLst>
                <a:gd name="T0" fmla="*/ 24 w 30"/>
                <a:gd name="T1" fmla="*/ 91 h 91"/>
                <a:gd name="T2" fmla="*/ 30 w 30"/>
                <a:gd name="T3" fmla="*/ 91 h 91"/>
                <a:gd name="T4" fmla="*/ 30 w 30"/>
                <a:gd name="T5" fmla="*/ 82 h 91"/>
                <a:gd name="T6" fmla="*/ 26 w 30"/>
                <a:gd name="T7" fmla="*/ 83 h 91"/>
                <a:gd name="T8" fmla="*/ 19 w 30"/>
                <a:gd name="T9" fmla="*/ 74 h 91"/>
                <a:gd name="T10" fmla="*/ 19 w 30"/>
                <a:gd name="T11" fmla="*/ 0 h 91"/>
                <a:gd name="T12" fmla="*/ 0 w 30"/>
                <a:gd name="T13" fmla="*/ 0 h 91"/>
                <a:gd name="T14" fmla="*/ 0 w 30"/>
                <a:gd name="T15" fmla="*/ 8 h 91"/>
                <a:gd name="T16" fmla="*/ 9 w 30"/>
                <a:gd name="T17" fmla="*/ 8 h 91"/>
                <a:gd name="T18" fmla="*/ 9 w 30"/>
                <a:gd name="T19" fmla="*/ 74 h 91"/>
                <a:gd name="T20" fmla="*/ 24 w 30"/>
                <a:gd name="T2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91">
                  <a:moveTo>
                    <a:pt x="24" y="91"/>
                  </a:moveTo>
                  <a:cubicBezTo>
                    <a:pt x="26" y="91"/>
                    <a:pt x="29" y="91"/>
                    <a:pt x="30" y="91"/>
                  </a:cubicBezTo>
                  <a:cubicBezTo>
                    <a:pt x="30" y="82"/>
                    <a:pt x="30" y="82"/>
                    <a:pt x="30" y="82"/>
                  </a:cubicBezTo>
                  <a:cubicBezTo>
                    <a:pt x="28" y="83"/>
                    <a:pt x="27" y="83"/>
                    <a:pt x="26" y="83"/>
                  </a:cubicBezTo>
                  <a:cubicBezTo>
                    <a:pt x="21" y="83"/>
                    <a:pt x="19" y="80"/>
                    <a:pt x="19" y="74"/>
                  </a:cubicBezTo>
                  <a:cubicBezTo>
                    <a:pt x="19" y="0"/>
                    <a:pt x="19" y="0"/>
                    <a:pt x="19" y="0"/>
                  </a:cubicBezTo>
                  <a:cubicBezTo>
                    <a:pt x="0" y="0"/>
                    <a:pt x="0" y="0"/>
                    <a:pt x="0" y="0"/>
                  </a:cubicBezTo>
                  <a:cubicBezTo>
                    <a:pt x="0" y="8"/>
                    <a:pt x="0" y="8"/>
                    <a:pt x="0" y="8"/>
                  </a:cubicBezTo>
                  <a:cubicBezTo>
                    <a:pt x="9" y="8"/>
                    <a:pt x="9" y="8"/>
                    <a:pt x="9" y="8"/>
                  </a:cubicBezTo>
                  <a:cubicBezTo>
                    <a:pt x="9" y="74"/>
                    <a:pt x="9" y="74"/>
                    <a:pt x="9" y="74"/>
                  </a:cubicBezTo>
                  <a:cubicBezTo>
                    <a:pt x="9" y="85"/>
                    <a:pt x="13" y="91"/>
                    <a:pt x="24" y="91"/>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 name="Freeform 11">
              <a:extLst>
                <a:ext uri="{FF2B5EF4-FFF2-40B4-BE49-F238E27FC236}">
                  <a16:creationId xmlns:a16="http://schemas.microsoft.com/office/drawing/2014/main" id="{331AB147-689A-43A6-B970-E8CB2BE02D79}"/>
                </a:ext>
              </a:extLst>
            </p:cNvPr>
            <p:cNvSpPr>
              <a:spLocks/>
            </p:cNvSpPr>
            <p:nvPr/>
          </p:nvSpPr>
          <p:spPr bwMode="auto">
            <a:xfrm>
              <a:off x="3603625" y="2781300"/>
              <a:ext cx="911225" cy="1092200"/>
            </a:xfrm>
            <a:custGeom>
              <a:avLst/>
              <a:gdLst>
                <a:gd name="T0" fmla="*/ 28 w 81"/>
                <a:gd name="T1" fmla="*/ 65 h 96"/>
                <a:gd name="T2" fmla="*/ 41 w 81"/>
                <a:gd name="T3" fmla="*/ 74 h 96"/>
                <a:gd name="T4" fmla="*/ 52 w 81"/>
                <a:gd name="T5" fmla="*/ 68 h 96"/>
                <a:gd name="T6" fmla="*/ 36 w 81"/>
                <a:gd name="T7" fmla="*/ 59 h 96"/>
                <a:gd name="T8" fmla="*/ 12 w 81"/>
                <a:gd name="T9" fmla="*/ 50 h 96"/>
                <a:gd name="T10" fmla="*/ 1 w 81"/>
                <a:gd name="T11" fmla="*/ 29 h 96"/>
                <a:gd name="T12" fmla="*/ 39 w 81"/>
                <a:gd name="T13" fmla="*/ 0 h 96"/>
                <a:gd name="T14" fmla="*/ 78 w 81"/>
                <a:gd name="T15" fmla="*/ 29 h 96"/>
                <a:gd name="T16" fmla="*/ 51 w 81"/>
                <a:gd name="T17" fmla="*/ 29 h 96"/>
                <a:gd name="T18" fmla="*/ 39 w 81"/>
                <a:gd name="T19" fmla="*/ 21 h 96"/>
                <a:gd name="T20" fmla="*/ 30 w 81"/>
                <a:gd name="T21" fmla="*/ 27 h 96"/>
                <a:gd name="T22" fmla="*/ 43 w 81"/>
                <a:gd name="T23" fmla="*/ 35 h 96"/>
                <a:gd name="T24" fmla="*/ 69 w 81"/>
                <a:gd name="T25" fmla="*/ 43 h 96"/>
                <a:gd name="T26" fmla="*/ 81 w 81"/>
                <a:gd name="T27" fmla="*/ 65 h 96"/>
                <a:gd name="T28" fmla="*/ 40 w 81"/>
                <a:gd name="T29" fmla="*/ 96 h 96"/>
                <a:gd name="T30" fmla="*/ 0 w 81"/>
                <a:gd name="T31" fmla="*/ 65 h 96"/>
                <a:gd name="T32" fmla="*/ 28 w 81"/>
                <a:gd name="T33" fmla="*/ 6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96">
                  <a:moveTo>
                    <a:pt x="28" y="65"/>
                  </a:moveTo>
                  <a:cubicBezTo>
                    <a:pt x="29" y="72"/>
                    <a:pt x="33" y="74"/>
                    <a:pt x="41" y="74"/>
                  </a:cubicBezTo>
                  <a:cubicBezTo>
                    <a:pt x="48" y="74"/>
                    <a:pt x="52" y="72"/>
                    <a:pt x="52" y="68"/>
                  </a:cubicBezTo>
                  <a:cubicBezTo>
                    <a:pt x="52" y="62"/>
                    <a:pt x="47" y="62"/>
                    <a:pt x="36" y="59"/>
                  </a:cubicBezTo>
                  <a:cubicBezTo>
                    <a:pt x="24" y="55"/>
                    <a:pt x="15" y="53"/>
                    <a:pt x="12" y="50"/>
                  </a:cubicBezTo>
                  <a:cubicBezTo>
                    <a:pt x="5" y="45"/>
                    <a:pt x="1" y="38"/>
                    <a:pt x="1" y="29"/>
                  </a:cubicBezTo>
                  <a:cubicBezTo>
                    <a:pt x="1" y="11"/>
                    <a:pt x="15" y="0"/>
                    <a:pt x="39" y="0"/>
                  </a:cubicBezTo>
                  <a:cubicBezTo>
                    <a:pt x="63" y="0"/>
                    <a:pt x="77" y="10"/>
                    <a:pt x="78" y="29"/>
                  </a:cubicBezTo>
                  <a:cubicBezTo>
                    <a:pt x="51" y="29"/>
                    <a:pt x="51" y="29"/>
                    <a:pt x="51" y="29"/>
                  </a:cubicBezTo>
                  <a:cubicBezTo>
                    <a:pt x="50" y="23"/>
                    <a:pt x="46" y="21"/>
                    <a:pt x="39" y="21"/>
                  </a:cubicBezTo>
                  <a:cubicBezTo>
                    <a:pt x="33" y="21"/>
                    <a:pt x="30" y="23"/>
                    <a:pt x="30" y="27"/>
                  </a:cubicBezTo>
                  <a:cubicBezTo>
                    <a:pt x="30" y="32"/>
                    <a:pt x="34" y="33"/>
                    <a:pt x="43" y="35"/>
                  </a:cubicBezTo>
                  <a:cubicBezTo>
                    <a:pt x="54" y="38"/>
                    <a:pt x="63" y="40"/>
                    <a:pt x="69" y="43"/>
                  </a:cubicBezTo>
                  <a:cubicBezTo>
                    <a:pt x="77" y="49"/>
                    <a:pt x="81" y="55"/>
                    <a:pt x="81" y="65"/>
                  </a:cubicBezTo>
                  <a:cubicBezTo>
                    <a:pt x="81" y="84"/>
                    <a:pt x="66" y="96"/>
                    <a:pt x="40" y="96"/>
                  </a:cubicBezTo>
                  <a:cubicBezTo>
                    <a:pt x="16" y="96"/>
                    <a:pt x="1" y="84"/>
                    <a:pt x="0" y="65"/>
                  </a:cubicBezTo>
                  <a:lnTo>
                    <a:pt x="28" y="6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 name="Freeform 12">
              <a:extLst>
                <a:ext uri="{FF2B5EF4-FFF2-40B4-BE49-F238E27FC236}">
                  <a16:creationId xmlns:a16="http://schemas.microsoft.com/office/drawing/2014/main" id="{AA8CC35E-627A-410D-9CC1-5DFD27072BFF}"/>
                </a:ext>
              </a:extLst>
            </p:cNvPr>
            <p:cNvSpPr>
              <a:spLocks/>
            </p:cNvSpPr>
            <p:nvPr/>
          </p:nvSpPr>
          <p:spPr bwMode="auto">
            <a:xfrm>
              <a:off x="1698625" y="2781300"/>
              <a:ext cx="1014413" cy="1092200"/>
            </a:xfrm>
            <a:custGeom>
              <a:avLst/>
              <a:gdLst>
                <a:gd name="T0" fmla="*/ 90 w 90"/>
                <a:gd name="T1" fmla="*/ 58 h 96"/>
                <a:gd name="T2" fmla="*/ 46 w 90"/>
                <a:gd name="T3" fmla="*/ 96 h 96"/>
                <a:gd name="T4" fmla="*/ 0 w 90"/>
                <a:gd name="T5" fmla="*/ 48 h 96"/>
                <a:gd name="T6" fmla="*/ 46 w 90"/>
                <a:gd name="T7" fmla="*/ 0 h 96"/>
                <a:gd name="T8" fmla="*/ 89 w 90"/>
                <a:gd name="T9" fmla="*/ 37 h 96"/>
                <a:gd name="T10" fmla="*/ 62 w 90"/>
                <a:gd name="T11" fmla="*/ 37 h 96"/>
                <a:gd name="T12" fmla="*/ 46 w 90"/>
                <a:gd name="T13" fmla="*/ 23 h 96"/>
                <a:gd name="T14" fmla="*/ 29 w 90"/>
                <a:gd name="T15" fmla="*/ 48 h 96"/>
                <a:gd name="T16" fmla="*/ 47 w 90"/>
                <a:gd name="T17" fmla="*/ 73 h 96"/>
                <a:gd name="T18" fmla="*/ 62 w 90"/>
                <a:gd name="T19" fmla="*/ 58 h 96"/>
                <a:gd name="T20" fmla="*/ 90 w 90"/>
                <a:gd name="T21" fmla="*/ 5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96">
                  <a:moveTo>
                    <a:pt x="90" y="58"/>
                  </a:moveTo>
                  <a:cubicBezTo>
                    <a:pt x="88" y="82"/>
                    <a:pt x="72" y="96"/>
                    <a:pt x="46" y="96"/>
                  </a:cubicBezTo>
                  <a:cubicBezTo>
                    <a:pt x="17" y="96"/>
                    <a:pt x="0" y="78"/>
                    <a:pt x="0" y="48"/>
                  </a:cubicBezTo>
                  <a:cubicBezTo>
                    <a:pt x="0" y="18"/>
                    <a:pt x="17" y="0"/>
                    <a:pt x="46" y="0"/>
                  </a:cubicBezTo>
                  <a:cubicBezTo>
                    <a:pt x="72" y="0"/>
                    <a:pt x="88" y="13"/>
                    <a:pt x="89" y="37"/>
                  </a:cubicBezTo>
                  <a:cubicBezTo>
                    <a:pt x="62" y="37"/>
                    <a:pt x="62" y="37"/>
                    <a:pt x="62" y="37"/>
                  </a:cubicBezTo>
                  <a:cubicBezTo>
                    <a:pt x="61" y="28"/>
                    <a:pt x="55" y="23"/>
                    <a:pt x="46" y="23"/>
                  </a:cubicBezTo>
                  <a:cubicBezTo>
                    <a:pt x="35" y="23"/>
                    <a:pt x="29" y="31"/>
                    <a:pt x="29" y="48"/>
                  </a:cubicBezTo>
                  <a:cubicBezTo>
                    <a:pt x="29" y="65"/>
                    <a:pt x="35" y="73"/>
                    <a:pt x="47" y="73"/>
                  </a:cubicBezTo>
                  <a:cubicBezTo>
                    <a:pt x="56" y="73"/>
                    <a:pt x="61" y="68"/>
                    <a:pt x="62" y="58"/>
                  </a:cubicBezTo>
                  <a:lnTo>
                    <a:pt x="90" y="58"/>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 name="Freeform 13">
              <a:extLst>
                <a:ext uri="{FF2B5EF4-FFF2-40B4-BE49-F238E27FC236}">
                  <a16:creationId xmlns:a16="http://schemas.microsoft.com/office/drawing/2014/main" id="{A6104163-5896-46B6-AC7E-D2E4D25EC2F7}"/>
                </a:ext>
              </a:extLst>
            </p:cNvPr>
            <p:cNvSpPr>
              <a:spLocks/>
            </p:cNvSpPr>
            <p:nvPr/>
          </p:nvSpPr>
          <p:spPr bwMode="auto">
            <a:xfrm>
              <a:off x="2644775" y="2816225"/>
              <a:ext cx="1014413" cy="1023938"/>
            </a:xfrm>
            <a:custGeom>
              <a:avLst/>
              <a:gdLst>
                <a:gd name="T0" fmla="*/ 0 w 639"/>
                <a:gd name="T1" fmla="*/ 0 h 645"/>
                <a:gd name="T2" fmla="*/ 206 w 639"/>
                <a:gd name="T3" fmla="*/ 0 h 645"/>
                <a:gd name="T4" fmla="*/ 320 w 639"/>
                <a:gd name="T5" fmla="*/ 415 h 645"/>
                <a:gd name="T6" fmla="*/ 433 w 639"/>
                <a:gd name="T7" fmla="*/ 0 h 645"/>
                <a:gd name="T8" fmla="*/ 639 w 639"/>
                <a:gd name="T9" fmla="*/ 0 h 645"/>
                <a:gd name="T10" fmla="*/ 419 w 639"/>
                <a:gd name="T11" fmla="*/ 645 h 645"/>
                <a:gd name="T12" fmla="*/ 213 w 639"/>
                <a:gd name="T13" fmla="*/ 645 h 645"/>
                <a:gd name="T14" fmla="*/ 0 w 639"/>
                <a:gd name="T15" fmla="*/ 0 h 6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9" h="645">
                  <a:moveTo>
                    <a:pt x="0" y="0"/>
                  </a:moveTo>
                  <a:lnTo>
                    <a:pt x="206" y="0"/>
                  </a:lnTo>
                  <a:lnTo>
                    <a:pt x="320" y="415"/>
                  </a:lnTo>
                  <a:lnTo>
                    <a:pt x="433" y="0"/>
                  </a:lnTo>
                  <a:lnTo>
                    <a:pt x="639" y="0"/>
                  </a:lnTo>
                  <a:lnTo>
                    <a:pt x="419" y="645"/>
                  </a:lnTo>
                  <a:lnTo>
                    <a:pt x="213" y="645"/>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 name="Freeform 14">
              <a:extLst>
                <a:ext uri="{FF2B5EF4-FFF2-40B4-BE49-F238E27FC236}">
                  <a16:creationId xmlns:a16="http://schemas.microsoft.com/office/drawing/2014/main" id="{481FE757-1FA8-48AB-BF72-DF393E4A3A65}"/>
                </a:ext>
              </a:extLst>
            </p:cNvPr>
            <p:cNvSpPr>
              <a:spLocks/>
            </p:cNvSpPr>
            <p:nvPr/>
          </p:nvSpPr>
          <p:spPr bwMode="auto">
            <a:xfrm>
              <a:off x="279400" y="2781300"/>
              <a:ext cx="1295400" cy="1092200"/>
            </a:xfrm>
            <a:custGeom>
              <a:avLst/>
              <a:gdLst>
                <a:gd name="T0" fmla="*/ 4 w 115"/>
                <a:gd name="T1" fmla="*/ 42 h 96"/>
                <a:gd name="T2" fmla="*/ 0 w 115"/>
                <a:gd name="T3" fmla="*/ 33 h 96"/>
                <a:gd name="T4" fmla="*/ 4 w 115"/>
                <a:gd name="T5" fmla="*/ 23 h 96"/>
                <a:gd name="T6" fmla="*/ 22 w 115"/>
                <a:gd name="T7" fmla="*/ 4 h 96"/>
                <a:gd name="T8" fmla="*/ 32 w 115"/>
                <a:gd name="T9" fmla="*/ 0 h 96"/>
                <a:gd name="T10" fmla="*/ 42 w 115"/>
                <a:gd name="T11" fmla="*/ 4 h 96"/>
                <a:gd name="T12" fmla="*/ 58 w 115"/>
                <a:gd name="T13" fmla="*/ 20 h 96"/>
                <a:gd name="T14" fmla="*/ 73 w 115"/>
                <a:gd name="T15" fmla="*/ 4 h 96"/>
                <a:gd name="T16" fmla="*/ 83 w 115"/>
                <a:gd name="T17" fmla="*/ 0 h 96"/>
                <a:gd name="T18" fmla="*/ 93 w 115"/>
                <a:gd name="T19" fmla="*/ 4 h 96"/>
                <a:gd name="T20" fmla="*/ 111 w 115"/>
                <a:gd name="T21" fmla="*/ 23 h 96"/>
                <a:gd name="T22" fmla="*/ 115 w 115"/>
                <a:gd name="T23" fmla="*/ 33 h 96"/>
                <a:gd name="T24" fmla="*/ 111 w 115"/>
                <a:gd name="T25" fmla="*/ 42 h 96"/>
                <a:gd name="T26" fmla="*/ 58 w 115"/>
                <a:gd name="T27" fmla="*/ 96 h 96"/>
                <a:gd name="T28" fmla="*/ 57 w 115"/>
                <a:gd name="T29" fmla="*/ 96 h 96"/>
                <a:gd name="T30" fmla="*/ 4 w 115"/>
                <a:gd name="T31" fmla="*/ 4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96">
                  <a:moveTo>
                    <a:pt x="4" y="42"/>
                  </a:moveTo>
                  <a:cubicBezTo>
                    <a:pt x="1" y="40"/>
                    <a:pt x="0" y="36"/>
                    <a:pt x="0" y="33"/>
                  </a:cubicBezTo>
                  <a:cubicBezTo>
                    <a:pt x="0" y="29"/>
                    <a:pt x="1" y="25"/>
                    <a:pt x="4" y="23"/>
                  </a:cubicBezTo>
                  <a:cubicBezTo>
                    <a:pt x="22" y="4"/>
                    <a:pt x="22" y="4"/>
                    <a:pt x="22" y="4"/>
                  </a:cubicBezTo>
                  <a:cubicBezTo>
                    <a:pt x="25" y="1"/>
                    <a:pt x="29" y="0"/>
                    <a:pt x="32" y="0"/>
                  </a:cubicBezTo>
                  <a:cubicBezTo>
                    <a:pt x="36" y="0"/>
                    <a:pt x="39" y="1"/>
                    <a:pt x="42" y="4"/>
                  </a:cubicBezTo>
                  <a:cubicBezTo>
                    <a:pt x="58" y="20"/>
                    <a:pt x="58" y="20"/>
                    <a:pt x="58" y="20"/>
                  </a:cubicBezTo>
                  <a:cubicBezTo>
                    <a:pt x="73" y="4"/>
                    <a:pt x="73" y="4"/>
                    <a:pt x="73" y="4"/>
                  </a:cubicBezTo>
                  <a:cubicBezTo>
                    <a:pt x="76" y="1"/>
                    <a:pt x="79" y="0"/>
                    <a:pt x="83" y="0"/>
                  </a:cubicBezTo>
                  <a:cubicBezTo>
                    <a:pt x="87" y="0"/>
                    <a:pt x="90" y="1"/>
                    <a:pt x="93" y="4"/>
                  </a:cubicBezTo>
                  <a:cubicBezTo>
                    <a:pt x="111" y="23"/>
                    <a:pt x="111" y="23"/>
                    <a:pt x="111" y="23"/>
                  </a:cubicBezTo>
                  <a:cubicBezTo>
                    <a:pt x="114" y="25"/>
                    <a:pt x="115" y="29"/>
                    <a:pt x="115" y="33"/>
                  </a:cubicBezTo>
                  <a:cubicBezTo>
                    <a:pt x="115" y="36"/>
                    <a:pt x="114" y="40"/>
                    <a:pt x="111" y="42"/>
                  </a:cubicBezTo>
                  <a:cubicBezTo>
                    <a:pt x="58" y="96"/>
                    <a:pt x="58" y="96"/>
                    <a:pt x="58" y="96"/>
                  </a:cubicBezTo>
                  <a:cubicBezTo>
                    <a:pt x="57" y="96"/>
                    <a:pt x="57" y="96"/>
                    <a:pt x="57" y="96"/>
                  </a:cubicBezTo>
                  <a:lnTo>
                    <a:pt x="4" y="42"/>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grpSp>
      <p:pic>
        <p:nvPicPr>
          <p:cNvPr id="44" name="Picture 43" descr="Text&#10;&#10;Description automatically generated with low confidence">
            <a:extLst>
              <a:ext uri="{FF2B5EF4-FFF2-40B4-BE49-F238E27FC236}">
                <a16:creationId xmlns:a16="http://schemas.microsoft.com/office/drawing/2014/main" id="{F017662F-23AA-4890-85AE-FA5C0F4C3FE9}"/>
              </a:ext>
            </a:extLst>
          </p:cNvPr>
          <p:cNvPicPr>
            <a:picLocks noChangeAspect="1"/>
          </p:cNvPicPr>
          <p:nvPr userDrawn="1"/>
        </p:nvPicPr>
        <p:blipFill>
          <a:blip r:embed="rId5"/>
          <a:stretch>
            <a:fillRect/>
          </a:stretch>
        </p:blipFill>
        <p:spPr>
          <a:xfrm>
            <a:off x="1507937" y="5574894"/>
            <a:ext cx="1426464" cy="71323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Division">
    <p:bg>
      <p:bgPr>
        <a:solidFill>
          <a:srgbClr val="064E69"/>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89724949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Rectangle 2"/>
          <p:cNvSpPr>
            <a:spLocks noChangeAspect="1"/>
          </p:cNvSpPr>
          <p:nvPr/>
        </p:nvSpPr>
        <p:spPr>
          <a:xfrm>
            <a:off x="7751366" y="0"/>
            <a:ext cx="444063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b="1">
              <a:solidFill>
                <a:schemeClr val="accent4"/>
              </a:solidFill>
              <a:latin typeface="Arial" panose="020B0604020202020204" pitchFamily="34" charset="0"/>
              <a:cs typeface="Arial" panose="020B0604020202020204" pitchFamily="34" charset="0"/>
              <a:sym typeface="Arial" panose="020B0604020202020204" pitchFamily="34" charset="0"/>
            </a:endParaRPr>
          </a:p>
        </p:txBody>
      </p:sp>
      <p:sp>
        <p:nvSpPr>
          <p:cNvPr id="7" name="Rectangle 6"/>
          <p:cNvSpPr/>
          <p:nvPr/>
        </p:nvSpPr>
        <p:spPr>
          <a:xfrm>
            <a:off x="7629890" y="0"/>
            <a:ext cx="121476" cy="685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b="1">
              <a:latin typeface="Arial" panose="020B0604020202020204" pitchFamily="34" charset="0"/>
              <a:cs typeface="Arial" panose="020B0604020202020204" pitchFamily="34" charset="0"/>
              <a:sym typeface="Arial" panose="020B0604020202020204" pitchFamily="34" charset="0"/>
            </a:endParaRPr>
          </a:p>
        </p:txBody>
      </p:sp>
      <p:sp>
        <p:nvSpPr>
          <p:cNvPr id="26" name="Text Placeholder 7"/>
          <p:cNvSpPr>
            <a:spLocks noGrp="1"/>
          </p:cNvSpPr>
          <p:nvPr>
            <p:ph type="body" sz="quarter" idx="11" hasCustomPrompt="1"/>
          </p:nvPr>
        </p:nvSpPr>
        <p:spPr>
          <a:xfrm>
            <a:off x="4078427" y="5460984"/>
            <a:ext cx="2844943" cy="431800"/>
          </a:xfrm>
          <a:prstGeom prst="rect">
            <a:avLst/>
          </a:prstGeom>
        </p:spPr>
        <p:txBody>
          <a:bodyPr rIns="0" anchor="b"/>
          <a:lstStyle>
            <a:lvl1pPr algn="r">
              <a:defRPr sz="1200" baseline="0">
                <a:solidFill>
                  <a:srgbClr val="FFFFFF"/>
                </a:solidFill>
                <a:latin typeface="Arial" panose="020B0604020202020204" pitchFamily="34" charset="0"/>
                <a:cs typeface="Arial" panose="020B0604020202020204" pitchFamily="34" charset="0"/>
                <a:sym typeface="Arial" panose="020B0604020202020204" pitchFamily="34" charset="0"/>
              </a:defRPr>
            </a:lvl1pPr>
          </a:lstStyle>
          <a:p>
            <a:pPr lvl="0"/>
            <a:r>
              <a:rPr lang="en-US"/>
              <a:t>Presenter Name</a:t>
            </a:r>
            <a:endParaRPr lang="tr-TR"/>
          </a:p>
        </p:txBody>
      </p:sp>
      <p:sp>
        <p:nvSpPr>
          <p:cNvPr id="27" name="Title 1"/>
          <p:cNvSpPr>
            <a:spLocks noGrp="1"/>
          </p:cNvSpPr>
          <p:nvPr>
            <p:ph type="ctrTitle" hasCustomPrompt="1"/>
          </p:nvPr>
        </p:nvSpPr>
        <p:spPr>
          <a:xfrm>
            <a:off x="822960" y="640080"/>
            <a:ext cx="5585018" cy="2630356"/>
          </a:xfrm>
          <a:prstGeom prst="rect">
            <a:avLst/>
          </a:prstGeom>
        </p:spPr>
        <p:txBody>
          <a:bodyPr lIns="0" anchor="t"/>
          <a:lstStyle>
            <a:lvl1pPr algn="l">
              <a:lnSpc>
                <a:spcPct val="80000"/>
              </a:lnSpc>
              <a:defRPr sz="7200" b="1" baseline="0">
                <a:solidFill>
                  <a:schemeClr val="bg1"/>
                </a:solidFill>
                <a:latin typeface="Arial" panose="020B0604020202020204" pitchFamily="34" charset="0"/>
                <a:cs typeface="Arial" panose="020B0604020202020204" pitchFamily="34" charset="0"/>
                <a:sym typeface="Arial" panose="020B0604020202020204" pitchFamily="34" charset="0"/>
              </a:defRPr>
            </a:lvl1pPr>
          </a:lstStyle>
          <a:p>
            <a:r>
              <a:rPr lang="en-US"/>
              <a:t>Cover Slide Title</a:t>
            </a:r>
          </a:p>
        </p:txBody>
      </p:sp>
      <p:sp>
        <p:nvSpPr>
          <p:cNvPr id="30" name="Text Placeholder 7"/>
          <p:cNvSpPr>
            <a:spLocks noGrp="1"/>
          </p:cNvSpPr>
          <p:nvPr>
            <p:ph type="body" sz="quarter" idx="12" hasCustomPrompt="1"/>
          </p:nvPr>
        </p:nvSpPr>
        <p:spPr>
          <a:xfrm>
            <a:off x="822960" y="3383280"/>
            <a:ext cx="5578857" cy="431800"/>
          </a:xfrm>
          <a:prstGeom prst="rect">
            <a:avLst/>
          </a:prstGeom>
        </p:spPr>
        <p:txBody>
          <a:bodyPr lIns="0" anchor="ctr" anchorCtr="0"/>
          <a:lstStyle>
            <a:lvl1pPr algn="l">
              <a:defRPr sz="2400" baseline="0">
                <a:solidFill>
                  <a:srgbClr val="FFFFFF"/>
                </a:solidFill>
                <a:latin typeface="Arial" panose="020B0604020202020204" pitchFamily="34" charset="0"/>
                <a:cs typeface="Arial" panose="020B0604020202020204" pitchFamily="34" charset="0"/>
                <a:sym typeface="Arial" panose="020B0604020202020204" pitchFamily="34" charset="0"/>
              </a:defRPr>
            </a:lvl1pPr>
          </a:lstStyle>
          <a:p>
            <a:pPr lvl="0"/>
            <a:r>
              <a:rPr lang="en-US"/>
              <a:t>Second Level Title</a:t>
            </a:r>
            <a:endParaRPr lang="tr-TR"/>
          </a:p>
        </p:txBody>
      </p:sp>
      <p:sp>
        <p:nvSpPr>
          <p:cNvPr id="31" name="Text Placeholder 7"/>
          <p:cNvSpPr>
            <a:spLocks noGrp="1"/>
          </p:cNvSpPr>
          <p:nvPr>
            <p:ph type="body" sz="quarter" idx="13" hasCustomPrompt="1"/>
          </p:nvPr>
        </p:nvSpPr>
        <p:spPr>
          <a:xfrm>
            <a:off x="4078427" y="5892928"/>
            <a:ext cx="2844943" cy="431800"/>
          </a:xfrm>
          <a:prstGeom prst="rect">
            <a:avLst/>
          </a:prstGeom>
        </p:spPr>
        <p:txBody>
          <a:bodyPr rIns="0" anchor="b"/>
          <a:lstStyle>
            <a:lvl1pPr algn="r">
              <a:defRPr sz="1800" baseline="0">
                <a:solidFill>
                  <a:srgbClr val="FFFFFF"/>
                </a:solidFill>
                <a:latin typeface="Arial" panose="020B0604020202020204" pitchFamily="34" charset="0"/>
                <a:cs typeface="Arial" panose="020B0604020202020204" pitchFamily="34" charset="0"/>
                <a:sym typeface="Arial" panose="020B0604020202020204" pitchFamily="34" charset="0"/>
              </a:defRPr>
            </a:lvl1pPr>
          </a:lstStyle>
          <a:p>
            <a:pPr lvl="0"/>
            <a:r>
              <a:rPr lang="en-US"/>
              <a:t>Date</a:t>
            </a:r>
            <a:endParaRPr lang="tr-TR"/>
          </a:p>
        </p:txBody>
      </p:sp>
      <p:sp>
        <p:nvSpPr>
          <p:cNvPr id="32" name="Picture Placeholder 5"/>
          <p:cNvSpPr>
            <a:spLocks noGrp="1"/>
          </p:cNvSpPr>
          <p:nvPr>
            <p:ph type="pic" sz="quarter" idx="14" hasCustomPrompt="1"/>
          </p:nvPr>
        </p:nvSpPr>
        <p:spPr>
          <a:xfrm>
            <a:off x="7751365" y="0"/>
            <a:ext cx="4440635" cy="3283083"/>
          </a:xfrm>
          <a:prstGeom prst="rect">
            <a:avLst/>
          </a:prstGeom>
          <a:solidFill>
            <a:schemeClr val="bg2"/>
          </a:solidFill>
        </p:spPr>
        <p:txBody>
          <a:bodyPr anchor="ctr"/>
          <a:lstStyle>
            <a:lvl1pPr algn="ctr">
              <a:defRPr sz="320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IMAGE</a:t>
            </a:r>
          </a:p>
        </p:txBody>
      </p:sp>
      <p:sp>
        <p:nvSpPr>
          <p:cNvPr id="29" name="Rectangle 28">
            <a:extLst>
              <a:ext uri="{FF2B5EF4-FFF2-40B4-BE49-F238E27FC236}">
                <a16:creationId xmlns:a16="http://schemas.microsoft.com/office/drawing/2014/main" id="{18E5268C-C141-4840-9D00-CD333097B788}"/>
              </a:ext>
            </a:extLst>
          </p:cNvPr>
          <p:cNvSpPr/>
          <p:nvPr userDrawn="1"/>
        </p:nvSpPr>
        <p:spPr>
          <a:xfrm>
            <a:off x="7749346" y="3314331"/>
            <a:ext cx="4442653" cy="52993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64008" rIns="0" bIns="45720" numCol="1" spcCol="0" rtlCol="0" fromWordArt="0" anchor="ctr" anchorCtr="0" forceAA="0" compatLnSpc="1">
            <a:prstTxWarp prst="textNoShape">
              <a:avLst/>
            </a:prstTxWarp>
            <a:noAutofit/>
          </a:bodyPr>
          <a:lstStyle/>
          <a:p>
            <a:pPr algn="ctr">
              <a:lnSpc>
                <a:spcPct val="85000"/>
              </a:lnSpc>
            </a:pPr>
            <a:endParaRPr lang="en-US" sz="1600" b="1">
              <a:solidFill>
                <a:schemeClr val="accent2"/>
              </a:solidFill>
              <a:latin typeface="Arial" panose="020B0604020202020204" pitchFamily="34" charset="0"/>
              <a:cs typeface="Arial" panose="020B0604020202020204" pitchFamily="34" charset="0"/>
              <a:sym typeface="Arial" panose="020B0604020202020204" pitchFamily="34" charset="0"/>
            </a:endParaRPr>
          </a:p>
        </p:txBody>
      </p:sp>
      <p:sp>
        <p:nvSpPr>
          <p:cNvPr id="33" name="Rectangle 32"/>
          <p:cNvSpPr/>
          <p:nvPr userDrawn="1"/>
        </p:nvSpPr>
        <p:spPr>
          <a:xfrm>
            <a:off x="7749346" y="3283084"/>
            <a:ext cx="4442654" cy="74842"/>
          </a:xfrm>
          <a:prstGeom prst="rect">
            <a:avLst/>
          </a:prstGeom>
          <a:solidFill>
            <a:srgbClr val="043B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anose="020B0604020202020204" pitchFamily="34" charset="0"/>
              <a:cs typeface="Arial" panose="020B0604020202020204" pitchFamily="34" charset="0"/>
              <a:sym typeface="Arial" panose="020B0604020202020204" pitchFamily="34" charset="0"/>
            </a:endParaRPr>
          </a:p>
        </p:txBody>
      </p:sp>
      <p:sp>
        <p:nvSpPr>
          <p:cNvPr id="34" name="Rectangle 33"/>
          <p:cNvSpPr/>
          <p:nvPr userDrawn="1"/>
        </p:nvSpPr>
        <p:spPr>
          <a:xfrm>
            <a:off x="7749345" y="3799295"/>
            <a:ext cx="4442654" cy="74842"/>
          </a:xfrm>
          <a:prstGeom prst="rect">
            <a:avLst/>
          </a:prstGeom>
          <a:solidFill>
            <a:srgbClr val="043B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anose="020B0604020202020204" pitchFamily="34" charset="0"/>
              <a:cs typeface="Arial" panose="020B0604020202020204" pitchFamily="34" charset="0"/>
              <a:sym typeface="Arial" panose="020B0604020202020204" pitchFamily="34" charset="0"/>
            </a:endParaRPr>
          </a:p>
        </p:txBody>
      </p:sp>
      <p:sp>
        <p:nvSpPr>
          <p:cNvPr id="36" name="Text Placeholder 35"/>
          <p:cNvSpPr>
            <a:spLocks noGrp="1"/>
          </p:cNvSpPr>
          <p:nvPr>
            <p:ph type="body" sz="quarter" idx="15" hasCustomPrompt="1"/>
          </p:nvPr>
        </p:nvSpPr>
        <p:spPr>
          <a:xfrm>
            <a:off x="7749344" y="3374405"/>
            <a:ext cx="4442656" cy="438517"/>
          </a:xfrm>
          <a:prstGeom prst="rect">
            <a:avLst/>
          </a:prstGeom>
        </p:spPr>
        <p:txBody>
          <a:bodyPr anchor="ctr"/>
          <a:lstStyle>
            <a:lvl1pPr marL="0" algn="ctr" defTabSz="914400" rtl="0" eaLnBrk="1" latinLnBrk="0" hangingPunct="1">
              <a:lnSpc>
                <a:spcPct val="85000"/>
              </a:lnSpc>
              <a:defRPr lang="en-US" sz="1600" b="1" kern="1200" dirty="0">
                <a:solidFill>
                  <a:schemeClr val="accent2"/>
                </a:solidFill>
                <a:latin typeface="Arial" panose="020B0604020202020204" pitchFamily="34" charset="0"/>
                <a:ea typeface="+mn-ea"/>
                <a:cs typeface="Arial" panose="020B0604020202020204" pitchFamily="34" charset="0"/>
                <a:sym typeface="Arial" panose="020B0604020202020204" pitchFamily="34" charset="0"/>
              </a:defRPr>
            </a:lvl1pPr>
          </a:lstStyle>
          <a:p>
            <a:pPr lvl="0"/>
            <a:r>
              <a:rPr lang="en-US"/>
              <a:t>&lt;DIVISION NAME&gt;</a:t>
            </a:r>
          </a:p>
        </p:txBody>
      </p:sp>
      <p:grpSp>
        <p:nvGrpSpPr>
          <p:cNvPr id="35" name="Group 34">
            <a:extLst>
              <a:ext uri="{FF2B5EF4-FFF2-40B4-BE49-F238E27FC236}">
                <a16:creationId xmlns:a16="http://schemas.microsoft.com/office/drawing/2014/main" id="{0860573B-7502-4EE6-AE67-B3B2FFD71F32}"/>
              </a:ext>
            </a:extLst>
          </p:cNvPr>
          <p:cNvGrpSpPr>
            <a:grpSpLocks noChangeAspect="1"/>
          </p:cNvGrpSpPr>
          <p:nvPr userDrawn="1"/>
        </p:nvGrpSpPr>
        <p:grpSpPr>
          <a:xfrm>
            <a:off x="9472900" y="5931510"/>
            <a:ext cx="2192529" cy="292877"/>
            <a:chOff x="279400" y="2781300"/>
            <a:chExt cx="8585200" cy="1092200"/>
          </a:xfrm>
        </p:grpSpPr>
        <p:sp>
          <p:nvSpPr>
            <p:cNvPr id="37" name="Freeform 5">
              <a:extLst>
                <a:ext uri="{FF2B5EF4-FFF2-40B4-BE49-F238E27FC236}">
                  <a16:creationId xmlns:a16="http://schemas.microsoft.com/office/drawing/2014/main" id="{264CBBCF-7D70-4513-96B2-BDE78A1BE2AC}"/>
                </a:ext>
              </a:extLst>
            </p:cNvPr>
            <p:cNvSpPr>
              <a:spLocks/>
            </p:cNvSpPr>
            <p:nvPr/>
          </p:nvSpPr>
          <p:spPr bwMode="auto">
            <a:xfrm>
              <a:off x="4605338" y="2816225"/>
              <a:ext cx="958850" cy="1035050"/>
            </a:xfrm>
            <a:custGeom>
              <a:avLst/>
              <a:gdLst>
                <a:gd name="T0" fmla="*/ 142 w 604"/>
                <a:gd name="T1" fmla="*/ 272 h 652"/>
                <a:gd name="T2" fmla="*/ 142 w 604"/>
                <a:gd name="T3" fmla="*/ 57 h 652"/>
                <a:gd name="T4" fmla="*/ 206 w 604"/>
                <a:gd name="T5" fmla="*/ 57 h 652"/>
                <a:gd name="T6" fmla="*/ 206 w 604"/>
                <a:gd name="T7" fmla="*/ 0 h 652"/>
                <a:gd name="T8" fmla="*/ 0 w 604"/>
                <a:gd name="T9" fmla="*/ 0 h 652"/>
                <a:gd name="T10" fmla="*/ 0 w 604"/>
                <a:gd name="T11" fmla="*/ 57 h 652"/>
                <a:gd name="T12" fmla="*/ 64 w 604"/>
                <a:gd name="T13" fmla="*/ 57 h 652"/>
                <a:gd name="T14" fmla="*/ 64 w 604"/>
                <a:gd name="T15" fmla="*/ 587 h 652"/>
                <a:gd name="T16" fmla="*/ 0 w 604"/>
                <a:gd name="T17" fmla="*/ 587 h 652"/>
                <a:gd name="T18" fmla="*/ 0 w 604"/>
                <a:gd name="T19" fmla="*/ 652 h 652"/>
                <a:gd name="T20" fmla="*/ 206 w 604"/>
                <a:gd name="T21" fmla="*/ 652 h 652"/>
                <a:gd name="T22" fmla="*/ 206 w 604"/>
                <a:gd name="T23" fmla="*/ 587 h 652"/>
                <a:gd name="T24" fmla="*/ 142 w 604"/>
                <a:gd name="T25" fmla="*/ 587 h 652"/>
                <a:gd name="T26" fmla="*/ 142 w 604"/>
                <a:gd name="T27" fmla="*/ 329 h 652"/>
                <a:gd name="T28" fmla="*/ 462 w 604"/>
                <a:gd name="T29" fmla="*/ 329 h 652"/>
                <a:gd name="T30" fmla="*/ 462 w 604"/>
                <a:gd name="T31" fmla="*/ 587 h 652"/>
                <a:gd name="T32" fmla="*/ 398 w 604"/>
                <a:gd name="T33" fmla="*/ 587 h 652"/>
                <a:gd name="T34" fmla="*/ 398 w 604"/>
                <a:gd name="T35" fmla="*/ 652 h 652"/>
                <a:gd name="T36" fmla="*/ 604 w 604"/>
                <a:gd name="T37" fmla="*/ 652 h 652"/>
                <a:gd name="T38" fmla="*/ 604 w 604"/>
                <a:gd name="T39" fmla="*/ 587 h 652"/>
                <a:gd name="T40" fmla="*/ 540 w 604"/>
                <a:gd name="T41" fmla="*/ 587 h 652"/>
                <a:gd name="T42" fmla="*/ 540 w 604"/>
                <a:gd name="T43" fmla="*/ 57 h 652"/>
                <a:gd name="T44" fmla="*/ 604 w 604"/>
                <a:gd name="T45" fmla="*/ 57 h 652"/>
                <a:gd name="T46" fmla="*/ 604 w 604"/>
                <a:gd name="T47" fmla="*/ 0 h 652"/>
                <a:gd name="T48" fmla="*/ 398 w 604"/>
                <a:gd name="T49" fmla="*/ 0 h 652"/>
                <a:gd name="T50" fmla="*/ 398 w 604"/>
                <a:gd name="T51" fmla="*/ 57 h 652"/>
                <a:gd name="T52" fmla="*/ 462 w 604"/>
                <a:gd name="T53" fmla="*/ 57 h 652"/>
                <a:gd name="T54" fmla="*/ 462 w 604"/>
                <a:gd name="T55" fmla="*/ 272 h 652"/>
                <a:gd name="T56" fmla="*/ 142 w 604"/>
                <a:gd name="T57" fmla="*/ 27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04" h="652">
                  <a:moveTo>
                    <a:pt x="142" y="272"/>
                  </a:moveTo>
                  <a:lnTo>
                    <a:pt x="142" y="57"/>
                  </a:lnTo>
                  <a:lnTo>
                    <a:pt x="206" y="57"/>
                  </a:lnTo>
                  <a:lnTo>
                    <a:pt x="206" y="0"/>
                  </a:lnTo>
                  <a:lnTo>
                    <a:pt x="0" y="0"/>
                  </a:lnTo>
                  <a:lnTo>
                    <a:pt x="0" y="57"/>
                  </a:lnTo>
                  <a:lnTo>
                    <a:pt x="64" y="57"/>
                  </a:lnTo>
                  <a:lnTo>
                    <a:pt x="64" y="587"/>
                  </a:lnTo>
                  <a:lnTo>
                    <a:pt x="0" y="587"/>
                  </a:lnTo>
                  <a:lnTo>
                    <a:pt x="0" y="652"/>
                  </a:lnTo>
                  <a:lnTo>
                    <a:pt x="206" y="652"/>
                  </a:lnTo>
                  <a:lnTo>
                    <a:pt x="206" y="587"/>
                  </a:lnTo>
                  <a:lnTo>
                    <a:pt x="142" y="587"/>
                  </a:lnTo>
                  <a:lnTo>
                    <a:pt x="142" y="329"/>
                  </a:lnTo>
                  <a:lnTo>
                    <a:pt x="462" y="329"/>
                  </a:lnTo>
                  <a:lnTo>
                    <a:pt x="462" y="587"/>
                  </a:lnTo>
                  <a:lnTo>
                    <a:pt x="398" y="587"/>
                  </a:lnTo>
                  <a:lnTo>
                    <a:pt x="398" y="652"/>
                  </a:lnTo>
                  <a:lnTo>
                    <a:pt x="604" y="652"/>
                  </a:lnTo>
                  <a:lnTo>
                    <a:pt x="604" y="587"/>
                  </a:lnTo>
                  <a:lnTo>
                    <a:pt x="540" y="587"/>
                  </a:lnTo>
                  <a:lnTo>
                    <a:pt x="540" y="57"/>
                  </a:lnTo>
                  <a:lnTo>
                    <a:pt x="604" y="57"/>
                  </a:lnTo>
                  <a:lnTo>
                    <a:pt x="604" y="0"/>
                  </a:lnTo>
                  <a:lnTo>
                    <a:pt x="398" y="0"/>
                  </a:lnTo>
                  <a:lnTo>
                    <a:pt x="398" y="57"/>
                  </a:lnTo>
                  <a:lnTo>
                    <a:pt x="462" y="57"/>
                  </a:lnTo>
                  <a:lnTo>
                    <a:pt x="462" y="272"/>
                  </a:lnTo>
                  <a:lnTo>
                    <a:pt x="142" y="2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8" name="Freeform 6">
              <a:extLst>
                <a:ext uri="{FF2B5EF4-FFF2-40B4-BE49-F238E27FC236}">
                  <a16:creationId xmlns:a16="http://schemas.microsoft.com/office/drawing/2014/main" id="{CB55B7D8-3723-4CA7-83E2-4ECF2520F18B}"/>
                </a:ext>
              </a:extLst>
            </p:cNvPr>
            <p:cNvSpPr>
              <a:spLocks/>
            </p:cNvSpPr>
            <p:nvPr/>
          </p:nvSpPr>
          <p:spPr bwMode="auto">
            <a:xfrm>
              <a:off x="8042275" y="2816225"/>
              <a:ext cx="822325" cy="1035050"/>
            </a:xfrm>
            <a:custGeom>
              <a:avLst/>
              <a:gdLst>
                <a:gd name="T0" fmla="*/ 27 w 73"/>
                <a:gd name="T1" fmla="*/ 82 h 91"/>
                <a:gd name="T2" fmla="*/ 19 w 73"/>
                <a:gd name="T3" fmla="*/ 82 h 91"/>
                <a:gd name="T4" fmla="*/ 19 w 73"/>
                <a:gd name="T5" fmla="*/ 54 h 91"/>
                <a:gd name="T6" fmla="*/ 37 w 73"/>
                <a:gd name="T7" fmla="*/ 35 h 91"/>
                <a:gd name="T8" fmla="*/ 55 w 73"/>
                <a:gd name="T9" fmla="*/ 54 h 91"/>
                <a:gd name="T10" fmla="*/ 55 w 73"/>
                <a:gd name="T11" fmla="*/ 82 h 91"/>
                <a:gd name="T12" fmla="*/ 46 w 73"/>
                <a:gd name="T13" fmla="*/ 82 h 91"/>
                <a:gd name="T14" fmla="*/ 46 w 73"/>
                <a:gd name="T15" fmla="*/ 91 h 91"/>
                <a:gd name="T16" fmla="*/ 73 w 73"/>
                <a:gd name="T17" fmla="*/ 91 h 91"/>
                <a:gd name="T18" fmla="*/ 73 w 73"/>
                <a:gd name="T19" fmla="*/ 82 h 91"/>
                <a:gd name="T20" fmla="*/ 65 w 73"/>
                <a:gd name="T21" fmla="*/ 82 h 91"/>
                <a:gd name="T22" fmla="*/ 65 w 73"/>
                <a:gd name="T23" fmla="*/ 54 h 91"/>
                <a:gd name="T24" fmla="*/ 38 w 73"/>
                <a:gd name="T25" fmla="*/ 26 h 91"/>
                <a:gd name="T26" fmla="*/ 19 w 73"/>
                <a:gd name="T27" fmla="*/ 35 h 91"/>
                <a:gd name="T28" fmla="*/ 19 w 73"/>
                <a:gd name="T29" fmla="*/ 0 h 91"/>
                <a:gd name="T30" fmla="*/ 0 w 73"/>
                <a:gd name="T31" fmla="*/ 0 h 91"/>
                <a:gd name="T32" fmla="*/ 0 w 73"/>
                <a:gd name="T33" fmla="*/ 8 h 91"/>
                <a:gd name="T34" fmla="*/ 9 w 73"/>
                <a:gd name="T35" fmla="*/ 8 h 91"/>
                <a:gd name="T36" fmla="*/ 9 w 73"/>
                <a:gd name="T37" fmla="*/ 82 h 91"/>
                <a:gd name="T38" fmla="*/ 0 w 73"/>
                <a:gd name="T39" fmla="*/ 82 h 91"/>
                <a:gd name="T40" fmla="*/ 0 w 73"/>
                <a:gd name="T41" fmla="*/ 91 h 91"/>
                <a:gd name="T42" fmla="*/ 27 w 73"/>
                <a:gd name="T43" fmla="*/ 91 h 91"/>
                <a:gd name="T44" fmla="*/ 27 w 73"/>
                <a:gd name="T45" fmla="*/ 8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3" h="91">
                  <a:moveTo>
                    <a:pt x="27" y="82"/>
                  </a:moveTo>
                  <a:cubicBezTo>
                    <a:pt x="19" y="82"/>
                    <a:pt x="19" y="82"/>
                    <a:pt x="19" y="82"/>
                  </a:cubicBezTo>
                  <a:cubicBezTo>
                    <a:pt x="19" y="54"/>
                    <a:pt x="19" y="54"/>
                    <a:pt x="19" y="54"/>
                  </a:cubicBezTo>
                  <a:cubicBezTo>
                    <a:pt x="19" y="41"/>
                    <a:pt x="25" y="35"/>
                    <a:pt x="37" y="35"/>
                  </a:cubicBezTo>
                  <a:cubicBezTo>
                    <a:pt x="48" y="35"/>
                    <a:pt x="55" y="41"/>
                    <a:pt x="55" y="54"/>
                  </a:cubicBezTo>
                  <a:cubicBezTo>
                    <a:pt x="55" y="82"/>
                    <a:pt x="55" y="82"/>
                    <a:pt x="55" y="82"/>
                  </a:cubicBezTo>
                  <a:cubicBezTo>
                    <a:pt x="46" y="82"/>
                    <a:pt x="46" y="82"/>
                    <a:pt x="46" y="82"/>
                  </a:cubicBezTo>
                  <a:cubicBezTo>
                    <a:pt x="46" y="91"/>
                    <a:pt x="46" y="91"/>
                    <a:pt x="46" y="91"/>
                  </a:cubicBezTo>
                  <a:cubicBezTo>
                    <a:pt x="73" y="91"/>
                    <a:pt x="73" y="91"/>
                    <a:pt x="73" y="91"/>
                  </a:cubicBezTo>
                  <a:cubicBezTo>
                    <a:pt x="73" y="82"/>
                    <a:pt x="73" y="82"/>
                    <a:pt x="73" y="82"/>
                  </a:cubicBezTo>
                  <a:cubicBezTo>
                    <a:pt x="65" y="82"/>
                    <a:pt x="65" y="82"/>
                    <a:pt x="65" y="82"/>
                  </a:cubicBezTo>
                  <a:cubicBezTo>
                    <a:pt x="65" y="54"/>
                    <a:pt x="65" y="54"/>
                    <a:pt x="65" y="54"/>
                  </a:cubicBezTo>
                  <a:cubicBezTo>
                    <a:pt x="65" y="39"/>
                    <a:pt x="55" y="26"/>
                    <a:pt x="38" y="26"/>
                  </a:cubicBezTo>
                  <a:cubicBezTo>
                    <a:pt x="30" y="26"/>
                    <a:pt x="23" y="29"/>
                    <a:pt x="19" y="35"/>
                  </a:cubicBezTo>
                  <a:cubicBezTo>
                    <a:pt x="19" y="0"/>
                    <a:pt x="19" y="0"/>
                    <a:pt x="19" y="0"/>
                  </a:cubicBezTo>
                  <a:cubicBezTo>
                    <a:pt x="0" y="0"/>
                    <a:pt x="0" y="0"/>
                    <a:pt x="0" y="0"/>
                  </a:cubicBezTo>
                  <a:cubicBezTo>
                    <a:pt x="0" y="8"/>
                    <a:pt x="0" y="8"/>
                    <a:pt x="0" y="8"/>
                  </a:cubicBezTo>
                  <a:cubicBezTo>
                    <a:pt x="9" y="8"/>
                    <a:pt x="9" y="8"/>
                    <a:pt x="9" y="8"/>
                  </a:cubicBezTo>
                  <a:cubicBezTo>
                    <a:pt x="9" y="82"/>
                    <a:pt x="9" y="82"/>
                    <a:pt x="9" y="82"/>
                  </a:cubicBezTo>
                  <a:cubicBezTo>
                    <a:pt x="0" y="82"/>
                    <a:pt x="0" y="82"/>
                    <a:pt x="0" y="82"/>
                  </a:cubicBezTo>
                  <a:cubicBezTo>
                    <a:pt x="0" y="91"/>
                    <a:pt x="0" y="91"/>
                    <a:pt x="0" y="91"/>
                  </a:cubicBezTo>
                  <a:cubicBezTo>
                    <a:pt x="27" y="91"/>
                    <a:pt x="27" y="91"/>
                    <a:pt x="27" y="91"/>
                  </a:cubicBezTo>
                  <a:lnTo>
                    <a:pt x="27" y="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9" name="Freeform 7">
              <a:extLst>
                <a:ext uri="{FF2B5EF4-FFF2-40B4-BE49-F238E27FC236}">
                  <a16:creationId xmlns:a16="http://schemas.microsoft.com/office/drawing/2014/main" id="{66826270-096D-4A0F-B57D-78D557210E97}"/>
                </a:ext>
              </a:extLst>
            </p:cNvPr>
            <p:cNvSpPr>
              <a:spLocks noEditPoints="1"/>
            </p:cNvSpPr>
            <p:nvPr/>
          </p:nvSpPr>
          <p:spPr bwMode="auto">
            <a:xfrm>
              <a:off x="6419850" y="3111500"/>
              <a:ext cx="822325" cy="750888"/>
            </a:xfrm>
            <a:custGeom>
              <a:avLst/>
              <a:gdLst>
                <a:gd name="T0" fmla="*/ 73 w 73"/>
                <a:gd name="T1" fmla="*/ 10 h 66"/>
                <a:gd name="T2" fmla="*/ 73 w 73"/>
                <a:gd name="T3" fmla="*/ 2 h 66"/>
                <a:gd name="T4" fmla="*/ 54 w 73"/>
                <a:gd name="T5" fmla="*/ 2 h 66"/>
                <a:gd name="T6" fmla="*/ 54 w 73"/>
                <a:gd name="T7" fmla="*/ 11 h 66"/>
                <a:gd name="T8" fmla="*/ 31 w 73"/>
                <a:gd name="T9" fmla="*/ 0 h 66"/>
                <a:gd name="T10" fmla="*/ 0 w 73"/>
                <a:gd name="T11" fmla="*/ 33 h 66"/>
                <a:gd name="T12" fmla="*/ 31 w 73"/>
                <a:gd name="T13" fmla="*/ 66 h 66"/>
                <a:gd name="T14" fmla="*/ 54 w 73"/>
                <a:gd name="T15" fmla="*/ 55 h 66"/>
                <a:gd name="T16" fmla="*/ 54 w 73"/>
                <a:gd name="T17" fmla="*/ 65 h 66"/>
                <a:gd name="T18" fmla="*/ 73 w 73"/>
                <a:gd name="T19" fmla="*/ 65 h 66"/>
                <a:gd name="T20" fmla="*/ 73 w 73"/>
                <a:gd name="T21" fmla="*/ 56 h 66"/>
                <a:gd name="T22" fmla="*/ 64 w 73"/>
                <a:gd name="T23" fmla="*/ 56 h 66"/>
                <a:gd name="T24" fmla="*/ 64 w 73"/>
                <a:gd name="T25" fmla="*/ 10 h 66"/>
                <a:gd name="T26" fmla="*/ 73 w 73"/>
                <a:gd name="T27" fmla="*/ 10 h 66"/>
                <a:gd name="T28" fmla="*/ 33 w 73"/>
                <a:gd name="T29" fmla="*/ 58 h 66"/>
                <a:gd name="T30" fmla="*/ 11 w 73"/>
                <a:gd name="T31" fmla="*/ 33 h 66"/>
                <a:gd name="T32" fmla="*/ 33 w 73"/>
                <a:gd name="T33" fmla="*/ 9 h 66"/>
                <a:gd name="T34" fmla="*/ 54 w 73"/>
                <a:gd name="T35" fmla="*/ 33 h 66"/>
                <a:gd name="T36" fmla="*/ 33 w 73"/>
                <a:gd name="T37" fmla="*/ 5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 h="66">
                  <a:moveTo>
                    <a:pt x="73" y="10"/>
                  </a:moveTo>
                  <a:cubicBezTo>
                    <a:pt x="73" y="2"/>
                    <a:pt x="73" y="2"/>
                    <a:pt x="73" y="2"/>
                  </a:cubicBezTo>
                  <a:cubicBezTo>
                    <a:pt x="54" y="2"/>
                    <a:pt x="54" y="2"/>
                    <a:pt x="54" y="2"/>
                  </a:cubicBezTo>
                  <a:cubicBezTo>
                    <a:pt x="54" y="11"/>
                    <a:pt x="54" y="11"/>
                    <a:pt x="54" y="11"/>
                  </a:cubicBezTo>
                  <a:cubicBezTo>
                    <a:pt x="49" y="4"/>
                    <a:pt x="41" y="0"/>
                    <a:pt x="31" y="0"/>
                  </a:cubicBezTo>
                  <a:cubicBezTo>
                    <a:pt x="13" y="0"/>
                    <a:pt x="0" y="14"/>
                    <a:pt x="0" y="33"/>
                  </a:cubicBezTo>
                  <a:cubicBezTo>
                    <a:pt x="0" y="52"/>
                    <a:pt x="13" y="66"/>
                    <a:pt x="31" y="66"/>
                  </a:cubicBezTo>
                  <a:cubicBezTo>
                    <a:pt x="41" y="66"/>
                    <a:pt x="49" y="62"/>
                    <a:pt x="54" y="55"/>
                  </a:cubicBezTo>
                  <a:cubicBezTo>
                    <a:pt x="54" y="65"/>
                    <a:pt x="54" y="65"/>
                    <a:pt x="54" y="65"/>
                  </a:cubicBezTo>
                  <a:cubicBezTo>
                    <a:pt x="73" y="65"/>
                    <a:pt x="73" y="65"/>
                    <a:pt x="73" y="65"/>
                  </a:cubicBezTo>
                  <a:cubicBezTo>
                    <a:pt x="73" y="56"/>
                    <a:pt x="73" y="56"/>
                    <a:pt x="73" y="56"/>
                  </a:cubicBezTo>
                  <a:cubicBezTo>
                    <a:pt x="64" y="56"/>
                    <a:pt x="64" y="56"/>
                    <a:pt x="64" y="56"/>
                  </a:cubicBezTo>
                  <a:cubicBezTo>
                    <a:pt x="64" y="10"/>
                    <a:pt x="64" y="10"/>
                    <a:pt x="64" y="10"/>
                  </a:cubicBezTo>
                  <a:lnTo>
                    <a:pt x="73" y="10"/>
                  </a:lnTo>
                  <a:close/>
                  <a:moveTo>
                    <a:pt x="33" y="58"/>
                  </a:moveTo>
                  <a:cubicBezTo>
                    <a:pt x="20" y="58"/>
                    <a:pt x="11" y="47"/>
                    <a:pt x="11" y="33"/>
                  </a:cubicBezTo>
                  <a:cubicBezTo>
                    <a:pt x="11" y="19"/>
                    <a:pt x="20" y="9"/>
                    <a:pt x="33" y="9"/>
                  </a:cubicBezTo>
                  <a:cubicBezTo>
                    <a:pt x="46" y="9"/>
                    <a:pt x="54" y="19"/>
                    <a:pt x="54" y="33"/>
                  </a:cubicBezTo>
                  <a:cubicBezTo>
                    <a:pt x="54" y="47"/>
                    <a:pt x="46" y="58"/>
                    <a:pt x="33" y="5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0" name="Freeform 8">
              <a:extLst>
                <a:ext uri="{FF2B5EF4-FFF2-40B4-BE49-F238E27FC236}">
                  <a16:creationId xmlns:a16="http://schemas.microsoft.com/office/drawing/2014/main" id="{D644210C-71FB-46C2-BB06-3DAD03BC87A0}"/>
                </a:ext>
              </a:extLst>
            </p:cNvPr>
            <p:cNvSpPr>
              <a:spLocks noEditPoints="1"/>
            </p:cNvSpPr>
            <p:nvPr/>
          </p:nvSpPr>
          <p:spPr bwMode="auto">
            <a:xfrm>
              <a:off x="5608638" y="3111500"/>
              <a:ext cx="731838" cy="750888"/>
            </a:xfrm>
            <a:custGeom>
              <a:avLst/>
              <a:gdLst>
                <a:gd name="T0" fmla="*/ 65 w 65"/>
                <a:gd name="T1" fmla="*/ 32 h 66"/>
                <a:gd name="T2" fmla="*/ 33 w 65"/>
                <a:gd name="T3" fmla="*/ 0 h 66"/>
                <a:gd name="T4" fmla="*/ 0 w 65"/>
                <a:gd name="T5" fmla="*/ 33 h 66"/>
                <a:gd name="T6" fmla="*/ 33 w 65"/>
                <a:gd name="T7" fmla="*/ 66 h 66"/>
                <a:gd name="T8" fmla="*/ 63 w 65"/>
                <a:gd name="T9" fmla="*/ 48 h 66"/>
                <a:gd name="T10" fmla="*/ 53 w 65"/>
                <a:gd name="T11" fmla="*/ 48 h 66"/>
                <a:gd name="T12" fmla="*/ 34 w 65"/>
                <a:gd name="T13" fmla="*/ 58 h 66"/>
                <a:gd name="T14" fmla="*/ 11 w 65"/>
                <a:gd name="T15" fmla="*/ 37 h 66"/>
                <a:gd name="T16" fmla="*/ 65 w 65"/>
                <a:gd name="T17" fmla="*/ 37 h 66"/>
                <a:gd name="T18" fmla="*/ 65 w 65"/>
                <a:gd name="T19" fmla="*/ 32 h 66"/>
                <a:gd name="T20" fmla="*/ 11 w 65"/>
                <a:gd name="T21" fmla="*/ 28 h 66"/>
                <a:gd name="T22" fmla="*/ 33 w 65"/>
                <a:gd name="T23" fmla="*/ 8 h 66"/>
                <a:gd name="T24" fmla="*/ 55 w 65"/>
                <a:gd name="T25" fmla="*/ 28 h 66"/>
                <a:gd name="T26" fmla="*/ 11 w 65"/>
                <a:gd name="T27"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 h="66">
                  <a:moveTo>
                    <a:pt x="65" y="32"/>
                  </a:moveTo>
                  <a:cubicBezTo>
                    <a:pt x="65" y="13"/>
                    <a:pt x="53" y="0"/>
                    <a:pt x="33" y="0"/>
                  </a:cubicBezTo>
                  <a:cubicBezTo>
                    <a:pt x="14" y="0"/>
                    <a:pt x="0" y="14"/>
                    <a:pt x="0" y="33"/>
                  </a:cubicBezTo>
                  <a:cubicBezTo>
                    <a:pt x="0" y="53"/>
                    <a:pt x="14" y="66"/>
                    <a:pt x="33" y="66"/>
                  </a:cubicBezTo>
                  <a:cubicBezTo>
                    <a:pt x="47" y="66"/>
                    <a:pt x="58" y="59"/>
                    <a:pt x="63" y="48"/>
                  </a:cubicBezTo>
                  <a:cubicBezTo>
                    <a:pt x="53" y="48"/>
                    <a:pt x="53" y="48"/>
                    <a:pt x="53" y="48"/>
                  </a:cubicBezTo>
                  <a:cubicBezTo>
                    <a:pt x="50" y="54"/>
                    <a:pt x="43" y="58"/>
                    <a:pt x="34" y="58"/>
                  </a:cubicBezTo>
                  <a:cubicBezTo>
                    <a:pt x="19" y="58"/>
                    <a:pt x="12" y="49"/>
                    <a:pt x="11" y="37"/>
                  </a:cubicBezTo>
                  <a:cubicBezTo>
                    <a:pt x="65" y="37"/>
                    <a:pt x="65" y="37"/>
                    <a:pt x="65" y="37"/>
                  </a:cubicBezTo>
                  <a:lnTo>
                    <a:pt x="65" y="32"/>
                  </a:lnTo>
                  <a:close/>
                  <a:moveTo>
                    <a:pt x="11" y="28"/>
                  </a:moveTo>
                  <a:cubicBezTo>
                    <a:pt x="12" y="17"/>
                    <a:pt x="20" y="8"/>
                    <a:pt x="33" y="8"/>
                  </a:cubicBezTo>
                  <a:cubicBezTo>
                    <a:pt x="47" y="8"/>
                    <a:pt x="54" y="18"/>
                    <a:pt x="55" y="28"/>
                  </a:cubicBezTo>
                  <a:lnTo>
                    <a:pt x="1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1" name="Freeform 9">
              <a:extLst>
                <a:ext uri="{FF2B5EF4-FFF2-40B4-BE49-F238E27FC236}">
                  <a16:creationId xmlns:a16="http://schemas.microsoft.com/office/drawing/2014/main" id="{6BD464F9-CB86-4782-98A8-138D13B22E79}"/>
                </a:ext>
              </a:extLst>
            </p:cNvPr>
            <p:cNvSpPr>
              <a:spLocks/>
            </p:cNvSpPr>
            <p:nvPr/>
          </p:nvSpPr>
          <p:spPr bwMode="auto">
            <a:xfrm>
              <a:off x="7613650" y="2952750"/>
              <a:ext cx="360363" cy="898525"/>
            </a:xfrm>
            <a:custGeom>
              <a:avLst/>
              <a:gdLst>
                <a:gd name="T0" fmla="*/ 20 w 32"/>
                <a:gd name="T1" fmla="*/ 62 h 79"/>
                <a:gd name="T2" fmla="*/ 20 w 32"/>
                <a:gd name="T3" fmla="*/ 24 h 79"/>
                <a:gd name="T4" fmla="*/ 32 w 32"/>
                <a:gd name="T5" fmla="*/ 24 h 79"/>
                <a:gd name="T6" fmla="*/ 32 w 32"/>
                <a:gd name="T7" fmla="*/ 16 h 79"/>
                <a:gd name="T8" fmla="*/ 20 w 32"/>
                <a:gd name="T9" fmla="*/ 16 h 79"/>
                <a:gd name="T10" fmla="*/ 20 w 32"/>
                <a:gd name="T11" fmla="*/ 0 h 79"/>
                <a:gd name="T12" fmla="*/ 9 w 32"/>
                <a:gd name="T13" fmla="*/ 0 h 79"/>
                <a:gd name="T14" fmla="*/ 9 w 32"/>
                <a:gd name="T15" fmla="*/ 16 h 79"/>
                <a:gd name="T16" fmla="*/ 0 w 32"/>
                <a:gd name="T17" fmla="*/ 16 h 79"/>
                <a:gd name="T18" fmla="*/ 0 w 32"/>
                <a:gd name="T19" fmla="*/ 24 h 79"/>
                <a:gd name="T20" fmla="*/ 9 w 32"/>
                <a:gd name="T21" fmla="*/ 24 h 79"/>
                <a:gd name="T22" fmla="*/ 9 w 32"/>
                <a:gd name="T23" fmla="*/ 63 h 79"/>
                <a:gd name="T24" fmla="*/ 26 w 32"/>
                <a:gd name="T25" fmla="*/ 79 h 79"/>
                <a:gd name="T26" fmla="*/ 32 w 32"/>
                <a:gd name="T27" fmla="*/ 79 h 79"/>
                <a:gd name="T28" fmla="*/ 32 w 32"/>
                <a:gd name="T29" fmla="*/ 70 h 79"/>
                <a:gd name="T30" fmla="*/ 27 w 32"/>
                <a:gd name="T31" fmla="*/ 71 h 79"/>
                <a:gd name="T32" fmla="*/ 20 w 32"/>
                <a:gd name="T33" fmla="*/ 6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79">
                  <a:moveTo>
                    <a:pt x="20" y="62"/>
                  </a:moveTo>
                  <a:cubicBezTo>
                    <a:pt x="20" y="24"/>
                    <a:pt x="20" y="24"/>
                    <a:pt x="20" y="24"/>
                  </a:cubicBezTo>
                  <a:cubicBezTo>
                    <a:pt x="32" y="24"/>
                    <a:pt x="32" y="24"/>
                    <a:pt x="32" y="24"/>
                  </a:cubicBezTo>
                  <a:cubicBezTo>
                    <a:pt x="32" y="16"/>
                    <a:pt x="32" y="16"/>
                    <a:pt x="32" y="16"/>
                  </a:cubicBezTo>
                  <a:cubicBezTo>
                    <a:pt x="20" y="16"/>
                    <a:pt x="20" y="16"/>
                    <a:pt x="20" y="16"/>
                  </a:cubicBezTo>
                  <a:cubicBezTo>
                    <a:pt x="20" y="0"/>
                    <a:pt x="20" y="0"/>
                    <a:pt x="20" y="0"/>
                  </a:cubicBezTo>
                  <a:cubicBezTo>
                    <a:pt x="9" y="0"/>
                    <a:pt x="9" y="0"/>
                    <a:pt x="9" y="0"/>
                  </a:cubicBezTo>
                  <a:cubicBezTo>
                    <a:pt x="9" y="16"/>
                    <a:pt x="9" y="16"/>
                    <a:pt x="9" y="16"/>
                  </a:cubicBezTo>
                  <a:cubicBezTo>
                    <a:pt x="0" y="16"/>
                    <a:pt x="0" y="16"/>
                    <a:pt x="0" y="16"/>
                  </a:cubicBezTo>
                  <a:cubicBezTo>
                    <a:pt x="0" y="24"/>
                    <a:pt x="0" y="24"/>
                    <a:pt x="0" y="24"/>
                  </a:cubicBezTo>
                  <a:cubicBezTo>
                    <a:pt x="9" y="24"/>
                    <a:pt x="9" y="24"/>
                    <a:pt x="9" y="24"/>
                  </a:cubicBezTo>
                  <a:cubicBezTo>
                    <a:pt x="9" y="63"/>
                    <a:pt x="9" y="63"/>
                    <a:pt x="9" y="63"/>
                  </a:cubicBezTo>
                  <a:cubicBezTo>
                    <a:pt x="9" y="74"/>
                    <a:pt x="14" y="79"/>
                    <a:pt x="26" y="79"/>
                  </a:cubicBezTo>
                  <a:cubicBezTo>
                    <a:pt x="28" y="79"/>
                    <a:pt x="31" y="79"/>
                    <a:pt x="32" y="79"/>
                  </a:cubicBezTo>
                  <a:cubicBezTo>
                    <a:pt x="32" y="70"/>
                    <a:pt x="32" y="70"/>
                    <a:pt x="32" y="70"/>
                  </a:cubicBezTo>
                  <a:cubicBezTo>
                    <a:pt x="30" y="71"/>
                    <a:pt x="29" y="71"/>
                    <a:pt x="27" y="71"/>
                  </a:cubicBezTo>
                  <a:cubicBezTo>
                    <a:pt x="22" y="71"/>
                    <a:pt x="20" y="69"/>
                    <a:pt x="20" y="6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2" name="Freeform 10">
              <a:extLst>
                <a:ext uri="{FF2B5EF4-FFF2-40B4-BE49-F238E27FC236}">
                  <a16:creationId xmlns:a16="http://schemas.microsoft.com/office/drawing/2014/main" id="{4A8BDCE4-6FCC-47A7-9CDE-4AC06B36DA13}"/>
                </a:ext>
              </a:extLst>
            </p:cNvPr>
            <p:cNvSpPr>
              <a:spLocks/>
            </p:cNvSpPr>
            <p:nvPr/>
          </p:nvSpPr>
          <p:spPr bwMode="auto">
            <a:xfrm>
              <a:off x="7275513" y="2816225"/>
              <a:ext cx="338138" cy="1035050"/>
            </a:xfrm>
            <a:custGeom>
              <a:avLst/>
              <a:gdLst>
                <a:gd name="T0" fmla="*/ 24 w 30"/>
                <a:gd name="T1" fmla="*/ 91 h 91"/>
                <a:gd name="T2" fmla="*/ 30 w 30"/>
                <a:gd name="T3" fmla="*/ 91 h 91"/>
                <a:gd name="T4" fmla="*/ 30 w 30"/>
                <a:gd name="T5" fmla="*/ 82 h 91"/>
                <a:gd name="T6" fmla="*/ 26 w 30"/>
                <a:gd name="T7" fmla="*/ 83 h 91"/>
                <a:gd name="T8" fmla="*/ 19 w 30"/>
                <a:gd name="T9" fmla="*/ 74 h 91"/>
                <a:gd name="T10" fmla="*/ 19 w 30"/>
                <a:gd name="T11" fmla="*/ 0 h 91"/>
                <a:gd name="T12" fmla="*/ 0 w 30"/>
                <a:gd name="T13" fmla="*/ 0 h 91"/>
                <a:gd name="T14" fmla="*/ 0 w 30"/>
                <a:gd name="T15" fmla="*/ 8 h 91"/>
                <a:gd name="T16" fmla="*/ 9 w 30"/>
                <a:gd name="T17" fmla="*/ 8 h 91"/>
                <a:gd name="T18" fmla="*/ 9 w 30"/>
                <a:gd name="T19" fmla="*/ 74 h 91"/>
                <a:gd name="T20" fmla="*/ 24 w 30"/>
                <a:gd name="T2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91">
                  <a:moveTo>
                    <a:pt x="24" y="91"/>
                  </a:moveTo>
                  <a:cubicBezTo>
                    <a:pt x="26" y="91"/>
                    <a:pt x="29" y="91"/>
                    <a:pt x="30" y="91"/>
                  </a:cubicBezTo>
                  <a:cubicBezTo>
                    <a:pt x="30" y="82"/>
                    <a:pt x="30" y="82"/>
                    <a:pt x="30" y="82"/>
                  </a:cubicBezTo>
                  <a:cubicBezTo>
                    <a:pt x="28" y="83"/>
                    <a:pt x="27" y="83"/>
                    <a:pt x="26" y="83"/>
                  </a:cubicBezTo>
                  <a:cubicBezTo>
                    <a:pt x="21" y="83"/>
                    <a:pt x="19" y="80"/>
                    <a:pt x="19" y="74"/>
                  </a:cubicBezTo>
                  <a:cubicBezTo>
                    <a:pt x="19" y="0"/>
                    <a:pt x="19" y="0"/>
                    <a:pt x="19" y="0"/>
                  </a:cubicBezTo>
                  <a:cubicBezTo>
                    <a:pt x="0" y="0"/>
                    <a:pt x="0" y="0"/>
                    <a:pt x="0" y="0"/>
                  </a:cubicBezTo>
                  <a:cubicBezTo>
                    <a:pt x="0" y="8"/>
                    <a:pt x="0" y="8"/>
                    <a:pt x="0" y="8"/>
                  </a:cubicBezTo>
                  <a:cubicBezTo>
                    <a:pt x="9" y="8"/>
                    <a:pt x="9" y="8"/>
                    <a:pt x="9" y="8"/>
                  </a:cubicBezTo>
                  <a:cubicBezTo>
                    <a:pt x="9" y="74"/>
                    <a:pt x="9" y="74"/>
                    <a:pt x="9" y="74"/>
                  </a:cubicBezTo>
                  <a:cubicBezTo>
                    <a:pt x="9" y="85"/>
                    <a:pt x="13" y="91"/>
                    <a:pt x="24" y="91"/>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3" name="Freeform 11">
              <a:extLst>
                <a:ext uri="{FF2B5EF4-FFF2-40B4-BE49-F238E27FC236}">
                  <a16:creationId xmlns:a16="http://schemas.microsoft.com/office/drawing/2014/main" id="{331AB147-689A-43A6-B970-E8CB2BE02D79}"/>
                </a:ext>
              </a:extLst>
            </p:cNvPr>
            <p:cNvSpPr>
              <a:spLocks/>
            </p:cNvSpPr>
            <p:nvPr/>
          </p:nvSpPr>
          <p:spPr bwMode="auto">
            <a:xfrm>
              <a:off x="3603625" y="2781300"/>
              <a:ext cx="911225" cy="1092200"/>
            </a:xfrm>
            <a:custGeom>
              <a:avLst/>
              <a:gdLst>
                <a:gd name="T0" fmla="*/ 28 w 81"/>
                <a:gd name="T1" fmla="*/ 65 h 96"/>
                <a:gd name="T2" fmla="*/ 41 w 81"/>
                <a:gd name="T3" fmla="*/ 74 h 96"/>
                <a:gd name="T4" fmla="*/ 52 w 81"/>
                <a:gd name="T5" fmla="*/ 68 h 96"/>
                <a:gd name="T6" fmla="*/ 36 w 81"/>
                <a:gd name="T7" fmla="*/ 59 h 96"/>
                <a:gd name="T8" fmla="*/ 12 w 81"/>
                <a:gd name="T9" fmla="*/ 50 h 96"/>
                <a:gd name="T10" fmla="*/ 1 w 81"/>
                <a:gd name="T11" fmla="*/ 29 h 96"/>
                <a:gd name="T12" fmla="*/ 39 w 81"/>
                <a:gd name="T13" fmla="*/ 0 h 96"/>
                <a:gd name="T14" fmla="*/ 78 w 81"/>
                <a:gd name="T15" fmla="*/ 29 h 96"/>
                <a:gd name="T16" fmla="*/ 51 w 81"/>
                <a:gd name="T17" fmla="*/ 29 h 96"/>
                <a:gd name="T18" fmla="*/ 39 w 81"/>
                <a:gd name="T19" fmla="*/ 21 h 96"/>
                <a:gd name="T20" fmla="*/ 30 w 81"/>
                <a:gd name="T21" fmla="*/ 27 h 96"/>
                <a:gd name="T22" fmla="*/ 43 w 81"/>
                <a:gd name="T23" fmla="*/ 35 h 96"/>
                <a:gd name="T24" fmla="*/ 69 w 81"/>
                <a:gd name="T25" fmla="*/ 43 h 96"/>
                <a:gd name="T26" fmla="*/ 81 w 81"/>
                <a:gd name="T27" fmla="*/ 65 h 96"/>
                <a:gd name="T28" fmla="*/ 40 w 81"/>
                <a:gd name="T29" fmla="*/ 96 h 96"/>
                <a:gd name="T30" fmla="*/ 0 w 81"/>
                <a:gd name="T31" fmla="*/ 65 h 96"/>
                <a:gd name="T32" fmla="*/ 28 w 81"/>
                <a:gd name="T33" fmla="*/ 6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96">
                  <a:moveTo>
                    <a:pt x="28" y="65"/>
                  </a:moveTo>
                  <a:cubicBezTo>
                    <a:pt x="29" y="72"/>
                    <a:pt x="33" y="74"/>
                    <a:pt x="41" y="74"/>
                  </a:cubicBezTo>
                  <a:cubicBezTo>
                    <a:pt x="48" y="74"/>
                    <a:pt x="52" y="72"/>
                    <a:pt x="52" y="68"/>
                  </a:cubicBezTo>
                  <a:cubicBezTo>
                    <a:pt x="52" y="62"/>
                    <a:pt x="47" y="62"/>
                    <a:pt x="36" y="59"/>
                  </a:cubicBezTo>
                  <a:cubicBezTo>
                    <a:pt x="24" y="55"/>
                    <a:pt x="15" y="53"/>
                    <a:pt x="12" y="50"/>
                  </a:cubicBezTo>
                  <a:cubicBezTo>
                    <a:pt x="5" y="45"/>
                    <a:pt x="1" y="38"/>
                    <a:pt x="1" y="29"/>
                  </a:cubicBezTo>
                  <a:cubicBezTo>
                    <a:pt x="1" y="11"/>
                    <a:pt x="15" y="0"/>
                    <a:pt x="39" y="0"/>
                  </a:cubicBezTo>
                  <a:cubicBezTo>
                    <a:pt x="63" y="0"/>
                    <a:pt x="77" y="10"/>
                    <a:pt x="78" y="29"/>
                  </a:cubicBezTo>
                  <a:cubicBezTo>
                    <a:pt x="51" y="29"/>
                    <a:pt x="51" y="29"/>
                    <a:pt x="51" y="29"/>
                  </a:cubicBezTo>
                  <a:cubicBezTo>
                    <a:pt x="50" y="23"/>
                    <a:pt x="46" y="21"/>
                    <a:pt x="39" y="21"/>
                  </a:cubicBezTo>
                  <a:cubicBezTo>
                    <a:pt x="33" y="21"/>
                    <a:pt x="30" y="23"/>
                    <a:pt x="30" y="27"/>
                  </a:cubicBezTo>
                  <a:cubicBezTo>
                    <a:pt x="30" y="32"/>
                    <a:pt x="34" y="33"/>
                    <a:pt x="43" y="35"/>
                  </a:cubicBezTo>
                  <a:cubicBezTo>
                    <a:pt x="54" y="38"/>
                    <a:pt x="63" y="40"/>
                    <a:pt x="69" y="43"/>
                  </a:cubicBezTo>
                  <a:cubicBezTo>
                    <a:pt x="77" y="49"/>
                    <a:pt x="81" y="55"/>
                    <a:pt x="81" y="65"/>
                  </a:cubicBezTo>
                  <a:cubicBezTo>
                    <a:pt x="81" y="84"/>
                    <a:pt x="66" y="96"/>
                    <a:pt x="40" y="96"/>
                  </a:cubicBezTo>
                  <a:cubicBezTo>
                    <a:pt x="16" y="96"/>
                    <a:pt x="1" y="84"/>
                    <a:pt x="0" y="65"/>
                  </a:cubicBezTo>
                  <a:lnTo>
                    <a:pt x="28" y="6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4" name="Freeform 12">
              <a:extLst>
                <a:ext uri="{FF2B5EF4-FFF2-40B4-BE49-F238E27FC236}">
                  <a16:creationId xmlns:a16="http://schemas.microsoft.com/office/drawing/2014/main" id="{AA8CC35E-627A-410D-9CC1-5DFD27072BFF}"/>
                </a:ext>
              </a:extLst>
            </p:cNvPr>
            <p:cNvSpPr>
              <a:spLocks/>
            </p:cNvSpPr>
            <p:nvPr/>
          </p:nvSpPr>
          <p:spPr bwMode="auto">
            <a:xfrm>
              <a:off x="1698625" y="2781300"/>
              <a:ext cx="1014413" cy="1092200"/>
            </a:xfrm>
            <a:custGeom>
              <a:avLst/>
              <a:gdLst>
                <a:gd name="T0" fmla="*/ 90 w 90"/>
                <a:gd name="T1" fmla="*/ 58 h 96"/>
                <a:gd name="T2" fmla="*/ 46 w 90"/>
                <a:gd name="T3" fmla="*/ 96 h 96"/>
                <a:gd name="T4" fmla="*/ 0 w 90"/>
                <a:gd name="T5" fmla="*/ 48 h 96"/>
                <a:gd name="T6" fmla="*/ 46 w 90"/>
                <a:gd name="T7" fmla="*/ 0 h 96"/>
                <a:gd name="T8" fmla="*/ 89 w 90"/>
                <a:gd name="T9" fmla="*/ 37 h 96"/>
                <a:gd name="T10" fmla="*/ 62 w 90"/>
                <a:gd name="T11" fmla="*/ 37 h 96"/>
                <a:gd name="T12" fmla="*/ 46 w 90"/>
                <a:gd name="T13" fmla="*/ 23 h 96"/>
                <a:gd name="T14" fmla="*/ 29 w 90"/>
                <a:gd name="T15" fmla="*/ 48 h 96"/>
                <a:gd name="T16" fmla="*/ 47 w 90"/>
                <a:gd name="T17" fmla="*/ 73 h 96"/>
                <a:gd name="T18" fmla="*/ 62 w 90"/>
                <a:gd name="T19" fmla="*/ 58 h 96"/>
                <a:gd name="T20" fmla="*/ 90 w 90"/>
                <a:gd name="T21" fmla="*/ 5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96">
                  <a:moveTo>
                    <a:pt x="90" y="58"/>
                  </a:moveTo>
                  <a:cubicBezTo>
                    <a:pt x="88" y="82"/>
                    <a:pt x="72" y="96"/>
                    <a:pt x="46" y="96"/>
                  </a:cubicBezTo>
                  <a:cubicBezTo>
                    <a:pt x="17" y="96"/>
                    <a:pt x="0" y="78"/>
                    <a:pt x="0" y="48"/>
                  </a:cubicBezTo>
                  <a:cubicBezTo>
                    <a:pt x="0" y="18"/>
                    <a:pt x="17" y="0"/>
                    <a:pt x="46" y="0"/>
                  </a:cubicBezTo>
                  <a:cubicBezTo>
                    <a:pt x="72" y="0"/>
                    <a:pt x="88" y="13"/>
                    <a:pt x="89" y="37"/>
                  </a:cubicBezTo>
                  <a:cubicBezTo>
                    <a:pt x="62" y="37"/>
                    <a:pt x="62" y="37"/>
                    <a:pt x="62" y="37"/>
                  </a:cubicBezTo>
                  <a:cubicBezTo>
                    <a:pt x="61" y="28"/>
                    <a:pt x="55" y="23"/>
                    <a:pt x="46" y="23"/>
                  </a:cubicBezTo>
                  <a:cubicBezTo>
                    <a:pt x="35" y="23"/>
                    <a:pt x="29" y="31"/>
                    <a:pt x="29" y="48"/>
                  </a:cubicBezTo>
                  <a:cubicBezTo>
                    <a:pt x="29" y="65"/>
                    <a:pt x="35" y="73"/>
                    <a:pt x="47" y="73"/>
                  </a:cubicBezTo>
                  <a:cubicBezTo>
                    <a:pt x="56" y="73"/>
                    <a:pt x="61" y="68"/>
                    <a:pt x="62" y="58"/>
                  </a:cubicBezTo>
                  <a:lnTo>
                    <a:pt x="90" y="58"/>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5" name="Freeform 13">
              <a:extLst>
                <a:ext uri="{FF2B5EF4-FFF2-40B4-BE49-F238E27FC236}">
                  <a16:creationId xmlns:a16="http://schemas.microsoft.com/office/drawing/2014/main" id="{A6104163-5896-46B6-AC7E-D2E4D25EC2F7}"/>
                </a:ext>
              </a:extLst>
            </p:cNvPr>
            <p:cNvSpPr>
              <a:spLocks/>
            </p:cNvSpPr>
            <p:nvPr/>
          </p:nvSpPr>
          <p:spPr bwMode="auto">
            <a:xfrm>
              <a:off x="2644775" y="2816225"/>
              <a:ext cx="1014413" cy="1023938"/>
            </a:xfrm>
            <a:custGeom>
              <a:avLst/>
              <a:gdLst>
                <a:gd name="T0" fmla="*/ 0 w 639"/>
                <a:gd name="T1" fmla="*/ 0 h 645"/>
                <a:gd name="T2" fmla="*/ 206 w 639"/>
                <a:gd name="T3" fmla="*/ 0 h 645"/>
                <a:gd name="T4" fmla="*/ 320 w 639"/>
                <a:gd name="T5" fmla="*/ 415 h 645"/>
                <a:gd name="T6" fmla="*/ 433 w 639"/>
                <a:gd name="T7" fmla="*/ 0 h 645"/>
                <a:gd name="T8" fmla="*/ 639 w 639"/>
                <a:gd name="T9" fmla="*/ 0 h 645"/>
                <a:gd name="T10" fmla="*/ 419 w 639"/>
                <a:gd name="T11" fmla="*/ 645 h 645"/>
                <a:gd name="T12" fmla="*/ 213 w 639"/>
                <a:gd name="T13" fmla="*/ 645 h 645"/>
                <a:gd name="T14" fmla="*/ 0 w 639"/>
                <a:gd name="T15" fmla="*/ 0 h 6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9" h="645">
                  <a:moveTo>
                    <a:pt x="0" y="0"/>
                  </a:moveTo>
                  <a:lnTo>
                    <a:pt x="206" y="0"/>
                  </a:lnTo>
                  <a:lnTo>
                    <a:pt x="320" y="415"/>
                  </a:lnTo>
                  <a:lnTo>
                    <a:pt x="433" y="0"/>
                  </a:lnTo>
                  <a:lnTo>
                    <a:pt x="639" y="0"/>
                  </a:lnTo>
                  <a:lnTo>
                    <a:pt x="419" y="645"/>
                  </a:lnTo>
                  <a:lnTo>
                    <a:pt x="213" y="645"/>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46" name="Freeform 14">
              <a:extLst>
                <a:ext uri="{FF2B5EF4-FFF2-40B4-BE49-F238E27FC236}">
                  <a16:creationId xmlns:a16="http://schemas.microsoft.com/office/drawing/2014/main" id="{481FE757-1FA8-48AB-BF72-DF393E4A3A65}"/>
                </a:ext>
              </a:extLst>
            </p:cNvPr>
            <p:cNvSpPr>
              <a:spLocks/>
            </p:cNvSpPr>
            <p:nvPr/>
          </p:nvSpPr>
          <p:spPr bwMode="auto">
            <a:xfrm>
              <a:off x="279400" y="2781300"/>
              <a:ext cx="1295400" cy="1092200"/>
            </a:xfrm>
            <a:custGeom>
              <a:avLst/>
              <a:gdLst>
                <a:gd name="T0" fmla="*/ 4 w 115"/>
                <a:gd name="T1" fmla="*/ 42 h 96"/>
                <a:gd name="T2" fmla="*/ 0 w 115"/>
                <a:gd name="T3" fmla="*/ 33 h 96"/>
                <a:gd name="T4" fmla="*/ 4 w 115"/>
                <a:gd name="T5" fmla="*/ 23 h 96"/>
                <a:gd name="T6" fmla="*/ 22 w 115"/>
                <a:gd name="T7" fmla="*/ 4 h 96"/>
                <a:gd name="T8" fmla="*/ 32 w 115"/>
                <a:gd name="T9" fmla="*/ 0 h 96"/>
                <a:gd name="T10" fmla="*/ 42 w 115"/>
                <a:gd name="T11" fmla="*/ 4 h 96"/>
                <a:gd name="T12" fmla="*/ 58 w 115"/>
                <a:gd name="T13" fmla="*/ 20 h 96"/>
                <a:gd name="T14" fmla="*/ 73 w 115"/>
                <a:gd name="T15" fmla="*/ 4 h 96"/>
                <a:gd name="T16" fmla="*/ 83 w 115"/>
                <a:gd name="T17" fmla="*/ 0 h 96"/>
                <a:gd name="T18" fmla="*/ 93 w 115"/>
                <a:gd name="T19" fmla="*/ 4 h 96"/>
                <a:gd name="T20" fmla="*/ 111 w 115"/>
                <a:gd name="T21" fmla="*/ 23 h 96"/>
                <a:gd name="T22" fmla="*/ 115 w 115"/>
                <a:gd name="T23" fmla="*/ 33 h 96"/>
                <a:gd name="T24" fmla="*/ 111 w 115"/>
                <a:gd name="T25" fmla="*/ 42 h 96"/>
                <a:gd name="T26" fmla="*/ 58 w 115"/>
                <a:gd name="T27" fmla="*/ 96 h 96"/>
                <a:gd name="T28" fmla="*/ 57 w 115"/>
                <a:gd name="T29" fmla="*/ 96 h 96"/>
                <a:gd name="T30" fmla="*/ 4 w 115"/>
                <a:gd name="T31" fmla="*/ 4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96">
                  <a:moveTo>
                    <a:pt x="4" y="42"/>
                  </a:moveTo>
                  <a:cubicBezTo>
                    <a:pt x="1" y="40"/>
                    <a:pt x="0" y="36"/>
                    <a:pt x="0" y="33"/>
                  </a:cubicBezTo>
                  <a:cubicBezTo>
                    <a:pt x="0" y="29"/>
                    <a:pt x="1" y="25"/>
                    <a:pt x="4" y="23"/>
                  </a:cubicBezTo>
                  <a:cubicBezTo>
                    <a:pt x="22" y="4"/>
                    <a:pt x="22" y="4"/>
                    <a:pt x="22" y="4"/>
                  </a:cubicBezTo>
                  <a:cubicBezTo>
                    <a:pt x="25" y="1"/>
                    <a:pt x="29" y="0"/>
                    <a:pt x="32" y="0"/>
                  </a:cubicBezTo>
                  <a:cubicBezTo>
                    <a:pt x="36" y="0"/>
                    <a:pt x="39" y="1"/>
                    <a:pt x="42" y="4"/>
                  </a:cubicBezTo>
                  <a:cubicBezTo>
                    <a:pt x="58" y="20"/>
                    <a:pt x="58" y="20"/>
                    <a:pt x="58" y="20"/>
                  </a:cubicBezTo>
                  <a:cubicBezTo>
                    <a:pt x="73" y="4"/>
                    <a:pt x="73" y="4"/>
                    <a:pt x="73" y="4"/>
                  </a:cubicBezTo>
                  <a:cubicBezTo>
                    <a:pt x="76" y="1"/>
                    <a:pt x="79" y="0"/>
                    <a:pt x="83" y="0"/>
                  </a:cubicBezTo>
                  <a:cubicBezTo>
                    <a:pt x="87" y="0"/>
                    <a:pt x="90" y="1"/>
                    <a:pt x="93" y="4"/>
                  </a:cubicBezTo>
                  <a:cubicBezTo>
                    <a:pt x="111" y="23"/>
                    <a:pt x="111" y="23"/>
                    <a:pt x="111" y="23"/>
                  </a:cubicBezTo>
                  <a:cubicBezTo>
                    <a:pt x="114" y="25"/>
                    <a:pt x="115" y="29"/>
                    <a:pt x="115" y="33"/>
                  </a:cubicBezTo>
                  <a:cubicBezTo>
                    <a:pt x="115" y="36"/>
                    <a:pt x="114" y="40"/>
                    <a:pt x="111" y="42"/>
                  </a:cubicBezTo>
                  <a:cubicBezTo>
                    <a:pt x="58" y="96"/>
                    <a:pt x="58" y="96"/>
                    <a:pt x="58" y="96"/>
                  </a:cubicBezTo>
                  <a:cubicBezTo>
                    <a:pt x="57" y="96"/>
                    <a:pt x="57" y="96"/>
                    <a:pt x="57" y="96"/>
                  </a:cubicBezTo>
                  <a:lnTo>
                    <a:pt x="4" y="42"/>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grpSp>
      <p:pic>
        <p:nvPicPr>
          <p:cNvPr id="47" name="Picture 46" descr="Text&#10;&#10;Description automatically generated with low confidence">
            <a:extLst>
              <a:ext uri="{FF2B5EF4-FFF2-40B4-BE49-F238E27FC236}">
                <a16:creationId xmlns:a16="http://schemas.microsoft.com/office/drawing/2014/main" id="{F017662F-23AA-4890-85AE-FA5C0F4C3FE9}"/>
              </a:ext>
            </a:extLst>
          </p:cNvPr>
          <p:cNvPicPr>
            <a:picLocks noChangeAspect="1"/>
          </p:cNvPicPr>
          <p:nvPr userDrawn="1"/>
        </p:nvPicPr>
        <p:blipFill>
          <a:blip r:embed="rId5"/>
          <a:stretch>
            <a:fillRect/>
          </a:stretch>
        </p:blipFill>
        <p:spPr>
          <a:xfrm>
            <a:off x="1324695" y="5536168"/>
            <a:ext cx="1426464" cy="713232"/>
          </a:xfrm>
          <a:prstGeom prst="rect">
            <a:avLst/>
          </a:prstGeom>
        </p:spPr>
      </p:pic>
    </p:spTree>
    <p:extLst>
      <p:ext uri="{BB962C8B-B14F-4D97-AF65-F5344CB8AC3E}">
        <p14:creationId xmlns:p14="http://schemas.microsoft.com/office/powerpoint/2010/main" val="34373893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able of Contents">
    <p:bg>
      <p:bgPr>
        <a:solidFill>
          <a:srgbClr val="064E69"/>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6522249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Picture Placeholder 5"/>
          <p:cNvSpPr>
            <a:spLocks noGrp="1"/>
          </p:cNvSpPr>
          <p:nvPr>
            <p:ph type="pic" sz="quarter" idx="13" hasCustomPrompt="1"/>
          </p:nvPr>
        </p:nvSpPr>
        <p:spPr>
          <a:xfrm>
            <a:off x="0" y="0"/>
            <a:ext cx="4990623" cy="6858000"/>
          </a:xfrm>
          <a:prstGeom prst="rect">
            <a:avLst/>
          </a:prstGeom>
          <a:solidFill>
            <a:schemeClr val="bg2"/>
          </a:solidFill>
        </p:spPr>
        <p:txBody>
          <a:bodyPr anchor="ctr"/>
          <a:lstStyle>
            <a:lvl1pPr algn="ctr">
              <a:defRPr sz="320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IMAGE</a:t>
            </a:r>
          </a:p>
        </p:txBody>
      </p:sp>
      <p:sp>
        <p:nvSpPr>
          <p:cNvPr id="3" name="Rectangle 2"/>
          <p:cNvSpPr/>
          <p:nvPr userDrawn="1"/>
        </p:nvSpPr>
        <p:spPr>
          <a:xfrm flipH="1">
            <a:off x="4990624" y="0"/>
            <a:ext cx="157730" cy="6858000"/>
          </a:xfrm>
          <a:prstGeom prst="rect">
            <a:avLst/>
          </a:prstGeom>
          <a:solidFill>
            <a:srgbClr val="043A4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a:solidFill>
                <a:schemeClr val="bg2">
                  <a:lumMod val="40000"/>
                  <a:lumOff val="6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4" name="Rectangle 3"/>
          <p:cNvSpPr/>
          <p:nvPr userDrawn="1"/>
        </p:nvSpPr>
        <p:spPr>
          <a:xfrm>
            <a:off x="5069489" y="0"/>
            <a:ext cx="7042059" cy="10693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anose="020B0604020202020204" pitchFamily="34" charset="0"/>
              <a:cs typeface="Arial" panose="020B0604020202020204" pitchFamily="34" charset="0"/>
              <a:sym typeface="Arial" panose="020B0604020202020204" pitchFamily="34" charset="0"/>
            </a:endParaRPr>
          </a:p>
        </p:txBody>
      </p:sp>
      <p:sp>
        <p:nvSpPr>
          <p:cNvPr id="8" name="Title 1"/>
          <p:cNvSpPr>
            <a:spLocks noGrp="1"/>
          </p:cNvSpPr>
          <p:nvPr>
            <p:ph type="ctrTitle" hasCustomPrompt="1"/>
          </p:nvPr>
        </p:nvSpPr>
        <p:spPr>
          <a:xfrm>
            <a:off x="5586134" y="164122"/>
            <a:ext cx="6087634" cy="707944"/>
          </a:xfrm>
          <a:prstGeom prst="rect">
            <a:avLst/>
          </a:prstGeom>
        </p:spPr>
        <p:txBody>
          <a:bodyPr lIns="0" anchor="t"/>
          <a:lstStyle>
            <a:lvl1pPr marL="0" indent="0" algn="l" defTabSz="914400" rtl="0" eaLnBrk="1" latinLnBrk="0" hangingPunct="1">
              <a:lnSpc>
                <a:spcPct val="80000"/>
              </a:lnSpc>
              <a:spcBef>
                <a:spcPts val="1200"/>
              </a:spcBef>
              <a:spcAft>
                <a:spcPts val="0"/>
              </a:spcAft>
              <a:buClrTx/>
              <a:buFontTx/>
              <a:buNone/>
              <a:tabLst>
                <a:tab pos="1201738" algn="l"/>
              </a:tabLst>
              <a:defRPr lang="en-US" sz="5400" b="1" i="0" kern="1200" baseline="0" dirty="0">
                <a:solidFill>
                  <a:schemeClr val="tx2"/>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Table of Contents</a:t>
            </a:r>
          </a:p>
        </p:txBody>
      </p:sp>
      <p:sp>
        <p:nvSpPr>
          <p:cNvPr id="9" name="Text Placeholder 7"/>
          <p:cNvSpPr>
            <a:spLocks noGrp="1"/>
          </p:cNvSpPr>
          <p:nvPr>
            <p:ph type="body" sz="quarter" idx="12" hasCustomPrompt="1"/>
          </p:nvPr>
        </p:nvSpPr>
        <p:spPr>
          <a:xfrm>
            <a:off x="5713191" y="2623839"/>
            <a:ext cx="5578857" cy="431800"/>
          </a:xfrm>
          <a:prstGeom prst="rect">
            <a:avLst/>
          </a:prstGeom>
        </p:spPr>
        <p:txBody>
          <a:bodyPr lIns="0" anchor="t" anchorCtr="0"/>
          <a:lstStyle>
            <a:lvl1pPr algn="l">
              <a:defRPr sz="2400" baseline="0">
                <a:solidFill>
                  <a:srgbClr val="FFFFFF"/>
                </a:solidFill>
                <a:latin typeface="Arial" panose="020B0604020202020204" pitchFamily="34" charset="0"/>
                <a:cs typeface="Arial" panose="020B0604020202020204" pitchFamily="34" charset="0"/>
                <a:sym typeface="Arial" panose="020B0604020202020204" pitchFamily="34" charset="0"/>
              </a:defRPr>
            </a:lvl1pPr>
          </a:lstStyle>
          <a:p>
            <a:pPr lvl="0"/>
            <a:r>
              <a:rPr lang="en-US"/>
              <a:t>Page titles</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Internal Slide">
    <p:spTree>
      <p:nvGrpSpPr>
        <p:cNvPr id="1" name=""/>
        <p:cNvGrpSpPr/>
        <p:nvPr/>
      </p:nvGrpSpPr>
      <p:grpSpPr>
        <a:xfrm>
          <a:off x="0" y="0"/>
          <a:ext cx="0" cy="0"/>
          <a:chOff x="0" y="0"/>
          <a:chExt cx="0" cy="0"/>
        </a:xfrm>
      </p:grpSpPr>
      <p:sp>
        <p:nvSpPr>
          <p:cNvPr id="55" name="Rectangle 54"/>
          <p:cNvSpPr/>
          <p:nvPr userDrawn="1"/>
        </p:nvSpPr>
        <p:spPr>
          <a:xfrm>
            <a:off x="0" y="1"/>
            <a:ext cx="12191996" cy="1554480"/>
          </a:xfrm>
          <a:prstGeom prst="rect">
            <a:avLst/>
          </a:prstGeom>
          <a:solidFill>
            <a:srgbClr val="064E69"/>
          </a:solidFill>
        </p:spPr>
        <p:txBody>
          <a:bodyPr wrap="square" lIns="548640" tIns="0" rIns="91440" bIns="0" anchor="ctr">
            <a:noAutofit/>
          </a:bodyPr>
          <a:lstStyle/>
          <a:p>
            <a:endParaRPr lang="en-US" sz="4000" b="1">
              <a:solidFill>
                <a:schemeClr val="bg1"/>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65374513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6" name="Rectangle 55"/>
          <p:cNvSpPr/>
          <p:nvPr/>
        </p:nvSpPr>
        <p:spPr>
          <a:xfrm>
            <a:off x="-1" y="1448246"/>
            <a:ext cx="12192127" cy="10673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b="1">
              <a:latin typeface="Arial" panose="020B0604020202020204" pitchFamily="34" charset="0"/>
              <a:cs typeface="Arial" panose="020B0604020202020204" pitchFamily="34" charset="0"/>
              <a:sym typeface="Arial" panose="020B0604020202020204" pitchFamily="34" charset="0"/>
            </a:endParaRPr>
          </a:p>
        </p:txBody>
      </p:sp>
      <p:sp>
        <p:nvSpPr>
          <p:cNvPr id="57" name="Title 1"/>
          <p:cNvSpPr>
            <a:spLocks noGrp="1"/>
          </p:cNvSpPr>
          <p:nvPr>
            <p:ph type="title" hasCustomPrompt="1"/>
          </p:nvPr>
        </p:nvSpPr>
        <p:spPr>
          <a:xfrm>
            <a:off x="457200" y="296379"/>
            <a:ext cx="9688623" cy="476805"/>
          </a:xfrm>
          <a:prstGeom prst="rect">
            <a:avLst/>
          </a:prstGeom>
        </p:spPr>
        <p:txBody>
          <a:bodyPr tIns="0" bIns="0" anchor="t" anchorCtr="0"/>
          <a:lstStyle>
            <a:lvl1pPr algn="l">
              <a:defRPr sz="3000" b="1">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Title</a:t>
            </a:r>
          </a:p>
        </p:txBody>
      </p:sp>
      <p:sp>
        <p:nvSpPr>
          <p:cNvPr id="58" name="Text Placeholder 9"/>
          <p:cNvSpPr>
            <a:spLocks noGrp="1"/>
          </p:cNvSpPr>
          <p:nvPr>
            <p:ph type="body" sz="quarter" idx="11" hasCustomPrompt="1"/>
          </p:nvPr>
        </p:nvSpPr>
        <p:spPr>
          <a:xfrm>
            <a:off x="457200" y="860151"/>
            <a:ext cx="9688622" cy="423094"/>
          </a:xfrm>
          <a:prstGeom prst="rect">
            <a:avLst/>
          </a:prstGeom>
        </p:spPr>
        <p:txBody>
          <a:bodyPr anchor="ctr"/>
          <a:lstStyle>
            <a:lvl1pPr algn="l">
              <a:lnSpc>
                <a:spcPct val="90000"/>
              </a:lnSpc>
              <a:spcBef>
                <a:spcPts val="0"/>
              </a:spcBef>
              <a:defRPr sz="2000">
                <a:solidFill>
                  <a:schemeClr val="bg1"/>
                </a:solidFill>
                <a:latin typeface="Arial" panose="020B0604020202020204" pitchFamily="34" charset="0"/>
                <a:cs typeface="Arial" panose="020B0604020202020204" pitchFamily="34" charset="0"/>
                <a:sym typeface="Arial" panose="020B0604020202020204" pitchFamily="34" charset="0"/>
              </a:defRPr>
            </a:lvl1pPr>
          </a:lstStyle>
          <a:p>
            <a:pPr lvl="0"/>
            <a:r>
              <a:rPr lang="en-US"/>
              <a:t>Subtitle</a:t>
            </a:r>
          </a:p>
        </p:txBody>
      </p:sp>
      <p:cxnSp>
        <p:nvCxnSpPr>
          <p:cNvPr id="59" name="Straight Connector 58"/>
          <p:cNvCxnSpPr/>
          <p:nvPr/>
        </p:nvCxnSpPr>
        <p:spPr>
          <a:xfrm>
            <a:off x="10363874" y="222724"/>
            <a:ext cx="0" cy="1032988"/>
          </a:xfrm>
          <a:prstGeom prst="line">
            <a:avLst/>
          </a:prstGeom>
          <a:ln w="15875" cmpd="sng">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12" hasCustomPrompt="1"/>
          </p:nvPr>
        </p:nvSpPr>
        <p:spPr>
          <a:xfrm>
            <a:off x="457200" y="2011681"/>
            <a:ext cx="11272838" cy="4174867"/>
          </a:xfrm>
          <a:prstGeom prst="rect">
            <a:avLst/>
          </a:prstGeom>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pPr lvl="0"/>
            <a:r>
              <a:rPr lang="en-US"/>
              <a:t>Body text</a:t>
            </a:r>
          </a:p>
        </p:txBody>
      </p:sp>
      <p:sp>
        <p:nvSpPr>
          <p:cNvPr id="24" name="Rectangle 23">
            <a:extLst>
              <a:ext uri="{FF2B5EF4-FFF2-40B4-BE49-F238E27FC236}">
                <a16:creationId xmlns:a16="http://schemas.microsoft.com/office/drawing/2014/main" id="{CB3CFD2F-BB84-4FC6-A96F-D3AFE10C766B}"/>
              </a:ext>
            </a:extLst>
          </p:cNvPr>
          <p:cNvSpPr/>
          <p:nvPr userDrawn="1"/>
        </p:nvSpPr>
        <p:spPr>
          <a:xfrm>
            <a:off x="8436524" y="6366253"/>
            <a:ext cx="1379480" cy="276999"/>
          </a:xfrm>
          <a:prstGeom prst="rect">
            <a:avLst/>
          </a:prstGeom>
        </p:spPr>
        <p:txBody>
          <a:bodyPr wrap="none">
            <a:spAutoFit/>
          </a:bodyPr>
          <a:lstStyle/>
          <a:p>
            <a:r>
              <a:rPr lang="en-US" sz="1200">
                <a:latin typeface="Arial" panose="020B0604020202020204" pitchFamily="34" charset="0"/>
                <a:cs typeface="Arial" panose="020B0604020202020204" pitchFamily="34" charset="0"/>
                <a:sym typeface="Arial" panose="020B0604020202020204" pitchFamily="34" charset="0"/>
                <a:hlinkClick r:id="rId5" action="ppaction://hlinksldjump"/>
              </a:rPr>
              <a:t>Table of Contents</a:t>
            </a:r>
            <a:endParaRPr lang="en-US" sz="1200"/>
          </a:p>
        </p:txBody>
      </p:sp>
      <p:pic>
        <p:nvPicPr>
          <p:cNvPr id="11" name="Picture 10" descr="Text&#10;&#10;Description automatically generated with low confidence">
            <a:extLst>
              <a:ext uri="{FF2B5EF4-FFF2-40B4-BE49-F238E27FC236}">
                <a16:creationId xmlns:a16="http://schemas.microsoft.com/office/drawing/2014/main" id="{F017662F-23AA-4890-85AE-FA5C0F4C3FE9}"/>
              </a:ext>
            </a:extLst>
          </p:cNvPr>
          <p:cNvPicPr>
            <a:picLocks noChangeAspect="1"/>
          </p:cNvPicPr>
          <p:nvPr userDrawn="1"/>
        </p:nvPicPr>
        <p:blipFill>
          <a:blip r:embed="rId6"/>
          <a:stretch>
            <a:fillRect/>
          </a:stretch>
        </p:blipFill>
        <p:spPr>
          <a:xfrm>
            <a:off x="10455677" y="484881"/>
            <a:ext cx="1426464" cy="71323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ternate Internal Sl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4987701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 name="Object 4"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1"/>
          <p:cNvSpPr/>
          <p:nvPr/>
        </p:nvSpPr>
        <p:spPr>
          <a:xfrm flipH="1">
            <a:off x="-4" y="1549668"/>
            <a:ext cx="4831647" cy="5308333"/>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b="1">
              <a:solidFill>
                <a:schemeClr val="bg2">
                  <a:lumMod val="20000"/>
                  <a:lumOff val="8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3" name="Rectangle 2"/>
          <p:cNvSpPr/>
          <p:nvPr/>
        </p:nvSpPr>
        <p:spPr>
          <a:xfrm>
            <a:off x="4" y="-52869"/>
            <a:ext cx="12191996" cy="1554480"/>
          </a:xfrm>
          <a:prstGeom prst="rect">
            <a:avLst/>
          </a:prstGeom>
          <a:solidFill>
            <a:srgbClr val="064E69"/>
          </a:solidFill>
        </p:spPr>
        <p:txBody>
          <a:bodyPr wrap="square" lIns="548640" tIns="0" rIns="91440" bIns="0" anchor="ctr">
            <a:noAutofit/>
          </a:bodyPr>
          <a:lstStyle/>
          <a:p>
            <a:endParaRPr lang="en-US" sz="4000" b="1">
              <a:solidFill>
                <a:schemeClr val="bg1"/>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4" name="Rectangle 3"/>
          <p:cNvSpPr/>
          <p:nvPr/>
        </p:nvSpPr>
        <p:spPr>
          <a:xfrm>
            <a:off x="-1" y="1448246"/>
            <a:ext cx="12192127" cy="10673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b="1">
              <a:latin typeface="Arial" panose="020B0604020202020204" pitchFamily="34" charset="0"/>
              <a:cs typeface="Arial" panose="020B0604020202020204" pitchFamily="34" charset="0"/>
              <a:sym typeface="Arial" panose="020B0604020202020204" pitchFamily="34" charset="0"/>
            </a:endParaRPr>
          </a:p>
        </p:txBody>
      </p:sp>
      <p:cxnSp>
        <p:nvCxnSpPr>
          <p:cNvPr id="7" name="Straight Connector 6"/>
          <p:cNvCxnSpPr/>
          <p:nvPr/>
        </p:nvCxnSpPr>
        <p:spPr>
          <a:xfrm>
            <a:off x="10529762" y="2912506"/>
            <a:ext cx="0" cy="1032988"/>
          </a:xfrm>
          <a:prstGeom prst="line">
            <a:avLst/>
          </a:prstGeom>
          <a:ln w="15875" cmpd="sng">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4" name="Content Placeholder 8"/>
          <p:cNvSpPr txBox="1">
            <a:spLocks/>
          </p:cNvSpPr>
          <p:nvPr/>
        </p:nvSpPr>
        <p:spPr>
          <a:xfrm>
            <a:off x="547922" y="6418626"/>
            <a:ext cx="2383745"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sz="800">
                <a:solidFill>
                  <a:schemeClr val="tx2">
                    <a:lumMod val="40000"/>
                    <a:lumOff val="60000"/>
                  </a:schemeClr>
                </a:solidFill>
                <a:latin typeface="Arial" panose="020B0604020202020204" pitchFamily="34" charset="0"/>
                <a:cs typeface="Arial" panose="020B0604020202020204" pitchFamily="34" charset="0"/>
                <a:sym typeface="Arial" panose="020B0604020202020204" pitchFamily="34" charset="0"/>
              </a:rPr>
              <a:t>©2018</a:t>
            </a:r>
          </a:p>
        </p:txBody>
      </p:sp>
      <p:sp>
        <p:nvSpPr>
          <p:cNvPr id="42" name="Title 1"/>
          <p:cNvSpPr>
            <a:spLocks noGrp="1"/>
          </p:cNvSpPr>
          <p:nvPr>
            <p:ph type="title" hasCustomPrompt="1"/>
          </p:nvPr>
        </p:nvSpPr>
        <p:spPr>
          <a:xfrm>
            <a:off x="457200" y="296379"/>
            <a:ext cx="9688623" cy="476805"/>
          </a:xfrm>
          <a:prstGeom prst="rect">
            <a:avLst/>
          </a:prstGeom>
        </p:spPr>
        <p:txBody>
          <a:bodyPr tIns="0" bIns="0" anchor="t" anchorCtr="0"/>
          <a:lstStyle>
            <a:lvl1pPr algn="l">
              <a:defRPr sz="3000" b="1">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Title</a:t>
            </a:r>
          </a:p>
        </p:txBody>
      </p:sp>
      <p:sp>
        <p:nvSpPr>
          <p:cNvPr id="43" name="Text Placeholder 9"/>
          <p:cNvSpPr>
            <a:spLocks noGrp="1"/>
          </p:cNvSpPr>
          <p:nvPr>
            <p:ph type="body" sz="quarter" idx="11" hasCustomPrompt="1"/>
          </p:nvPr>
        </p:nvSpPr>
        <p:spPr>
          <a:xfrm>
            <a:off x="457200" y="860151"/>
            <a:ext cx="9688622" cy="423094"/>
          </a:xfrm>
          <a:prstGeom prst="rect">
            <a:avLst/>
          </a:prstGeom>
        </p:spPr>
        <p:txBody>
          <a:bodyPr anchor="ctr"/>
          <a:lstStyle>
            <a:lvl1pPr algn="l">
              <a:lnSpc>
                <a:spcPct val="90000"/>
              </a:lnSpc>
              <a:spcBef>
                <a:spcPts val="0"/>
              </a:spcBef>
              <a:defRPr sz="2000">
                <a:solidFill>
                  <a:schemeClr val="bg1"/>
                </a:solidFill>
                <a:latin typeface="Arial" panose="020B0604020202020204" pitchFamily="34" charset="0"/>
                <a:cs typeface="Arial" panose="020B0604020202020204" pitchFamily="34" charset="0"/>
                <a:sym typeface="Arial" panose="020B0604020202020204" pitchFamily="34" charset="0"/>
              </a:defRPr>
            </a:lvl1pPr>
          </a:lstStyle>
          <a:p>
            <a:pPr lvl="0"/>
            <a:r>
              <a:rPr lang="en-US"/>
              <a:t>Subtitle</a:t>
            </a:r>
          </a:p>
        </p:txBody>
      </p:sp>
      <p:sp>
        <p:nvSpPr>
          <p:cNvPr id="41" name="Text Placeholder 4"/>
          <p:cNvSpPr>
            <a:spLocks noGrp="1"/>
          </p:cNvSpPr>
          <p:nvPr>
            <p:ph type="body" sz="quarter" idx="12" hasCustomPrompt="1"/>
          </p:nvPr>
        </p:nvSpPr>
        <p:spPr>
          <a:xfrm>
            <a:off x="4967111" y="1958307"/>
            <a:ext cx="6762926" cy="4227746"/>
          </a:xfrm>
          <a:prstGeom prst="rect">
            <a:avLst/>
          </a:prstGeom>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pPr lvl="0"/>
            <a:r>
              <a:rPr lang="en-US"/>
              <a:t>Body text</a:t>
            </a:r>
          </a:p>
        </p:txBody>
      </p:sp>
      <p:pic>
        <p:nvPicPr>
          <p:cNvPr id="44" name="Picture 43" descr="Text&#10;&#10;Description automatically generated with low confidence">
            <a:extLst>
              <a:ext uri="{FF2B5EF4-FFF2-40B4-BE49-F238E27FC236}">
                <a16:creationId xmlns:a16="http://schemas.microsoft.com/office/drawing/2014/main" id="{F017662F-23AA-4890-85AE-FA5C0F4C3FE9}"/>
              </a:ext>
            </a:extLst>
          </p:cNvPr>
          <p:cNvPicPr>
            <a:picLocks noChangeAspect="1"/>
          </p:cNvPicPr>
          <p:nvPr userDrawn="1"/>
        </p:nvPicPr>
        <p:blipFill>
          <a:blip r:embed="rId5"/>
          <a:stretch>
            <a:fillRect/>
          </a:stretch>
        </p:blipFill>
        <p:spPr>
          <a:xfrm>
            <a:off x="10424668" y="331684"/>
            <a:ext cx="1426464" cy="71323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lternate Internal Slide 2">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8936012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 name="Object 4"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4" name="Rectangle 23"/>
          <p:cNvSpPr/>
          <p:nvPr/>
        </p:nvSpPr>
        <p:spPr>
          <a:xfrm>
            <a:off x="0" y="1554481"/>
            <a:ext cx="2743915" cy="5319665"/>
          </a:xfrm>
          <a:prstGeom prst="rect">
            <a:avLst/>
          </a:prstGeom>
          <a:solidFill>
            <a:schemeClr val="bg2">
              <a:lumMod val="20000"/>
              <a:lumOff val="80000"/>
            </a:schemeClr>
          </a:solidFill>
          <a:ln>
            <a:noFill/>
          </a:ln>
        </p:spPr>
        <p:txBody>
          <a:bodyPr wrap="square" lIns="365760" tIns="91440" rIns="365760" bIns="182880" anchor="ctr">
            <a:noAutofit/>
          </a:bodyPr>
          <a:lstStyle/>
          <a:p>
            <a:endParaRPr lang="en-US" sz="70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3" name="Rectangle 2"/>
          <p:cNvSpPr/>
          <p:nvPr/>
        </p:nvSpPr>
        <p:spPr>
          <a:xfrm>
            <a:off x="-2" y="-53116"/>
            <a:ext cx="12191996" cy="1554480"/>
          </a:xfrm>
          <a:prstGeom prst="rect">
            <a:avLst/>
          </a:prstGeom>
          <a:solidFill>
            <a:srgbClr val="064E69"/>
          </a:solidFill>
        </p:spPr>
        <p:txBody>
          <a:bodyPr wrap="square" lIns="548640" tIns="0" rIns="91440" bIns="0" anchor="ctr">
            <a:noAutofit/>
          </a:bodyPr>
          <a:lstStyle/>
          <a:p>
            <a:endParaRPr lang="en-US" sz="4000" b="1">
              <a:solidFill>
                <a:schemeClr val="bg1"/>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4" name="Rectangle 3"/>
          <p:cNvSpPr/>
          <p:nvPr/>
        </p:nvSpPr>
        <p:spPr>
          <a:xfrm>
            <a:off x="-1" y="1448246"/>
            <a:ext cx="12192127" cy="10673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b="1">
              <a:latin typeface="Arial" panose="020B0604020202020204" pitchFamily="34" charset="0"/>
              <a:cs typeface="Arial" panose="020B0604020202020204" pitchFamily="34" charset="0"/>
              <a:sym typeface="Arial" panose="020B0604020202020204" pitchFamily="34" charset="0"/>
            </a:endParaRPr>
          </a:p>
        </p:txBody>
      </p:sp>
      <p:cxnSp>
        <p:nvCxnSpPr>
          <p:cNvPr id="7" name="Straight Connector 6"/>
          <p:cNvCxnSpPr/>
          <p:nvPr/>
        </p:nvCxnSpPr>
        <p:spPr>
          <a:xfrm>
            <a:off x="10790852" y="2011681"/>
            <a:ext cx="0" cy="1032988"/>
          </a:xfrm>
          <a:prstGeom prst="line">
            <a:avLst/>
          </a:prstGeom>
          <a:ln w="15875" cmpd="sng">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2" name="Title 1"/>
          <p:cNvSpPr>
            <a:spLocks noGrp="1"/>
          </p:cNvSpPr>
          <p:nvPr>
            <p:ph type="title" hasCustomPrompt="1"/>
          </p:nvPr>
        </p:nvSpPr>
        <p:spPr>
          <a:xfrm>
            <a:off x="457200" y="296379"/>
            <a:ext cx="9688623" cy="476805"/>
          </a:xfrm>
          <a:prstGeom prst="rect">
            <a:avLst/>
          </a:prstGeom>
        </p:spPr>
        <p:txBody>
          <a:bodyPr tIns="0" bIns="0" anchor="t" anchorCtr="0"/>
          <a:lstStyle>
            <a:lvl1pPr algn="l">
              <a:defRPr sz="3000" b="1">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Title</a:t>
            </a:r>
          </a:p>
        </p:txBody>
      </p:sp>
      <p:sp>
        <p:nvSpPr>
          <p:cNvPr id="43" name="Text Placeholder 9"/>
          <p:cNvSpPr>
            <a:spLocks noGrp="1"/>
          </p:cNvSpPr>
          <p:nvPr>
            <p:ph type="body" sz="quarter" idx="11" hasCustomPrompt="1"/>
          </p:nvPr>
        </p:nvSpPr>
        <p:spPr>
          <a:xfrm>
            <a:off x="457200" y="860151"/>
            <a:ext cx="9688622" cy="423094"/>
          </a:xfrm>
          <a:prstGeom prst="rect">
            <a:avLst/>
          </a:prstGeom>
        </p:spPr>
        <p:txBody>
          <a:bodyPr anchor="ctr"/>
          <a:lstStyle>
            <a:lvl1pPr algn="l">
              <a:lnSpc>
                <a:spcPct val="90000"/>
              </a:lnSpc>
              <a:spcBef>
                <a:spcPts val="0"/>
              </a:spcBef>
              <a:defRPr sz="2000">
                <a:solidFill>
                  <a:schemeClr val="bg1"/>
                </a:solidFill>
                <a:latin typeface="Arial" panose="020B0604020202020204" pitchFamily="34" charset="0"/>
                <a:cs typeface="Arial" panose="020B0604020202020204" pitchFamily="34" charset="0"/>
                <a:sym typeface="Arial" panose="020B0604020202020204" pitchFamily="34" charset="0"/>
              </a:defRPr>
            </a:lvl1pPr>
          </a:lstStyle>
          <a:p>
            <a:pPr lvl="0"/>
            <a:r>
              <a:rPr lang="en-US"/>
              <a:t>Subtitle</a:t>
            </a:r>
          </a:p>
        </p:txBody>
      </p:sp>
      <p:sp>
        <p:nvSpPr>
          <p:cNvPr id="41" name="Text Placeholder 4"/>
          <p:cNvSpPr>
            <a:spLocks noGrp="1"/>
          </p:cNvSpPr>
          <p:nvPr>
            <p:ph type="body" sz="quarter" idx="12" hasCustomPrompt="1"/>
          </p:nvPr>
        </p:nvSpPr>
        <p:spPr>
          <a:xfrm>
            <a:off x="3178629" y="2011681"/>
            <a:ext cx="8551409" cy="4174372"/>
          </a:xfrm>
          <a:prstGeom prst="rect">
            <a:avLst/>
          </a:prstGeom>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pPr lvl="0"/>
            <a:r>
              <a:rPr lang="en-US"/>
              <a:t>Body text</a:t>
            </a:r>
          </a:p>
        </p:txBody>
      </p:sp>
      <p:sp>
        <p:nvSpPr>
          <p:cNvPr id="44" name="Content Placeholder 8"/>
          <p:cNvSpPr txBox="1">
            <a:spLocks/>
          </p:cNvSpPr>
          <p:nvPr userDrawn="1"/>
        </p:nvSpPr>
        <p:spPr>
          <a:xfrm>
            <a:off x="547922" y="6418626"/>
            <a:ext cx="2383745"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sz="800">
                <a:solidFill>
                  <a:schemeClr val="tx2">
                    <a:lumMod val="40000"/>
                    <a:lumOff val="60000"/>
                  </a:schemeClr>
                </a:solidFill>
                <a:latin typeface="Arial" panose="020B0604020202020204" pitchFamily="34" charset="0"/>
                <a:cs typeface="Arial" panose="020B0604020202020204" pitchFamily="34" charset="0"/>
                <a:sym typeface="Arial" panose="020B0604020202020204" pitchFamily="34" charset="0"/>
              </a:rPr>
              <a:t>©2018</a:t>
            </a:r>
          </a:p>
        </p:txBody>
      </p:sp>
      <p:pic>
        <p:nvPicPr>
          <p:cNvPr id="45" name="Picture 44" descr="Text&#10;&#10;Description automatically generated with low confidence">
            <a:extLst>
              <a:ext uri="{FF2B5EF4-FFF2-40B4-BE49-F238E27FC236}">
                <a16:creationId xmlns:a16="http://schemas.microsoft.com/office/drawing/2014/main" id="{F017662F-23AA-4890-85AE-FA5C0F4C3FE9}"/>
              </a:ext>
            </a:extLst>
          </p:cNvPr>
          <p:cNvPicPr>
            <a:picLocks noChangeAspect="1"/>
          </p:cNvPicPr>
          <p:nvPr userDrawn="1"/>
        </p:nvPicPr>
        <p:blipFill>
          <a:blip r:embed="rId5"/>
          <a:stretch>
            <a:fillRect/>
          </a:stretch>
        </p:blipFill>
        <p:spPr>
          <a:xfrm>
            <a:off x="10424668" y="474771"/>
            <a:ext cx="1426464" cy="71323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ernal Slide - Photo Left">
    <p:spTree>
      <p:nvGrpSpPr>
        <p:cNvPr id="1" name=""/>
        <p:cNvGrpSpPr/>
        <p:nvPr/>
      </p:nvGrpSpPr>
      <p:grpSpPr>
        <a:xfrm>
          <a:off x="0" y="0"/>
          <a:ext cx="0" cy="0"/>
          <a:chOff x="0" y="0"/>
          <a:chExt cx="0" cy="0"/>
        </a:xfrm>
      </p:grpSpPr>
      <p:sp>
        <p:nvSpPr>
          <p:cNvPr id="55" name="Rectangle 54"/>
          <p:cNvSpPr/>
          <p:nvPr userDrawn="1"/>
        </p:nvSpPr>
        <p:spPr>
          <a:xfrm>
            <a:off x="-2" y="-38022"/>
            <a:ext cx="12191996" cy="1554480"/>
          </a:xfrm>
          <a:prstGeom prst="rect">
            <a:avLst/>
          </a:prstGeom>
          <a:solidFill>
            <a:srgbClr val="064E69"/>
          </a:solidFill>
        </p:spPr>
        <p:txBody>
          <a:bodyPr wrap="square" lIns="548640" tIns="0" rIns="91440" bIns="0" anchor="ctr">
            <a:noAutofit/>
          </a:bodyPr>
          <a:lstStyle/>
          <a:p>
            <a:endParaRPr lang="en-US" sz="4000" b="1">
              <a:solidFill>
                <a:schemeClr val="bg1"/>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9273614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6" name="Rectangle 55"/>
          <p:cNvSpPr/>
          <p:nvPr/>
        </p:nvSpPr>
        <p:spPr>
          <a:xfrm>
            <a:off x="-1" y="1448246"/>
            <a:ext cx="12192127" cy="10673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b="1">
              <a:latin typeface="Arial" panose="020B0604020202020204" pitchFamily="34" charset="0"/>
              <a:cs typeface="Arial" panose="020B0604020202020204" pitchFamily="34" charset="0"/>
              <a:sym typeface="Arial" panose="020B0604020202020204" pitchFamily="34" charset="0"/>
            </a:endParaRPr>
          </a:p>
        </p:txBody>
      </p:sp>
      <p:sp>
        <p:nvSpPr>
          <p:cNvPr id="57" name="Title 1"/>
          <p:cNvSpPr>
            <a:spLocks noGrp="1"/>
          </p:cNvSpPr>
          <p:nvPr>
            <p:ph type="title" hasCustomPrompt="1"/>
          </p:nvPr>
        </p:nvSpPr>
        <p:spPr>
          <a:xfrm>
            <a:off x="457200" y="296379"/>
            <a:ext cx="9688623" cy="476805"/>
          </a:xfrm>
          <a:prstGeom prst="rect">
            <a:avLst/>
          </a:prstGeom>
        </p:spPr>
        <p:txBody>
          <a:bodyPr tIns="0" bIns="0" anchor="t" anchorCtr="0"/>
          <a:lstStyle>
            <a:lvl1pPr algn="l">
              <a:defRPr sz="3000" b="1">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Title</a:t>
            </a:r>
          </a:p>
        </p:txBody>
      </p:sp>
      <p:sp>
        <p:nvSpPr>
          <p:cNvPr id="58" name="Text Placeholder 9"/>
          <p:cNvSpPr>
            <a:spLocks noGrp="1"/>
          </p:cNvSpPr>
          <p:nvPr>
            <p:ph type="body" sz="quarter" idx="11" hasCustomPrompt="1"/>
          </p:nvPr>
        </p:nvSpPr>
        <p:spPr>
          <a:xfrm>
            <a:off x="457200" y="860151"/>
            <a:ext cx="9688622" cy="423094"/>
          </a:xfrm>
          <a:prstGeom prst="rect">
            <a:avLst/>
          </a:prstGeom>
        </p:spPr>
        <p:txBody>
          <a:bodyPr anchor="ctr"/>
          <a:lstStyle>
            <a:lvl1pPr algn="l">
              <a:lnSpc>
                <a:spcPct val="90000"/>
              </a:lnSpc>
              <a:spcBef>
                <a:spcPts val="0"/>
              </a:spcBef>
              <a:defRPr sz="2000">
                <a:solidFill>
                  <a:schemeClr val="bg1"/>
                </a:solidFill>
                <a:latin typeface="Arial" panose="020B0604020202020204" pitchFamily="34" charset="0"/>
                <a:cs typeface="Arial" panose="020B0604020202020204" pitchFamily="34" charset="0"/>
                <a:sym typeface="Arial" panose="020B0604020202020204" pitchFamily="34" charset="0"/>
              </a:defRPr>
            </a:lvl1pPr>
          </a:lstStyle>
          <a:p>
            <a:pPr lvl="0"/>
            <a:r>
              <a:rPr lang="en-US"/>
              <a:t>Subtitle</a:t>
            </a:r>
          </a:p>
        </p:txBody>
      </p:sp>
      <p:cxnSp>
        <p:nvCxnSpPr>
          <p:cNvPr id="59" name="Straight Connector 58"/>
          <p:cNvCxnSpPr/>
          <p:nvPr/>
        </p:nvCxnSpPr>
        <p:spPr>
          <a:xfrm>
            <a:off x="10363874" y="222724"/>
            <a:ext cx="0" cy="1032988"/>
          </a:xfrm>
          <a:prstGeom prst="line">
            <a:avLst/>
          </a:prstGeom>
          <a:ln w="15875" cmpd="sng">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3" name="Rectangle 22"/>
          <p:cNvSpPr/>
          <p:nvPr userDrawn="1"/>
        </p:nvSpPr>
        <p:spPr>
          <a:xfrm>
            <a:off x="6607256" y="1554232"/>
            <a:ext cx="132081" cy="5303519"/>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b="1">
              <a:latin typeface="Arial" panose="020B0604020202020204" pitchFamily="34" charset="0"/>
              <a:cs typeface="Arial" panose="020B0604020202020204" pitchFamily="34" charset="0"/>
              <a:sym typeface="Arial" panose="020B0604020202020204" pitchFamily="34" charset="0"/>
            </a:endParaRPr>
          </a:p>
        </p:txBody>
      </p:sp>
      <p:sp>
        <p:nvSpPr>
          <p:cNvPr id="24" name="Text Placeholder 4"/>
          <p:cNvSpPr>
            <a:spLocks noGrp="1"/>
          </p:cNvSpPr>
          <p:nvPr>
            <p:ph type="body" sz="quarter" idx="12" hasCustomPrompt="1"/>
          </p:nvPr>
        </p:nvSpPr>
        <p:spPr>
          <a:xfrm>
            <a:off x="6739467" y="2011681"/>
            <a:ext cx="4990570" cy="4174372"/>
          </a:xfrm>
          <a:prstGeom prst="rect">
            <a:avLst/>
          </a:prstGeom>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pPr lvl="0"/>
            <a:r>
              <a:rPr lang="en-US"/>
              <a:t>Body text</a:t>
            </a:r>
          </a:p>
        </p:txBody>
      </p:sp>
      <p:sp>
        <p:nvSpPr>
          <p:cNvPr id="4" name="Rectangle 3">
            <a:extLst>
              <a:ext uri="{FF2B5EF4-FFF2-40B4-BE49-F238E27FC236}">
                <a16:creationId xmlns:a16="http://schemas.microsoft.com/office/drawing/2014/main" id="{09F8267B-BCA1-4EC9-8422-EA06D2ACBC22}"/>
              </a:ext>
            </a:extLst>
          </p:cNvPr>
          <p:cNvSpPr/>
          <p:nvPr userDrawn="1"/>
        </p:nvSpPr>
        <p:spPr>
          <a:xfrm>
            <a:off x="0" y="1554232"/>
            <a:ext cx="6607126" cy="53035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cs typeface="Open Sans Bold"/>
            </a:endParaRPr>
          </a:p>
        </p:txBody>
      </p:sp>
      <p:sp>
        <p:nvSpPr>
          <p:cNvPr id="5" name="Rectangle 4">
            <a:extLst>
              <a:ext uri="{FF2B5EF4-FFF2-40B4-BE49-F238E27FC236}">
                <a16:creationId xmlns:a16="http://schemas.microsoft.com/office/drawing/2014/main" id="{C5361930-E6E6-4102-9673-70C276D6FEDA}"/>
              </a:ext>
            </a:extLst>
          </p:cNvPr>
          <p:cNvSpPr/>
          <p:nvPr userDrawn="1"/>
        </p:nvSpPr>
        <p:spPr>
          <a:xfrm>
            <a:off x="0" y="1554232"/>
            <a:ext cx="6607126" cy="5303519"/>
          </a:xfrm>
          <a:prstGeom prst="rect">
            <a:avLst/>
          </a:prstGeom>
          <a:solidFill>
            <a:schemeClr val="bg2">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cs typeface="Open Sans Bold"/>
            </a:endParaRPr>
          </a:p>
        </p:txBody>
      </p:sp>
      <p:sp>
        <p:nvSpPr>
          <p:cNvPr id="6" name="Rectangle 5">
            <a:extLst>
              <a:ext uri="{FF2B5EF4-FFF2-40B4-BE49-F238E27FC236}">
                <a16:creationId xmlns:a16="http://schemas.microsoft.com/office/drawing/2014/main" id="{F8A08758-8980-4D71-BC19-AE5BFF2EEC8C}"/>
              </a:ext>
            </a:extLst>
          </p:cNvPr>
          <p:cNvSpPr/>
          <p:nvPr userDrawn="1"/>
        </p:nvSpPr>
        <p:spPr>
          <a:xfrm>
            <a:off x="8545012" y="6352726"/>
            <a:ext cx="1379480" cy="276999"/>
          </a:xfrm>
          <a:prstGeom prst="rect">
            <a:avLst/>
          </a:prstGeom>
        </p:spPr>
        <p:txBody>
          <a:bodyPr wrap="none">
            <a:spAutoFit/>
          </a:bodyPr>
          <a:lstStyle/>
          <a:p>
            <a:r>
              <a:rPr lang="en-US" sz="1200">
                <a:latin typeface="Arial" panose="020B0604020202020204" pitchFamily="34" charset="0"/>
                <a:cs typeface="Arial" panose="020B0604020202020204" pitchFamily="34" charset="0"/>
                <a:sym typeface="Arial" panose="020B0604020202020204" pitchFamily="34" charset="0"/>
                <a:hlinkClick r:id="rId5" action="ppaction://hlinksldjump"/>
              </a:rPr>
              <a:t>Table of Contents</a:t>
            </a:r>
            <a:endParaRPr lang="en-US" sz="1200"/>
          </a:p>
        </p:txBody>
      </p:sp>
      <p:pic>
        <p:nvPicPr>
          <p:cNvPr id="14" name="Picture 13" descr="Text&#10;&#10;Description automatically generated with low confidence">
            <a:extLst>
              <a:ext uri="{FF2B5EF4-FFF2-40B4-BE49-F238E27FC236}">
                <a16:creationId xmlns:a16="http://schemas.microsoft.com/office/drawing/2014/main" id="{F017662F-23AA-4890-85AE-FA5C0F4C3FE9}"/>
              </a:ext>
            </a:extLst>
          </p:cNvPr>
          <p:cNvPicPr>
            <a:picLocks noChangeAspect="1"/>
          </p:cNvPicPr>
          <p:nvPr userDrawn="1"/>
        </p:nvPicPr>
        <p:blipFill>
          <a:blip r:embed="rId6"/>
          <a:stretch>
            <a:fillRect/>
          </a:stretch>
        </p:blipFill>
        <p:spPr>
          <a:xfrm>
            <a:off x="10332143" y="411360"/>
            <a:ext cx="1426464" cy="71323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ternal Slide - Photo Left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8725909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2" name="Picture Placeholder 5"/>
          <p:cNvSpPr>
            <a:spLocks noGrp="1"/>
          </p:cNvSpPr>
          <p:nvPr>
            <p:ph type="pic" sz="quarter" idx="13" hasCustomPrompt="1"/>
          </p:nvPr>
        </p:nvSpPr>
        <p:spPr>
          <a:xfrm>
            <a:off x="-2" y="1554481"/>
            <a:ext cx="4893848" cy="5303519"/>
          </a:xfrm>
          <a:prstGeom prst="rect">
            <a:avLst/>
          </a:prstGeom>
          <a:solidFill>
            <a:schemeClr val="bg2"/>
          </a:solidFill>
        </p:spPr>
        <p:txBody>
          <a:bodyPr anchor="ctr"/>
          <a:lstStyle>
            <a:lvl1pPr algn="ctr">
              <a:defRPr sz="320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IMAGE</a:t>
            </a:r>
          </a:p>
        </p:txBody>
      </p:sp>
      <p:sp>
        <p:nvSpPr>
          <p:cNvPr id="55" name="Rectangle 54"/>
          <p:cNvSpPr/>
          <p:nvPr/>
        </p:nvSpPr>
        <p:spPr>
          <a:xfrm>
            <a:off x="-2" y="-85422"/>
            <a:ext cx="12191996" cy="1554480"/>
          </a:xfrm>
          <a:prstGeom prst="rect">
            <a:avLst/>
          </a:prstGeom>
          <a:solidFill>
            <a:srgbClr val="064E69"/>
          </a:solidFill>
        </p:spPr>
        <p:txBody>
          <a:bodyPr wrap="square" lIns="548640" tIns="0" rIns="91440" bIns="0" anchor="ctr">
            <a:noAutofit/>
          </a:bodyPr>
          <a:lstStyle/>
          <a:p>
            <a:endParaRPr lang="en-US" sz="4000" b="1">
              <a:solidFill>
                <a:schemeClr val="bg1"/>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56" name="Rectangle 55"/>
          <p:cNvSpPr/>
          <p:nvPr/>
        </p:nvSpPr>
        <p:spPr>
          <a:xfrm>
            <a:off x="-1" y="1448246"/>
            <a:ext cx="12192127" cy="10673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b="1">
              <a:latin typeface="Arial" panose="020B0604020202020204" pitchFamily="34" charset="0"/>
              <a:cs typeface="Arial" panose="020B0604020202020204" pitchFamily="34" charset="0"/>
              <a:sym typeface="Arial" panose="020B0604020202020204" pitchFamily="34" charset="0"/>
            </a:endParaRPr>
          </a:p>
        </p:txBody>
      </p:sp>
      <p:sp>
        <p:nvSpPr>
          <p:cNvPr id="57" name="Title 1"/>
          <p:cNvSpPr>
            <a:spLocks noGrp="1"/>
          </p:cNvSpPr>
          <p:nvPr>
            <p:ph type="title" hasCustomPrompt="1"/>
          </p:nvPr>
        </p:nvSpPr>
        <p:spPr>
          <a:xfrm>
            <a:off x="457200" y="296379"/>
            <a:ext cx="9688623" cy="476805"/>
          </a:xfrm>
          <a:prstGeom prst="rect">
            <a:avLst/>
          </a:prstGeom>
        </p:spPr>
        <p:txBody>
          <a:bodyPr tIns="0" bIns="0" anchor="t" anchorCtr="0"/>
          <a:lstStyle>
            <a:lvl1pPr algn="l">
              <a:defRPr sz="3000" b="1">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Title</a:t>
            </a:r>
          </a:p>
        </p:txBody>
      </p:sp>
      <p:sp>
        <p:nvSpPr>
          <p:cNvPr id="58" name="Text Placeholder 9"/>
          <p:cNvSpPr>
            <a:spLocks noGrp="1"/>
          </p:cNvSpPr>
          <p:nvPr>
            <p:ph type="body" sz="quarter" idx="11" hasCustomPrompt="1"/>
          </p:nvPr>
        </p:nvSpPr>
        <p:spPr>
          <a:xfrm>
            <a:off x="457200" y="860151"/>
            <a:ext cx="9688622" cy="423094"/>
          </a:xfrm>
          <a:prstGeom prst="rect">
            <a:avLst/>
          </a:prstGeom>
        </p:spPr>
        <p:txBody>
          <a:bodyPr anchor="ctr"/>
          <a:lstStyle>
            <a:lvl1pPr algn="l">
              <a:lnSpc>
                <a:spcPct val="90000"/>
              </a:lnSpc>
              <a:spcBef>
                <a:spcPts val="0"/>
              </a:spcBef>
              <a:defRPr sz="2000">
                <a:solidFill>
                  <a:schemeClr val="bg1"/>
                </a:solidFill>
                <a:latin typeface="Arial" panose="020B0604020202020204" pitchFamily="34" charset="0"/>
                <a:cs typeface="Arial" panose="020B0604020202020204" pitchFamily="34" charset="0"/>
                <a:sym typeface="Arial" panose="020B0604020202020204" pitchFamily="34" charset="0"/>
              </a:defRPr>
            </a:lvl1pPr>
          </a:lstStyle>
          <a:p>
            <a:pPr lvl="0"/>
            <a:r>
              <a:rPr lang="en-US"/>
              <a:t>Subtitle</a:t>
            </a:r>
          </a:p>
        </p:txBody>
      </p:sp>
      <p:cxnSp>
        <p:nvCxnSpPr>
          <p:cNvPr id="59" name="Straight Connector 58"/>
          <p:cNvCxnSpPr/>
          <p:nvPr/>
        </p:nvCxnSpPr>
        <p:spPr>
          <a:xfrm>
            <a:off x="10363874" y="222724"/>
            <a:ext cx="0" cy="1032988"/>
          </a:xfrm>
          <a:prstGeom prst="line">
            <a:avLst/>
          </a:prstGeom>
          <a:ln w="15875" cmpd="sng">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3" name="TextBox 62"/>
          <p:cNvSpPr txBox="1">
            <a:spLocks/>
          </p:cNvSpPr>
          <p:nvPr/>
        </p:nvSpPr>
        <p:spPr>
          <a:xfrm>
            <a:off x="11008872" y="633221"/>
            <a:ext cx="224212" cy="176024"/>
          </a:xfrm>
          <a:custGeom>
            <a:avLst/>
            <a:gdLst/>
            <a:ahLst/>
            <a:cxnLst/>
            <a:rect l="l" t="t" r="r" b="b"/>
            <a:pathLst>
              <a:path w="486642" h="382152">
                <a:moveTo>
                  <a:pt x="150943" y="0"/>
                </a:moveTo>
                <a:cubicBezTo>
                  <a:pt x="191582" y="0"/>
                  <a:pt x="224490" y="12368"/>
                  <a:pt x="232082" y="39810"/>
                </a:cubicBezTo>
                <a:lnTo>
                  <a:pt x="232262" y="41192"/>
                </a:lnTo>
                <a:lnTo>
                  <a:pt x="244394" y="27828"/>
                </a:lnTo>
                <a:cubicBezTo>
                  <a:pt x="265912" y="9086"/>
                  <a:pt x="296328" y="0"/>
                  <a:pt x="331918" y="0"/>
                </a:cubicBezTo>
                <a:cubicBezTo>
                  <a:pt x="355140" y="0"/>
                  <a:pt x="375838" y="4038"/>
                  <a:pt x="390730" y="12620"/>
                </a:cubicBezTo>
                <a:lnTo>
                  <a:pt x="399550" y="19037"/>
                </a:lnTo>
                <a:lnTo>
                  <a:pt x="415123" y="9213"/>
                </a:lnTo>
                <a:cubicBezTo>
                  <a:pt x="421204" y="6846"/>
                  <a:pt x="427956" y="5553"/>
                  <a:pt x="435150" y="5553"/>
                </a:cubicBezTo>
                <a:cubicBezTo>
                  <a:pt x="464430" y="5553"/>
                  <a:pt x="486642" y="26250"/>
                  <a:pt x="486642" y="53511"/>
                </a:cubicBezTo>
                <a:cubicBezTo>
                  <a:pt x="486642" y="80772"/>
                  <a:pt x="464430" y="101974"/>
                  <a:pt x="435150" y="101974"/>
                </a:cubicBezTo>
                <a:cubicBezTo>
                  <a:pt x="420763" y="101974"/>
                  <a:pt x="408142" y="96674"/>
                  <a:pt x="399118" y="87965"/>
                </a:cubicBezTo>
                <a:lnTo>
                  <a:pt x="397141" y="85099"/>
                </a:lnTo>
                <a:lnTo>
                  <a:pt x="387023" y="90979"/>
                </a:lnTo>
                <a:cubicBezTo>
                  <a:pt x="381675" y="92887"/>
                  <a:pt x="375838" y="93897"/>
                  <a:pt x="369780" y="93897"/>
                </a:cubicBezTo>
                <a:cubicBezTo>
                  <a:pt x="355140" y="93897"/>
                  <a:pt x="342015" y="89354"/>
                  <a:pt x="335452" y="81781"/>
                </a:cubicBezTo>
                <a:cubicBezTo>
                  <a:pt x="350092" y="78247"/>
                  <a:pt x="359179" y="66132"/>
                  <a:pt x="359179" y="42910"/>
                </a:cubicBezTo>
                <a:cubicBezTo>
                  <a:pt x="359179" y="22717"/>
                  <a:pt x="350597" y="8077"/>
                  <a:pt x="331918" y="8077"/>
                </a:cubicBezTo>
                <a:cubicBezTo>
                  <a:pt x="308696" y="8077"/>
                  <a:pt x="300619" y="29784"/>
                  <a:pt x="300619" y="58054"/>
                </a:cubicBezTo>
                <a:lnTo>
                  <a:pt x="300619" y="132264"/>
                </a:lnTo>
                <a:lnTo>
                  <a:pt x="363217" y="132264"/>
                </a:lnTo>
                <a:lnTo>
                  <a:pt x="360693" y="144884"/>
                </a:lnTo>
                <a:lnTo>
                  <a:pt x="300619" y="144884"/>
                </a:lnTo>
                <a:lnTo>
                  <a:pt x="300619" y="327126"/>
                </a:lnTo>
                <a:cubicBezTo>
                  <a:pt x="300619" y="360445"/>
                  <a:pt x="312230" y="369027"/>
                  <a:pt x="339490" y="381142"/>
                </a:cubicBezTo>
                <a:lnTo>
                  <a:pt x="339490" y="382152"/>
                </a:lnTo>
                <a:lnTo>
                  <a:pt x="186529" y="382152"/>
                </a:lnTo>
                <a:lnTo>
                  <a:pt x="186529" y="381142"/>
                </a:lnTo>
                <a:cubicBezTo>
                  <a:pt x="208741" y="367007"/>
                  <a:pt x="210255" y="360445"/>
                  <a:pt x="210255" y="327126"/>
                </a:cubicBezTo>
                <a:lnTo>
                  <a:pt x="210255" y="144884"/>
                </a:lnTo>
                <a:lnTo>
                  <a:pt x="180976" y="144884"/>
                </a:lnTo>
                <a:lnTo>
                  <a:pt x="180976" y="139331"/>
                </a:lnTo>
                <a:lnTo>
                  <a:pt x="210255" y="128225"/>
                </a:lnTo>
                <a:lnTo>
                  <a:pt x="210255" y="113585"/>
                </a:lnTo>
                <a:lnTo>
                  <a:pt x="212504" y="87227"/>
                </a:lnTo>
                <a:lnTo>
                  <a:pt x="206048" y="90979"/>
                </a:lnTo>
                <a:cubicBezTo>
                  <a:pt x="200700" y="92887"/>
                  <a:pt x="194863" y="93897"/>
                  <a:pt x="188805" y="93897"/>
                </a:cubicBezTo>
                <a:cubicBezTo>
                  <a:pt x="174165" y="93897"/>
                  <a:pt x="161040" y="89354"/>
                  <a:pt x="154477" y="81781"/>
                </a:cubicBezTo>
                <a:cubicBezTo>
                  <a:pt x="169117" y="78247"/>
                  <a:pt x="178204" y="66132"/>
                  <a:pt x="178204" y="42910"/>
                </a:cubicBezTo>
                <a:cubicBezTo>
                  <a:pt x="178204" y="22717"/>
                  <a:pt x="169622" y="8077"/>
                  <a:pt x="150943" y="8077"/>
                </a:cubicBezTo>
                <a:cubicBezTo>
                  <a:pt x="127721" y="8077"/>
                  <a:pt x="119644" y="29784"/>
                  <a:pt x="119644" y="58054"/>
                </a:cubicBezTo>
                <a:lnTo>
                  <a:pt x="119644" y="132264"/>
                </a:lnTo>
                <a:lnTo>
                  <a:pt x="182242" y="132264"/>
                </a:lnTo>
                <a:lnTo>
                  <a:pt x="179718" y="144884"/>
                </a:lnTo>
                <a:lnTo>
                  <a:pt x="119644" y="144884"/>
                </a:lnTo>
                <a:lnTo>
                  <a:pt x="119644" y="327126"/>
                </a:lnTo>
                <a:cubicBezTo>
                  <a:pt x="119644" y="360445"/>
                  <a:pt x="131255" y="369027"/>
                  <a:pt x="158516" y="381142"/>
                </a:cubicBezTo>
                <a:lnTo>
                  <a:pt x="158516" y="382152"/>
                </a:lnTo>
                <a:lnTo>
                  <a:pt x="5554" y="382152"/>
                </a:lnTo>
                <a:lnTo>
                  <a:pt x="5554" y="381142"/>
                </a:lnTo>
                <a:cubicBezTo>
                  <a:pt x="27766" y="367007"/>
                  <a:pt x="29280" y="360445"/>
                  <a:pt x="29280" y="327126"/>
                </a:cubicBezTo>
                <a:lnTo>
                  <a:pt x="29280" y="144884"/>
                </a:lnTo>
                <a:lnTo>
                  <a:pt x="0" y="144884"/>
                </a:lnTo>
                <a:lnTo>
                  <a:pt x="0" y="139331"/>
                </a:lnTo>
                <a:lnTo>
                  <a:pt x="29280" y="128225"/>
                </a:lnTo>
                <a:lnTo>
                  <a:pt x="29280" y="113585"/>
                </a:lnTo>
                <a:cubicBezTo>
                  <a:pt x="29280" y="36347"/>
                  <a:pt x="79763" y="0"/>
                  <a:pt x="150943"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4" name="TextBox 63"/>
          <p:cNvSpPr txBox="1">
            <a:spLocks/>
          </p:cNvSpPr>
          <p:nvPr/>
        </p:nvSpPr>
        <p:spPr>
          <a:xfrm>
            <a:off x="10828278" y="644150"/>
            <a:ext cx="167232" cy="167421"/>
          </a:xfrm>
          <a:custGeom>
            <a:avLst/>
            <a:gdLst/>
            <a:ahLst/>
            <a:cxnLst/>
            <a:rect l="l" t="t" r="r" b="b"/>
            <a:pathLst>
              <a:path w="362969" h="363474">
                <a:moveTo>
                  <a:pt x="181737" y="0"/>
                </a:moveTo>
                <a:cubicBezTo>
                  <a:pt x="285731" y="0"/>
                  <a:pt x="362969" y="75724"/>
                  <a:pt x="362969" y="181737"/>
                </a:cubicBezTo>
                <a:cubicBezTo>
                  <a:pt x="362969" y="287751"/>
                  <a:pt x="285731" y="363474"/>
                  <a:pt x="181737" y="363474"/>
                </a:cubicBezTo>
                <a:cubicBezTo>
                  <a:pt x="77238" y="363474"/>
                  <a:pt x="0" y="287751"/>
                  <a:pt x="0" y="181737"/>
                </a:cubicBezTo>
                <a:cubicBezTo>
                  <a:pt x="0" y="75724"/>
                  <a:pt x="77238" y="0"/>
                  <a:pt x="181737" y="0"/>
                </a:cubicBezTo>
                <a:close/>
                <a:moveTo>
                  <a:pt x="181737" y="10097"/>
                </a:moveTo>
                <a:cubicBezTo>
                  <a:pt x="123682" y="10097"/>
                  <a:pt x="103994" y="70676"/>
                  <a:pt x="103994" y="181737"/>
                </a:cubicBezTo>
                <a:cubicBezTo>
                  <a:pt x="103994" y="292799"/>
                  <a:pt x="123682" y="353378"/>
                  <a:pt x="181737" y="353378"/>
                </a:cubicBezTo>
                <a:cubicBezTo>
                  <a:pt x="239287" y="353378"/>
                  <a:pt x="258975" y="292799"/>
                  <a:pt x="258975" y="181737"/>
                </a:cubicBezTo>
                <a:cubicBezTo>
                  <a:pt x="258975" y="70676"/>
                  <a:pt x="239287" y="10097"/>
                  <a:pt x="181737" y="10097"/>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5" name="TextBox 64"/>
          <p:cNvSpPr txBox="1">
            <a:spLocks/>
          </p:cNvSpPr>
          <p:nvPr/>
        </p:nvSpPr>
        <p:spPr>
          <a:xfrm>
            <a:off x="11252333" y="691818"/>
            <a:ext cx="113038" cy="119752"/>
          </a:xfrm>
          <a:custGeom>
            <a:avLst/>
            <a:gdLst/>
            <a:ahLst/>
            <a:cxnLst/>
            <a:rect l="l" t="t" r="r" b="b"/>
            <a:pathLst>
              <a:path w="245345" h="259984">
                <a:moveTo>
                  <a:pt x="144885" y="0"/>
                </a:moveTo>
                <a:cubicBezTo>
                  <a:pt x="199406" y="0"/>
                  <a:pt x="240297" y="23726"/>
                  <a:pt x="240297" y="65122"/>
                </a:cubicBezTo>
                <a:cubicBezTo>
                  <a:pt x="240297" y="95411"/>
                  <a:pt x="217075" y="111061"/>
                  <a:pt x="192843" y="111061"/>
                </a:cubicBezTo>
                <a:cubicBezTo>
                  <a:pt x="166087" y="111061"/>
                  <a:pt x="150438" y="96421"/>
                  <a:pt x="148923" y="81781"/>
                </a:cubicBezTo>
                <a:cubicBezTo>
                  <a:pt x="151952" y="82791"/>
                  <a:pt x="155486" y="83296"/>
                  <a:pt x="158010" y="83296"/>
                </a:cubicBezTo>
                <a:cubicBezTo>
                  <a:pt x="176689" y="83296"/>
                  <a:pt x="184261" y="67646"/>
                  <a:pt x="184261" y="48463"/>
                </a:cubicBezTo>
                <a:cubicBezTo>
                  <a:pt x="184261" y="24231"/>
                  <a:pt x="171136" y="8582"/>
                  <a:pt x="145894" y="8582"/>
                </a:cubicBezTo>
                <a:cubicBezTo>
                  <a:pt x="110557" y="8582"/>
                  <a:pt x="93897" y="54016"/>
                  <a:pt x="93897" y="112575"/>
                </a:cubicBezTo>
                <a:cubicBezTo>
                  <a:pt x="93897" y="181737"/>
                  <a:pt x="124692" y="218589"/>
                  <a:pt x="171640" y="218589"/>
                </a:cubicBezTo>
                <a:cubicBezTo>
                  <a:pt x="200415" y="218589"/>
                  <a:pt x="226666" y="204958"/>
                  <a:pt x="242316" y="173659"/>
                </a:cubicBezTo>
                <a:lnTo>
                  <a:pt x="245345" y="175174"/>
                </a:lnTo>
                <a:cubicBezTo>
                  <a:pt x="231210" y="229190"/>
                  <a:pt x="185775" y="259984"/>
                  <a:pt x="129740" y="259984"/>
                </a:cubicBezTo>
                <a:cubicBezTo>
                  <a:pt x="60074" y="259984"/>
                  <a:pt x="0" y="213036"/>
                  <a:pt x="0" y="134788"/>
                </a:cubicBezTo>
                <a:cubicBezTo>
                  <a:pt x="0" y="49977"/>
                  <a:pt x="63608" y="0"/>
                  <a:pt x="144885"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6" name="TextBox 65"/>
          <p:cNvSpPr txBox="1">
            <a:spLocks/>
          </p:cNvSpPr>
          <p:nvPr/>
        </p:nvSpPr>
        <p:spPr>
          <a:xfrm>
            <a:off x="11375209" y="691818"/>
            <a:ext cx="116062" cy="119752"/>
          </a:xfrm>
          <a:custGeom>
            <a:avLst/>
            <a:gdLst/>
            <a:ahLst/>
            <a:cxnLst/>
            <a:rect l="l" t="t" r="r" b="b"/>
            <a:pathLst>
              <a:path w="251908" h="259984">
                <a:moveTo>
                  <a:pt x="132264" y="0"/>
                </a:moveTo>
                <a:cubicBezTo>
                  <a:pt x="213541" y="0"/>
                  <a:pt x="251908" y="51996"/>
                  <a:pt x="251908" y="118633"/>
                </a:cubicBezTo>
                <a:lnTo>
                  <a:pt x="91373" y="118633"/>
                </a:lnTo>
                <a:cubicBezTo>
                  <a:pt x="91373" y="181232"/>
                  <a:pt x="124187" y="218589"/>
                  <a:pt x="172650" y="218589"/>
                </a:cubicBezTo>
                <a:cubicBezTo>
                  <a:pt x="203444" y="218589"/>
                  <a:pt x="230200" y="204958"/>
                  <a:pt x="245850" y="173659"/>
                </a:cubicBezTo>
                <a:lnTo>
                  <a:pt x="249383" y="175174"/>
                </a:lnTo>
                <a:cubicBezTo>
                  <a:pt x="234744" y="229190"/>
                  <a:pt x="189309" y="259984"/>
                  <a:pt x="131759" y="259984"/>
                </a:cubicBezTo>
                <a:cubicBezTo>
                  <a:pt x="59569" y="259984"/>
                  <a:pt x="0" y="212531"/>
                  <a:pt x="0" y="130244"/>
                </a:cubicBezTo>
                <a:cubicBezTo>
                  <a:pt x="0" y="50987"/>
                  <a:pt x="60074" y="0"/>
                  <a:pt x="132264" y="0"/>
                </a:cubicBezTo>
                <a:close/>
                <a:moveTo>
                  <a:pt x="132264" y="8582"/>
                </a:moveTo>
                <a:cubicBezTo>
                  <a:pt x="106013" y="8582"/>
                  <a:pt x="92888" y="48463"/>
                  <a:pt x="91878" y="108032"/>
                </a:cubicBezTo>
                <a:lnTo>
                  <a:pt x="165078" y="108032"/>
                </a:lnTo>
                <a:cubicBezTo>
                  <a:pt x="165078" y="51492"/>
                  <a:pt x="161039" y="8582"/>
                  <a:pt x="132264" y="8582"/>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7" name="TextBox 66"/>
          <p:cNvSpPr txBox="1">
            <a:spLocks/>
          </p:cNvSpPr>
          <p:nvPr/>
        </p:nvSpPr>
        <p:spPr>
          <a:xfrm>
            <a:off x="11176798" y="694143"/>
            <a:ext cx="64892" cy="115102"/>
          </a:xfrm>
          <a:custGeom>
            <a:avLst/>
            <a:gdLst/>
            <a:ahLst/>
            <a:cxnLst/>
            <a:rect l="l" t="t" r="r" b="b"/>
            <a:pathLst>
              <a:path w="140846" h="249888">
                <a:moveTo>
                  <a:pt x="0" y="0"/>
                </a:moveTo>
                <a:lnTo>
                  <a:pt x="117119" y="0"/>
                </a:lnTo>
                <a:lnTo>
                  <a:pt x="117119" y="194862"/>
                </a:lnTo>
                <a:cubicBezTo>
                  <a:pt x="117119" y="228181"/>
                  <a:pt x="118633" y="234743"/>
                  <a:pt x="140846" y="248878"/>
                </a:cubicBezTo>
                <a:lnTo>
                  <a:pt x="140846" y="249888"/>
                </a:lnTo>
                <a:lnTo>
                  <a:pt x="3029" y="249888"/>
                </a:lnTo>
                <a:lnTo>
                  <a:pt x="3029" y="248878"/>
                </a:lnTo>
                <a:cubicBezTo>
                  <a:pt x="25241" y="234743"/>
                  <a:pt x="26755" y="228181"/>
                  <a:pt x="26755" y="194862"/>
                </a:cubicBezTo>
                <a:lnTo>
                  <a:pt x="26755" y="56035"/>
                </a:lnTo>
                <a:cubicBezTo>
                  <a:pt x="26755" y="21707"/>
                  <a:pt x="23726" y="14640"/>
                  <a:pt x="0" y="1009"/>
                </a:cubicBezTo>
                <a:lnTo>
                  <a:pt x="0" y="0"/>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8" name="TextBox 67"/>
          <p:cNvSpPr txBox="1">
            <a:spLocks/>
          </p:cNvSpPr>
          <p:nvPr/>
        </p:nvSpPr>
        <p:spPr>
          <a:xfrm>
            <a:off x="11298619" y="842827"/>
            <a:ext cx="149090" cy="167421"/>
          </a:xfrm>
          <a:custGeom>
            <a:avLst/>
            <a:gdLst/>
            <a:ahLst/>
            <a:cxnLst/>
            <a:rect l="l" t="t" r="r" b="b"/>
            <a:pathLst>
              <a:path w="323593" h="363474">
                <a:moveTo>
                  <a:pt x="190319" y="0"/>
                </a:moveTo>
                <a:cubicBezTo>
                  <a:pt x="236258" y="0"/>
                  <a:pt x="260994" y="15145"/>
                  <a:pt x="277653" y="15145"/>
                </a:cubicBezTo>
                <a:cubicBezTo>
                  <a:pt x="291284" y="15145"/>
                  <a:pt x="299866" y="9087"/>
                  <a:pt x="310467" y="0"/>
                </a:cubicBezTo>
                <a:lnTo>
                  <a:pt x="314001" y="120149"/>
                </a:lnTo>
                <a:lnTo>
                  <a:pt x="312991" y="120149"/>
                </a:lnTo>
                <a:cubicBezTo>
                  <a:pt x="287750" y="56541"/>
                  <a:pt x="250393" y="11107"/>
                  <a:pt x="199910" y="11107"/>
                </a:cubicBezTo>
                <a:cubicBezTo>
                  <a:pt x="137312" y="11107"/>
                  <a:pt x="101974" y="80268"/>
                  <a:pt x="101974" y="164573"/>
                </a:cubicBezTo>
                <a:cubicBezTo>
                  <a:pt x="101974" y="260490"/>
                  <a:pt x="155486" y="315011"/>
                  <a:pt x="221113" y="315011"/>
                </a:cubicBezTo>
                <a:cubicBezTo>
                  <a:pt x="263014" y="315011"/>
                  <a:pt x="297846" y="300371"/>
                  <a:pt x="320564" y="252918"/>
                </a:cubicBezTo>
                <a:lnTo>
                  <a:pt x="323593" y="253927"/>
                </a:lnTo>
                <a:cubicBezTo>
                  <a:pt x="306428" y="321574"/>
                  <a:pt x="252412" y="363474"/>
                  <a:pt x="173660" y="363474"/>
                </a:cubicBezTo>
                <a:cubicBezTo>
                  <a:pt x="74209" y="363474"/>
                  <a:pt x="0" y="293304"/>
                  <a:pt x="0" y="186786"/>
                </a:cubicBezTo>
                <a:cubicBezTo>
                  <a:pt x="0" y="76229"/>
                  <a:pt x="85820" y="0"/>
                  <a:pt x="190319"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9" name="TextBox 68"/>
          <p:cNvSpPr txBox="1">
            <a:spLocks/>
          </p:cNvSpPr>
          <p:nvPr/>
        </p:nvSpPr>
        <p:spPr>
          <a:xfrm>
            <a:off x="11640919" y="842827"/>
            <a:ext cx="167232" cy="167421"/>
          </a:xfrm>
          <a:custGeom>
            <a:avLst/>
            <a:gdLst/>
            <a:ahLst/>
            <a:cxnLst/>
            <a:rect l="l" t="t" r="r" b="b"/>
            <a:pathLst>
              <a:path w="362969" h="363474">
                <a:moveTo>
                  <a:pt x="181737" y="0"/>
                </a:moveTo>
                <a:cubicBezTo>
                  <a:pt x="285731" y="0"/>
                  <a:pt x="362969" y="75724"/>
                  <a:pt x="362969" y="181737"/>
                </a:cubicBezTo>
                <a:cubicBezTo>
                  <a:pt x="362969" y="287751"/>
                  <a:pt x="285731" y="363474"/>
                  <a:pt x="181737" y="363474"/>
                </a:cubicBezTo>
                <a:cubicBezTo>
                  <a:pt x="77238" y="363474"/>
                  <a:pt x="0" y="287751"/>
                  <a:pt x="0" y="181737"/>
                </a:cubicBezTo>
                <a:cubicBezTo>
                  <a:pt x="0" y="75724"/>
                  <a:pt x="77238" y="0"/>
                  <a:pt x="181737" y="0"/>
                </a:cubicBezTo>
                <a:close/>
                <a:moveTo>
                  <a:pt x="181737" y="10097"/>
                </a:moveTo>
                <a:cubicBezTo>
                  <a:pt x="123682" y="10097"/>
                  <a:pt x="103994" y="70676"/>
                  <a:pt x="103994" y="181737"/>
                </a:cubicBezTo>
                <a:cubicBezTo>
                  <a:pt x="103994" y="292799"/>
                  <a:pt x="123682" y="353378"/>
                  <a:pt x="181737" y="353378"/>
                </a:cubicBezTo>
                <a:cubicBezTo>
                  <a:pt x="239287" y="353378"/>
                  <a:pt x="258975" y="292799"/>
                  <a:pt x="258975" y="181737"/>
                </a:cubicBezTo>
                <a:cubicBezTo>
                  <a:pt x="258975" y="70676"/>
                  <a:pt x="239287" y="10097"/>
                  <a:pt x="181737" y="10097"/>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70" name="TextBox 69"/>
          <p:cNvSpPr txBox="1">
            <a:spLocks/>
          </p:cNvSpPr>
          <p:nvPr/>
        </p:nvSpPr>
        <p:spPr>
          <a:xfrm>
            <a:off x="11457735" y="843060"/>
            <a:ext cx="172117" cy="164863"/>
          </a:xfrm>
          <a:custGeom>
            <a:avLst/>
            <a:gdLst/>
            <a:ahLst/>
            <a:cxnLst/>
            <a:rect l="l" t="t" r="r" b="b"/>
            <a:pathLst>
              <a:path w="373571" h="357921">
                <a:moveTo>
                  <a:pt x="17164" y="0"/>
                </a:moveTo>
                <a:cubicBezTo>
                  <a:pt x="24232" y="3534"/>
                  <a:pt x="35338" y="4544"/>
                  <a:pt x="52502" y="4544"/>
                </a:cubicBezTo>
                <a:lnTo>
                  <a:pt x="321069" y="4544"/>
                </a:lnTo>
                <a:cubicBezTo>
                  <a:pt x="338233" y="4544"/>
                  <a:pt x="349339" y="3534"/>
                  <a:pt x="356407" y="0"/>
                </a:cubicBezTo>
                <a:lnTo>
                  <a:pt x="373571" y="119644"/>
                </a:lnTo>
                <a:lnTo>
                  <a:pt x="372561" y="119644"/>
                </a:lnTo>
                <a:cubicBezTo>
                  <a:pt x="329651" y="50988"/>
                  <a:pt x="309963" y="17669"/>
                  <a:pt x="255946" y="17669"/>
                </a:cubicBezTo>
                <a:lnTo>
                  <a:pt x="234239" y="17669"/>
                </a:lnTo>
                <a:lnTo>
                  <a:pt x="234239" y="297847"/>
                </a:lnTo>
                <a:cubicBezTo>
                  <a:pt x="234239" y="331165"/>
                  <a:pt x="240802" y="342272"/>
                  <a:pt x="263014" y="356912"/>
                </a:cubicBezTo>
                <a:lnTo>
                  <a:pt x="263014" y="357921"/>
                </a:lnTo>
                <a:lnTo>
                  <a:pt x="110557" y="357921"/>
                </a:lnTo>
                <a:lnTo>
                  <a:pt x="110557" y="356912"/>
                </a:lnTo>
                <a:cubicBezTo>
                  <a:pt x="133274" y="342272"/>
                  <a:pt x="139332" y="331165"/>
                  <a:pt x="139332" y="297847"/>
                </a:cubicBezTo>
                <a:lnTo>
                  <a:pt x="139332" y="17669"/>
                </a:lnTo>
                <a:lnTo>
                  <a:pt x="117624" y="17669"/>
                </a:lnTo>
                <a:cubicBezTo>
                  <a:pt x="63608" y="17669"/>
                  <a:pt x="43920" y="50988"/>
                  <a:pt x="1010" y="119644"/>
                </a:cubicBezTo>
                <a:lnTo>
                  <a:pt x="0" y="119644"/>
                </a:lnTo>
                <a:lnTo>
                  <a:pt x="17164" y="0"/>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grpSp>
        <p:nvGrpSpPr>
          <p:cNvPr id="2" name="Group 1"/>
          <p:cNvGrpSpPr/>
          <p:nvPr/>
        </p:nvGrpSpPr>
        <p:grpSpPr>
          <a:xfrm>
            <a:off x="11001879" y="849615"/>
            <a:ext cx="276881" cy="61257"/>
            <a:chOff x="10999013" y="849614"/>
            <a:chExt cx="276809" cy="61257"/>
          </a:xfrm>
          <a:solidFill>
            <a:schemeClr val="accent3"/>
          </a:solidFill>
        </p:grpSpPr>
        <p:sp>
          <p:nvSpPr>
            <p:cNvPr id="71" name="TextBox 70"/>
            <p:cNvSpPr txBox="1">
              <a:spLocks/>
            </p:cNvSpPr>
            <p:nvPr/>
          </p:nvSpPr>
          <p:spPr>
            <a:xfrm>
              <a:off x="10999013" y="849614"/>
              <a:ext cx="60220" cy="61257"/>
            </a:xfrm>
            <a:custGeom>
              <a:avLst/>
              <a:gdLst/>
              <a:ahLst/>
              <a:cxnLst/>
              <a:rect l="l" t="t" r="r" b="b"/>
              <a:pathLst>
                <a:path w="130738" h="132991">
                  <a:moveTo>
                    <a:pt x="65709" y="0"/>
                  </a:moveTo>
                  <a:cubicBezTo>
                    <a:pt x="86122" y="0"/>
                    <a:pt x="102063" y="5891"/>
                    <a:pt x="113533" y="17673"/>
                  </a:cubicBezTo>
                  <a:cubicBezTo>
                    <a:pt x="125003" y="29455"/>
                    <a:pt x="130738" y="45715"/>
                    <a:pt x="130738" y="66451"/>
                  </a:cubicBezTo>
                  <a:cubicBezTo>
                    <a:pt x="130738" y="87129"/>
                    <a:pt x="124987" y="103389"/>
                    <a:pt x="113485" y="115230"/>
                  </a:cubicBezTo>
                  <a:cubicBezTo>
                    <a:pt x="101982" y="127071"/>
                    <a:pt x="85992" y="132991"/>
                    <a:pt x="65515" y="132991"/>
                  </a:cubicBezTo>
                  <a:cubicBezTo>
                    <a:pt x="44584" y="132991"/>
                    <a:pt x="28432" y="127174"/>
                    <a:pt x="17059" y="115539"/>
                  </a:cubicBezTo>
                  <a:cubicBezTo>
                    <a:pt x="5686" y="103904"/>
                    <a:pt x="0" y="87483"/>
                    <a:pt x="0" y="66275"/>
                  </a:cubicBezTo>
                  <a:cubicBezTo>
                    <a:pt x="0" y="45243"/>
                    <a:pt x="5702" y="28940"/>
                    <a:pt x="17107" y="17364"/>
                  </a:cubicBezTo>
                  <a:cubicBezTo>
                    <a:pt x="28513" y="5788"/>
                    <a:pt x="44713" y="0"/>
                    <a:pt x="65709" y="0"/>
                  </a:cubicBezTo>
                  <a:close/>
                  <a:moveTo>
                    <a:pt x="65709" y="13431"/>
                  </a:moveTo>
                  <a:cubicBezTo>
                    <a:pt x="49962" y="13431"/>
                    <a:pt x="37990" y="17953"/>
                    <a:pt x="29793" y="26996"/>
                  </a:cubicBezTo>
                  <a:cubicBezTo>
                    <a:pt x="21595" y="36038"/>
                    <a:pt x="17496" y="49190"/>
                    <a:pt x="17496" y="66451"/>
                  </a:cubicBezTo>
                  <a:cubicBezTo>
                    <a:pt x="17496" y="83948"/>
                    <a:pt x="21595" y="97218"/>
                    <a:pt x="29793" y="106261"/>
                  </a:cubicBezTo>
                  <a:cubicBezTo>
                    <a:pt x="37990" y="115303"/>
                    <a:pt x="49897" y="119825"/>
                    <a:pt x="65515" y="119825"/>
                  </a:cubicBezTo>
                  <a:cubicBezTo>
                    <a:pt x="81262" y="119825"/>
                    <a:pt x="93153" y="115318"/>
                    <a:pt x="101188" y="106305"/>
                  </a:cubicBezTo>
                  <a:cubicBezTo>
                    <a:pt x="109224" y="97291"/>
                    <a:pt x="113242" y="84007"/>
                    <a:pt x="113242" y="66451"/>
                  </a:cubicBezTo>
                  <a:cubicBezTo>
                    <a:pt x="113242" y="49073"/>
                    <a:pt x="109240" y="35891"/>
                    <a:pt x="101237" y="26907"/>
                  </a:cubicBezTo>
                  <a:cubicBezTo>
                    <a:pt x="93234" y="17923"/>
                    <a:pt x="81391" y="13431"/>
                    <a:pt x="65709" y="13431"/>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72" name="TextBox 71"/>
            <p:cNvSpPr txBox="1">
              <a:spLocks/>
            </p:cNvSpPr>
            <p:nvPr/>
          </p:nvSpPr>
          <p:spPr>
            <a:xfrm>
              <a:off x="11068225" y="850549"/>
              <a:ext cx="36490" cy="59507"/>
            </a:xfrm>
            <a:custGeom>
              <a:avLst/>
              <a:gdLst/>
              <a:ahLst/>
              <a:cxnLst/>
              <a:rect l="l" t="t" r="r" b="b"/>
              <a:pathLst>
                <a:path w="79221" h="129192">
                  <a:moveTo>
                    <a:pt x="0" y="0"/>
                  </a:moveTo>
                  <a:lnTo>
                    <a:pt x="79221" y="0"/>
                  </a:lnTo>
                  <a:lnTo>
                    <a:pt x="79221" y="13343"/>
                  </a:lnTo>
                  <a:lnTo>
                    <a:pt x="16525" y="13343"/>
                  </a:lnTo>
                  <a:lnTo>
                    <a:pt x="16525" y="60620"/>
                  </a:lnTo>
                  <a:lnTo>
                    <a:pt x="75430" y="60620"/>
                  </a:lnTo>
                  <a:lnTo>
                    <a:pt x="75430" y="73963"/>
                  </a:lnTo>
                  <a:lnTo>
                    <a:pt x="16525" y="73963"/>
                  </a:lnTo>
                  <a:lnTo>
                    <a:pt x="16525" y="129192"/>
                  </a:lnTo>
                  <a:lnTo>
                    <a:pt x="0" y="129192"/>
                  </a:lnTo>
                  <a:lnTo>
                    <a:pt x="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73" name="TextBox 72"/>
            <p:cNvSpPr txBox="1">
              <a:spLocks/>
            </p:cNvSpPr>
            <p:nvPr/>
          </p:nvSpPr>
          <p:spPr>
            <a:xfrm>
              <a:off x="11121455" y="850549"/>
              <a:ext cx="49071" cy="59507"/>
            </a:xfrm>
            <a:custGeom>
              <a:avLst/>
              <a:gdLst/>
              <a:ahLst/>
              <a:cxnLst/>
              <a:rect l="l" t="t" r="r" b="b"/>
              <a:pathLst>
                <a:path w="106535" h="129192">
                  <a:moveTo>
                    <a:pt x="0" y="0"/>
                  </a:moveTo>
                  <a:lnTo>
                    <a:pt x="106535" y="0"/>
                  </a:lnTo>
                  <a:lnTo>
                    <a:pt x="106535" y="13343"/>
                  </a:lnTo>
                  <a:lnTo>
                    <a:pt x="61530" y="13343"/>
                  </a:lnTo>
                  <a:lnTo>
                    <a:pt x="61530" y="129192"/>
                  </a:lnTo>
                  <a:lnTo>
                    <a:pt x="45005" y="129192"/>
                  </a:lnTo>
                  <a:lnTo>
                    <a:pt x="45005" y="13343"/>
                  </a:lnTo>
                  <a:lnTo>
                    <a:pt x="0" y="13343"/>
                  </a:lnTo>
                  <a:lnTo>
                    <a:pt x="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74" name="TextBox 73"/>
            <p:cNvSpPr txBox="1">
              <a:spLocks/>
            </p:cNvSpPr>
            <p:nvPr/>
          </p:nvSpPr>
          <p:spPr>
            <a:xfrm>
              <a:off x="11177909" y="850549"/>
              <a:ext cx="49698" cy="59507"/>
            </a:xfrm>
            <a:custGeom>
              <a:avLst/>
              <a:gdLst/>
              <a:ahLst/>
              <a:cxnLst/>
              <a:rect l="l" t="t" r="r" b="b"/>
              <a:pathLst>
                <a:path w="107896" h="129192">
                  <a:moveTo>
                    <a:pt x="0" y="0"/>
                  </a:moveTo>
                  <a:lnTo>
                    <a:pt x="16525" y="0"/>
                  </a:lnTo>
                  <a:lnTo>
                    <a:pt x="16525" y="54964"/>
                  </a:lnTo>
                  <a:lnTo>
                    <a:pt x="91371" y="54964"/>
                  </a:lnTo>
                  <a:lnTo>
                    <a:pt x="91371" y="0"/>
                  </a:lnTo>
                  <a:lnTo>
                    <a:pt x="107896" y="0"/>
                  </a:lnTo>
                  <a:lnTo>
                    <a:pt x="107896" y="129192"/>
                  </a:lnTo>
                  <a:lnTo>
                    <a:pt x="91371" y="129192"/>
                  </a:lnTo>
                  <a:lnTo>
                    <a:pt x="91371" y="68396"/>
                  </a:lnTo>
                  <a:lnTo>
                    <a:pt x="16525" y="68396"/>
                  </a:lnTo>
                  <a:lnTo>
                    <a:pt x="16525" y="129192"/>
                  </a:lnTo>
                  <a:lnTo>
                    <a:pt x="0" y="129192"/>
                  </a:lnTo>
                  <a:lnTo>
                    <a:pt x="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75" name="TextBox 74"/>
            <p:cNvSpPr txBox="1">
              <a:spLocks/>
            </p:cNvSpPr>
            <p:nvPr/>
          </p:nvSpPr>
          <p:spPr>
            <a:xfrm>
              <a:off x="11239332" y="850549"/>
              <a:ext cx="36490" cy="59507"/>
            </a:xfrm>
            <a:custGeom>
              <a:avLst/>
              <a:gdLst/>
              <a:ahLst/>
              <a:cxnLst/>
              <a:rect l="l" t="t" r="r" b="b"/>
              <a:pathLst>
                <a:path w="79221" h="129192">
                  <a:moveTo>
                    <a:pt x="0" y="0"/>
                  </a:moveTo>
                  <a:lnTo>
                    <a:pt x="79221" y="0"/>
                  </a:lnTo>
                  <a:lnTo>
                    <a:pt x="79221" y="13343"/>
                  </a:lnTo>
                  <a:lnTo>
                    <a:pt x="16525" y="13343"/>
                  </a:lnTo>
                  <a:lnTo>
                    <a:pt x="16525" y="54964"/>
                  </a:lnTo>
                  <a:lnTo>
                    <a:pt x="75430" y="54964"/>
                  </a:lnTo>
                  <a:lnTo>
                    <a:pt x="75430" y="68219"/>
                  </a:lnTo>
                  <a:lnTo>
                    <a:pt x="16525" y="68219"/>
                  </a:lnTo>
                  <a:lnTo>
                    <a:pt x="16525" y="115760"/>
                  </a:lnTo>
                  <a:lnTo>
                    <a:pt x="79221" y="115760"/>
                  </a:lnTo>
                  <a:lnTo>
                    <a:pt x="79221" y="129192"/>
                  </a:lnTo>
                  <a:lnTo>
                    <a:pt x="0" y="129192"/>
                  </a:lnTo>
                  <a:lnTo>
                    <a:pt x="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grpSp>
      <p:sp>
        <p:nvSpPr>
          <p:cNvPr id="23" name="Rectangle 22"/>
          <p:cNvSpPr/>
          <p:nvPr userDrawn="1"/>
        </p:nvSpPr>
        <p:spPr>
          <a:xfrm>
            <a:off x="4893846" y="1501613"/>
            <a:ext cx="91440" cy="530352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b="1">
              <a:latin typeface="Arial" panose="020B0604020202020204" pitchFamily="34" charset="0"/>
              <a:cs typeface="Arial" panose="020B0604020202020204" pitchFamily="34" charset="0"/>
              <a:sym typeface="Arial" panose="020B0604020202020204" pitchFamily="34" charset="0"/>
            </a:endParaRPr>
          </a:p>
        </p:txBody>
      </p:sp>
      <p:sp>
        <p:nvSpPr>
          <p:cNvPr id="24" name="Text Placeholder 4"/>
          <p:cNvSpPr>
            <a:spLocks noGrp="1"/>
          </p:cNvSpPr>
          <p:nvPr>
            <p:ph type="body" sz="quarter" idx="12" hasCustomPrompt="1"/>
          </p:nvPr>
        </p:nvSpPr>
        <p:spPr>
          <a:xfrm>
            <a:off x="5080000" y="2026282"/>
            <a:ext cx="6650037" cy="4147399"/>
          </a:xfrm>
          <a:prstGeom prst="rect">
            <a:avLst/>
          </a:prstGeom>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pPr lvl="0"/>
            <a:r>
              <a:rPr lang="en-US"/>
              <a:t>Body text</a:t>
            </a:r>
          </a:p>
        </p:txBody>
      </p:sp>
      <p:pic>
        <p:nvPicPr>
          <p:cNvPr id="26" name="Picture 25" descr="Text&#10;&#10;Description automatically generated with low confidence">
            <a:extLst>
              <a:ext uri="{FF2B5EF4-FFF2-40B4-BE49-F238E27FC236}">
                <a16:creationId xmlns:a16="http://schemas.microsoft.com/office/drawing/2014/main" id="{F017662F-23AA-4890-85AE-FA5C0F4C3FE9}"/>
              </a:ext>
            </a:extLst>
          </p:cNvPr>
          <p:cNvPicPr>
            <a:picLocks noChangeAspect="1"/>
          </p:cNvPicPr>
          <p:nvPr userDrawn="1"/>
        </p:nvPicPr>
        <p:blipFill>
          <a:blip r:embed="rId5"/>
          <a:stretch>
            <a:fillRect/>
          </a:stretch>
        </p:blipFill>
        <p:spPr>
          <a:xfrm>
            <a:off x="10492445" y="416568"/>
            <a:ext cx="1426464" cy="71323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Internal Slide - Photo Lef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892799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2" name="Picture Placeholder 5"/>
          <p:cNvSpPr>
            <a:spLocks noGrp="1"/>
          </p:cNvSpPr>
          <p:nvPr>
            <p:ph type="pic" sz="quarter" idx="13" hasCustomPrompt="1"/>
          </p:nvPr>
        </p:nvSpPr>
        <p:spPr>
          <a:xfrm>
            <a:off x="8900160" y="1554480"/>
            <a:ext cx="3291840" cy="5303519"/>
          </a:xfrm>
          <a:prstGeom prst="rect">
            <a:avLst/>
          </a:prstGeom>
          <a:solidFill>
            <a:schemeClr val="bg2"/>
          </a:solidFill>
        </p:spPr>
        <p:txBody>
          <a:bodyPr anchor="ctr"/>
          <a:lstStyle>
            <a:lvl1pPr algn="ctr">
              <a:defRPr sz="320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IMAGE</a:t>
            </a:r>
          </a:p>
        </p:txBody>
      </p:sp>
      <p:sp>
        <p:nvSpPr>
          <p:cNvPr id="55" name="Rectangle 54"/>
          <p:cNvSpPr/>
          <p:nvPr/>
        </p:nvSpPr>
        <p:spPr>
          <a:xfrm>
            <a:off x="0" y="-25546"/>
            <a:ext cx="12191996" cy="1554480"/>
          </a:xfrm>
          <a:prstGeom prst="rect">
            <a:avLst/>
          </a:prstGeom>
          <a:solidFill>
            <a:srgbClr val="064E69"/>
          </a:solidFill>
        </p:spPr>
        <p:txBody>
          <a:bodyPr wrap="square" lIns="548640" tIns="0" rIns="91440" bIns="0" anchor="ctr">
            <a:noAutofit/>
          </a:bodyPr>
          <a:lstStyle/>
          <a:p>
            <a:endParaRPr lang="en-US" sz="4000" b="1">
              <a:solidFill>
                <a:schemeClr val="bg1"/>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56" name="Rectangle 55"/>
          <p:cNvSpPr/>
          <p:nvPr/>
        </p:nvSpPr>
        <p:spPr>
          <a:xfrm>
            <a:off x="-1" y="1448246"/>
            <a:ext cx="12192127" cy="10673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b="1">
              <a:latin typeface="Arial" panose="020B0604020202020204" pitchFamily="34" charset="0"/>
              <a:cs typeface="Arial" panose="020B0604020202020204" pitchFamily="34" charset="0"/>
              <a:sym typeface="Arial" panose="020B0604020202020204" pitchFamily="34" charset="0"/>
            </a:endParaRPr>
          </a:p>
        </p:txBody>
      </p:sp>
      <p:sp>
        <p:nvSpPr>
          <p:cNvPr id="57" name="Title 1"/>
          <p:cNvSpPr>
            <a:spLocks noGrp="1"/>
          </p:cNvSpPr>
          <p:nvPr>
            <p:ph type="title" hasCustomPrompt="1"/>
          </p:nvPr>
        </p:nvSpPr>
        <p:spPr>
          <a:xfrm>
            <a:off x="457200" y="296379"/>
            <a:ext cx="9688623" cy="476805"/>
          </a:xfrm>
          <a:prstGeom prst="rect">
            <a:avLst/>
          </a:prstGeom>
        </p:spPr>
        <p:txBody>
          <a:bodyPr tIns="0" bIns="0" anchor="t" anchorCtr="0"/>
          <a:lstStyle>
            <a:lvl1pPr algn="l">
              <a:defRPr sz="3000" b="1">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Title</a:t>
            </a:r>
          </a:p>
        </p:txBody>
      </p:sp>
      <p:sp>
        <p:nvSpPr>
          <p:cNvPr id="58" name="Text Placeholder 9"/>
          <p:cNvSpPr>
            <a:spLocks noGrp="1"/>
          </p:cNvSpPr>
          <p:nvPr>
            <p:ph type="body" sz="quarter" idx="11" hasCustomPrompt="1"/>
          </p:nvPr>
        </p:nvSpPr>
        <p:spPr>
          <a:xfrm>
            <a:off x="457200" y="860151"/>
            <a:ext cx="9688622" cy="423094"/>
          </a:xfrm>
          <a:prstGeom prst="rect">
            <a:avLst/>
          </a:prstGeom>
        </p:spPr>
        <p:txBody>
          <a:bodyPr anchor="ctr"/>
          <a:lstStyle>
            <a:lvl1pPr algn="l">
              <a:lnSpc>
                <a:spcPct val="90000"/>
              </a:lnSpc>
              <a:spcBef>
                <a:spcPts val="0"/>
              </a:spcBef>
              <a:defRPr sz="2000">
                <a:solidFill>
                  <a:schemeClr val="bg1"/>
                </a:solidFill>
                <a:latin typeface="Arial" panose="020B0604020202020204" pitchFamily="34" charset="0"/>
                <a:cs typeface="Arial" panose="020B0604020202020204" pitchFamily="34" charset="0"/>
                <a:sym typeface="Arial" panose="020B0604020202020204" pitchFamily="34" charset="0"/>
              </a:defRPr>
            </a:lvl1pPr>
          </a:lstStyle>
          <a:p>
            <a:pPr lvl="0"/>
            <a:r>
              <a:rPr lang="en-US"/>
              <a:t>Subtitle</a:t>
            </a:r>
          </a:p>
        </p:txBody>
      </p:sp>
      <p:cxnSp>
        <p:nvCxnSpPr>
          <p:cNvPr id="59" name="Straight Connector 58"/>
          <p:cNvCxnSpPr/>
          <p:nvPr/>
        </p:nvCxnSpPr>
        <p:spPr>
          <a:xfrm>
            <a:off x="10363874" y="222724"/>
            <a:ext cx="0" cy="1032988"/>
          </a:xfrm>
          <a:prstGeom prst="line">
            <a:avLst/>
          </a:prstGeom>
          <a:ln w="15875" cmpd="sng">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3" name="TextBox 62"/>
          <p:cNvSpPr txBox="1">
            <a:spLocks/>
          </p:cNvSpPr>
          <p:nvPr/>
        </p:nvSpPr>
        <p:spPr>
          <a:xfrm>
            <a:off x="11008872" y="633221"/>
            <a:ext cx="224212" cy="176024"/>
          </a:xfrm>
          <a:custGeom>
            <a:avLst/>
            <a:gdLst/>
            <a:ahLst/>
            <a:cxnLst/>
            <a:rect l="l" t="t" r="r" b="b"/>
            <a:pathLst>
              <a:path w="486642" h="382152">
                <a:moveTo>
                  <a:pt x="150943" y="0"/>
                </a:moveTo>
                <a:cubicBezTo>
                  <a:pt x="191582" y="0"/>
                  <a:pt x="224490" y="12368"/>
                  <a:pt x="232082" y="39810"/>
                </a:cubicBezTo>
                <a:lnTo>
                  <a:pt x="232262" y="41192"/>
                </a:lnTo>
                <a:lnTo>
                  <a:pt x="244394" y="27828"/>
                </a:lnTo>
                <a:cubicBezTo>
                  <a:pt x="265912" y="9086"/>
                  <a:pt x="296328" y="0"/>
                  <a:pt x="331918" y="0"/>
                </a:cubicBezTo>
                <a:cubicBezTo>
                  <a:pt x="355140" y="0"/>
                  <a:pt x="375838" y="4038"/>
                  <a:pt x="390730" y="12620"/>
                </a:cubicBezTo>
                <a:lnTo>
                  <a:pt x="399550" y="19037"/>
                </a:lnTo>
                <a:lnTo>
                  <a:pt x="415123" y="9213"/>
                </a:lnTo>
                <a:cubicBezTo>
                  <a:pt x="421204" y="6846"/>
                  <a:pt x="427956" y="5553"/>
                  <a:pt x="435150" y="5553"/>
                </a:cubicBezTo>
                <a:cubicBezTo>
                  <a:pt x="464430" y="5553"/>
                  <a:pt x="486642" y="26250"/>
                  <a:pt x="486642" y="53511"/>
                </a:cubicBezTo>
                <a:cubicBezTo>
                  <a:pt x="486642" y="80772"/>
                  <a:pt x="464430" y="101974"/>
                  <a:pt x="435150" y="101974"/>
                </a:cubicBezTo>
                <a:cubicBezTo>
                  <a:pt x="420763" y="101974"/>
                  <a:pt x="408142" y="96674"/>
                  <a:pt x="399118" y="87965"/>
                </a:cubicBezTo>
                <a:lnTo>
                  <a:pt x="397141" y="85099"/>
                </a:lnTo>
                <a:lnTo>
                  <a:pt x="387023" y="90979"/>
                </a:lnTo>
                <a:cubicBezTo>
                  <a:pt x="381675" y="92887"/>
                  <a:pt x="375838" y="93897"/>
                  <a:pt x="369780" y="93897"/>
                </a:cubicBezTo>
                <a:cubicBezTo>
                  <a:pt x="355140" y="93897"/>
                  <a:pt x="342015" y="89354"/>
                  <a:pt x="335452" y="81781"/>
                </a:cubicBezTo>
                <a:cubicBezTo>
                  <a:pt x="350092" y="78247"/>
                  <a:pt x="359179" y="66132"/>
                  <a:pt x="359179" y="42910"/>
                </a:cubicBezTo>
                <a:cubicBezTo>
                  <a:pt x="359179" y="22717"/>
                  <a:pt x="350597" y="8077"/>
                  <a:pt x="331918" y="8077"/>
                </a:cubicBezTo>
                <a:cubicBezTo>
                  <a:pt x="308696" y="8077"/>
                  <a:pt x="300619" y="29784"/>
                  <a:pt x="300619" y="58054"/>
                </a:cubicBezTo>
                <a:lnTo>
                  <a:pt x="300619" y="132264"/>
                </a:lnTo>
                <a:lnTo>
                  <a:pt x="363217" y="132264"/>
                </a:lnTo>
                <a:lnTo>
                  <a:pt x="360693" y="144884"/>
                </a:lnTo>
                <a:lnTo>
                  <a:pt x="300619" y="144884"/>
                </a:lnTo>
                <a:lnTo>
                  <a:pt x="300619" y="327126"/>
                </a:lnTo>
                <a:cubicBezTo>
                  <a:pt x="300619" y="360445"/>
                  <a:pt x="312230" y="369027"/>
                  <a:pt x="339490" y="381142"/>
                </a:cubicBezTo>
                <a:lnTo>
                  <a:pt x="339490" y="382152"/>
                </a:lnTo>
                <a:lnTo>
                  <a:pt x="186529" y="382152"/>
                </a:lnTo>
                <a:lnTo>
                  <a:pt x="186529" y="381142"/>
                </a:lnTo>
                <a:cubicBezTo>
                  <a:pt x="208741" y="367007"/>
                  <a:pt x="210255" y="360445"/>
                  <a:pt x="210255" y="327126"/>
                </a:cubicBezTo>
                <a:lnTo>
                  <a:pt x="210255" y="144884"/>
                </a:lnTo>
                <a:lnTo>
                  <a:pt x="180976" y="144884"/>
                </a:lnTo>
                <a:lnTo>
                  <a:pt x="180976" y="139331"/>
                </a:lnTo>
                <a:lnTo>
                  <a:pt x="210255" y="128225"/>
                </a:lnTo>
                <a:lnTo>
                  <a:pt x="210255" y="113585"/>
                </a:lnTo>
                <a:lnTo>
                  <a:pt x="212504" y="87227"/>
                </a:lnTo>
                <a:lnTo>
                  <a:pt x="206048" y="90979"/>
                </a:lnTo>
                <a:cubicBezTo>
                  <a:pt x="200700" y="92887"/>
                  <a:pt x="194863" y="93897"/>
                  <a:pt x="188805" y="93897"/>
                </a:cubicBezTo>
                <a:cubicBezTo>
                  <a:pt x="174165" y="93897"/>
                  <a:pt x="161040" y="89354"/>
                  <a:pt x="154477" y="81781"/>
                </a:cubicBezTo>
                <a:cubicBezTo>
                  <a:pt x="169117" y="78247"/>
                  <a:pt x="178204" y="66132"/>
                  <a:pt x="178204" y="42910"/>
                </a:cubicBezTo>
                <a:cubicBezTo>
                  <a:pt x="178204" y="22717"/>
                  <a:pt x="169622" y="8077"/>
                  <a:pt x="150943" y="8077"/>
                </a:cubicBezTo>
                <a:cubicBezTo>
                  <a:pt x="127721" y="8077"/>
                  <a:pt x="119644" y="29784"/>
                  <a:pt x="119644" y="58054"/>
                </a:cubicBezTo>
                <a:lnTo>
                  <a:pt x="119644" y="132264"/>
                </a:lnTo>
                <a:lnTo>
                  <a:pt x="182242" y="132264"/>
                </a:lnTo>
                <a:lnTo>
                  <a:pt x="179718" y="144884"/>
                </a:lnTo>
                <a:lnTo>
                  <a:pt x="119644" y="144884"/>
                </a:lnTo>
                <a:lnTo>
                  <a:pt x="119644" y="327126"/>
                </a:lnTo>
                <a:cubicBezTo>
                  <a:pt x="119644" y="360445"/>
                  <a:pt x="131255" y="369027"/>
                  <a:pt x="158516" y="381142"/>
                </a:cubicBezTo>
                <a:lnTo>
                  <a:pt x="158516" y="382152"/>
                </a:lnTo>
                <a:lnTo>
                  <a:pt x="5554" y="382152"/>
                </a:lnTo>
                <a:lnTo>
                  <a:pt x="5554" y="381142"/>
                </a:lnTo>
                <a:cubicBezTo>
                  <a:pt x="27766" y="367007"/>
                  <a:pt x="29280" y="360445"/>
                  <a:pt x="29280" y="327126"/>
                </a:cubicBezTo>
                <a:lnTo>
                  <a:pt x="29280" y="144884"/>
                </a:lnTo>
                <a:lnTo>
                  <a:pt x="0" y="144884"/>
                </a:lnTo>
                <a:lnTo>
                  <a:pt x="0" y="139331"/>
                </a:lnTo>
                <a:lnTo>
                  <a:pt x="29280" y="128225"/>
                </a:lnTo>
                <a:lnTo>
                  <a:pt x="29280" y="113585"/>
                </a:lnTo>
                <a:cubicBezTo>
                  <a:pt x="29280" y="36347"/>
                  <a:pt x="79763" y="0"/>
                  <a:pt x="150943"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4" name="TextBox 63"/>
          <p:cNvSpPr txBox="1">
            <a:spLocks/>
          </p:cNvSpPr>
          <p:nvPr/>
        </p:nvSpPr>
        <p:spPr>
          <a:xfrm>
            <a:off x="10828278" y="644150"/>
            <a:ext cx="167232" cy="167421"/>
          </a:xfrm>
          <a:custGeom>
            <a:avLst/>
            <a:gdLst/>
            <a:ahLst/>
            <a:cxnLst/>
            <a:rect l="l" t="t" r="r" b="b"/>
            <a:pathLst>
              <a:path w="362969" h="363474">
                <a:moveTo>
                  <a:pt x="181737" y="0"/>
                </a:moveTo>
                <a:cubicBezTo>
                  <a:pt x="285731" y="0"/>
                  <a:pt x="362969" y="75724"/>
                  <a:pt x="362969" y="181737"/>
                </a:cubicBezTo>
                <a:cubicBezTo>
                  <a:pt x="362969" y="287751"/>
                  <a:pt x="285731" y="363474"/>
                  <a:pt x="181737" y="363474"/>
                </a:cubicBezTo>
                <a:cubicBezTo>
                  <a:pt x="77238" y="363474"/>
                  <a:pt x="0" y="287751"/>
                  <a:pt x="0" y="181737"/>
                </a:cubicBezTo>
                <a:cubicBezTo>
                  <a:pt x="0" y="75724"/>
                  <a:pt x="77238" y="0"/>
                  <a:pt x="181737" y="0"/>
                </a:cubicBezTo>
                <a:close/>
                <a:moveTo>
                  <a:pt x="181737" y="10097"/>
                </a:moveTo>
                <a:cubicBezTo>
                  <a:pt x="123682" y="10097"/>
                  <a:pt x="103994" y="70676"/>
                  <a:pt x="103994" y="181737"/>
                </a:cubicBezTo>
                <a:cubicBezTo>
                  <a:pt x="103994" y="292799"/>
                  <a:pt x="123682" y="353378"/>
                  <a:pt x="181737" y="353378"/>
                </a:cubicBezTo>
                <a:cubicBezTo>
                  <a:pt x="239287" y="353378"/>
                  <a:pt x="258975" y="292799"/>
                  <a:pt x="258975" y="181737"/>
                </a:cubicBezTo>
                <a:cubicBezTo>
                  <a:pt x="258975" y="70676"/>
                  <a:pt x="239287" y="10097"/>
                  <a:pt x="181737" y="10097"/>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5" name="TextBox 64"/>
          <p:cNvSpPr txBox="1">
            <a:spLocks/>
          </p:cNvSpPr>
          <p:nvPr/>
        </p:nvSpPr>
        <p:spPr>
          <a:xfrm>
            <a:off x="11252333" y="691818"/>
            <a:ext cx="113038" cy="119752"/>
          </a:xfrm>
          <a:custGeom>
            <a:avLst/>
            <a:gdLst/>
            <a:ahLst/>
            <a:cxnLst/>
            <a:rect l="l" t="t" r="r" b="b"/>
            <a:pathLst>
              <a:path w="245345" h="259984">
                <a:moveTo>
                  <a:pt x="144885" y="0"/>
                </a:moveTo>
                <a:cubicBezTo>
                  <a:pt x="199406" y="0"/>
                  <a:pt x="240297" y="23726"/>
                  <a:pt x="240297" y="65122"/>
                </a:cubicBezTo>
                <a:cubicBezTo>
                  <a:pt x="240297" y="95411"/>
                  <a:pt x="217075" y="111061"/>
                  <a:pt x="192843" y="111061"/>
                </a:cubicBezTo>
                <a:cubicBezTo>
                  <a:pt x="166087" y="111061"/>
                  <a:pt x="150438" y="96421"/>
                  <a:pt x="148923" y="81781"/>
                </a:cubicBezTo>
                <a:cubicBezTo>
                  <a:pt x="151952" y="82791"/>
                  <a:pt x="155486" y="83296"/>
                  <a:pt x="158010" y="83296"/>
                </a:cubicBezTo>
                <a:cubicBezTo>
                  <a:pt x="176689" y="83296"/>
                  <a:pt x="184261" y="67646"/>
                  <a:pt x="184261" y="48463"/>
                </a:cubicBezTo>
                <a:cubicBezTo>
                  <a:pt x="184261" y="24231"/>
                  <a:pt x="171136" y="8582"/>
                  <a:pt x="145894" y="8582"/>
                </a:cubicBezTo>
                <a:cubicBezTo>
                  <a:pt x="110557" y="8582"/>
                  <a:pt x="93897" y="54016"/>
                  <a:pt x="93897" y="112575"/>
                </a:cubicBezTo>
                <a:cubicBezTo>
                  <a:pt x="93897" y="181737"/>
                  <a:pt x="124692" y="218589"/>
                  <a:pt x="171640" y="218589"/>
                </a:cubicBezTo>
                <a:cubicBezTo>
                  <a:pt x="200415" y="218589"/>
                  <a:pt x="226666" y="204958"/>
                  <a:pt x="242316" y="173659"/>
                </a:cubicBezTo>
                <a:lnTo>
                  <a:pt x="245345" y="175174"/>
                </a:lnTo>
                <a:cubicBezTo>
                  <a:pt x="231210" y="229190"/>
                  <a:pt x="185775" y="259984"/>
                  <a:pt x="129740" y="259984"/>
                </a:cubicBezTo>
                <a:cubicBezTo>
                  <a:pt x="60074" y="259984"/>
                  <a:pt x="0" y="213036"/>
                  <a:pt x="0" y="134788"/>
                </a:cubicBezTo>
                <a:cubicBezTo>
                  <a:pt x="0" y="49977"/>
                  <a:pt x="63608" y="0"/>
                  <a:pt x="144885"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6" name="TextBox 65"/>
          <p:cNvSpPr txBox="1">
            <a:spLocks/>
          </p:cNvSpPr>
          <p:nvPr/>
        </p:nvSpPr>
        <p:spPr>
          <a:xfrm>
            <a:off x="11375209" y="691818"/>
            <a:ext cx="116062" cy="119752"/>
          </a:xfrm>
          <a:custGeom>
            <a:avLst/>
            <a:gdLst/>
            <a:ahLst/>
            <a:cxnLst/>
            <a:rect l="l" t="t" r="r" b="b"/>
            <a:pathLst>
              <a:path w="251908" h="259984">
                <a:moveTo>
                  <a:pt x="132264" y="0"/>
                </a:moveTo>
                <a:cubicBezTo>
                  <a:pt x="213541" y="0"/>
                  <a:pt x="251908" y="51996"/>
                  <a:pt x="251908" y="118633"/>
                </a:cubicBezTo>
                <a:lnTo>
                  <a:pt x="91373" y="118633"/>
                </a:lnTo>
                <a:cubicBezTo>
                  <a:pt x="91373" y="181232"/>
                  <a:pt x="124187" y="218589"/>
                  <a:pt x="172650" y="218589"/>
                </a:cubicBezTo>
                <a:cubicBezTo>
                  <a:pt x="203444" y="218589"/>
                  <a:pt x="230200" y="204958"/>
                  <a:pt x="245850" y="173659"/>
                </a:cubicBezTo>
                <a:lnTo>
                  <a:pt x="249383" y="175174"/>
                </a:lnTo>
                <a:cubicBezTo>
                  <a:pt x="234744" y="229190"/>
                  <a:pt x="189309" y="259984"/>
                  <a:pt x="131759" y="259984"/>
                </a:cubicBezTo>
                <a:cubicBezTo>
                  <a:pt x="59569" y="259984"/>
                  <a:pt x="0" y="212531"/>
                  <a:pt x="0" y="130244"/>
                </a:cubicBezTo>
                <a:cubicBezTo>
                  <a:pt x="0" y="50987"/>
                  <a:pt x="60074" y="0"/>
                  <a:pt x="132264" y="0"/>
                </a:cubicBezTo>
                <a:close/>
                <a:moveTo>
                  <a:pt x="132264" y="8582"/>
                </a:moveTo>
                <a:cubicBezTo>
                  <a:pt x="106013" y="8582"/>
                  <a:pt x="92888" y="48463"/>
                  <a:pt x="91878" y="108032"/>
                </a:cubicBezTo>
                <a:lnTo>
                  <a:pt x="165078" y="108032"/>
                </a:lnTo>
                <a:cubicBezTo>
                  <a:pt x="165078" y="51492"/>
                  <a:pt x="161039" y="8582"/>
                  <a:pt x="132264" y="8582"/>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7" name="TextBox 66"/>
          <p:cNvSpPr txBox="1">
            <a:spLocks/>
          </p:cNvSpPr>
          <p:nvPr/>
        </p:nvSpPr>
        <p:spPr>
          <a:xfrm>
            <a:off x="11176798" y="694143"/>
            <a:ext cx="64892" cy="115102"/>
          </a:xfrm>
          <a:custGeom>
            <a:avLst/>
            <a:gdLst/>
            <a:ahLst/>
            <a:cxnLst/>
            <a:rect l="l" t="t" r="r" b="b"/>
            <a:pathLst>
              <a:path w="140846" h="249888">
                <a:moveTo>
                  <a:pt x="0" y="0"/>
                </a:moveTo>
                <a:lnTo>
                  <a:pt x="117119" y="0"/>
                </a:lnTo>
                <a:lnTo>
                  <a:pt x="117119" y="194862"/>
                </a:lnTo>
                <a:cubicBezTo>
                  <a:pt x="117119" y="228181"/>
                  <a:pt x="118633" y="234743"/>
                  <a:pt x="140846" y="248878"/>
                </a:cubicBezTo>
                <a:lnTo>
                  <a:pt x="140846" y="249888"/>
                </a:lnTo>
                <a:lnTo>
                  <a:pt x="3029" y="249888"/>
                </a:lnTo>
                <a:lnTo>
                  <a:pt x="3029" y="248878"/>
                </a:lnTo>
                <a:cubicBezTo>
                  <a:pt x="25241" y="234743"/>
                  <a:pt x="26755" y="228181"/>
                  <a:pt x="26755" y="194862"/>
                </a:cubicBezTo>
                <a:lnTo>
                  <a:pt x="26755" y="56035"/>
                </a:lnTo>
                <a:cubicBezTo>
                  <a:pt x="26755" y="21707"/>
                  <a:pt x="23726" y="14640"/>
                  <a:pt x="0" y="1009"/>
                </a:cubicBezTo>
                <a:lnTo>
                  <a:pt x="0" y="0"/>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8" name="TextBox 67"/>
          <p:cNvSpPr txBox="1">
            <a:spLocks/>
          </p:cNvSpPr>
          <p:nvPr/>
        </p:nvSpPr>
        <p:spPr>
          <a:xfrm>
            <a:off x="11298619" y="842827"/>
            <a:ext cx="149090" cy="167421"/>
          </a:xfrm>
          <a:custGeom>
            <a:avLst/>
            <a:gdLst/>
            <a:ahLst/>
            <a:cxnLst/>
            <a:rect l="l" t="t" r="r" b="b"/>
            <a:pathLst>
              <a:path w="323593" h="363474">
                <a:moveTo>
                  <a:pt x="190319" y="0"/>
                </a:moveTo>
                <a:cubicBezTo>
                  <a:pt x="236258" y="0"/>
                  <a:pt x="260994" y="15145"/>
                  <a:pt x="277653" y="15145"/>
                </a:cubicBezTo>
                <a:cubicBezTo>
                  <a:pt x="291284" y="15145"/>
                  <a:pt x="299866" y="9087"/>
                  <a:pt x="310467" y="0"/>
                </a:cubicBezTo>
                <a:lnTo>
                  <a:pt x="314001" y="120149"/>
                </a:lnTo>
                <a:lnTo>
                  <a:pt x="312991" y="120149"/>
                </a:lnTo>
                <a:cubicBezTo>
                  <a:pt x="287750" y="56541"/>
                  <a:pt x="250393" y="11107"/>
                  <a:pt x="199910" y="11107"/>
                </a:cubicBezTo>
                <a:cubicBezTo>
                  <a:pt x="137312" y="11107"/>
                  <a:pt x="101974" y="80268"/>
                  <a:pt x="101974" y="164573"/>
                </a:cubicBezTo>
                <a:cubicBezTo>
                  <a:pt x="101974" y="260490"/>
                  <a:pt x="155486" y="315011"/>
                  <a:pt x="221113" y="315011"/>
                </a:cubicBezTo>
                <a:cubicBezTo>
                  <a:pt x="263014" y="315011"/>
                  <a:pt x="297846" y="300371"/>
                  <a:pt x="320564" y="252918"/>
                </a:cubicBezTo>
                <a:lnTo>
                  <a:pt x="323593" y="253927"/>
                </a:lnTo>
                <a:cubicBezTo>
                  <a:pt x="306428" y="321574"/>
                  <a:pt x="252412" y="363474"/>
                  <a:pt x="173660" y="363474"/>
                </a:cubicBezTo>
                <a:cubicBezTo>
                  <a:pt x="74209" y="363474"/>
                  <a:pt x="0" y="293304"/>
                  <a:pt x="0" y="186786"/>
                </a:cubicBezTo>
                <a:cubicBezTo>
                  <a:pt x="0" y="76229"/>
                  <a:pt x="85820" y="0"/>
                  <a:pt x="190319"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9" name="TextBox 68"/>
          <p:cNvSpPr txBox="1">
            <a:spLocks/>
          </p:cNvSpPr>
          <p:nvPr/>
        </p:nvSpPr>
        <p:spPr>
          <a:xfrm>
            <a:off x="11640919" y="842827"/>
            <a:ext cx="167232" cy="167421"/>
          </a:xfrm>
          <a:custGeom>
            <a:avLst/>
            <a:gdLst/>
            <a:ahLst/>
            <a:cxnLst/>
            <a:rect l="l" t="t" r="r" b="b"/>
            <a:pathLst>
              <a:path w="362969" h="363474">
                <a:moveTo>
                  <a:pt x="181737" y="0"/>
                </a:moveTo>
                <a:cubicBezTo>
                  <a:pt x="285731" y="0"/>
                  <a:pt x="362969" y="75724"/>
                  <a:pt x="362969" y="181737"/>
                </a:cubicBezTo>
                <a:cubicBezTo>
                  <a:pt x="362969" y="287751"/>
                  <a:pt x="285731" y="363474"/>
                  <a:pt x="181737" y="363474"/>
                </a:cubicBezTo>
                <a:cubicBezTo>
                  <a:pt x="77238" y="363474"/>
                  <a:pt x="0" y="287751"/>
                  <a:pt x="0" y="181737"/>
                </a:cubicBezTo>
                <a:cubicBezTo>
                  <a:pt x="0" y="75724"/>
                  <a:pt x="77238" y="0"/>
                  <a:pt x="181737" y="0"/>
                </a:cubicBezTo>
                <a:close/>
                <a:moveTo>
                  <a:pt x="181737" y="10097"/>
                </a:moveTo>
                <a:cubicBezTo>
                  <a:pt x="123682" y="10097"/>
                  <a:pt x="103994" y="70676"/>
                  <a:pt x="103994" y="181737"/>
                </a:cubicBezTo>
                <a:cubicBezTo>
                  <a:pt x="103994" y="292799"/>
                  <a:pt x="123682" y="353378"/>
                  <a:pt x="181737" y="353378"/>
                </a:cubicBezTo>
                <a:cubicBezTo>
                  <a:pt x="239287" y="353378"/>
                  <a:pt x="258975" y="292799"/>
                  <a:pt x="258975" y="181737"/>
                </a:cubicBezTo>
                <a:cubicBezTo>
                  <a:pt x="258975" y="70676"/>
                  <a:pt x="239287" y="10097"/>
                  <a:pt x="181737" y="10097"/>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70" name="TextBox 69"/>
          <p:cNvSpPr txBox="1">
            <a:spLocks/>
          </p:cNvSpPr>
          <p:nvPr/>
        </p:nvSpPr>
        <p:spPr>
          <a:xfrm>
            <a:off x="11457735" y="843060"/>
            <a:ext cx="172117" cy="164863"/>
          </a:xfrm>
          <a:custGeom>
            <a:avLst/>
            <a:gdLst/>
            <a:ahLst/>
            <a:cxnLst/>
            <a:rect l="l" t="t" r="r" b="b"/>
            <a:pathLst>
              <a:path w="373571" h="357921">
                <a:moveTo>
                  <a:pt x="17164" y="0"/>
                </a:moveTo>
                <a:cubicBezTo>
                  <a:pt x="24232" y="3534"/>
                  <a:pt x="35338" y="4544"/>
                  <a:pt x="52502" y="4544"/>
                </a:cubicBezTo>
                <a:lnTo>
                  <a:pt x="321069" y="4544"/>
                </a:lnTo>
                <a:cubicBezTo>
                  <a:pt x="338233" y="4544"/>
                  <a:pt x="349339" y="3534"/>
                  <a:pt x="356407" y="0"/>
                </a:cubicBezTo>
                <a:lnTo>
                  <a:pt x="373571" y="119644"/>
                </a:lnTo>
                <a:lnTo>
                  <a:pt x="372561" y="119644"/>
                </a:lnTo>
                <a:cubicBezTo>
                  <a:pt x="329651" y="50988"/>
                  <a:pt x="309963" y="17669"/>
                  <a:pt x="255946" y="17669"/>
                </a:cubicBezTo>
                <a:lnTo>
                  <a:pt x="234239" y="17669"/>
                </a:lnTo>
                <a:lnTo>
                  <a:pt x="234239" y="297847"/>
                </a:lnTo>
                <a:cubicBezTo>
                  <a:pt x="234239" y="331165"/>
                  <a:pt x="240802" y="342272"/>
                  <a:pt x="263014" y="356912"/>
                </a:cubicBezTo>
                <a:lnTo>
                  <a:pt x="263014" y="357921"/>
                </a:lnTo>
                <a:lnTo>
                  <a:pt x="110557" y="357921"/>
                </a:lnTo>
                <a:lnTo>
                  <a:pt x="110557" y="356912"/>
                </a:lnTo>
                <a:cubicBezTo>
                  <a:pt x="133274" y="342272"/>
                  <a:pt x="139332" y="331165"/>
                  <a:pt x="139332" y="297847"/>
                </a:cubicBezTo>
                <a:lnTo>
                  <a:pt x="139332" y="17669"/>
                </a:lnTo>
                <a:lnTo>
                  <a:pt x="117624" y="17669"/>
                </a:lnTo>
                <a:cubicBezTo>
                  <a:pt x="63608" y="17669"/>
                  <a:pt x="43920" y="50988"/>
                  <a:pt x="1010" y="119644"/>
                </a:cubicBezTo>
                <a:lnTo>
                  <a:pt x="0" y="119644"/>
                </a:lnTo>
                <a:lnTo>
                  <a:pt x="17164" y="0"/>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grpSp>
        <p:nvGrpSpPr>
          <p:cNvPr id="2" name="Group 1"/>
          <p:cNvGrpSpPr/>
          <p:nvPr/>
        </p:nvGrpSpPr>
        <p:grpSpPr>
          <a:xfrm>
            <a:off x="11001879" y="849615"/>
            <a:ext cx="276881" cy="61257"/>
            <a:chOff x="10999013" y="849614"/>
            <a:chExt cx="276809" cy="61257"/>
          </a:xfrm>
          <a:solidFill>
            <a:schemeClr val="accent3"/>
          </a:solidFill>
        </p:grpSpPr>
        <p:sp>
          <p:nvSpPr>
            <p:cNvPr id="71" name="TextBox 70"/>
            <p:cNvSpPr txBox="1">
              <a:spLocks/>
            </p:cNvSpPr>
            <p:nvPr/>
          </p:nvSpPr>
          <p:spPr>
            <a:xfrm>
              <a:off x="10999013" y="849614"/>
              <a:ext cx="60220" cy="61257"/>
            </a:xfrm>
            <a:custGeom>
              <a:avLst/>
              <a:gdLst/>
              <a:ahLst/>
              <a:cxnLst/>
              <a:rect l="l" t="t" r="r" b="b"/>
              <a:pathLst>
                <a:path w="130738" h="132991">
                  <a:moveTo>
                    <a:pt x="65709" y="0"/>
                  </a:moveTo>
                  <a:cubicBezTo>
                    <a:pt x="86122" y="0"/>
                    <a:pt x="102063" y="5891"/>
                    <a:pt x="113533" y="17673"/>
                  </a:cubicBezTo>
                  <a:cubicBezTo>
                    <a:pt x="125003" y="29455"/>
                    <a:pt x="130738" y="45715"/>
                    <a:pt x="130738" y="66451"/>
                  </a:cubicBezTo>
                  <a:cubicBezTo>
                    <a:pt x="130738" y="87129"/>
                    <a:pt x="124987" y="103389"/>
                    <a:pt x="113485" y="115230"/>
                  </a:cubicBezTo>
                  <a:cubicBezTo>
                    <a:pt x="101982" y="127071"/>
                    <a:pt x="85992" y="132991"/>
                    <a:pt x="65515" y="132991"/>
                  </a:cubicBezTo>
                  <a:cubicBezTo>
                    <a:pt x="44584" y="132991"/>
                    <a:pt x="28432" y="127174"/>
                    <a:pt x="17059" y="115539"/>
                  </a:cubicBezTo>
                  <a:cubicBezTo>
                    <a:pt x="5686" y="103904"/>
                    <a:pt x="0" y="87483"/>
                    <a:pt x="0" y="66275"/>
                  </a:cubicBezTo>
                  <a:cubicBezTo>
                    <a:pt x="0" y="45243"/>
                    <a:pt x="5702" y="28940"/>
                    <a:pt x="17107" y="17364"/>
                  </a:cubicBezTo>
                  <a:cubicBezTo>
                    <a:pt x="28513" y="5788"/>
                    <a:pt x="44713" y="0"/>
                    <a:pt x="65709" y="0"/>
                  </a:cubicBezTo>
                  <a:close/>
                  <a:moveTo>
                    <a:pt x="65709" y="13431"/>
                  </a:moveTo>
                  <a:cubicBezTo>
                    <a:pt x="49962" y="13431"/>
                    <a:pt x="37990" y="17953"/>
                    <a:pt x="29793" y="26996"/>
                  </a:cubicBezTo>
                  <a:cubicBezTo>
                    <a:pt x="21595" y="36038"/>
                    <a:pt x="17496" y="49190"/>
                    <a:pt x="17496" y="66451"/>
                  </a:cubicBezTo>
                  <a:cubicBezTo>
                    <a:pt x="17496" y="83948"/>
                    <a:pt x="21595" y="97218"/>
                    <a:pt x="29793" y="106261"/>
                  </a:cubicBezTo>
                  <a:cubicBezTo>
                    <a:pt x="37990" y="115303"/>
                    <a:pt x="49897" y="119825"/>
                    <a:pt x="65515" y="119825"/>
                  </a:cubicBezTo>
                  <a:cubicBezTo>
                    <a:pt x="81262" y="119825"/>
                    <a:pt x="93153" y="115318"/>
                    <a:pt x="101188" y="106305"/>
                  </a:cubicBezTo>
                  <a:cubicBezTo>
                    <a:pt x="109224" y="97291"/>
                    <a:pt x="113242" y="84007"/>
                    <a:pt x="113242" y="66451"/>
                  </a:cubicBezTo>
                  <a:cubicBezTo>
                    <a:pt x="113242" y="49073"/>
                    <a:pt x="109240" y="35891"/>
                    <a:pt x="101237" y="26907"/>
                  </a:cubicBezTo>
                  <a:cubicBezTo>
                    <a:pt x="93234" y="17923"/>
                    <a:pt x="81391" y="13431"/>
                    <a:pt x="65709" y="13431"/>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72" name="TextBox 71"/>
            <p:cNvSpPr txBox="1">
              <a:spLocks/>
            </p:cNvSpPr>
            <p:nvPr/>
          </p:nvSpPr>
          <p:spPr>
            <a:xfrm>
              <a:off x="11068225" y="850549"/>
              <a:ext cx="36490" cy="59507"/>
            </a:xfrm>
            <a:custGeom>
              <a:avLst/>
              <a:gdLst/>
              <a:ahLst/>
              <a:cxnLst/>
              <a:rect l="l" t="t" r="r" b="b"/>
              <a:pathLst>
                <a:path w="79221" h="129192">
                  <a:moveTo>
                    <a:pt x="0" y="0"/>
                  </a:moveTo>
                  <a:lnTo>
                    <a:pt x="79221" y="0"/>
                  </a:lnTo>
                  <a:lnTo>
                    <a:pt x="79221" y="13343"/>
                  </a:lnTo>
                  <a:lnTo>
                    <a:pt x="16525" y="13343"/>
                  </a:lnTo>
                  <a:lnTo>
                    <a:pt x="16525" y="60620"/>
                  </a:lnTo>
                  <a:lnTo>
                    <a:pt x="75430" y="60620"/>
                  </a:lnTo>
                  <a:lnTo>
                    <a:pt x="75430" y="73963"/>
                  </a:lnTo>
                  <a:lnTo>
                    <a:pt x="16525" y="73963"/>
                  </a:lnTo>
                  <a:lnTo>
                    <a:pt x="16525" y="129192"/>
                  </a:lnTo>
                  <a:lnTo>
                    <a:pt x="0" y="129192"/>
                  </a:lnTo>
                  <a:lnTo>
                    <a:pt x="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73" name="TextBox 72"/>
            <p:cNvSpPr txBox="1">
              <a:spLocks/>
            </p:cNvSpPr>
            <p:nvPr/>
          </p:nvSpPr>
          <p:spPr>
            <a:xfrm>
              <a:off x="11121455" y="850549"/>
              <a:ext cx="49071" cy="59507"/>
            </a:xfrm>
            <a:custGeom>
              <a:avLst/>
              <a:gdLst/>
              <a:ahLst/>
              <a:cxnLst/>
              <a:rect l="l" t="t" r="r" b="b"/>
              <a:pathLst>
                <a:path w="106535" h="129192">
                  <a:moveTo>
                    <a:pt x="0" y="0"/>
                  </a:moveTo>
                  <a:lnTo>
                    <a:pt x="106535" y="0"/>
                  </a:lnTo>
                  <a:lnTo>
                    <a:pt x="106535" y="13343"/>
                  </a:lnTo>
                  <a:lnTo>
                    <a:pt x="61530" y="13343"/>
                  </a:lnTo>
                  <a:lnTo>
                    <a:pt x="61530" y="129192"/>
                  </a:lnTo>
                  <a:lnTo>
                    <a:pt x="45005" y="129192"/>
                  </a:lnTo>
                  <a:lnTo>
                    <a:pt x="45005" y="13343"/>
                  </a:lnTo>
                  <a:lnTo>
                    <a:pt x="0" y="13343"/>
                  </a:lnTo>
                  <a:lnTo>
                    <a:pt x="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74" name="TextBox 73"/>
            <p:cNvSpPr txBox="1">
              <a:spLocks/>
            </p:cNvSpPr>
            <p:nvPr/>
          </p:nvSpPr>
          <p:spPr>
            <a:xfrm>
              <a:off x="11177909" y="850549"/>
              <a:ext cx="49698" cy="59507"/>
            </a:xfrm>
            <a:custGeom>
              <a:avLst/>
              <a:gdLst/>
              <a:ahLst/>
              <a:cxnLst/>
              <a:rect l="l" t="t" r="r" b="b"/>
              <a:pathLst>
                <a:path w="107896" h="129192">
                  <a:moveTo>
                    <a:pt x="0" y="0"/>
                  </a:moveTo>
                  <a:lnTo>
                    <a:pt x="16525" y="0"/>
                  </a:lnTo>
                  <a:lnTo>
                    <a:pt x="16525" y="54964"/>
                  </a:lnTo>
                  <a:lnTo>
                    <a:pt x="91371" y="54964"/>
                  </a:lnTo>
                  <a:lnTo>
                    <a:pt x="91371" y="0"/>
                  </a:lnTo>
                  <a:lnTo>
                    <a:pt x="107896" y="0"/>
                  </a:lnTo>
                  <a:lnTo>
                    <a:pt x="107896" y="129192"/>
                  </a:lnTo>
                  <a:lnTo>
                    <a:pt x="91371" y="129192"/>
                  </a:lnTo>
                  <a:lnTo>
                    <a:pt x="91371" y="68396"/>
                  </a:lnTo>
                  <a:lnTo>
                    <a:pt x="16525" y="68396"/>
                  </a:lnTo>
                  <a:lnTo>
                    <a:pt x="16525" y="129192"/>
                  </a:lnTo>
                  <a:lnTo>
                    <a:pt x="0" y="129192"/>
                  </a:lnTo>
                  <a:lnTo>
                    <a:pt x="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75" name="TextBox 74"/>
            <p:cNvSpPr txBox="1">
              <a:spLocks/>
            </p:cNvSpPr>
            <p:nvPr/>
          </p:nvSpPr>
          <p:spPr>
            <a:xfrm>
              <a:off x="11239332" y="850549"/>
              <a:ext cx="36490" cy="59507"/>
            </a:xfrm>
            <a:custGeom>
              <a:avLst/>
              <a:gdLst/>
              <a:ahLst/>
              <a:cxnLst/>
              <a:rect l="l" t="t" r="r" b="b"/>
              <a:pathLst>
                <a:path w="79221" h="129192">
                  <a:moveTo>
                    <a:pt x="0" y="0"/>
                  </a:moveTo>
                  <a:lnTo>
                    <a:pt x="79221" y="0"/>
                  </a:lnTo>
                  <a:lnTo>
                    <a:pt x="79221" y="13343"/>
                  </a:lnTo>
                  <a:lnTo>
                    <a:pt x="16525" y="13343"/>
                  </a:lnTo>
                  <a:lnTo>
                    <a:pt x="16525" y="54964"/>
                  </a:lnTo>
                  <a:lnTo>
                    <a:pt x="75430" y="54964"/>
                  </a:lnTo>
                  <a:lnTo>
                    <a:pt x="75430" y="68219"/>
                  </a:lnTo>
                  <a:lnTo>
                    <a:pt x="16525" y="68219"/>
                  </a:lnTo>
                  <a:lnTo>
                    <a:pt x="16525" y="115760"/>
                  </a:lnTo>
                  <a:lnTo>
                    <a:pt x="79221" y="115760"/>
                  </a:lnTo>
                  <a:lnTo>
                    <a:pt x="79221" y="129192"/>
                  </a:lnTo>
                  <a:lnTo>
                    <a:pt x="0" y="129192"/>
                  </a:lnTo>
                  <a:lnTo>
                    <a:pt x="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grpSp>
      <p:sp>
        <p:nvSpPr>
          <p:cNvPr id="24" name="Content Placeholder 8"/>
          <p:cNvSpPr txBox="1">
            <a:spLocks/>
          </p:cNvSpPr>
          <p:nvPr userDrawn="1"/>
        </p:nvSpPr>
        <p:spPr>
          <a:xfrm>
            <a:off x="11104408" y="6418626"/>
            <a:ext cx="734493" cy="228600"/>
          </a:xfrm>
          <a:prstGeom prst="rect">
            <a:avLst/>
          </a:prstGeom>
        </p:spPr>
        <p:txBody>
          <a:bodyPr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en-US" sz="1000">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rPr>
              <a:t> </a:t>
            </a:r>
            <a:fld id="{38743595-4496-5147-A886-7D133864DF76}" type="slidenum">
              <a:rPr lang="en-US" sz="1000" smtClean="0">
                <a:solidFill>
                  <a:srgbClr val="3F3F3F"/>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rPr>
              <a:pPr algn="r"/>
              <a:t>‹#›</a:t>
            </a:fld>
            <a:endParaRPr lang="en-US" sz="1000">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p:txBody>
      </p:sp>
      <p:sp>
        <p:nvSpPr>
          <p:cNvPr id="25" name="MSIPCMContentMarking" descr="{&quot;HashCode&quot;:-356254672,&quot;Placement&quot;:&quot;Footer&quot;}">
            <a:extLst>
              <a:ext uri="{FF2B5EF4-FFF2-40B4-BE49-F238E27FC236}">
                <a16:creationId xmlns:a16="http://schemas.microsoft.com/office/drawing/2014/main" id="{B869DC3D-CEDB-48B8-8C95-B8965AA1143A}"/>
              </a:ext>
            </a:extLst>
          </p:cNvPr>
          <p:cNvSpPr txBox="1"/>
          <p:nvPr userDrawn="1"/>
        </p:nvSpPr>
        <p:spPr>
          <a:xfrm>
            <a:off x="10717460" y="6413372"/>
            <a:ext cx="709344" cy="228163"/>
          </a:xfrm>
          <a:prstGeom prst="rect">
            <a:avLst/>
          </a:prstGeom>
          <a:noFill/>
        </p:spPr>
        <p:txBody>
          <a:bodyPr vert="horz" wrap="square" lIns="0" tIns="0" rIns="0" bIns="0" rtlCol="0" anchor="ctr" anchorCtr="1">
            <a:noAutofit/>
          </a:bodyPr>
          <a:lstStyle/>
          <a:p>
            <a:pPr algn="l" defTabSz="456758" fontAlgn="base">
              <a:spcBef>
                <a:spcPts val="0"/>
              </a:spcBef>
              <a:spcAft>
                <a:spcPts val="0"/>
              </a:spcAft>
            </a:pPr>
            <a:r>
              <a:rPr lang="en-US" sz="800">
                <a:solidFill>
                  <a:srgbClr val="414141"/>
                </a:solidFill>
                <a:latin typeface="Arial" panose="020B0604020202020204" pitchFamily="34" charset="0"/>
                <a:cs typeface="Arial" panose="020B0604020202020204" pitchFamily="34" charset="0"/>
                <a:sym typeface="Arial" panose="020B0604020202020204" pitchFamily="34" charset="0"/>
              </a:rPr>
              <a:t>Proprietary</a:t>
            </a:r>
            <a:endParaRPr lang="en-US" sz="800" err="1">
              <a:solidFill>
                <a:srgbClr val="414141"/>
              </a:solidFill>
              <a:latin typeface="Arial" panose="020B0604020202020204" pitchFamily="34" charset="0"/>
              <a:cs typeface="Arial" panose="020B0604020202020204" pitchFamily="34" charset="0"/>
              <a:sym typeface="Arial" panose="020B0604020202020204" pitchFamily="34" charset="0"/>
            </a:endParaRPr>
          </a:p>
        </p:txBody>
      </p:sp>
      <p:sp>
        <p:nvSpPr>
          <p:cNvPr id="26" name="Rectangle 25"/>
          <p:cNvSpPr/>
          <p:nvPr userDrawn="1"/>
        </p:nvSpPr>
        <p:spPr>
          <a:xfrm>
            <a:off x="8808590" y="1554232"/>
            <a:ext cx="91440" cy="530352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b="1">
              <a:latin typeface="Arial" panose="020B0604020202020204" pitchFamily="34" charset="0"/>
              <a:cs typeface="Arial" panose="020B0604020202020204" pitchFamily="34" charset="0"/>
              <a:sym typeface="Arial" panose="020B0604020202020204" pitchFamily="34" charset="0"/>
            </a:endParaRPr>
          </a:p>
        </p:txBody>
      </p:sp>
      <p:sp>
        <p:nvSpPr>
          <p:cNvPr id="27" name="Text Placeholder 4"/>
          <p:cNvSpPr>
            <a:spLocks noGrp="1"/>
          </p:cNvSpPr>
          <p:nvPr>
            <p:ph type="body" sz="quarter" idx="12" hasCustomPrompt="1"/>
          </p:nvPr>
        </p:nvSpPr>
        <p:spPr>
          <a:xfrm>
            <a:off x="457200" y="2011432"/>
            <a:ext cx="7937863" cy="4162249"/>
          </a:xfrm>
          <a:prstGeom prst="rect">
            <a:avLst/>
          </a:prstGeom>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pPr lvl="0"/>
            <a:r>
              <a:rPr lang="en-US"/>
              <a:t>Body text</a:t>
            </a:r>
          </a:p>
        </p:txBody>
      </p:sp>
      <p:pic>
        <p:nvPicPr>
          <p:cNvPr id="28" name="Picture 27" descr="Text&#10;&#10;Description automatically generated with low confidence">
            <a:extLst>
              <a:ext uri="{FF2B5EF4-FFF2-40B4-BE49-F238E27FC236}">
                <a16:creationId xmlns:a16="http://schemas.microsoft.com/office/drawing/2014/main" id="{F017662F-23AA-4890-85AE-FA5C0F4C3FE9}"/>
              </a:ext>
            </a:extLst>
          </p:cNvPr>
          <p:cNvPicPr>
            <a:picLocks noChangeAspect="1"/>
          </p:cNvPicPr>
          <p:nvPr userDrawn="1"/>
        </p:nvPicPr>
        <p:blipFill>
          <a:blip r:embed="rId5"/>
          <a:stretch>
            <a:fillRect/>
          </a:stretch>
        </p:blipFill>
        <p:spPr>
          <a:xfrm>
            <a:off x="10539101" y="456915"/>
            <a:ext cx="1426464" cy="71323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ternal Slide - Photo Right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8196418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2" name="Picture Placeholder 5"/>
          <p:cNvSpPr>
            <a:spLocks noGrp="1"/>
          </p:cNvSpPr>
          <p:nvPr>
            <p:ph type="pic" sz="quarter" idx="13" hasCustomPrompt="1"/>
          </p:nvPr>
        </p:nvSpPr>
        <p:spPr>
          <a:xfrm>
            <a:off x="8351520" y="1554481"/>
            <a:ext cx="3840480" cy="5303519"/>
          </a:xfrm>
          <a:prstGeom prst="rect">
            <a:avLst/>
          </a:prstGeom>
          <a:solidFill>
            <a:schemeClr val="bg2"/>
          </a:solidFill>
        </p:spPr>
        <p:txBody>
          <a:bodyPr anchor="ctr"/>
          <a:lstStyle>
            <a:lvl1pPr algn="ctr">
              <a:defRPr sz="320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IMAGE</a:t>
            </a:r>
          </a:p>
        </p:txBody>
      </p:sp>
      <p:sp>
        <p:nvSpPr>
          <p:cNvPr id="55" name="Rectangle 54"/>
          <p:cNvSpPr/>
          <p:nvPr/>
        </p:nvSpPr>
        <p:spPr>
          <a:xfrm>
            <a:off x="24064" y="-38022"/>
            <a:ext cx="12191996" cy="1554480"/>
          </a:xfrm>
          <a:prstGeom prst="rect">
            <a:avLst/>
          </a:prstGeom>
          <a:solidFill>
            <a:srgbClr val="064E69"/>
          </a:solidFill>
        </p:spPr>
        <p:txBody>
          <a:bodyPr wrap="square" lIns="548640" tIns="0" rIns="91440" bIns="0" anchor="ctr">
            <a:noAutofit/>
          </a:bodyPr>
          <a:lstStyle/>
          <a:p>
            <a:endParaRPr lang="en-US" sz="4000" b="1">
              <a:solidFill>
                <a:schemeClr val="bg1"/>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56" name="Rectangle 55"/>
          <p:cNvSpPr/>
          <p:nvPr/>
        </p:nvSpPr>
        <p:spPr>
          <a:xfrm>
            <a:off x="-1" y="1448246"/>
            <a:ext cx="12192127" cy="10673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b="1">
              <a:latin typeface="Arial" panose="020B0604020202020204" pitchFamily="34" charset="0"/>
              <a:cs typeface="Arial" panose="020B0604020202020204" pitchFamily="34" charset="0"/>
              <a:sym typeface="Arial" panose="020B0604020202020204" pitchFamily="34" charset="0"/>
            </a:endParaRPr>
          </a:p>
        </p:txBody>
      </p:sp>
      <p:sp>
        <p:nvSpPr>
          <p:cNvPr id="57" name="Title 1"/>
          <p:cNvSpPr>
            <a:spLocks noGrp="1"/>
          </p:cNvSpPr>
          <p:nvPr>
            <p:ph type="title" hasCustomPrompt="1"/>
          </p:nvPr>
        </p:nvSpPr>
        <p:spPr>
          <a:xfrm>
            <a:off x="457200" y="296379"/>
            <a:ext cx="9688623" cy="476805"/>
          </a:xfrm>
          <a:prstGeom prst="rect">
            <a:avLst/>
          </a:prstGeom>
        </p:spPr>
        <p:txBody>
          <a:bodyPr tIns="0" bIns="0" anchor="t" anchorCtr="0"/>
          <a:lstStyle>
            <a:lvl1pPr algn="l">
              <a:defRPr sz="3000" b="1">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Title</a:t>
            </a:r>
          </a:p>
        </p:txBody>
      </p:sp>
      <p:sp>
        <p:nvSpPr>
          <p:cNvPr id="58" name="Text Placeholder 9"/>
          <p:cNvSpPr>
            <a:spLocks noGrp="1"/>
          </p:cNvSpPr>
          <p:nvPr>
            <p:ph type="body" sz="quarter" idx="11" hasCustomPrompt="1"/>
          </p:nvPr>
        </p:nvSpPr>
        <p:spPr>
          <a:xfrm>
            <a:off x="457200" y="860151"/>
            <a:ext cx="9688622" cy="423094"/>
          </a:xfrm>
          <a:prstGeom prst="rect">
            <a:avLst/>
          </a:prstGeom>
        </p:spPr>
        <p:txBody>
          <a:bodyPr anchor="ctr"/>
          <a:lstStyle>
            <a:lvl1pPr algn="l">
              <a:lnSpc>
                <a:spcPct val="90000"/>
              </a:lnSpc>
              <a:spcBef>
                <a:spcPts val="0"/>
              </a:spcBef>
              <a:defRPr sz="2000">
                <a:solidFill>
                  <a:schemeClr val="bg1"/>
                </a:solidFill>
                <a:latin typeface="Arial" panose="020B0604020202020204" pitchFamily="34" charset="0"/>
                <a:cs typeface="Arial" panose="020B0604020202020204" pitchFamily="34" charset="0"/>
                <a:sym typeface="Arial" panose="020B0604020202020204" pitchFamily="34" charset="0"/>
              </a:defRPr>
            </a:lvl1pPr>
          </a:lstStyle>
          <a:p>
            <a:pPr lvl="0"/>
            <a:r>
              <a:rPr lang="en-US"/>
              <a:t>Subtitle</a:t>
            </a:r>
          </a:p>
        </p:txBody>
      </p:sp>
      <p:cxnSp>
        <p:nvCxnSpPr>
          <p:cNvPr id="59" name="Straight Connector 58"/>
          <p:cNvCxnSpPr/>
          <p:nvPr/>
        </p:nvCxnSpPr>
        <p:spPr>
          <a:xfrm>
            <a:off x="10363874" y="222724"/>
            <a:ext cx="0" cy="1032988"/>
          </a:xfrm>
          <a:prstGeom prst="line">
            <a:avLst/>
          </a:prstGeom>
          <a:ln w="15875" cmpd="sng">
            <a:solidFill>
              <a:schemeClr val="accent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3" name="TextBox 62"/>
          <p:cNvSpPr txBox="1">
            <a:spLocks/>
          </p:cNvSpPr>
          <p:nvPr/>
        </p:nvSpPr>
        <p:spPr>
          <a:xfrm>
            <a:off x="11008872" y="633221"/>
            <a:ext cx="224212" cy="176024"/>
          </a:xfrm>
          <a:custGeom>
            <a:avLst/>
            <a:gdLst/>
            <a:ahLst/>
            <a:cxnLst/>
            <a:rect l="l" t="t" r="r" b="b"/>
            <a:pathLst>
              <a:path w="486642" h="382152">
                <a:moveTo>
                  <a:pt x="150943" y="0"/>
                </a:moveTo>
                <a:cubicBezTo>
                  <a:pt x="191582" y="0"/>
                  <a:pt x="224490" y="12368"/>
                  <a:pt x="232082" y="39810"/>
                </a:cubicBezTo>
                <a:lnTo>
                  <a:pt x="232262" y="41192"/>
                </a:lnTo>
                <a:lnTo>
                  <a:pt x="244394" y="27828"/>
                </a:lnTo>
                <a:cubicBezTo>
                  <a:pt x="265912" y="9086"/>
                  <a:pt x="296328" y="0"/>
                  <a:pt x="331918" y="0"/>
                </a:cubicBezTo>
                <a:cubicBezTo>
                  <a:pt x="355140" y="0"/>
                  <a:pt x="375838" y="4038"/>
                  <a:pt x="390730" y="12620"/>
                </a:cubicBezTo>
                <a:lnTo>
                  <a:pt x="399550" y="19037"/>
                </a:lnTo>
                <a:lnTo>
                  <a:pt x="415123" y="9213"/>
                </a:lnTo>
                <a:cubicBezTo>
                  <a:pt x="421204" y="6846"/>
                  <a:pt x="427956" y="5553"/>
                  <a:pt x="435150" y="5553"/>
                </a:cubicBezTo>
                <a:cubicBezTo>
                  <a:pt x="464430" y="5553"/>
                  <a:pt x="486642" y="26250"/>
                  <a:pt x="486642" y="53511"/>
                </a:cubicBezTo>
                <a:cubicBezTo>
                  <a:pt x="486642" y="80772"/>
                  <a:pt x="464430" y="101974"/>
                  <a:pt x="435150" y="101974"/>
                </a:cubicBezTo>
                <a:cubicBezTo>
                  <a:pt x="420763" y="101974"/>
                  <a:pt x="408142" y="96674"/>
                  <a:pt x="399118" y="87965"/>
                </a:cubicBezTo>
                <a:lnTo>
                  <a:pt x="397141" y="85099"/>
                </a:lnTo>
                <a:lnTo>
                  <a:pt x="387023" y="90979"/>
                </a:lnTo>
                <a:cubicBezTo>
                  <a:pt x="381675" y="92887"/>
                  <a:pt x="375838" y="93897"/>
                  <a:pt x="369780" y="93897"/>
                </a:cubicBezTo>
                <a:cubicBezTo>
                  <a:pt x="355140" y="93897"/>
                  <a:pt x="342015" y="89354"/>
                  <a:pt x="335452" y="81781"/>
                </a:cubicBezTo>
                <a:cubicBezTo>
                  <a:pt x="350092" y="78247"/>
                  <a:pt x="359179" y="66132"/>
                  <a:pt x="359179" y="42910"/>
                </a:cubicBezTo>
                <a:cubicBezTo>
                  <a:pt x="359179" y="22717"/>
                  <a:pt x="350597" y="8077"/>
                  <a:pt x="331918" y="8077"/>
                </a:cubicBezTo>
                <a:cubicBezTo>
                  <a:pt x="308696" y="8077"/>
                  <a:pt x="300619" y="29784"/>
                  <a:pt x="300619" y="58054"/>
                </a:cubicBezTo>
                <a:lnTo>
                  <a:pt x="300619" y="132264"/>
                </a:lnTo>
                <a:lnTo>
                  <a:pt x="363217" y="132264"/>
                </a:lnTo>
                <a:lnTo>
                  <a:pt x="360693" y="144884"/>
                </a:lnTo>
                <a:lnTo>
                  <a:pt x="300619" y="144884"/>
                </a:lnTo>
                <a:lnTo>
                  <a:pt x="300619" y="327126"/>
                </a:lnTo>
                <a:cubicBezTo>
                  <a:pt x="300619" y="360445"/>
                  <a:pt x="312230" y="369027"/>
                  <a:pt x="339490" y="381142"/>
                </a:cubicBezTo>
                <a:lnTo>
                  <a:pt x="339490" y="382152"/>
                </a:lnTo>
                <a:lnTo>
                  <a:pt x="186529" y="382152"/>
                </a:lnTo>
                <a:lnTo>
                  <a:pt x="186529" y="381142"/>
                </a:lnTo>
                <a:cubicBezTo>
                  <a:pt x="208741" y="367007"/>
                  <a:pt x="210255" y="360445"/>
                  <a:pt x="210255" y="327126"/>
                </a:cubicBezTo>
                <a:lnTo>
                  <a:pt x="210255" y="144884"/>
                </a:lnTo>
                <a:lnTo>
                  <a:pt x="180976" y="144884"/>
                </a:lnTo>
                <a:lnTo>
                  <a:pt x="180976" y="139331"/>
                </a:lnTo>
                <a:lnTo>
                  <a:pt x="210255" y="128225"/>
                </a:lnTo>
                <a:lnTo>
                  <a:pt x="210255" y="113585"/>
                </a:lnTo>
                <a:lnTo>
                  <a:pt x="212504" y="87227"/>
                </a:lnTo>
                <a:lnTo>
                  <a:pt x="206048" y="90979"/>
                </a:lnTo>
                <a:cubicBezTo>
                  <a:pt x="200700" y="92887"/>
                  <a:pt x="194863" y="93897"/>
                  <a:pt x="188805" y="93897"/>
                </a:cubicBezTo>
                <a:cubicBezTo>
                  <a:pt x="174165" y="93897"/>
                  <a:pt x="161040" y="89354"/>
                  <a:pt x="154477" y="81781"/>
                </a:cubicBezTo>
                <a:cubicBezTo>
                  <a:pt x="169117" y="78247"/>
                  <a:pt x="178204" y="66132"/>
                  <a:pt x="178204" y="42910"/>
                </a:cubicBezTo>
                <a:cubicBezTo>
                  <a:pt x="178204" y="22717"/>
                  <a:pt x="169622" y="8077"/>
                  <a:pt x="150943" y="8077"/>
                </a:cubicBezTo>
                <a:cubicBezTo>
                  <a:pt x="127721" y="8077"/>
                  <a:pt x="119644" y="29784"/>
                  <a:pt x="119644" y="58054"/>
                </a:cubicBezTo>
                <a:lnTo>
                  <a:pt x="119644" y="132264"/>
                </a:lnTo>
                <a:lnTo>
                  <a:pt x="182242" y="132264"/>
                </a:lnTo>
                <a:lnTo>
                  <a:pt x="179718" y="144884"/>
                </a:lnTo>
                <a:lnTo>
                  <a:pt x="119644" y="144884"/>
                </a:lnTo>
                <a:lnTo>
                  <a:pt x="119644" y="327126"/>
                </a:lnTo>
                <a:cubicBezTo>
                  <a:pt x="119644" y="360445"/>
                  <a:pt x="131255" y="369027"/>
                  <a:pt x="158516" y="381142"/>
                </a:cubicBezTo>
                <a:lnTo>
                  <a:pt x="158516" y="382152"/>
                </a:lnTo>
                <a:lnTo>
                  <a:pt x="5554" y="382152"/>
                </a:lnTo>
                <a:lnTo>
                  <a:pt x="5554" y="381142"/>
                </a:lnTo>
                <a:cubicBezTo>
                  <a:pt x="27766" y="367007"/>
                  <a:pt x="29280" y="360445"/>
                  <a:pt x="29280" y="327126"/>
                </a:cubicBezTo>
                <a:lnTo>
                  <a:pt x="29280" y="144884"/>
                </a:lnTo>
                <a:lnTo>
                  <a:pt x="0" y="144884"/>
                </a:lnTo>
                <a:lnTo>
                  <a:pt x="0" y="139331"/>
                </a:lnTo>
                <a:lnTo>
                  <a:pt x="29280" y="128225"/>
                </a:lnTo>
                <a:lnTo>
                  <a:pt x="29280" y="113585"/>
                </a:lnTo>
                <a:cubicBezTo>
                  <a:pt x="29280" y="36347"/>
                  <a:pt x="79763" y="0"/>
                  <a:pt x="150943"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4" name="TextBox 63"/>
          <p:cNvSpPr txBox="1">
            <a:spLocks/>
          </p:cNvSpPr>
          <p:nvPr/>
        </p:nvSpPr>
        <p:spPr>
          <a:xfrm>
            <a:off x="10828278" y="644150"/>
            <a:ext cx="167232" cy="167421"/>
          </a:xfrm>
          <a:custGeom>
            <a:avLst/>
            <a:gdLst/>
            <a:ahLst/>
            <a:cxnLst/>
            <a:rect l="l" t="t" r="r" b="b"/>
            <a:pathLst>
              <a:path w="362969" h="363474">
                <a:moveTo>
                  <a:pt x="181737" y="0"/>
                </a:moveTo>
                <a:cubicBezTo>
                  <a:pt x="285731" y="0"/>
                  <a:pt x="362969" y="75724"/>
                  <a:pt x="362969" y="181737"/>
                </a:cubicBezTo>
                <a:cubicBezTo>
                  <a:pt x="362969" y="287751"/>
                  <a:pt x="285731" y="363474"/>
                  <a:pt x="181737" y="363474"/>
                </a:cubicBezTo>
                <a:cubicBezTo>
                  <a:pt x="77238" y="363474"/>
                  <a:pt x="0" y="287751"/>
                  <a:pt x="0" y="181737"/>
                </a:cubicBezTo>
                <a:cubicBezTo>
                  <a:pt x="0" y="75724"/>
                  <a:pt x="77238" y="0"/>
                  <a:pt x="181737" y="0"/>
                </a:cubicBezTo>
                <a:close/>
                <a:moveTo>
                  <a:pt x="181737" y="10097"/>
                </a:moveTo>
                <a:cubicBezTo>
                  <a:pt x="123682" y="10097"/>
                  <a:pt x="103994" y="70676"/>
                  <a:pt x="103994" y="181737"/>
                </a:cubicBezTo>
                <a:cubicBezTo>
                  <a:pt x="103994" y="292799"/>
                  <a:pt x="123682" y="353378"/>
                  <a:pt x="181737" y="353378"/>
                </a:cubicBezTo>
                <a:cubicBezTo>
                  <a:pt x="239287" y="353378"/>
                  <a:pt x="258975" y="292799"/>
                  <a:pt x="258975" y="181737"/>
                </a:cubicBezTo>
                <a:cubicBezTo>
                  <a:pt x="258975" y="70676"/>
                  <a:pt x="239287" y="10097"/>
                  <a:pt x="181737" y="10097"/>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5" name="TextBox 64"/>
          <p:cNvSpPr txBox="1">
            <a:spLocks/>
          </p:cNvSpPr>
          <p:nvPr/>
        </p:nvSpPr>
        <p:spPr>
          <a:xfrm>
            <a:off x="11252333" y="691818"/>
            <a:ext cx="113038" cy="119752"/>
          </a:xfrm>
          <a:custGeom>
            <a:avLst/>
            <a:gdLst/>
            <a:ahLst/>
            <a:cxnLst/>
            <a:rect l="l" t="t" r="r" b="b"/>
            <a:pathLst>
              <a:path w="245345" h="259984">
                <a:moveTo>
                  <a:pt x="144885" y="0"/>
                </a:moveTo>
                <a:cubicBezTo>
                  <a:pt x="199406" y="0"/>
                  <a:pt x="240297" y="23726"/>
                  <a:pt x="240297" y="65122"/>
                </a:cubicBezTo>
                <a:cubicBezTo>
                  <a:pt x="240297" y="95411"/>
                  <a:pt x="217075" y="111061"/>
                  <a:pt x="192843" y="111061"/>
                </a:cubicBezTo>
                <a:cubicBezTo>
                  <a:pt x="166087" y="111061"/>
                  <a:pt x="150438" y="96421"/>
                  <a:pt x="148923" y="81781"/>
                </a:cubicBezTo>
                <a:cubicBezTo>
                  <a:pt x="151952" y="82791"/>
                  <a:pt x="155486" y="83296"/>
                  <a:pt x="158010" y="83296"/>
                </a:cubicBezTo>
                <a:cubicBezTo>
                  <a:pt x="176689" y="83296"/>
                  <a:pt x="184261" y="67646"/>
                  <a:pt x="184261" y="48463"/>
                </a:cubicBezTo>
                <a:cubicBezTo>
                  <a:pt x="184261" y="24231"/>
                  <a:pt x="171136" y="8582"/>
                  <a:pt x="145894" y="8582"/>
                </a:cubicBezTo>
                <a:cubicBezTo>
                  <a:pt x="110557" y="8582"/>
                  <a:pt x="93897" y="54016"/>
                  <a:pt x="93897" y="112575"/>
                </a:cubicBezTo>
                <a:cubicBezTo>
                  <a:pt x="93897" y="181737"/>
                  <a:pt x="124692" y="218589"/>
                  <a:pt x="171640" y="218589"/>
                </a:cubicBezTo>
                <a:cubicBezTo>
                  <a:pt x="200415" y="218589"/>
                  <a:pt x="226666" y="204958"/>
                  <a:pt x="242316" y="173659"/>
                </a:cubicBezTo>
                <a:lnTo>
                  <a:pt x="245345" y="175174"/>
                </a:lnTo>
                <a:cubicBezTo>
                  <a:pt x="231210" y="229190"/>
                  <a:pt x="185775" y="259984"/>
                  <a:pt x="129740" y="259984"/>
                </a:cubicBezTo>
                <a:cubicBezTo>
                  <a:pt x="60074" y="259984"/>
                  <a:pt x="0" y="213036"/>
                  <a:pt x="0" y="134788"/>
                </a:cubicBezTo>
                <a:cubicBezTo>
                  <a:pt x="0" y="49977"/>
                  <a:pt x="63608" y="0"/>
                  <a:pt x="144885"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6" name="TextBox 65"/>
          <p:cNvSpPr txBox="1">
            <a:spLocks/>
          </p:cNvSpPr>
          <p:nvPr/>
        </p:nvSpPr>
        <p:spPr>
          <a:xfrm>
            <a:off x="11375209" y="691818"/>
            <a:ext cx="116062" cy="119752"/>
          </a:xfrm>
          <a:custGeom>
            <a:avLst/>
            <a:gdLst/>
            <a:ahLst/>
            <a:cxnLst/>
            <a:rect l="l" t="t" r="r" b="b"/>
            <a:pathLst>
              <a:path w="251908" h="259984">
                <a:moveTo>
                  <a:pt x="132264" y="0"/>
                </a:moveTo>
                <a:cubicBezTo>
                  <a:pt x="213541" y="0"/>
                  <a:pt x="251908" y="51996"/>
                  <a:pt x="251908" y="118633"/>
                </a:cubicBezTo>
                <a:lnTo>
                  <a:pt x="91373" y="118633"/>
                </a:lnTo>
                <a:cubicBezTo>
                  <a:pt x="91373" y="181232"/>
                  <a:pt x="124187" y="218589"/>
                  <a:pt x="172650" y="218589"/>
                </a:cubicBezTo>
                <a:cubicBezTo>
                  <a:pt x="203444" y="218589"/>
                  <a:pt x="230200" y="204958"/>
                  <a:pt x="245850" y="173659"/>
                </a:cubicBezTo>
                <a:lnTo>
                  <a:pt x="249383" y="175174"/>
                </a:lnTo>
                <a:cubicBezTo>
                  <a:pt x="234744" y="229190"/>
                  <a:pt x="189309" y="259984"/>
                  <a:pt x="131759" y="259984"/>
                </a:cubicBezTo>
                <a:cubicBezTo>
                  <a:pt x="59569" y="259984"/>
                  <a:pt x="0" y="212531"/>
                  <a:pt x="0" y="130244"/>
                </a:cubicBezTo>
                <a:cubicBezTo>
                  <a:pt x="0" y="50987"/>
                  <a:pt x="60074" y="0"/>
                  <a:pt x="132264" y="0"/>
                </a:cubicBezTo>
                <a:close/>
                <a:moveTo>
                  <a:pt x="132264" y="8582"/>
                </a:moveTo>
                <a:cubicBezTo>
                  <a:pt x="106013" y="8582"/>
                  <a:pt x="92888" y="48463"/>
                  <a:pt x="91878" y="108032"/>
                </a:cubicBezTo>
                <a:lnTo>
                  <a:pt x="165078" y="108032"/>
                </a:lnTo>
                <a:cubicBezTo>
                  <a:pt x="165078" y="51492"/>
                  <a:pt x="161039" y="8582"/>
                  <a:pt x="132264" y="8582"/>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7" name="TextBox 66"/>
          <p:cNvSpPr txBox="1">
            <a:spLocks/>
          </p:cNvSpPr>
          <p:nvPr/>
        </p:nvSpPr>
        <p:spPr>
          <a:xfrm>
            <a:off x="11176798" y="694143"/>
            <a:ext cx="64892" cy="115102"/>
          </a:xfrm>
          <a:custGeom>
            <a:avLst/>
            <a:gdLst/>
            <a:ahLst/>
            <a:cxnLst/>
            <a:rect l="l" t="t" r="r" b="b"/>
            <a:pathLst>
              <a:path w="140846" h="249888">
                <a:moveTo>
                  <a:pt x="0" y="0"/>
                </a:moveTo>
                <a:lnTo>
                  <a:pt x="117119" y="0"/>
                </a:lnTo>
                <a:lnTo>
                  <a:pt x="117119" y="194862"/>
                </a:lnTo>
                <a:cubicBezTo>
                  <a:pt x="117119" y="228181"/>
                  <a:pt x="118633" y="234743"/>
                  <a:pt x="140846" y="248878"/>
                </a:cubicBezTo>
                <a:lnTo>
                  <a:pt x="140846" y="249888"/>
                </a:lnTo>
                <a:lnTo>
                  <a:pt x="3029" y="249888"/>
                </a:lnTo>
                <a:lnTo>
                  <a:pt x="3029" y="248878"/>
                </a:lnTo>
                <a:cubicBezTo>
                  <a:pt x="25241" y="234743"/>
                  <a:pt x="26755" y="228181"/>
                  <a:pt x="26755" y="194862"/>
                </a:cubicBezTo>
                <a:lnTo>
                  <a:pt x="26755" y="56035"/>
                </a:lnTo>
                <a:cubicBezTo>
                  <a:pt x="26755" y="21707"/>
                  <a:pt x="23726" y="14640"/>
                  <a:pt x="0" y="1009"/>
                </a:cubicBezTo>
                <a:lnTo>
                  <a:pt x="0" y="0"/>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8" name="TextBox 67"/>
          <p:cNvSpPr txBox="1">
            <a:spLocks/>
          </p:cNvSpPr>
          <p:nvPr/>
        </p:nvSpPr>
        <p:spPr>
          <a:xfrm>
            <a:off x="11298619" y="842827"/>
            <a:ext cx="149090" cy="167421"/>
          </a:xfrm>
          <a:custGeom>
            <a:avLst/>
            <a:gdLst/>
            <a:ahLst/>
            <a:cxnLst/>
            <a:rect l="l" t="t" r="r" b="b"/>
            <a:pathLst>
              <a:path w="323593" h="363474">
                <a:moveTo>
                  <a:pt x="190319" y="0"/>
                </a:moveTo>
                <a:cubicBezTo>
                  <a:pt x="236258" y="0"/>
                  <a:pt x="260994" y="15145"/>
                  <a:pt x="277653" y="15145"/>
                </a:cubicBezTo>
                <a:cubicBezTo>
                  <a:pt x="291284" y="15145"/>
                  <a:pt x="299866" y="9087"/>
                  <a:pt x="310467" y="0"/>
                </a:cubicBezTo>
                <a:lnTo>
                  <a:pt x="314001" y="120149"/>
                </a:lnTo>
                <a:lnTo>
                  <a:pt x="312991" y="120149"/>
                </a:lnTo>
                <a:cubicBezTo>
                  <a:pt x="287750" y="56541"/>
                  <a:pt x="250393" y="11107"/>
                  <a:pt x="199910" y="11107"/>
                </a:cubicBezTo>
                <a:cubicBezTo>
                  <a:pt x="137312" y="11107"/>
                  <a:pt x="101974" y="80268"/>
                  <a:pt x="101974" y="164573"/>
                </a:cubicBezTo>
                <a:cubicBezTo>
                  <a:pt x="101974" y="260490"/>
                  <a:pt x="155486" y="315011"/>
                  <a:pt x="221113" y="315011"/>
                </a:cubicBezTo>
                <a:cubicBezTo>
                  <a:pt x="263014" y="315011"/>
                  <a:pt x="297846" y="300371"/>
                  <a:pt x="320564" y="252918"/>
                </a:cubicBezTo>
                <a:lnTo>
                  <a:pt x="323593" y="253927"/>
                </a:lnTo>
                <a:cubicBezTo>
                  <a:pt x="306428" y="321574"/>
                  <a:pt x="252412" y="363474"/>
                  <a:pt x="173660" y="363474"/>
                </a:cubicBezTo>
                <a:cubicBezTo>
                  <a:pt x="74209" y="363474"/>
                  <a:pt x="0" y="293304"/>
                  <a:pt x="0" y="186786"/>
                </a:cubicBezTo>
                <a:cubicBezTo>
                  <a:pt x="0" y="76229"/>
                  <a:pt x="85820" y="0"/>
                  <a:pt x="190319"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69" name="TextBox 68"/>
          <p:cNvSpPr txBox="1">
            <a:spLocks/>
          </p:cNvSpPr>
          <p:nvPr/>
        </p:nvSpPr>
        <p:spPr>
          <a:xfrm>
            <a:off x="11640919" y="842827"/>
            <a:ext cx="167232" cy="167421"/>
          </a:xfrm>
          <a:custGeom>
            <a:avLst/>
            <a:gdLst/>
            <a:ahLst/>
            <a:cxnLst/>
            <a:rect l="l" t="t" r="r" b="b"/>
            <a:pathLst>
              <a:path w="362969" h="363474">
                <a:moveTo>
                  <a:pt x="181737" y="0"/>
                </a:moveTo>
                <a:cubicBezTo>
                  <a:pt x="285731" y="0"/>
                  <a:pt x="362969" y="75724"/>
                  <a:pt x="362969" y="181737"/>
                </a:cubicBezTo>
                <a:cubicBezTo>
                  <a:pt x="362969" y="287751"/>
                  <a:pt x="285731" y="363474"/>
                  <a:pt x="181737" y="363474"/>
                </a:cubicBezTo>
                <a:cubicBezTo>
                  <a:pt x="77238" y="363474"/>
                  <a:pt x="0" y="287751"/>
                  <a:pt x="0" y="181737"/>
                </a:cubicBezTo>
                <a:cubicBezTo>
                  <a:pt x="0" y="75724"/>
                  <a:pt x="77238" y="0"/>
                  <a:pt x="181737" y="0"/>
                </a:cubicBezTo>
                <a:close/>
                <a:moveTo>
                  <a:pt x="181737" y="10097"/>
                </a:moveTo>
                <a:cubicBezTo>
                  <a:pt x="123682" y="10097"/>
                  <a:pt x="103994" y="70676"/>
                  <a:pt x="103994" y="181737"/>
                </a:cubicBezTo>
                <a:cubicBezTo>
                  <a:pt x="103994" y="292799"/>
                  <a:pt x="123682" y="353378"/>
                  <a:pt x="181737" y="353378"/>
                </a:cubicBezTo>
                <a:cubicBezTo>
                  <a:pt x="239287" y="353378"/>
                  <a:pt x="258975" y="292799"/>
                  <a:pt x="258975" y="181737"/>
                </a:cubicBezTo>
                <a:cubicBezTo>
                  <a:pt x="258975" y="70676"/>
                  <a:pt x="239287" y="10097"/>
                  <a:pt x="181737" y="10097"/>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70" name="TextBox 69"/>
          <p:cNvSpPr txBox="1">
            <a:spLocks/>
          </p:cNvSpPr>
          <p:nvPr/>
        </p:nvSpPr>
        <p:spPr>
          <a:xfrm>
            <a:off x="11457735" y="843060"/>
            <a:ext cx="172117" cy="164863"/>
          </a:xfrm>
          <a:custGeom>
            <a:avLst/>
            <a:gdLst/>
            <a:ahLst/>
            <a:cxnLst/>
            <a:rect l="l" t="t" r="r" b="b"/>
            <a:pathLst>
              <a:path w="373571" h="357921">
                <a:moveTo>
                  <a:pt x="17164" y="0"/>
                </a:moveTo>
                <a:cubicBezTo>
                  <a:pt x="24232" y="3534"/>
                  <a:pt x="35338" y="4544"/>
                  <a:pt x="52502" y="4544"/>
                </a:cubicBezTo>
                <a:lnTo>
                  <a:pt x="321069" y="4544"/>
                </a:lnTo>
                <a:cubicBezTo>
                  <a:pt x="338233" y="4544"/>
                  <a:pt x="349339" y="3534"/>
                  <a:pt x="356407" y="0"/>
                </a:cubicBezTo>
                <a:lnTo>
                  <a:pt x="373571" y="119644"/>
                </a:lnTo>
                <a:lnTo>
                  <a:pt x="372561" y="119644"/>
                </a:lnTo>
                <a:cubicBezTo>
                  <a:pt x="329651" y="50988"/>
                  <a:pt x="309963" y="17669"/>
                  <a:pt x="255946" y="17669"/>
                </a:cubicBezTo>
                <a:lnTo>
                  <a:pt x="234239" y="17669"/>
                </a:lnTo>
                <a:lnTo>
                  <a:pt x="234239" y="297847"/>
                </a:lnTo>
                <a:cubicBezTo>
                  <a:pt x="234239" y="331165"/>
                  <a:pt x="240802" y="342272"/>
                  <a:pt x="263014" y="356912"/>
                </a:cubicBezTo>
                <a:lnTo>
                  <a:pt x="263014" y="357921"/>
                </a:lnTo>
                <a:lnTo>
                  <a:pt x="110557" y="357921"/>
                </a:lnTo>
                <a:lnTo>
                  <a:pt x="110557" y="356912"/>
                </a:lnTo>
                <a:cubicBezTo>
                  <a:pt x="133274" y="342272"/>
                  <a:pt x="139332" y="331165"/>
                  <a:pt x="139332" y="297847"/>
                </a:cubicBezTo>
                <a:lnTo>
                  <a:pt x="139332" y="17669"/>
                </a:lnTo>
                <a:lnTo>
                  <a:pt x="117624" y="17669"/>
                </a:lnTo>
                <a:cubicBezTo>
                  <a:pt x="63608" y="17669"/>
                  <a:pt x="43920" y="50988"/>
                  <a:pt x="1010" y="119644"/>
                </a:cubicBezTo>
                <a:lnTo>
                  <a:pt x="0" y="119644"/>
                </a:lnTo>
                <a:lnTo>
                  <a:pt x="17164" y="0"/>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grpSp>
        <p:nvGrpSpPr>
          <p:cNvPr id="2" name="Group 1"/>
          <p:cNvGrpSpPr/>
          <p:nvPr/>
        </p:nvGrpSpPr>
        <p:grpSpPr>
          <a:xfrm>
            <a:off x="11001879" y="849615"/>
            <a:ext cx="276881" cy="61257"/>
            <a:chOff x="10999013" y="849614"/>
            <a:chExt cx="276809" cy="61257"/>
          </a:xfrm>
          <a:solidFill>
            <a:schemeClr val="accent3"/>
          </a:solidFill>
        </p:grpSpPr>
        <p:sp>
          <p:nvSpPr>
            <p:cNvPr id="71" name="TextBox 70"/>
            <p:cNvSpPr txBox="1">
              <a:spLocks/>
            </p:cNvSpPr>
            <p:nvPr/>
          </p:nvSpPr>
          <p:spPr>
            <a:xfrm>
              <a:off x="10999013" y="849614"/>
              <a:ext cx="60220" cy="61257"/>
            </a:xfrm>
            <a:custGeom>
              <a:avLst/>
              <a:gdLst/>
              <a:ahLst/>
              <a:cxnLst/>
              <a:rect l="l" t="t" r="r" b="b"/>
              <a:pathLst>
                <a:path w="130738" h="132991">
                  <a:moveTo>
                    <a:pt x="65709" y="0"/>
                  </a:moveTo>
                  <a:cubicBezTo>
                    <a:pt x="86122" y="0"/>
                    <a:pt x="102063" y="5891"/>
                    <a:pt x="113533" y="17673"/>
                  </a:cubicBezTo>
                  <a:cubicBezTo>
                    <a:pt x="125003" y="29455"/>
                    <a:pt x="130738" y="45715"/>
                    <a:pt x="130738" y="66451"/>
                  </a:cubicBezTo>
                  <a:cubicBezTo>
                    <a:pt x="130738" y="87129"/>
                    <a:pt x="124987" y="103389"/>
                    <a:pt x="113485" y="115230"/>
                  </a:cubicBezTo>
                  <a:cubicBezTo>
                    <a:pt x="101982" y="127071"/>
                    <a:pt x="85992" y="132991"/>
                    <a:pt x="65515" y="132991"/>
                  </a:cubicBezTo>
                  <a:cubicBezTo>
                    <a:pt x="44584" y="132991"/>
                    <a:pt x="28432" y="127174"/>
                    <a:pt x="17059" y="115539"/>
                  </a:cubicBezTo>
                  <a:cubicBezTo>
                    <a:pt x="5686" y="103904"/>
                    <a:pt x="0" y="87483"/>
                    <a:pt x="0" y="66275"/>
                  </a:cubicBezTo>
                  <a:cubicBezTo>
                    <a:pt x="0" y="45243"/>
                    <a:pt x="5702" y="28940"/>
                    <a:pt x="17107" y="17364"/>
                  </a:cubicBezTo>
                  <a:cubicBezTo>
                    <a:pt x="28513" y="5788"/>
                    <a:pt x="44713" y="0"/>
                    <a:pt x="65709" y="0"/>
                  </a:cubicBezTo>
                  <a:close/>
                  <a:moveTo>
                    <a:pt x="65709" y="13431"/>
                  </a:moveTo>
                  <a:cubicBezTo>
                    <a:pt x="49962" y="13431"/>
                    <a:pt x="37990" y="17953"/>
                    <a:pt x="29793" y="26996"/>
                  </a:cubicBezTo>
                  <a:cubicBezTo>
                    <a:pt x="21595" y="36038"/>
                    <a:pt x="17496" y="49190"/>
                    <a:pt x="17496" y="66451"/>
                  </a:cubicBezTo>
                  <a:cubicBezTo>
                    <a:pt x="17496" y="83948"/>
                    <a:pt x="21595" y="97218"/>
                    <a:pt x="29793" y="106261"/>
                  </a:cubicBezTo>
                  <a:cubicBezTo>
                    <a:pt x="37990" y="115303"/>
                    <a:pt x="49897" y="119825"/>
                    <a:pt x="65515" y="119825"/>
                  </a:cubicBezTo>
                  <a:cubicBezTo>
                    <a:pt x="81262" y="119825"/>
                    <a:pt x="93153" y="115318"/>
                    <a:pt x="101188" y="106305"/>
                  </a:cubicBezTo>
                  <a:cubicBezTo>
                    <a:pt x="109224" y="97291"/>
                    <a:pt x="113242" y="84007"/>
                    <a:pt x="113242" y="66451"/>
                  </a:cubicBezTo>
                  <a:cubicBezTo>
                    <a:pt x="113242" y="49073"/>
                    <a:pt x="109240" y="35891"/>
                    <a:pt x="101237" y="26907"/>
                  </a:cubicBezTo>
                  <a:cubicBezTo>
                    <a:pt x="93234" y="17923"/>
                    <a:pt x="81391" y="13431"/>
                    <a:pt x="65709" y="13431"/>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72" name="TextBox 71"/>
            <p:cNvSpPr txBox="1">
              <a:spLocks/>
            </p:cNvSpPr>
            <p:nvPr/>
          </p:nvSpPr>
          <p:spPr>
            <a:xfrm>
              <a:off x="11068225" y="850549"/>
              <a:ext cx="36490" cy="59507"/>
            </a:xfrm>
            <a:custGeom>
              <a:avLst/>
              <a:gdLst/>
              <a:ahLst/>
              <a:cxnLst/>
              <a:rect l="l" t="t" r="r" b="b"/>
              <a:pathLst>
                <a:path w="79221" h="129192">
                  <a:moveTo>
                    <a:pt x="0" y="0"/>
                  </a:moveTo>
                  <a:lnTo>
                    <a:pt x="79221" y="0"/>
                  </a:lnTo>
                  <a:lnTo>
                    <a:pt x="79221" y="13343"/>
                  </a:lnTo>
                  <a:lnTo>
                    <a:pt x="16525" y="13343"/>
                  </a:lnTo>
                  <a:lnTo>
                    <a:pt x="16525" y="60620"/>
                  </a:lnTo>
                  <a:lnTo>
                    <a:pt x="75430" y="60620"/>
                  </a:lnTo>
                  <a:lnTo>
                    <a:pt x="75430" y="73963"/>
                  </a:lnTo>
                  <a:lnTo>
                    <a:pt x="16525" y="73963"/>
                  </a:lnTo>
                  <a:lnTo>
                    <a:pt x="16525" y="129192"/>
                  </a:lnTo>
                  <a:lnTo>
                    <a:pt x="0" y="129192"/>
                  </a:lnTo>
                  <a:lnTo>
                    <a:pt x="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73" name="TextBox 72"/>
            <p:cNvSpPr txBox="1">
              <a:spLocks/>
            </p:cNvSpPr>
            <p:nvPr/>
          </p:nvSpPr>
          <p:spPr>
            <a:xfrm>
              <a:off x="11121455" y="850549"/>
              <a:ext cx="49071" cy="59507"/>
            </a:xfrm>
            <a:custGeom>
              <a:avLst/>
              <a:gdLst/>
              <a:ahLst/>
              <a:cxnLst/>
              <a:rect l="l" t="t" r="r" b="b"/>
              <a:pathLst>
                <a:path w="106535" h="129192">
                  <a:moveTo>
                    <a:pt x="0" y="0"/>
                  </a:moveTo>
                  <a:lnTo>
                    <a:pt x="106535" y="0"/>
                  </a:lnTo>
                  <a:lnTo>
                    <a:pt x="106535" y="13343"/>
                  </a:lnTo>
                  <a:lnTo>
                    <a:pt x="61530" y="13343"/>
                  </a:lnTo>
                  <a:lnTo>
                    <a:pt x="61530" y="129192"/>
                  </a:lnTo>
                  <a:lnTo>
                    <a:pt x="45005" y="129192"/>
                  </a:lnTo>
                  <a:lnTo>
                    <a:pt x="45005" y="13343"/>
                  </a:lnTo>
                  <a:lnTo>
                    <a:pt x="0" y="13343"/>
                  </a:lnTo>
                  <a:lnTo>
                    <a:pt x="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74" name="TextBox 73"/>
            <p:cNvSpPr txBox="1">
              <a:spLocks/>
            </p:cNvSpPr>
            <p:nvPr/>
          </p:nvSpPr>
          <p:spPr>
            <a:xfrm>
              <a:off x="11177909" y="850549"/>
              <a:ext cx="49698" cy="59507"/>
            </a:xfrm>
            <a:custGeom>
              <a:avLst/>
              <a:gdLst/>
              <a:ahLst/>
              <a:cxnLst/>
              <a:rect l="l" t="t" r="r" b="b"/>
              <a:pathLst>
                <a:path w="107896" h="129192">
                  <a:moveTo>
                    <a:pt x="0" y="0"/>
                  </a:moveTo>
                  <a:lnTo>
                    <a:pt x="16525" y="0"/>
                  </a:lnTo>
                  <a:lnTo>
                    <a:pt x="16525" y="54964"/>
                  </a:lnTo>
                  <a:lnTo>
                    <a:pt x="91371" y="54964"/>
                  </a:lnTo>
                  <a:lnTo>
                    <a:pt x="91371" y="0"/>
                  </a:lnTo>
                  <a:lnTo>
                    <a:pt x="107896" y="0"/>
                  </a:lnTo>
                  <a:lnTo>
                    <a:pt x="107896" y="129192"/>
                  </a:lnTo>
                  <a:lnTo>
                    <a:pt x="91371" y="129192"/>
                  </a:lnTo>
                  <a:lnTo>
                    <a:pt x="91371" y="68396"/>
                  </a:lnTo>
                  <a:lnTo>
                    <a:pt x="16525" y="68396"/>
                  </a:lnTo>
                  <a:lnTo>
                    <a:pt x="16525" y="129192"/>
                  </a:lnTo>
                  <a:lnTo>
                    <a:pt x="0" y="129192"/>
                  </a:lnTo>
                  <a:lnTo>
                    <a:pt x="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sp>
          <p:nvSpPr>
            <p:cNvPr id="75" name="TextBox 74"/>
            <p:cNvSpPr txBox="1">
              <a:spLocks/>
            </p:cNvSpPr>
            <p:nvPr/>
          </p:nvSpPr>
          <p:spPr>
            <a:xfrm>
              <a:off x="11239332" y="850549"/>
              <a:ext cx="36490" cy="59507"/>
            </a:xfrm>
            <a:custGeom>
              <a:avLst/>
              <a:gdLst/>
              <a:ahLst/>
              <a:cxnLst/>
              <a:rect l="l" t="t" r="r" b="b"/>
              <a:pathLst>
                <a:path w="79221" h="129192">
                  <a:moveTo>
                    <a:pt x="0" y="0"/>
                  </a:moveTo>
                  <a:lnTo>
                    <a:pt x="79221" y="0"/>
                  </a:lnTo>
                  <a:lnTo>
                    <a:pt x="79221" y="13343"/>
                  </a:lnTo>
                  <a:lnTo>
                    <a:pt x="16525" y="13343"/>
                  </a:lnTo>
                  <a:lnTo>
                    <a:pt x="16525" y="54964"/>
                  </a:lnTo>
                  <a:lnTo>
                    <a:pt x="75430" y="54964"/>
                  </a:lnTo>
                  <a:lnTo>
                    <a:pt x="75430" y="68219"/>
                  </a:lnTo>
                  <a:lnTo>
                    <a:pt x="16525" y="68219"/>
                  </a:lnTo>
                  <a:lnTo>
                    <a:pt x="16525" y="115760"/>
                  </a:lnTo>
                  <a:lnTo>
                    <a:pt x="79221" y="115760"/>
                  </a:lnTo>
                  <a:lnTo>
                    <a:pt x="79221" y="129192"/>
                  </a:lnTo>
                  <a:lnTo>
                    <a:pt x="0" y="129192"/>
                  </a:lnTo>
                  <a:lnTo>
                    <a:pt x="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400" b="1">
                <a:solidFill>
                  <a:schemeClr val="accent5"/>
                </a:solidFill>
                <a:latin typeface="Arial" panose="020B0604020202020204" pitchFamily="34" charset="0"/>
                <a:ea typeface="Domaine Display" charset="0"/>
                <a:cs typeface="Arial" panose="020B0604020202020204" pitchFamily="34" charset="0"/>
                <a:sym typeface="Arial" panose="020B0604020202020204" pitchFamily="34" charset="0"/>
              </a:endParaRPr>
            </a:p>
          </p:txBody>
        </p:sp>
      </p:grpSp>
      <p:sp>
        <p:nvSpPr>
          <p:cNvPr id="23" name="Content Placeholder 8"/>
          <p:cNvSpPr txBox="1">
            <a:spLocks/>
          </p:cNvSpPr>
          <p:nvPr userDrawn="1"/>
        </p:nvSpPr>
        <p:spPr>
          <a:xfrm>
            <a:off x="11104408" y="6418626"/>
            <a:ext cx="734493" cy="228600"/>
          </a:xfrm>
          <a:prstGeom prst="rect">
            <a:avLst/>
          </a:prstGeom>
        </p:spPr>
        <p:txBody>
          <a:bodyPr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en-US" sz="1000">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rPr>
              <a:t> </a:t>
            </a:r>
            <a:fld id="{38743595-4496-5147-A886-7D133864DF76}" type="slidenum">
              <a:rPr lang="en-US" sz="1000" smtClean="0">
                <a:solidFill>
                  <a:srgbClr val="3F3F3F"/>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rPr>
              <a:pPr algn="r"/>
              <a:t>‹#›</a:t>
            </a:fld>
            <a:endParaRPr lang="en-US" sz="1000">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p:txBody>
      </p:sp>
      <p:sp>
        <p:nvSpPr>
          <p:cNvPr id="24" name="MSIPCMContentMarking" descr="{&quot;HashCode&quot;:-356254672,&quot;Placement&quot;:&quot;Footer&quot;}">
            <a:extLst>
              <a:ext uri="{FF2B5EF4-FFF2-40B4-BE49-F238E27FC236}">
                <a16:creationId xmlns:a16="http://schemas.microsoft.com/office/drawing/2014/main" id="{B869DC3D-CEDB-48B8-8C95-B8965AA1143A}"/>
              </a:ext>
            </a:extLst>
          </p:cNvPr>
          <p:cNvSpPr txBox="1"/>
          <p:nvPr userDrawn="1"/>
        </p:nvSpPr>
        <p:spPr>
          <a:xfrm>
            <a:off x="10717460" y="6413372"/>
            <a:ext cx="709344" cy="228163"/>
          </a:xfrm>
          <a:prstGeom prst="rect">
            <a:avLst/>
          </a:prstGeom>
          <a:noFill/>
        </p:spPr>
        <p:txBody>
          <a:bodyPr vert="horz" wrap="square" lIns="0" tIns="0" rIns="0" bIns="0" rtlCol="0" anchor="ctr" anchorCtr="1">
            <a:noAutofit/>
          </a:bodyPr>
          <a:lstStyle/>
          <a:p>
            <a:pPr algn="l" defTabSz="456758" fontAlgn="base">
              <a:spcBef>
                <a:spcPts val="0"/>
              </a:spcBef>
              <a:spcAft>
                <a:spcPts val="0"/>
              </a:spcAft>
            </a:pPr>
            <a:r>
              <a:rPr lang="en-US" sz="800">
                <a:solidFill>
                  <a:srgbClr val="414141"/>
                </a:solidFill>
                <a:latin typeface="Arial" panose="020B0604020202020204" pitchFamily="34" charset="0"/>
                <a:cs typeface="Arial" panose="020B0604020202020204" pitchFamily="34" charset="0"/>
                <a:sym typeface="Arial" panose="020B0604020202020204" pitchFamily="34" charset="0"/>
              </a:rPr>
              <a:t>Proprietary</a:t>
            </a:r>
            <a:endParaRPr lang="en-US" sz="800" err="1">
              <a:solidFill>
                <a:srgbClr val="414141"/>
              </a:solidFill>
              <a:latin typeface="Arial" panose="020B0604020202020204" pitchFamily="34" charset="0"/>
              <a:cs typeface="Arial" panose="020B0604020202020204" pitchFamily="34" charset="0"/>
              <a:sym typeface="Arial" panose="020B0604020202020204" pitchFamily="34" charset="0"/>
            </a:endParaRPr>
          </a:p>
        </p:txBody>
      </p:sp>
      <p:sp>
        <p:nvSpPr>
          <p:cNvPr id="25" name="Rectangle 24"/>
          <p:cNvSpPr/>
          <p:nvPr userDrawn="1"/>
        </p:nvSpPr>
        <p:spPr>
          <a:xfrm>
            <a:off x="8260080" y="1554479"/>
            <a:ext cx="91440" cy="5303521"/>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b="1">
              <a:latin typeface="Arial" panose="020B0604020202020204" pitchFamily="34" charset="0"/>
              <a:cs typeface="Arial" panose="020B0604020202020204" pitchFamily="34" charset="0"/>
              <a:sym typeface="Arial" panose="020B0604020202020204" pitchFamily="34" charset="0"/>
            </a:endParaRPr>
          </a:p>
        </p:txBody>
      </p:sp>
      <p:sp>
        <p:nvSpPr>
          <p:cNvPr id="26" name="Text Placeholder 4"/>
          <p:cNvSpPr>
            <a:spLocks noGrp="1"/>
          </p:cNvSpPr>
          <p:nvPr>
            <p:ph type="body" sz="quarter" idx="12" hasCustomPrompt="1"/>
          </p:nvPr>
        </p:nvSpPr>
        <p:spPr>
          <a:xfrm>
            <a:off x="457201" y="2011680"/>
            <a:ext cx="7406640" cy="4162001"/>
          </a:xfrm>
          <a:prstGeom prst="rect">
            <a:avLst/>
          </a:prstGeom>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pPr lvl="0"/>
            <a:r>
              <a:rPr lang="en-US"/>
              <a:t>Body text</a:t>
            </a:r>
          </a:p>
        </p:txBody>
      </p:sp>
      <p:pic>
        <p:nvPicPr>
          <p:cNvPr id="28" name="Picture 27" descr="Text&#10;&#10;Description automatically generated with low confidence">
            <a:extLst>
              <a:ext uri="{FF2B5EF4-FFF2-40B4-BE49-F238E27FC236}">
                <a16:creationId xmlns:a16="http://schemas.microsoft.com/office/drawing/2014/main" id="{F017662F-23AA-4890-85AE-FA5C0F4C3FE9}"/>
              </a:ext>
            </a:extLst>
          </p:cNvPr>
          <p:cNvPicPr>
            <a:picLocks noChangeAspect="1"/>
          </p:cNvPicPr>
          <p:nvPr userDrawn="1"/>
        </p:nvPicPr>
        <p:blipFill>
          <a:blip r:embed="rId5"/>
          <a:stretch>
            <a:fillRect/>
          </a:stretch>
        </p:blipFill>
        <p:spPr>
          <a:xfrm>
            <a:off x="10517301" y="452629"/>
            <a:ext cx="1426464" cy="71323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Divider">
    <p:bg>
      <p:bgPr>
        <a:solidFill>
          <a:schemeClr val="accent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863491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 name="Text Placeholder 3"/>
          <p:cNvSpPr>
            <a:spLocks noGrp="1"/>
          </p:cNvSpPr>
          <p:nvPr>
            <p:ph type="body" sz="quarter" idx="10" hasCustomPrompt="1"/>
          </p:nvPr>
        </p:nvSpPr>
        <p:spPr>
          <a:xfrm>
            <a:off x="457320" y="455614"/>
            <a:ext cx="11277362" cy="5932487"/>
          </a:xfrm>
          <a:prstGeom prst="rect">
            <a:avLst/>
          </a:prstGeom>
        </p:spPr>
        <p:txBody>
          <a:bodyPr anchor="ctr" anchorCtr="1"/>
          <a:lstStyle>
            <a:lvl1pPr marL="0" indent="0" algn="ctr">
              <a:buFontTx/>
              <a:buNone/>
              <a:tabLst>
                <a:tab pos="1201738" algn="l"/>
              </a:tabLst>
              <a:defRPr sz="7200" b="1">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0" indent="0" algn="ctr">
              <a:spcBef>
                <a:spcPts val="1800"/>
              </a:spcBef>
              <a:buFontTx/>
              <a:buNone/>
              <a:tabLst>
                <a:tab pos="1201738" algn="l"/>
              </a:tabLst>
              <a:defRPr sz="1400" b="1">
                <a:solidFill>
                  <a:schemeClr val="bg1"/>
                </a:solidFill>
                <a:latin typeface="Arial" panose="020B0604020202020204" pitchFamily="34" charset="0"/>
                <a:cs typeface="Arial" panose="020B0604020202020204" pitchFamily="34" charset="0"/>
                <a:sym typeface="Arial" panose="020B0604020202020204" pitchFamily="34" charset="0"/>
              </a:defRPr>
            </a:lvl2pPr>
            <a:lvl3pPr marL="0" indent="0" algn="ctr">
              <a:buFontTx/>
              <a:buNone/>
              <a:tabLst>
                <a:tab pos="1201738" algn="l"/>
              </a:tabLst>
              <a:defRPr sz="2000">
                <a:solidFill>
                  <a:schemeClr val="bg1"/>
                </a:solidFill>
              </a:defRPr>
            </a:lvl3pPr>
            <a:lvl4pPr marL="0" indent="0" algn="ctr">
              <a:buFontTx/>
              <a:buNone/>
              <a:tabLst>
                <a:tab pos="1201738" algn="l"/>
              </a:tabLst>
              <a:defRPr sz="2000">
                <a:solidFill>
                  <a:schemeClr val="bg1"/>
                </a:solidFill>
              </a:defRPr>
            </a:lvl4pPr>
            <a:lvl5pPr marL="0" indent="0" algn="ctr">
              <a:buFontTx/>
              <a:buNone/>
              <a:tabLst>
                <a:tab pos="1201738" algn="l"/>
              </a:tabLst>
              <a:defRPr sz="2000">
                <a:solidFill>
                  <a:schemeClr val="bg1"/>
                </a:solidFill>
              </a:defRPr>
            </a:lvl5pPr>
          </a:lstStyle>
          <a:p>
            <a:pPr lvl="0"/>
            <a:r>
              <a:rPr lang="en-US"/>
              <a:t>Divider</a:t>
            </a:r>
          </a:p>
          <a:p>
            <a:pPr lvl="1"/>
            <a:r>
              <a:rPr lang="en-US"/>
              <a:t>Second level</a:t>
            </a:r>
          </a:p>
        </p:txBody>
      </p:sp>
      <p:sp>
        <p:nvSpPr>
          <p:cNvPr id="5" name="Rectangle 4">
            <a:extLst>
              <a:ext uri="{FF2B5EF4-FFF2-40B4-BE49-F238E27FC236}">
                <a16:creationId xmlns:a16="http://schemas.microsoft.com/office/drawing/2014/main" id="{70ACE8A4-7857-4C74-A3D2-D2510661AE56}"/>
              </a:ext>
            </a:extLst>
          </p:cNvPr>
          <p:cNvSpPr/>
          <p:nvPr userDrawn="1"/>
        </p:nvSpPr>
        <p:spPr>
          <a:xfrm>
            <a:off x="10355200" y="6111102"/>
            <a:ext cx="1379480" cy="276999"/>
          </a:xfrm>
          <a:prstGeom prst="rect">
            <a:avLst/>
          </a:prstGeom>
        </p:spPr>
        <p:txBody>
          <a:bodyPr wrap="none">
            <a:spAutoFit/>
          </a:bodyPr>
          <a:lstStyle/>
          <a:p>
            <a:r>
              <a:rPr lang="en-US" sz="1200">
                <a:solidFill>
                  <a:srgbClr val="F7F7F7"/>
                </a:solidFill>
                <a:latin typeface="Arial" panose="020B0604020202020204" pitchFamily="34" charset="0"/>
                <a:cs typeface="Arial" panose="020B0604020202020204" pitchFamily="34" charset="0"/>
                <a:sym typeface="Arial" panose="020B0604020202020204" pitchFamily="34" charset="0"/>
                <a:hlinkClick r:id="rId5" action="ppaction://hlinksldjump">
                  <a:extLst>
                    <a:ext uri="{A12FA001-AC4F-418D-AE19-62706E023703}">
                      <ahyp:hlinkClr xmlns:ahyp="http://schemas.microsoft.com/office/drawing/2018/hyperlinkcolor" val="tx"/>
                    </a:ext>
                  </a:extLst>
                </a:hlinkClick>
              </a:rPr>
              <a:t>Table of Contents</a:t>
            </a:r>
            <a:endParaRPr lang="en-US" sz="1200">
              <a:solidFill>
                <a:srgbClr val="F7F7F7"/>
              </a:solidFill>
            </a:endParaRPr>
          </a:p>
        </p:txBody>
      </p:sp>
    </p:spTree>
    <p:extLst>
      <p:ext uri="{BB962C8B-B14F-4D97-AF65-F5344CB8AC3E}">
        <p14:creationId xmlns:p14="http://schemas.microsoft.com/office/powerpoint/2010/main" val="40566233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Vision to action">
    <p:bg>
      <p:bgPr>
        <a:solidFill>
          <a:srgbClr val="064E69"/>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38461015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4" name="Object 3"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6" name="Rectangle 25"/>
          <p:cNvSpPr/>
          <p:nvPr userDrawn="1"/>
        </p:nvSpPr>
        <p:spPr>
          <a:xfrm>
            <a:off x="0" y="4732020"/>
            <a:ext cx="12192000" cy="2125980"/>
          </a:xfrm>
          <a:prstGeom prst="rect">
            <a:avLst/>
          </a:prstGeom>
          <a:gradFill flip="none" rotWithShape="1">
            <a:gsLst>
              <a:gs pos="67000">
                <a:schemeClr val="bg1"/>
              </a:gs>
              <a:gs pos="100000">
                <a:schemeClr val="bg1"/>
              </a:gs>
              <a:gs pos="55000">
                <a:schemeClr val="accent2"/>
              </a:gs>
              <a:gs pos="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anose="020B0604020202020204" pitchFamily="34" charset="0"/>
              <a:cs typeface="Arial" panose="020B0604020202020204" pitchFamily="34" charset="0"/>
            </a:endParaRPr>
          </a:p>
        </p:txBody>
      </p:sp>
      <p:sp>
        <p:nvSpPr>
          <p:cNvPr id="27" name="Rectangle 26"/>
          <p:cNvSpPr/>
          <p:nvPr userDrawn="1"/>
        </p:nvSpPr>
        <p:spPr>
          <a:xfrm>
            <a:off x="1589" y="0"/>
            <a:ext cx="12188825" cy="4732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anose="020B0604020202020204" pitchFamily="34" charset="0"/>
              <a:cs typeface="Arial" panose="020B0604020202020204" pitchFamily="34" charset="0"/>
            </a:endParaRPr>
          </a:p>
        </p:txBody>
      </p:sp>
      <p:pic>
        <p:nvPicPr>
          <p:cNvPr id="28" name="Picture 27"/>
          <p:cNvPicPr>
            <a:picLocks noChangeAspect="1"/>
          </p:cNvPicPr>
          <p:nvPr userDrawn="1"/>
        </p:nvPicPr>
        <p:blipFill rotWithShape="1">
          <a:blip r:embed="rId5">
            <a:extLst>
              <a:ext uri="{28A0092B-C50C-407E-A947-70E740481C1C}">
                <a14:useLocalDpi xmlns:a14="http://schemas.microsoft.com/office/drawing/2010/main" val="0"/>
              </a:ext>
            </a:extLst>
          </a:blip>
          <a:srcRect/>
          <a:stretch/>
        </p:blipFill>
        <p:spPr>
          <a:xfrm>
            <a:off x="1588" y="0"/>
            <a:ext cx="6126479" cy="4732020"/>
          </a:xfrm>
          <a:prstGeom prst="rect">
            <a:avLst/>
          </a:prstGeom>
        </p:spPr>
      </p:pic>
      <p:sp>
        <p:nvSpPr>
          <p:cNvPr id="29" name="Rectangle 28"/>
          <p:cNvSpPr/>
          <p:nvPr userDrawn="1"/>
        </p:nvSpPr>
        <p:spPr>
          <a:xfrm flipH="1">
            <a:off x="6015106" y="1"/>
            <a:ext cx="665217" cy="47320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a:solidFill>
                <a:schemeClr val="bg2">
                  <a:lumMod val="40000"/>
                  <a:lumOff val="60000"/>
                </a:schemeClr>
              </a:solidFill>
              <a:latin typeface="Arial" panose="020B0604020202020204" pitchFamily="34" charset="0"/>
              <a:cs typeface="Arial" panose="020B0604020202020204" pitchFamily="34" charset="0"/>
            </a:endParaRPr>
          </a:p>
        </p:txBody>
      </p:sp>
      <p:sp>
        <p:nvSpPr>
          <p:cNvPr id="30" name="Title 2"/>
          <p:cNvSpPr txBox="1">
            <a:spLocks/>
          </p:cNvSpPr>
          <p:nvPr userDrawn="1"/>
        </p:nvSpPr>
        <p:spPr>
          <a:xfrm>
            <a:off x="7901547" y="3658243"/>
            <a:ext cx="3949108" cy="727131"/>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2800" b="0" i="0" kern="1200">
                <a:solidFill>
                  <a:schemeClr val="accent2"/>
                </a:solidFill>
                <a:latin typeface="+mj-lt"/>
                <a:ea typeface="Open Sans" panose="020B0606030504020204" pitchFamily="34" charset="0"/>
                <a:cs typeface="Open Sans" panose="020B0606030504020204" pitchFamily="34" charset="0"/>
              </a:defRPr>
            </a:lvl1pPr>
          </a:lstStyle>
          <a:p>
            <a:r>
              <a:rPr lang="en-US" sz="5400" b="1">
                <a:solidFill>
                  <a:srgbClr val="00859B"/>
                </a:solidFill>
                <a:latin typeface="Arial" panose="020B0604020202020204" pitchFamily="34" charset="0"/>
                <a:ea typeface="Domaine Display" charset="0"/>
                <a:cs typeface="Arial" panose="020B0604020202020204" pitchFamily="34" charset="0"/>
              </a:rPr>
              <a:t>into action</a:t>
            </a:r>
          </a:p>
        </p:txBody>
      </p:sp>
      <p:sp>
        <p:nvSpPr>
          <p:cNvPr id="31" name="Title 1"/>
          <p:cNvSpPr txBox="1">
            <a:spLocks/>
          </p:cNvSpPr>
          <p:nvPr userDrawn="1"/>
        </p:nvSpPr>
        <p:spPr>
          <a:xfrm>
            <a:off x="5061285" y="2489624"/>
            <a:ext cx="5205181" cy="1770821"/>
          </a:xfrm>
          <a:prstGeom prst="rect">
            <a:avLst/>
          </a:prstGeom>
        </p:spPr>
        <p:txBody>
          <a:bodyPr vert="horz" lIns="0" tIns="0" rIns="0" bIns="0" rtlCol="0" anchor="ctr">
            <a:noAutofit/>
          </a:bodyPr>
          <a:lstStyle>
            <a:lvl1pPr algn="r" defTabSz="914400" rtl="0" eaLnBrk="1" latinLnBrk="0" hangingPunct="1">
              <a:lnSpc>
                <a:spcPct val="80000"/>
              </a:lnSpc>
              <a:spcBef>
                <a:spcPct val="0"/>
              </a:spcBef>
              <a:buNone/>
              <a:defRPr sz="7200" b="0" i="0" kern="1200">
                <a:solidFill>
                  <a:schemeClr val="bg1"/>
                </a:solidFill>
                <a:latin typeface="Domaine Display Bold" panose="020A0803080505060203" pitchFamily="18" charset="0"/>
                <a:ea typeface="Open Sans" panose="020B0606030504020204" pitchFamily="34" charset="0"/>
                <a:cs typeface="Domaine Display Bold" panose="020A0803080505060203" pitchFamily="18" charset="0"/>
              </a:defRPr>
            </a:lvl1pPr>
          </a:lstStyle>
          <a:p>
            <a:pPr algn="l">
              <a:lnSpc>
                <a:spcPct val="90000"/>
              </a:lnSpc>
            </a:pPr>
            <a:r>
              <a:rPr lang="en-US" sz="5400" b="1">
                <a:solidFill>
                  <a:schemeClr val="accent2"/>
                </a:solidFill>
                <a:latin typeface="Arial" panose="020B0604020202020204" pitchFamily="34" charset="0"/>
                <a:ea typeface="Domaine Display" charset="0"/>
                <a:cs typeface="Arial" panose="020B0604020202020204" pitchFamily="34" charset="0"/>
              </a:rPr>
              <a:t>Turning vision</a:t>
            </a:r>
          </a:p>
        </p:txBody>
      </p:sp>
      <p:grpSp>
        <p:nvGrpSpPr>
          <p:cNvPr id="32" name="Group 31">
            <a:extLst>
              <a:ext uri="{FF2B5EF4-FFF2-40B4-BE49-F238E27FC236}">
                <a16:creationId xmlns:a16="http://schemas.microsoft.com/office/drawing/2014/main" id="{0860573B-7502-4EE6-AE67-B3B2FFD71F32}"/>
              </a:ext>
            </a:extLst>
          </p:cNvPr>
          <p:cNvGrpSpPr>
            <a:grpSpLocks noChangeAspect="1"/>
          </p:cNvGrpSpPr>
          <p:nvPr userDrawn="1"/>
        </p:nvGrpSpPr>
        <p:grpSpPr>
          <a:xfrm>
            <a:off x="8654511" y="5940719"/>
            <a:ext cx="3097787" cy="413801"/>
            <a:chOff x="279400" y="2781300"/>
            <a:chExt cx="8585200" cy="1092200"/>
          </a:xfrm>
        </p:grpSpPr>
        <p:sp>
          <p:nvSpPr>
            <p:cNvPr id="33" name="Freeform 5">
              <a:extLst>
                <a:ext uri="{FF2B5EF4-FFF2-40B4-BE49-F238E27FC236}">
                  <a16:creationId xmlns:a16="http://schemas.microsoft.com/office/drawing/2014/main" id="{264CBBCF-7D70-4513-96B2-BDE78A1BE2AC}"/>
                </a:ext>
              </a:extLst>
            </p:cNvPr>
            <p:cNvSpPr>
              <a:spLocks/>
            </p:cNvSpPr>
            <p:nvPr/>
          </p:nvSpPr>
          <p:spPr bwMode="auto">
            <a:xfrm>
              <a:off x="4605338" y="2816225"/>
              <a:ext cx="958850" cy="1035050"/>
            </a:xfrm>
            <a:custGeom>
              <a:avLst/>
              <a:gdLst>
                <a:gd name="T0" fmla="*/ 142 w 604"/>
                <a:gd name="T1" fmla="*/ 272 h 652"/>
                <a:gd name="T2" fmla="*/ 142 w 604"/>
                <a:gd name="T3" fmla="*/ 57 h 652"/>
                <a:gd name="T4" fmla="*/ 206 w 604"/>
                <a:gd name="T5" fmla="*/ 57 h 652"/>
                <a:gd name="T6" fmla="*/ 206 w 604"/>
                <a:gd name="T7" fmla="*/ 0 h 652"/>
                <a:gd name="T8" fmla="*/ 0 w 604"/>
                <a:gd name="T9" fmla="*/ 0 h 652"/>
                <a:gd name="T10" fmla="*/ 0 w 604"/>
                <a:gd name="T11" fmla="*/ 57 h 652"/>
                <a:gd name="T12" fmla="*/ 64 w 604"/>
                <a:gd name="T13" fmla="*/ 57 h 652"/>
                <a:gd name="T14" fmla="*/ 64 w 604"/>
                <a:gd name="T15" fmla="*/ 587 h 652"/>
                <a:gd name="T16" fmla="*/ 0 w 604"/>
                <a:gd name="T17" fmla="*/ 587 h 652"/>
                <a:gd name="T18" fmla="*/ 0 w 604"/>
                <a:gd name="T19" fmla="*/ 652 h 652"/>
                <a:gd name="T20" fmla="*/ 206 w 604"/>
                <a:gd name="T21" fmla="*/ 652 h 652"/>
                <a:gd name="T22" fmla="*/ 206 w 604"/>
                <a:gd name="T23" fmla="*/ 587 h 652"/>
                <a:gd name="T24" fmla="*/ 142 w 604"/>
                <a:gd name="T25" fmla="*/ 587 h 652"/>
                <a:gd name="T26" fmla="*/ 142 w 604"/>
                <a:gd name="T27" fmla="*/ 329 h 652"/>
                <a:gd name="T28" fmla="*/ 462 w 604"/>
                <a:gd name="T29" fmla="*/ 329 h 652"/>
                <a:gd name="T30" fmla="*/ 462 w 604"/>
                <a:gd name="T31" fmla="*/ 587 h 652"/>
                <a:gd name="T32" fmla="*/ 398 w 604"/>
                <a:gd name="T33" fmla="*/ 587 h 652"/>
                <a:gd name="T34" fmla="*/ 398 w 604"/>
                <a:gd name="T35" fmla="*/ 652 h 652"/>
                <a:gd name="T36" fmla="*/ 604 w 604"/>
                <a:gd name="T37" fmla="*/ 652 h 652"/>
                <a:gd name="T38" fmla="*/ 604 w 604"/>
                <a:gd name="T39" fmla="*/ 587 h 652"/>
                <a:gd name="T40" fmla="*/ 540 w 604"/>
                <a:gd name="T41" fmla="*/ 587 h 652"/>
                <a:gd name="T42" fmla="*/ 540 w 604"/>
                <a:gd name="T43" fmla="*/ 57 h 652"/>
                <a:gd name="T44" fmla="*/ 604 w 604"/>
                <a:gd name="T45" fmla="*/ 57 h 652"/>
                <a:gd name="T46" fmla="*/ 604 w 604"/>
                <a:gd name="T47" fmla="*/ 0 h 652"/>
                <a:gd name="T48" fmla="*/ 398 w 604"/>
                <a:gd name="T49" fmla="*/ 0 h 652"/>
                <a:gd name="T50" fmla="*/ 398 w 604"/>
                <a:gd name="T51" fmla="*/ 57 h 652"/>
                <a:gd name="T52" fmla="*/ 462 w 604"/>
                <a:gd name="T53" fmla="*/ 57 h 652"/>
                <a:gd name="T54" fmla="*/ 462 w 604"/>
                <a:gd name="T55" fmla="*/ 272 h 652"/>
                <a:gd name="T56" fmla="*/ 142 w 604"/>
                <a:gd name="T57" fmla="*/ 27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04" h="652">
                  <a:moveTo>
                    <a:pt x="142" y="272"/>
                  </a:moveTo>
                  <a:lnTo>
                    <a:pt x="142" y="57"/>
                  </a:lnTo>
                  <a:lnTo>
                    <a:pt x="206" y="57"/>
                  </a:lnTo>
                  <a:lnTo>
                    <a:pt x="206" y="0"/>
                  </a:lnTo>
                  <a:lnTo>
                    <a:pt x="0" y="0"/>
                  </a:lnTo>
                  <a:lnTo>
                    <a:pt x="0" y="57"/>
                  </a:lnTo>
                  <a:lnTo>
                    <a:pt x="64" y="57"/>
                  </a:lnTo>
                  <a:lnTo>
                    <a:pt x="64" y="587"/>
                  </a:lnTo>
                  <a:lnTo>
                    <a:pt x="0" y="587"/>
                  </a:lnTo>
                  <a:lnTo>
                    <a:pt x="0" y="652"/>
                  </a:lnTo>
                  <a:lnTo>
                    <a:pt x="206" y="652"/>
                  </a:lnTo>
                  <a:lnTo>
                    <a:pt x="206" y="587"/>
                  </a:lnTo>
                  <a:lnTo>
                    <a:pt x="142" y="587"/>
                  </a:lnTo>
                  <a:lnTo>
                    <a:pt x="142" y="329"/>
                  </a:lnTo>
                  <a:lnTo>
                    <a:pt x="462" y="329"/>
                  </a:lnTo>
                  <a:lnTo>
                    <a:pt x="462" y="587"/>
                  </a:lnTo>
                  <a:lnTo>
                    <a:pt x="398" y="587"/>
                  </a:lnTo>
                  <a:lnTo>
                    <a:pt x="398" y="652"/>
                  </a:lnTo>
                  <a:lnTo>
                    <a:pt x="604" y="652"/>
                  </a:lnTo>
                  <a:lnTo>
                    <a:pt x="604" y="587"/>
                  </a:lnTo>
                  <a:lnTo>
                    <a:pt x="540" y="587"/>
                  </a:lnTo>
                  <a:lnTo>
                    <a:pt x="540" y="57"/>
                  </a:lnTo>
                  <a:lnTo>
                    <a:pt x="604" y="57"/>
                  </a:lnTo>
                  <a:lnTo>
                    <a:pt x="604" y="0"/>
                  </a:lnTo>
                  <a:lnTo>
                    <a:pt x="398" y="0"/>
                  </a:lnTo>
                  <a:lnTo>
                    <a:pt x="398" y="57"/>
                  </a:lnTo>
                  <a:lnTo>
                    <a:pt x="462" y="57"/>
                  </a:lnTo>
                  <a:lnTo>
                    <a:pt x="462" y="272"/>
                  </a:lnTo>
                  <a:lnTo>
                    <a:pt x="142" y="2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4" name="Freeform 6">
              <a:extLst>
                <a:ext uri="{FF2B5EF4-FFF2-40B4-BE49-F238E27FC236}">
                  <a16:creationId xmlns:a16="http://schemas.microsoft.com/office/drawing/2014/main" id="{CB55B7D8-3723-4CA7-83E2-4ECF2520F18B}"/>
                </a:ext>
              </a:extLst>
            </p:cNvPr>
            <p:cNvSpPr>
              <a:spLocks/>
            </p:cNvSpPr>
            <p:nvPr/>
          </p:nvSpPr>
          <p:spPr bwMode="auto">
            <a:xfrm>
              <a:off x="8042275" y="2816225"/>
              <a:ext cx="822325" cy="1035050"/>
            </a:xfrm>
            <a:custGeom>
              <a:avLst/>
              <a:gdLst>
                <a:gd name="T0" fmla="*/ 27 w 73"/>
                <a:gd name="T1" fmla="*/ 82 h 91"/>
                <a:gd name="T2" fmla="*/ 19 w 73"/>
                <a:gd name="T3" fmla="*/ 82 h 91"/>
                <a:gd name="T4" fmla="*/ 19 w 73"/>
                <a:gd name="T5" fmla="*/ 54 h 91"/>
                <a:gd name="T6" fmla="*/ 37 w 73"/>
                <a:gd name="T7" fmla="*/ 35 h 91"/>
                <a:gd name="T8" fmla="*/ 55 w 73"/>
                <a:gd name="T9" fmla="*/ 54 h 91"/>
                <a:gd name="T10" fmla="*/ 55 w 73"/>
                <a:gd name="T11" fmla="*/ 82 h 91"/>
                <a:gd name="T12" fmla="*/ 46 w 73"/>
                <a:gd name="T13" fmla="*/ 82 h 91"/>
                <a:gd name="T14" fmla="*/ 46 w 73"/>
                <a:gd name="T15" fmla="*/ 91 h 91"/>
                <a:gd name="T16" fmla="*/ 73 w 73"/>
                <a:gd name="T17" fmla="*/ 91 h 91"/>
                <a:gd name="T18" fmla="*/ 73 w 73"/>
                <a:gd name="T19" fmla="*/ 82 h 91"/>
                <a:gd name="T20" fmla="*/ 65 w 73"/>
                <a:gd name="T21" fmla="*/ 82 h 91"/>
                <a:gd name="T22" fmla="*/ 65 w 73"/>
                <a:gd name="T23" fmla="*/ 54 h 91"/>
                <a:gd name="T24" fmla="*/ 38 w 73"/>
                <a:gd name="T25" fmla="*/ 26 h 91"/>
                <a:gd name="T26" fmla="*/ 19 w 73"/>
                <a:gd name="T27" fmla="*/ 35 h 91"/>
                <a:gd name="T28" fmla="*/ 19 w 73"/>
                <a:gd name="T29" fmla="*/ 0 h 91"/>
                <a:gd name="T30" fmla="*/ 0 w 73"/>
                <a:gd name="T31" fmla="*/ 0 h 91"/>
                <a:gd name="T32" fmla="*/ 0 w 73"/>
                <a:gd name="T33" fmla="*/ 8 h 91"/>
                <a:gd name="T34" fmla="*/ 9 w 73"/>
                <a:gd name="T35" fmla="*/ 8 h 91"/>
                <a:gd name="T36" fmla="*/ 9 w 73"/>
                <a:gd name="T37" fmla="*/ 82 h 91"/>
                <a:gd name="T38" fmla="*/ 0 w 73"/>
                <a:gd name="T39" fmla="*/ 82 h 91"/>
                <a:gd name="T40" fmla="*/ 0 w 73"/>
                <a:gd name="T41" fmla="*/ 91 h 91"/>
                <a:gd name="T42" fmla="*/ 27 w 73"/>
                <a:gd name="T43" fmla="*/ 91 h 91"/>
                <a:gd name="T44" fmla="*/ 27 w 73"/>
                <a:gd name="T45" fmla="*/ 8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3" h="91">
                  <a:moveTo>
                    <a:pt x="27" y="82"/>
                  </a:moveTo>
                  <a:cubicBezTo>
                    <a:pt x="19" y="82"/>
                    <a:pt x="19" y="82"/>
                    <a:pt x="19" y="82"/>
                  </a:cubicBezTo>
                  <a:cubicBezTo>
                    <a:pt x="19" y="54"/>
                    <a:pt x="19" y="54"/>
                    <a:pt x="19" y="54"/>
                  </a:cubicBezTo>
                  <a:cubicBezTo>
                    <a:pt x="19" y="41"/>
                    <a:pt x="25" y="35"/>
                    <a:pt x="37" y="35"/>
                  </a:cubicBezTo>
                  <a:cubicBezTo>
                    <a:pt x="48" y="35"/>
                    <a:pt x="55" y="41"/>
                    <a:pt x="55" y="54"/>
                  </a:cubicBezTo>
                  <a:cubicBezTo>
                    <a:pt x="55" y="82"/>
                    <a:pt x="55" y="82"/>
                    <a:pt x="55" y="82"/>
                  </a:cubicBezTo>
                  <a:cubicBezTo>
                    <a:pt x="46" y="82"/>
                    <a:pt x="46" y="82"/>
                    <a:pt x="46" y="82"/>
                  </a:cubicBezTo>
                  <a:cubicBezTo>
                    <a:pt x="46" y="91"/>
                    <a:pt x="46" y="91"/>
                    <a:pt x="46" y="91"/>
                  </a:cubicBezTo>
                  <a:cubicBezTo>
                    <a:pt x="73" y="91"/>
                    <a:pt x="73" y="91"/>
                    <a:pt x="73" y="91"/>
                  </a:cubicBezTo>
                  <a:cubicBezTo>
                    <a:pt x="73" y="82"/>
                    <a:pt x="73" y="82"/>
                    <a:pt x="73" y="82"/>
                  </a:cubicBezTo>
                  <a:cubicBezTo>
                    <a:pt x="65" y="82"/>
                    <a:pt x="65" y="82"/>
                    <a:pt x="65" y="82"/>
                  </a:cubicBezTo>
                  <a:cubicBezTo>
                    <a:pt x="65" y="54"/>
                    <a:pt x="65" y="54"/>
                    <a:pt x="65" y="54"/>
                  </a:cubicBezTo>
                  <a:cubicBezTo>
                    <a:pt x="65" y="39"/>
                    <a:pt x="55" y="26"/>
                    <a:pt x="38" y="26"/>
                  </a:cubicBezTo>
                  <a:cubicBezTo>
                    <a:pt x="30" y="26"/>
                    <a:pt x="23" y="29"/>
                    <a:pt x="19" y="35"/>
                  </a:cubicBezTo>
                  <a:cubicBezTo>
                    <a:pt x="19" y="0"/>
                    <a:pt x="19" y="0"/>
                    <a:pt x="19" y="0"/>
                  </a:cubicBezTo>
                  <a:cubicBezTo>
                    <a:pt x="0" y="0"/>
                    <a:pt x="0" y="0"/>
                    <a:pt x="0" y="0"/>
                  </a:cubicBezTo>
                  <a:cubicBezTo>
                    <a:pt x="0" y="8"/>
                    <a:pt x="0" y="8"/>
                    <a:pt x="0" y="8"/>
                  </a:cubicBezTo>
                  <a:cubicBezTo>
                    <a:pt x="9" y="8"/>
                    <a:pt x="9" y="8"/>
                    <a:pt x="9" y="8"/>
                  </a:cubicBezTo>
                  <a:cubicBezTo>
                    <a:pt x="9" y="82"/>
                    <a:pt x="9" y="82"/>
                    <a:pt x="9" y="82"/>
                  </a:cubicBezTo>
                  <a:cubicBezTo>
                    <a:pt x="0" y="82"/>
                    <a:pt x="0" y="82"/>
                    <a:pt x="0" y="82"/>
                  </a:cubicBezTo>
                  <a:cubicBezTo>
                    <a:pt x="0" y="91"/>
                    <a:pt x="0" y="91"/>
                    <a:pt x="0" y="91"/>
                  </a:cubicBezTo>
                  <a:cubicBezTo>
                    <a:pt x="27" y="91"/>
                    <a:pt x="27" y="91"/>
                    <a:pt x="27" y="91"/>
                  </a:cubicBezTo>
                  <a:lnTo>
                    <a:pt x="27" y="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5" name="Freeform 7">
              <a:extLst>
                <a:ext uri="{FF2B5EF4-FFF2-40B4-BE49-F238E27FC236}">
                  <a16:creationId xmlns:a16="http://schemas.microsoft.com/office/drawing/2014/main" id="{66826270-096D-4A0F-B57D-78D557210E97}"/>
                </a:ext>
              </a:extLst>
            </p:cNvPr>
            <p:cNvSpPr>
              <a:spLocks noEditPoints="1"/>
            </p:cNvSpPr>
            <p:nvPr/>
          </p:nvSpPr>
          <p:spPr bwMode="auto">
            <a:xfrm>
              <a:off x="6419850" y="3111500"/>
              <a:ext cx="822325" cy="750888"/>
            </a:xfrm>
            <a:custGeom>
              <a:avLst/>
              <a:gdLst>
                <a:gd name="T0" fmla="*/ 73 w 73"/>
                <a:gd name="T1" fmla="*/ 10 h 66"/>
                <a:gd name="T2" fmla="*/ 73 w 73"/>
                <a:gd name="T3" fmla="*/ 2 h 66"/>
                <a:gd name="T4" fmla="*/ 54 w 73"/>
                <a:gd name="T5" fmla="*/ 2 h 66"/>
                <a:gd name="T6" fmla="*/ 54 w 73"/>
                <a:gd name="T7" fmla="*/ 11 h 66"/>
                <a:gd name="T8" fmla="*/ 31 w 73"/>
                <a:gd name="T9" fmla="*/ 0 h 66"/>
                <a:gd name="T10" fmla="*/ 0 w 73"/>
                <a:gd name="T11" fmla="*/ 33 h 66"/>
                <a:gd name="T12" fmla="*/ 31 w 73"/>
                <a:gd name="T13" fmla="*/ 66 h 66"/>
                <a:gd name="T14" fmla="*/ 54 w 73"/>
                <a:gd name="T15" fmla="*/ 55 h 66"/>
                <a:gd name="T16" fmla="*/ 54 w 73"/>
                <a:gd name="T17" fmla="*/ 65 h 66"/>
                <a:gd name="T18" fmla="*/ 73 w 73"/>
                <a:gd name="T19" fmla="*/ 65 h 66"/>
                <a:gd name="T20" fmla="*/ 73 w 73"/>
                <a:gd name="T21" fmla="*/ 56 h 66"/>
                <a:gd name="T22" fmla="*/ 64 w 73"/>
                <a:gd name="T23" fmla="*/ 56 h 66"/>
                <a:gd name="T24" fmla="*/ 64 w 73"/>
                <a:gd name="T25" fmla="*/ 10 h 66"/>
                <a:gd name="T26" fmla="*/ 73 w 73"/>
                <a:gd name="T27" fmla="*/ 10 h 66"/>
                <a:gd name="T28" fmla="*/ 33 w 73"/>
                <a:gd name="T29" fmla="*/ 58 h 66"/>
                <a:gd name="T30" fmla="*/ 11 w 73"/>
                <a:gd name="T31" fmla="*/ 33 h 66"/>
                <a:gd name="T32" fmla="*/ 33 w 73"/>
                <a:gd name="T33" fmla="*/ 9 h 66"/>
                <a:gd name="T34" fmla="*/ 54 w 73"/>
                <a:gd name="T35" fmla="*/ 33 h 66"/>
                <a:gd name="T36" fmla="*/ 33 w 73"/>
                <a:gd name="T37" fmla="*/ 5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 h="66">
                  <a:moveTo>
                    <a:pt x="73" y="10"/>
                  </a:moveTo>
                  <a:cubicBezTo>
                    <a:pt x="73" y="2"/>
                    <a:pt x="73" y="2"/>
                    <a:pt x="73" y="2"/>
                  </a:cubicBezTo>
                  <a:cubicBezTo>
                    <a:pt x="54" y="2"/>
                    <a:pt x="54" y="2"/>
                    <a:pt x="54" y="2"/>
                  </a:cubicBezTo>
                  <a:cubicBezTo>
                    <a:pt x="54" y="11"/>
                    <a:pt x="54" y="11"/>
                    <a:pt x="54" y="11"/>
                  </a:cubicBezTo>
                  <a:cubicBezTo>
                    <a:pt x="49" y="4"/>
                    <a:pt x="41" y="0"/>
                    <a:pt x="31" y="0"/>
                  </a:cubicBezTo>
                  <a:cubicBezTo>
                    <a:pt x="13" y="0"/>
                    <a:pt x="0" y="14"/>
                    <a:pt x="0" y="33"/>
                  </a:cubicBezTo>
                  <a:cubicBezTo>
                    <a:pt x="0" y="52"/>
                    <a:pt x="13" y="66"/>
                    <a:pt x="31" y="66"/>
                  </a:cubicBezTo>
                  <a:cubicBezTo>
                    <a:pt x="41" y="66"/>
                    <a:pt x="49" y="62"/>
                    <a:pt x="54" y="55"/>
                  </a:cubicBezTo>
                  <a:cubicBezTo>
                    <a:pt x="54" y="65"/>
                    <a:pt x="54" y="65"/>
                    <a:pt x="54" y="65"/>
                  </a:cubicBezTo>
                  <a:cubicBezTo>
                    <a:pt x="73" y="65"/>
                    <a:pt x="73" y="65"/>
                    <a:pt x="73" y="65"/>
                  </a:cubicBezTo>
                  <a:cubicBezTo>
                    <a:pt x="73" y="56"/>
                    <a:pt x="73" y="56"/>
                    <a:pt x="73" y="56"/>
                  </a:cubicBezTo>
                  <a:cubicBezTo>
                    <a:pt x="64" y="56"/>
                    <a:pt x="64" y="56"/>
                    <a:pt x="64" y="56"/>
                  </a:cubicBezTo>
                  <a:cubicBezTo>
                    <a:pt x="64" y="10"/>
                    <a:pt x="64" y="10"/>
                    <a:pt x="64" y="10"/>
                  </a:cubicBezTo>
                  <a:lnTo>
                    <a:pt x="73" y="10"/>
                  </a:lnTo>
                  <a:close/>
                  <a:moveTo>
                    <a:pt x="33" y="58"/>
                  </a:moveTo>
                  <a:cubicBezTo>
                    <a:pt x="20" y="58"/>
                    <a:pt x="11" y="47"/>
                    <a:pt x="11" y="33"/>
                  </a:cubicBezTo>
                  <a:cubicBezTo>
                    <a:pt x="11" y="19"/>
                    <a:pt x="20" y="9"/>
                    <a:pt x="33" y="9"/>
                  </a:cubicBezTo>
                  <a:cubicBezTo>
                    <a:pt x="46" y="9"/>
                    <a:pt x="54" y="19"/>
                    <a:pt x="54" y="33"/>
                  </a:cubicBezTo>
                  <a:cubicBezTo>
                    <a:pt x="54" y="47"/>
                    <a:pt x="46" y="58"/>
                    <a:pt x="33" y="5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6" name="Freeform 8">
              <a:extLst>
                <a:ext uri="{FF2B5EF4-FFF2-40B4-BE49-F238E27FC236}">
                  <a16:creationId xmlns:a16="http://schemas.microsoft.com/office/drawing/2014/main" id="{D644210C-71FB-46C2-BB06-3DAD03BC87A0}"/>
                </a:ext>
              </a:extLst>
            </p:cNvPr>
            <p:cNvSpPr>
              <a:spLocks noEditPoints="1"/>
            </p:cNvSpPr>
            <p:nvPr/>
          </p:nvSpPr>
          <p:spPr bwMode="auto">
            <a:xfrm>
              <a:off x="5608638" y="3111500"/>
              <a:ext cx="731838" cy="750888"/>
            </a:xfrm>
            <a:custGeom>
              <a:avLst/>
              <a:gdLst>
                <a:gd name="T0" fmla="*/ 65 w 65"/>
                <a:gd name="T1" fmla="*/ 32 h 66"/>
                <a:gd name="T2" fmla="*/ 33 w 65"/>
                <a:gd name="T3" fmla="*/ 0 h 66"/>
                <a:gd name="T4" fmla="*/ 0 w 65"/>
                <a:gd name="T5" fmla="*/ 33 h 66"/>
                <a:gd name="T6" fmla="*/ 33 w 65"/>
                <a:gd name="T7" fmla="*/ 66 h 66"/>
                <a:gd name="T8" fmla="*/ 63 w 65"/>
                <a:gd name="T9" fmla="*/ 48 h 66"/>
                <a:gd name="T10" fmla="*/ 53 w 65"/>
                <a:gd name="T11" fmla="*/ 48 h 66"/>
                <a:gd name="T12" fmla="*/ 34 w 65"/>
                <a:gd name="T13" fmla="*/ 58 h 66"/>
                <a:gd name="T14" fmla="*/ 11 w 65"/>
                <a:gd name="T15" fmla="*/ 37 h 66"/>
                <a:gd name="T16" fmla="*/ 65 w 65"/>
                <a:gd name="T17" fmla="*/ 37 h 66"/>
                <a:gd name="T18" fmla="*/ 65 w 65"/>
                <a:gd name="T19" fmla="*/ 32 h 66"/>
                <a:gd name="T20" fmla="*/ 11 w 65"/>
                <a:gd name="T21" fmla="*/ 28 h 66"/>
                <a:gd name="T22" fmla="*/ 33 w 65"/>
                <a:gd name="T23" fmla="*/ 8 h 66"/>
                <a:gd name="T24" fmla="*/ 55 w 65"/>
                <a:gd name="T25" fmla="*/ 28 h 66"/>
                <a:gd name="T26" fmla="*/ 11 w 65"/>
                <a:gd name="T27"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 h="66">
                  <a:moveTo>
                    <a:pt x="65" y="32"/>
                  </a:moveTo>
                  <a:cubicBezTo>
                    <a:pt x="65" y="13"/>
                    <a:pt x="53" y="0"/>
                    <a:pt x="33" y="0"/>
                  </a:cubicBezTo>
                  <a:cubicBezTo>
                    <a:pt x="14" y="0"/>
                    <a:pt x="0" y="14"/>
                    <a:pt x="0" y="33"/>
                  </a:cubicBezTo>
                  <a:cubicBezTo>
                    <a:pt x="0" y="53"/>
                    <a:pt x="14" y="66"/>
                    <a:pt x="33" y="66"/>
                  </a:cubicBezTo>
                  <a:cubicBezTo>
                    <a:pt x="47" y="66"/>
                    <a:pt x="58" y="59"/>
                    <a:pt x="63" y="48"/>
                  </a:cubicBezTo>
                  <a:cubicBezTo>
                    <a:pt x="53" y="48"/>
                    <a:pt x="53" y="48"/>
                    <a:pt x="53" y="48"/>
                  </a:cubicBezTo>
                  <a:cubicBezTo>
                    <a:pt x="50" y="54"/>
                    <a:pt x="43" y="58"/>
                    <a:pt x="34" y="58"/>
                  </a:cubicBezTo>
                  <a:cubicBezTo>
                    <a:pt x="19" y="58"/>
                    <a:pt x="12" y="49"/>
                    <a:pt x="11" y="37"/>
                  </a:cubicBezTo>
                  <a:cubicBezTo>
                    <a:pt x="65" y="37"/>
                    <a:pt x="65" y="37"/>
                    <a:pt x="65" y="37"/>
                  </a:cubicBezTo>
                  <a:lnTo>
                    <a:pt x="65" y="32"/>
                  </a:lnTo>
                  <a:close/>
                  <a:moveTo>
                    <a:pt x="11" y="28"/>
                  </a:moveTo>
                  <a:cubicBezTo>
                    <a:pt x="12" y="17"/>
                    <a:pt x="20" y="8"/>
                    <a:pt x="33" y="8"/>
                  </a:cubicBezTo>
                  <a:cubicBezTo>
                    <a:pt x="47" y="8"/>
                    <a:pt x="54" y="18"/>
                    <a:pt x="55" y="28"/>
                  </a:cubicBezTo>
                  <a:lnTo>
                    <a:pt x="1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7" name="Freeform 9">
              <a:extLst>
                <a:ext uri="{FF2B5EF4-FFF2-40B4-BE49-F238E27FC236}">
                  <a16:creationId xmlns:a16="http://schemas.microsoft.com/office/drawing/2014/main" id="{6BD464F9-CB86-4782-98A8-138D13B22E79}"/>
                </a:ext>
              </a:extLst>
            </p:cNvPr>
            <p:cNvSpPr>
              <a:spLocks/>
            </p:cNvSpPr>
            <p:nvPr/>
          </p:nvSpPr>
          <p:spPr bwMode="auto">
            <a:xfrm>
              <a:off x="7613650" y="2952750"/>
              <a:ext cx="360363" cy="898525"/>
            </a:xfrm>
            <a:custGeom>
              <a:avLst/>
              <a:gdLst>
                <a:gd name="T0" fmla="*/ 20 w 32"/>
                <a:gd name="T1" fmla="*/ 62 h 79"/>
                <a:gd name="T2" fmla="*/ 20 w 32"/>
                <a:gd name="T3" fmla="*/ 24 h 79"/>
                <a:gd name="T4" fmla="*/ 32 w 32"/>
                <a:gd name="T5" fmla="*/ 24 h 79"/>
                <a:gd name="T6" fmla="*/ 32 w 32"/>
                <a:gd name="T7" fmla="*/ 16 h 79"/>
                <a:gd name="T8" fmla="*/ 20 w 32"/>
                <a:gd name="T9" fmla="*/ 16 h 79"/>
                <a:gd name="T10" fmla="*/ 20 w 32"/>
                <a:gd name="T11" fmla="*/ 0 h 79"/>
                <a:gd name="T12" fmla="*/ 9 w 32"/>
                <a:gd name="T13" fmla="*/ 0 h 79"/>
                <a:gd name="T14" fmla="*/ 9 w 32"/>
                <a:gd name="T15" fmla="*/ 16 h 79"/>
                <a:gd name="T16" fmla="*/ 0 w 32"/>
                <a:gd name="T17" fmla="*/ 16 h 79"/>
                <a:gd name="T18" fmla="*/ 0 w 32"/>
                <a:gd name="T19" fmla="*/ 24 h 79"/>
                <a:gd name="T20" fmla="*/ 9 w 32"/>
                <a:gd name="T21" fmla="*/ 24 h 79"/>
                <a:gd name="T22" fmla="*/ 9 w 32"/>
                <a:gd name="T23" fmla="*/ 63 h 79"/>
                <a:gd name="T24" fmla="*/ 26 w 32"/>
                <a:gd name="T25" fmla="*/ 79 h 79"/>
                <a:gd name="T26" fmla="*/ 32 w 32"/>
                <a:gd name="T27" fmla="*/ 79 h 79"/>
                <a:gd name="T28" fmla="*/ 32 w 32"/>
                <a:gd name="T29" fmla="*/ 70 h 79"/>
                <a:gd name="T30" fmla="*/ 27 w 32"/>
                <a:gd name="T31" fmla="*/ 71 h 79"/>
                <a:gd name="T32" fmla="*/ 20 w 32"/>
                <a:gd name="T33" fmla="*/ 6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79">
                  <a:moveTo>
                    <a:pt x="20" y="62"/>
                  </a:moveTo>
                  <a:cubicBezTo>
                    <a:pt x="20" y="24"/>
                    <a:pt x="20" y="24"/>
                    <a:pt x="20" y="24"/>
                  </a:cubicBezTo>
                  <a:cubicBezTo>
                    <a:pt x="32" y="24"/>
                    <a:pt x="32" y="24"/>
                    <a:pt x="32" y="24"/>
                  </a:cubicBezTo>
                  <a:cubicBezTo>
                    <a:pt x="32" y="16"/>
                    <a:pt x="32" y="16"/>
                    <a:pt x="32" y="16"/>
                  </a:cubicBezTo>
                  <a:cubicBezTo>
                    <a:pt x="20" y="16"/>
                    <a:pt x="20" y="16"/>
                    <a:pt x="20" y="16"/>
                  </a:cubicBezTo>
                  <a:cubicBezTo>
                    <a:pt x="20" y="0"/>
                    <a:pt x="20" y="0"/>
                    <a:pt x="20" y="0"/>
                  </a:cubicBezTo>
                  <a:cubicBezTo>
                    <a:pt x="9" y="0"/>
                    <a:pt x="9" y="0"/>
                    <a:pt x="9" y="0"/>
                  </a:cubicBezTo>
                  <a:cubicBezTo>
                    <a:pt x="9" y="16"/>
                    <a:pt x="9" y="16"/>
                    <a:pt x="9" y="16"/>
                  </a:cubicBezTo>
                  <a:cubicBezTo>
                    <a:pt x="0" y="16"/>
                    <a:pt x="0" y="16"/>
                    <a:pt x="0" y="16"/>
                  </a:cubicBezTo>
                  <a:cubicBezTo>
                    <a:pt x="0" y="24"/>
                    <a:pt x="0" y="24"/>
                    <a:pt x="0" y="24"/>
                  </a:cubicBezTo>
                  <a:cubicBezTo>
                    <a:pt x="9" y="24"/>
                    <a:pt x="9" y="24"/>
                    <a:pt x="9" y="24"/>
                  </a:cubicBezTo>
                  <a:cubicBezTo>
                    <a:pt x="9" y="63"/>
                    <a:pt x="9" y="63"/>
                    <a:pt x="9" y="63"/>
                  </a:cubicBezTo>
                  <a:cubicBezTo>
                    <a:pt x="9" y="74"/>
                    <a:pt x="14" y="79"/>
                    <a:pt x="26" y="79"/>
                  </a:cubicBezTo>
                  <a:cubicBezTo>
                    <a:pt x="28" y="79"/>
                    <a:pt x="31" y="79"/>
                    <a:pt x="32" y="79"/>
                  </a:cubicBezTo>
                  <a:cubicBezTo>
                    <a:pt x="32" y="70"/>
                    <a:pt x="32" y="70"/>
                    <a:pt x="32" y="70"/>
                  </a:cubicBezTo>
                  <a:cubicBezTo>
                    <a:pt x="30" y="71"/>
                    <a:pt x="29" y="71"/>
                    <a:pt x="27" y="71"/>
                  </a:cubicBezTo>
                  <a:cubicBezTo>
                    <a:pt x="22" y="71"/>
                    <a:pt x="20" y="69"/>
                    <a:pt x="20" y="6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8" name="Freeform 10">
              <a:extLst>
                <a:ext uri="{FF2B5EF4-FFF2-40B4-BE49-F238E27FC236}">
                  <a16:creationId xmlns:a16="http://schemas.microsoft.com/office/drawing/2014/main" id="{4A8BDCE4-6FCC-47A7-9CDE-4AC06B36DA13}"/>
                </a:ext>
              </a:extLst>
            </p:cNvPr>
            <p:cNvSpPr>
              <a:spLocks/>
            </p:cNvSpPr>
            <p:nvPr/>
          </p:nvSpPr>
          <p:spPr bwMode="auto">
            <a:xfrm>
              <a:off x="7275513" y="2816225"/>
              <a:ext cx="338138" cy="1035050"/>
            </a:xfrm>
            <a:custGeom>
              <a:avLst/>
              <a:gdLst>
                <a:gd name="T0" fmla="*/ 24 w 30"/>
                <a:gd name="T1" fmla="*/ 91 h 91"/>
                <a:gd name="T2" fmla="*/ 30 w 30"/>
                <a:gd name="T3" fmla="*/ 91 h 91"/>
                <a:gd name="T4" fmla="*/ 30 w 30"/>
                <a:gd name="T5" fmla="*/ 82 h 91"/>
                <a:gd name="T6" fmla="*/ 26 w 30"/>
                <a:gd name="T7" fmla="*/ 83 h 91"/>
                <a:gd name="T8" fmla="*/ 19 w 30"/>
                <a:gd name="T9" fmla="*/ 74 h 91"/>
                <a:gd name="T10" fmla="*/ 19 w 30"/>
                <a:gd name="T11" fmla="*/ 0 h 91"/>
                <a:gd name="T12" fmla="*/ 0 w 30"/>
                <a:gd name="T13" fmla="*/ 0 h 91"/>
                <a:gd name="T14" fmla="*/ 0 w 30"/>
                <a:gd name="T15" fmla="*/ 8 h 91"/>
                <a:gd name="T16" fmla="*/ 9 w 30"/>
                <a:gd name="T17" fmla="*/ 8 h 91"/>
                <a:gd name="T18" fmla="*/ 9 w 30"/>
                <a:gd name="T19" fmla="*/ 74 h 91"/>
                <a:gd name="T20" fmla="*/ 24 w 30"/>
                <a:gd name="T2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91">
                  <a:moveTo>
                    <a:pt x="24" y="91"/>
                  </a:moveTo>
                  <a:cubicBezTo>
                    <a:pt x="26" y="91"/>
                    <a:pt x="29" y="91"/>
                    <a:pt x="30" y="91"/>
                  </a:cubicBezTo>
                  <a:cubicBezTo>
                    <a:pt x="30" y="82"/>
                    <a:pt x="30" y="82"/>
                    <a:pt x="30" y="82"/>
                  </a:cubicBezTo>
                  <a:cubicBezTo>
                    <a:pt x="28" y="83"/>
                    <a:pt x="27" y="83"/>
                    <a:pt x="26" y="83"/>
                  </a:cubicBezTo>
                  <a:cubicBezTo>
                    <a:pt x="21" y="83"/>
                    <a:pt x="19" y="80"/>
                    <a:pt x="19" y="74"/>
                  </a:cubicBezTo>
                  <a:cubicBezTo>
                    <a:pt x="19" y="0"/>
                    <a:pt x="19" y="0"/>
                    <a:pt x="19" y="0"/>
                  </a:cubicBezTo>
                  <a:cubicBezTo>
                    <a:pt x="0" y="0"/>
                    <a:pt x="0" y="0"/>
                    <a:pt x="0" y="0"/>
                  </a:cubicBezTo>
                  <a:cubicBezTo>
                    <a:pt x="0" y="8"/>
                    <a:pt x="0" y="8"/>
                    <a:pt x="0" y="8"/>
                  </a:cubicBezTo>
                  <a:cubicBezTo>
                    <a:pt x="9" y="8"/>
                    <a:pt x="9" y="8"/>
                    <a:pt x="9" y="8"/>
                  </a:cubicBezTo>
                  <a:cubicBezTo>
                    <a:pt x="9" y="74"/>
                    <a:pt x="9" y="74"/>
                    <a:pt x="9" y="74"/>
                  </a:cubicBezTo>
                  <a:cubicBezTo>
                    <a:pt x="9" y="85"/>
                    <a:pt x="13" y="91"/>
                    <a:pt x="24" y="91"/>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9" name="Freeform 11">
              <a:extLst>
                <a:ext uri="{FF2B5EF4-FFF2-40B4-BE49-F238E27FC236}">
                  <a16:creationId xmlns:a16="http://schemas.microsoft.com/office/drawing/2014/main" id="{331AB147-689A-43A6-B970-E8CB2BE02D79}"/>
                </a:ext>
              </a:extLst>
            </p:cNvPr>
            <p:cNvSpPr>
              <a:spLocks/>
            </p:cNvSpPr>
            <p:nvPr/>
          </p:nvSpPr>
          <p:spPr bwMode="auto">
            <a:xfrm>
              <a:off x="3603625" y="2781300"/>
              <a:ext cx="911225" cy="1092200"/>
            </a:xfrm>
            <a:custGeom>
              <a:avLst/>
              <a:gdLst>
                <a:gd name="T0" fmla="*/ 28 w 81"/>
                <a:gd name="T1" fmla="*/ 65 h 96"/>
                <a:gd name="T2" fmla="*/ 41 w 81"/>
                <a:gd name="T3" fmla="*/ 74 h 96"/>
                <a:gd name="T4" fmla="*/ 52 w 81"/>
                <a:gd name="T5" fmla="*/ 68 h 96"/>
                <a:gd name="T6" fmla="*/ 36 w 81"/>
                <a:gd name="T7" fmla="*/ 59 h 96"/>
                <a:gd name="T8" fmla="*/ 12 w 81"/>
                <a:gd name="T9" fmla="*/ 50 h 96"/>
                <a:gd name="T10" fmla="*/ 1 w 81"/>
                <a:gd name="T11" fmla="*/ 29 h 96"/>
                <a:gd name="T12" fmla="*/ 39 w 81"/>
                <a:gd name="T13" fmla="*/ 0 h 96"/>
                <a:gd name="T14" fmla="*/ 78 w 81"/>
                <a:gd name="T15" fmla="*/ 29 h 96"/>
                <a:gd name="T16" fmla="*/ 51 w 81"/>
                <a:gd name="T17" fmla="*/ 29 h 96"/>
                <a:gd name="T18" fmla="*/ 39 w 81"/>
                <a:gd name="T19" fmla="*/ 21 h 96"/>
                <a:gd name="T20" fmla="*/ 30 w 81"/>
                <a:gd name="T21" fmla="*/ 27 h 96"/>
                <a:gd name="T22" fmla="*/ 43 w 81"/>
                <a:gd name="T23" fmla="*/ 35 h 96"/>
                <a:gd name="T24" fmla="*/ 69 w 81"/>
                <a:gd name="T25" fmla="*/ 43 h 96"/>
                <a:gd name="T26" fmla="*/ 81 w 81"/>
                <a:gd name="T27" fmla="*/ 65 h 96"/>
                <a:gd name="T28" fmla="*/ 40 w 81"/>
                <a:gd name="T29" fmla="*/ 96 h 96"/>
                <a:gd name="T30" fmla="*/ 0 w 81"/>
                <a:gd name="T31" fmla="*/ 65 h 96"/>
                <a:gd name="T32" fmla="*/ 28 w 81"/>
                <a:gd name="T33" fmla="*/ 6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96">
                  <a:moveTo>
                    <a:pt x="28" y="65"/>
                  </a:moveTo>
                  <a:cubicBezTo>
                    <a:pt x="29" y="72"/>
                    <a:pt x="33" y="74"/>
                    <a:pt x="41" y="74"/>
                  </a:cubicBezTo>
                  <a:cubicBezTo>
                    <a:pt x="48" y="74"/>
                    <a:pt x="52" y="72"/>
                    <a:pt x="52" y="68"/>
                  </a:cubicBezTo>
                  <a:cubicBezTo>
                    <a:pt x="52" y="62"/>
                    <a:pt x="47" y="62"/>
                    <a:pt x="36" y="59"/>
                  </a:cubicBezTo>
                  <a:cubicBezTo>
                    <a:pt x="24" y="55"/>
                    <a:pt x="15" y="53"/>
                    <a:pt x="12" y="50"/>
                  </a:cubicBezTo>
                  <a:cubicBezTo>
                    <a:pt x="5" y="45"/>
                    <a:pt x="1" y="38"/>
                    <a:pt x="1" y="29"/>
                  </a:cubicBezTo>
                  <a:cubicBezTo>
                    <a:pt x="1" y="11"/>
                    <a:pt x="15" y="0"/>
                    <a:pt x="39" y="0"/>
                  </a:cubicBezTo>
                  <a:cubicBezTo>
                    <a:pt x="63" y="0"/>
                    <a:pt x="77" y="10"/>
                    <a:pt x="78" y="29"/>
                  </a:cubicBezTo>
                  <a:cubicBezTo>
                    <a:pt x="51" y="29"/>
                    <a:pt x="51" y="29"/>
                    <a:pt x="51" y="29"/>
                  </a:cubicBezTo>
                  <a:cubicBezTo>
                    <a:pt x="50" y="23"/>
                    <a:pt x="46" y="21"/>
                    <a:pt x="39" y="21"/>
                  </a:cubicBezTo>
                  <a:cubicBezTo>
                    <a:pt x="33" y="21"/>
                    <a:pt x="30" y="23"/>
                    <a:pt x="30" y="27"/>
                  </a:cubicBezTo>
                  <a:cubicBezTo>
                    <a:pt x="30" y="32"/>
                    <a:pt x="34" y="33"/>
                    <a:pt x="43" y="35"/>
                  </a:cubicBezTo>
                  <a:cubicBezTo>
                    <a:pt x="54" y="38"/>
                    <a:pt x="63" y="40"/>
                    <a:pt x="69" y="43"/>
                  </a:cubicBezTo>
                  <a:cubicBezTo>
                    <a:pt x="77" y="49"/>
                    <a:pt x="81" y="55"/>
                    <a:pt x="81" y="65"/>
                  </a:cubicBezTo>
                  <a:cubicBezTo>
                    <a:pt x="81" y="84"/>
                    <a:pt x="66" y="96"/>
                    <a:pt x="40" y="96"/>
                  </a:cubicBezTo>
                  <a:cubicBezTo>
                    <a:pt x="16" y="96"/>
                    <a:pt x="1" y="84"/>
                    <a:pt x="0" y="65"/>
                  </a:cubicBezTo>
                  <a:lnTo>
                    <a:pt x="28" y="6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40" name="Freeform 12">
              <a:extLst>
                <a:ext uri="{FF2B5EF4-FFF2-40B4-BE49-F238E27FC236}">
                  <a16:creationId xmlns:a16="http://schemas.microsoft.com/office/drawing/2014/main" id="{AA8CC35E-627A-410D-9CC1-5DFD27072BFF}"/>
                </a:ext>
              </a:extLst>
            </p:cNvPr>
            <p:cNvSpPr>
              <a:spLocks/>
            </p:cNvSpPr>
            <p:nvPr/>
          </p:nvSpPr>
          <p:spPr bwMode="auto">
            <a:xfrm>
              <a:off x="1698625" y="2781300"/>
              <a:ext cx="1014413" cy="1092200"/>
            </a:xfrm>
            <a:custGeom>
              <a:avLst/>
              <a:gdLst>
                <a:gd name="T0" fmla="*/ 90 w 90"/>
                <a:gd name="T1" fmla="*/ 58 h 96"/>
                <a:gd name="T2" fmla="*/ 46 w 90"/>
                <a:gd name="T3" fmla="*/ 96 h 96"/>
                <a:gd name="T4" fmla="*/ 0 w 90"/>
                <a:gd name="T5" fmla="*/ 48 h 96"/>
                <a:gd name="T6" fmla="*/ 46 w 90"/>
                <a:gd name="T7" fmla="*/ 0 h 96"/>
                <a:gd name="T8" fmla="*/ 89 w 90"/>
                <a:gd name="T9" fmla="*/ 37 h 96"/>
                <a:gd name="T10" fmla="*/ 62 w 90"/>
                <a:gd name="T11" fmla="*/ 37 h 96"/>
                <a:gd name="T12" fmla="*/ 46 w 90"/>
                <a:gd name="T13" fmla="*/ 23 h 96"/>
                <a:gd name="T14" fmla="*/ 29 w 90"/>
                <a:gd name="T15" fmla="*/ 48 h 96"/>
                <a:gd name="T16" fmla="*/ 47 w 90"/>
                <a:gd name="T17" fmla="*/ 73 h 96"/>
                <a:gd name="T18" fmla="*/ 62 w 90"/>
                <a:gd name="T19" fmla="*/ 58 h 96"/>
                <a:gd name="T20" fmla="*/ 90 w 90"/>
                <a:gd name="T21" fmla="*/ 5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96">
                  <a:moveTo>
                    <a:pt x="90" y="58"/>
                  </a:moveTo>
                  <a:cubicBezTo>
                    <a:pt x="88" y="82"/>
                    <a:pt x="72" y="96"/>
                    <a:pt x="46" y="96"/>
                  </a:cubicBezTo>
                  <a:cubicBezTo>
                    <a:pt x="17" y="96"/>
                    <a:pt x="0" y="78"/>
                    <a:pt x="0" y="48"/>
                  </a:cubicBezTo>
                  <a:cubicBezTo>
                    <a:pt x="0" y="18"/>
                    <a:pt x="17" y="0"/>
                    <a:pt x="46" y="0"/>
                  </a:cubicBezTo>
                  <a:cubicBezTo>
                    <a:pt x="72" y="0"/>
                    <a:pt x="88" y="13"/>
                    <a:pt x="89" y="37"/>
                  </a:cubicBezTo>
                  <a:cubicBezTo>
                    <a:pt x="62" y="37"/>
                    <a:pt x="62" y="37"/>
                    <a:pt x="62" y="37"/>
                  </a:cubicBezTo>
                  <a:cubicBezTo>
                    <a:pt x="61" y="28"/>
                    <a:pt x="55" y="23"/>
                    <a:pt x="46" y="23"/>
                  </a:cubicBezTo>
                  <a:cubicBezTo>
                    <a:pt x="35" y="23"/>
                    <a:pt x="29" y="31"/>
                    <a:pt x="29" y="48"/>
                  </a:cubicBezTo>
                  <a:cubicBezTo>
                    <a:pt x="29" y="65"/>
                    <a:pt x="35" y="73"/>
                    <a:pt x="47" y="73"/>
                  </a:cubicBezTo>
                  <a:cubicBezTo>
                    <a:pt x="56" y="73"/>
                    <a:pt x="61" y="68"/>
                    <a:pt x="62" y="58"/>
                  </a:cubicBezTo>
                  <a:lnTo>
                    <a:pt x="90" y="58"/>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41" name="Freeform 13">
              <a:extLst>
                <a:ext uri="{FF2B5EF4-FFF2-40B4-BE49-F238E27FC236}">
                  <a16:creationId xmlns:a16="http://schemas.microsoft.com/office/drawing/2014/main" id="{A6104163-5896-46B6-AC7E-D2E4D25EC2F7}"/>
                </a:ext>
              </a:extLst>
            </p:cNvPr>
            <p:cNvSpPr>
              <a:spLocks/>
            </p:cNvSpPr>
            <p:nvPr/>
          </p:nvSpPr>
          <p:spPr bwMode="auto">
            <a:xfrm>
              <a:off x="2644774" y="2816225"/>
              <a:ext cx="1014412" cy="1023939"/>
            </a:xfrm>
            <a:custGeom>
              <a:avLst/>
              <a:gdLst>
                <a:gd name="T0" fmla="*/ 0 w 639"/>
                <a:gd name="T1" fmla="*/ 0 h 645"/>
                <a:gd name="T2" fmla="*/ 206 w 639"/>
                <a:gd name="T3" fmla="*/ 0 h 645"/>
                <a:gd name="T4" fmla="*/ 320 w 639"/>
                <a:gd name="T5" fmla="*/ 415 h 645"/>
                <a:gd name="T6" fmla="*/ 433 w 639"/>
                <a:gd name="T7" fmla="*/ 0 h 645"/>
                <a:gd name="T8" fmla="*/ 639 w 639"/>
                <a:gd name="T9" fmla="*/ 0 h 645"/>
                <a:gd name="T10" fmla="*/ 419 w 639"/>
                <a:gd name="T11" fmla="*/ 645 h 645"/>
                <a:gd name="T12" fmla="*/ 213 w 639"/>
                <a:gd name="T13" fmla="*/ 645 h 645"/>
                <a:gd name="T14" fmla="*/ 0 w 639"/>
                <a:gd name="T15" fmla="*/ 0 h 6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9" h="645">
                  <a:moveTo>
                    <a:pt x="0" y="0"/>
                  </a:moveTo>
                  <a:lnTo>
                    <a:pt x="206" y="0"/>
                  </a:lnTo>
                  <a:lnTo>
                    <a:pt x="320" y="415"/>
                  </a:lnTo>
                  <a:lnTo>
                    <a:pt x="433" y="0"/>
                  </a:lnTo>
                  <a:lnTo>
                    <a:pt x="639" y="0"/>
                  </a:lnTo>
                  <a:lnTo>
                    <a:pt x="419" y="645"/>
                  </a:lnTo>
                  <a:lnTo>
                    <a:pt x="213" y="645"/>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42" name="Freeform 14">
              <a:extLst>
                <a:ext uri="{FF2B5EF4-FFF2-40B4-BE49-F238E27FC236}">
                  <a16:creationId xmlns:a16="http://schemas.microsoft.com/office/drawing/2014/main" id="{481FE757-1FA8-48AB-BF72-DF393E4A3A65}"/>
                </a:ext>
              </a:extLst>
            </p:cNvPr>
            <p:cNvSpPr>
              <a:spLocks/>
            </p:cNvSpPr>
            <p:nvPr/>
          </p:nvSpPr>
          <p:spPr bwMode="auto">
            <a:xfrm>
              <a:off x="279400" y="2781300"/>
              <a:ext cx="1295400" cy="1092200"/>
            </a:xfrm>
            <a:custGeom>
              <a:avLst/>
              <a:gdLst>
                <a:gd name="T0" fmla="*/ 4 w 115"/>
                <a:gd name="T1" fmla="*/ 42 h 96"/>
                <a:gd name="T2" fmla="*/ 0 w 115"/>
                <a:gd name="T3" fmla="*/ 33 h 96"/>
                <a:gd name="T4" fmla="*/ 4 w 115"/>
                <a:gd name="T5" fmla="*/ 23 h 96"/>
                <a:gd name="T6" fmla="*/ 22 w 115"/>
                <a:gd name="T7" fmla="*/ 4 h 96"/>
                <a:gd name="T8" fmla="*/ 32 w 115"/>
                <a:gd name="T9" fmla="*/ 0 h 96"/>
                <a:gd name="T10" fmla="*/ 42 w 115"/>
                <a:gd name="T11" fmla="*/ 4 h 96"/>
                <a:gd name="T12" fmla="*/ 58 w 115"/>
                <a:gd name="T13" fmla="*/ 20 h 96"/>
                <a:gd name="T14" fmla="*/ 73 w 115"/>
                <a:gd name="T15" fmla="*/ 4 h 96"/>
                <a:gd name="T16" fmla="*/ 83 w 115"/>
                <a:gd name="T17" fmla="*/ 0 h 96"/>
                <a:gd name="T18" fmla="*/ 93 w 115"/>
                <a:gd name="T19" fmla="*/ 4 h 96"/>
                <a:gd name="T20" fmla="*/ 111 w 115"/>
                <a:gd name="T21" fmla="*/ 23 h 96"/>
                <a:gd name="T22" fmla="*/ 115 w 115"/>
                <a:gd name="T23" fmla="*/ 33 h 96"/>
                <a:gd name="T24" fmla="*/ 111 w 115"/>
                <a:gd name="T25" fmla="*/ 42 h 96"/>
                <a:gd name="T26" fmla="*/ 58 w 115"/>
                <a:gd name="T27" fmla="*/ 96 h 96"/>
                <a:gd name="T28" fmla="*/ 57 w 115"/>
                <a:gd name="T29" fmla="*/ 96 h 96"/>
                <a:gd name="T30" fmla="*/ 4 w 115"/>
                <a:gd name="T31" fmla="*/ 4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96">
                  <a:moveTo>
                    <a:pt x="4" y="42"/>
                  </a:moveTo>
                  <a:cubicBezTo>
                    <a:pt x="1" y="40"/>
                    <a:pt x="0" y="36"/>
                    <a:pt x="0" y="33"/>
                  </a:cubicBezTo>
                  <a:cubicBezTo>
                    <a:pt x="0" y="29"/>
                    <a:pt x="1" y="25"/>
                    <a:pt x="4" y="23"/>
                  </a:cubicBezTo>
                  <a:cubicBezTo>
                    <a:pt x="22" y="4"/>
                    <a:pt x="22" y="4"/>
                    <a:pt x="22" y="4"/>
                  </a:cubicBezTo>
                  <a:cubicBezTo>
                    <a:pt x="25" y="1"/>
                    <a:pt x="29" y="0"/>
                    <a:pt x="32" y="0"/>
                  </a:cubicBezTo>
                  <a:cubicBezTo>
                    <a:pt x="36" y="0"/>
                    <a:pt x="39" y="1"/>
                    <a:pt x="42" y="4"/>
                  </a:cubicBezTo>
                  <a:cubicBezTo>
                    <a:pt x="58" y="20"/>
                    <a:pt x="58" y="20"/>
                    <a:pt x="58" y="20"/>
                  </a:cubicBezTo>
                  <a:cubicBezTo>
                    <a:pt x="73" y="4"/>
                    <a:pt x="73" y="4"/>
                    <a:pt x="73" y="4"/>
                  </a:cubicBezTo>
                  <a:cubicBezTo>
                    <a:pt x="76" y="1"/>
                    <a:pt x="79" y="0"/>
                    <a:pt x="83" y="0"/>
                  </a:cubicBezTo>
                  <a:cubicBezTo>
                    <a:pt x="87" y="0"/>
                    <a:pt x="90" y="1"/>
                    <a:pt x="93" y="4"/>
                  </a:cubicBezTo>
                  <a:cubicBezTo>
                    <a:pt x="111" y="23"/>
                    <a:pt x="111" y="23"/>
                    <a:pt x="111" y="23"/>
                  </a:cubicBezTo>
                  <a:cubicBezTo>
                    <a:pt x="114" y="25"/>
                    <a:pt x="115" y="29"/>
                    <a:pt x="115" y="33"/>
                  </a:cubicBezTo>
                  <a:cubicBezTo>
                    <a:pt x="115" y="36"/>
                    <a:pt x="114" y="40"/>
                    <a:pt x="111" y="42"/>
                  </a:cubicBezTo>
                  <a:cubicBezTo>
                    <a:pt x="58" y="96"/>
                    <a:pt x="58" y="96"/>
                    <a:pt x="58" y="96"/>
                  </a:cubicBezTo>
                  <a:cubicBezTo>
                    <a:pt x="57" y="96"/>
                    <a:pt x="57" y="96"/>
                    <a:pt x="57" y="96"/>
                  </a:cubicBezTo>
                  <a:lnTo>
                    <a:pt x="4" y="42"/>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sp>
        <p:nvSpPr>
          <p:cNvPr id="59" name="Rectangle 58"/>
          <p:cNvSpPr/>
          <p:nvPr userDrawn="1"/>
        </p:nvSpPr>
        <p:spPr>
          <a:xfrm flipH="1">
            <a:off x="-1591" y="4732897"/>
            <a:ext cx="12193589" cy="336177"/>
          </a:xfrm>
          <a:prstGeom prst="rect">
            <a:avLst/>
          </a:prstGeom>
          <a:solidFill>
            <a:srgbClr val="064E6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a:solidFill>
                <a:schemeClr val="bg2">
                  <a:lumMod val="40000"/>
                  <a:lumOff val="60000"/>
                </a:schemeClr>
              </a:solidFill>
              <a:latin typeface="Arial" panose="020B0604020202020204" pitchFamily="34" charset="0"/>
              <a:cs typeface="Arial" panose="020B0604020202020204" pitchFamily="34" charset="0"/>
            </a:endParaRPr>
          </a:p>
        </p:txBody>
      </p:sp>
      <p:pic>
        <p:nvPicPr>
          <p:cNvPr id="22" name="Picture 21" descr="Text&#10;&#10;Description automatically generated with low confidence">
            <a:extLst>
              <a:ext uri="{FF2B5EF4-FFF2-40B4-BE49-F238E27FC236}">
                <a16:creationId xmlns:a16="http://schemas.microsoft.com/office/drawing/2014/main" id="{F017662F-23AA-4890-85AE-FA5C0F4C3FE9}"/>
              </a:ext>
            </a:extLst>
          </p:cNvPr>
          <p:cNvPicPr>
            <a:picLocks noChangeAspect="1"/>
          </p:cNvPicPr>
          <p:nvPr userDrawn="1"/>
        </p:nvPicPr>
        <p:blipFill>
          <a:blip r:embed="rId6"/>
          <a:stretch>
            <a:fillRect/>
          </a:stretch>
        </p:blipFill>
        <p:spPr>
          <a:xfrm>
            <a:off x="1188766" y="5628658"/>
            <a:ext cx="1426464" cy="713232"/>
          </a:xfrm>
          <a:prstGeom prst="rect">
            <a:avLst/>
          </a:prstGeom>
        </p:spPr>
      </p:pic>
    </p:spTree>
    <p:extLst>
      <p:ext uri="{BB962C8B-B14F-4D97-AF65-F5344CB8AC3E}">
        <p14:creationId xmlns:p14="http://schemas.microsoft.com/office/powerpoint/2010/main" val="27963149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Content Placeholder 8"/>
          <p:cNvSpPr txBox="1">
            <a:spLocks/>
          </p:cNvSpPr>
          <p:nvPr/>
        </p:nvSpPr>
        <p:spPr>
          <a:xfrm>
            <a:off x="11104408" y="6418626"/>
            <a:ext cx="734493" cy="228600"/>
          </a:xfrm>
          <a:prstGeom prst="rect">
            <a:avLst/>
          </a:prstGeom>
        </p:spPr>
        <p:txBody>
          <a:bodyPr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en-US" sz="1000">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rPr>
              <a:t> </a:t>
            </a:r>
            <a:fld id="{38743595-4496-5147-A886-7D133864DF76}" type="slidenum">
              <a:rPr lang="en-US" sz="1000" smtClean="0">
                <a:solidFill>
                  <a:srgbClr val="3F3F3F"/>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rPr>
              <a:pPr algn="r"/>
              <a:t>‹#›</a:t>
            </a:fld>
            <a:endParaRPr lang="en-US" sz="1000">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p:txBody>
      </p:sp>
      <p:graphicFrame>
        <p:nvGraphicFramePr>
          <p:cNvPr id="11" name="Object 10" hidden="1"/>
          <p:cNvGraphicFramePr>
            <a:graphicFrameLocks noChangeAspect="1"/>
          </p:cNvGraphicFramePr>
          <p:nvPr>
            <p:custDataLst>
              <p:tags r:id="rId14"/>
            </p:custDataLst>
            <p:extLst>
              <p:ext uri="{D42A27DB-BD31-4B8C-83A1-F6EECF244321}">
                <p14:modId xmlns:p14="http://schemas.microsoft.com/office/powerpoint/2010/main" val="684616901"/>
              </p:ext>
            </p:ext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think-cell Slide" r:id="rId15" imgW="471" imgH="470" progId="TCLayout.ActiveDocument.1">
                  <p:embed/>
                </p:oleObj>
              </mc:Choice>
              <mc:Fallback>
                <p:oleObj name="think-cell Slide" r:id="rId15" imgW="471" imgH="470" progId="TCLayout.ActiveDocument.1">
                  <p:embed/>
                  <p:pic>
                    <p:nvPicPr>
                      <p:cNvPr id="11" name="Object 10" hidden="1"/>
                      <p:cNvPicPr/>
                      <p:nvPr/>
                    </p:nvPicPr>
                    <p:blipFill>
                      <a:blip r:embed="rId16"/>
                      <a:stretch>
                        <a:fillRect/>
                      </a:stretch>
                    </p:blipFill>
                    <p:spPr>
                      <a:xfrm>
                        <a:off x="1589" y="1589"/>
                        <a:ext cx="1587" cy="1587"/>
                      </a:xfrm>
                      <a:prstGeom prst="rect">
                        <a:avLst/>
                      </a:prstGeom>
                    </p:spPr>
                  </p:pic>
                </p:oleObj>
              </mc:Fallback>
            </mc:AlternateContent>
          </a:graphicData>
        </a:graphic>
      </p:graphicFrame>
      <p:sp>
        <p:nvSpPr>
          <p:cNvPr id="9" name="Content Placeholder 8"/>
          <p:cNvSpPr txBox="1">
            <a:spLocks/>
          </p:cNvSpPr>
          <p:nvPr userDrawn="1"/>
        </p:nvSpPr>
        <p:spPr>
          <a:xfrm>
            <a:off x="547922" y="6418626"/>
            <a:ext cx="2383745"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sz="800">
                <a:solidFill>
                  <a:schemeClr val="bg2"/>
                </a:solidFill>
                <a:latin typeface="Arial" panose="020B0604020202020204" pitchFamily="34" charset="0"/>
                <a:cs typeface="Arial" panose="020B0604020202020204" pitchFamily="34" charset="0"/>
                <a:sym typeface="Arial" panose="020B0604020202020204" pitchFamily="34" charset="0"/>
              </a:rPr>
              <a:t>©2021</a:t>
            </a:r>
          </a:p>
        </p:txBody>
      </p:sp>
      <p:grpSp>
        <p:nvGrpSpPr>
          <p:cNvPr id="13" name="Group 12">
            <a:extLst>
              <a:ext uri="{FF2B5EF4-FFF2-40B4-BE49-F238E27FC236}">
                <a16:creationId xmlns:a16="http://schemas.microsoft.com/office/drawing/2014/main" id="{970D1A23-D88D-46C3-95E5-B10C224E1CC3}"/>
              </a:ext>
            </a:extLst>
          </p:cNvPr>
          <p:cNvGrpSpPr>
            <a:grpSpLocks noChangeAspect="1"/>
          </p:cNvGrpSpPr>
          <p:nvPr userDrawn="1"/>
        </p:nvGrpSpPr>
        <p:grpSpPr>
          <a:xfrm>
            <a:off x="5618496" y="6443197"/>
            <a:ext cx="955009" cy="127570"/>
            <a:chOff x="279400" y="2781300"/>
            <a:chExt cx="8585200" cy="1092200"/>
          </a:xfrm>
        </p:grpSpPr>
        <p:sp>
          <p:nvSpPr>
            <p:cNvPr id="14" name="Freeform 5">
              <a:extLst>
                <a:ext uri="{FF2B5EF4-FFF2-40B4-BE49-F238E27FC236}">
                  <a16:creationId xmlns:a16="http://schemas.microsoft.com/office/drawing/2014/main" id="{7365CECB-7D2B-4CF7-BFD3-6752DEC67F25}"/>
                </a:ext>
              </a:extLst>
            </p:cNvPr>
            <p:cNvSpPr>
              <a:spLocks/>
            </p:cNvSpPr>
            <p:nvPr/>
          </p:nvSpPr>
          <p:spPr bwMode="auto">
            <a:xfrm>
              <a:off x="4605338" y="2816225"/>
              <a:ext cx="958850" cy="1035050"/>
            </a:xfrm>
            <a:custGeom>
              <a:avLst/>
              <a:gdLst>
                <a:gd name="T0" fmla="*/ 142 w 604"/>
                <a:gd name="T1" fmla="*/ 272 h 652"/>
                <a:gd name="T2" fmla="*/ 142 w 604"/>
                <a:gd name="T3" fmla="*/ 57 h 652"/>
                <a:gd name="T4" fmla="*/ 206 w 604"/>
                <a:gd name="T5" fmla="*/ 57 h 652"/>
                <a:gd name="T6" fmla="*/ 206 w 604"/>
                <a:gd name="T7" fmla="*/ 0 h 652"/>
                <a:gd name="T8" fmla="*/ 0 w 604"/>
                <a:gd name="T9" fmla="*/ 0 h 652"/>
                <a:gd name="T10" fmla="*/ 0 w 604"/>
                <a:gd name="T11" fmla="*/ 57 h 652"/>
                <a:gd name="T12" fmla="*/ 64 w 604"/>
                <a:gd name="T13" fmla="*/ 57 h 652"/>
                <a:gd name="T14" fmla="*/ 64 w 604"/>
                <a:gd name="T15" fmla="*/ 587 h 652"/>
                <a:gd name="T16" fmla="*/ 0 w 604"/>
                <a:gd name="T17" fmla="*/ 587 h 652"/>
                <a:gd name="T18" fmla="*/ 0 w 604"/>
                <a:gd name="T19" fmla="*/ 652 h 652"/>
                <a:gd name="T20" fmla="*/ 206 w 604"/>
                <a:gd name="T21" fmla="*/ 652 h 652"/>
                <a:gd name="T22" fmla="*/ 206 w 604"/>
                <a:gd name="T23" fmla="*/ 587 h 652"/>
                <a:gd name="T24" fmla="*/ 142 w 604"/>
                <a:gd name="T25" fmla="*/ 587 h 652"/>
                <a:gd name="T26" fmla="*/ 142 w 604"/>
                <a:gd name="T27" fmla="*/ 329 h 652"/>
                <a:gd name="T28" fmla="*/ 462 w 604"/>
                <a:gd name="T29" fmla="*/ 329 h 652"/>
                <a:gd name="T30" fmla="*/ 462 w 604"/>
                <a:gd name="T31" fmla="*/ 587 h 652"/>
                <a:gd name="T32" fmla="*/ 398 w 604"/>
                <a:gd name="T33" fmla="*/ 587 h 652"/>
                <a:gd name="T34" fmla="*/ 398 w 604"/>
                <a:gd name="T35" fmla="*/ 652 h 652"/>
                <a:gd name="T36" fmla="*/ 604 w 604"/>
                <a:gd name="T37" fmla="*/ 652 h 652"/>
                <a:gd name="T38" fmla="*/ 604 w 604"/>
                <a:gd name="T39" fmla="*/ 587 h 652"/>
                <a:gd name="T40" fmla="*/ 540 w 604"/>
                <a:gd name="T41" fmla="*/ 587 h 652"/>
                <a:gd name="T42" fmla="*/ 540 w 604"/>
                <a:gd name="T43" fmla="*/ 57 h 652"/>
                <a:gd name="T44" fmla="*/ 604 w 604"/>
                <a:gd name="T45" fmla="*/ 57 h 652"/>
                <a:gd name="T46" fmla="*/ 604 w 604"/>
                <a:gd name="T47" fmla="*/ 0 h 652"/>
                <a:gd name="T48" fmla="*/ 398 w 604"/>
                <a:gd name="T49" fmla="*/ 0 h 652"/>
                <a:gd name="T50" fmla="*/ 398 w 604"/>
                <a:gd name="T51" fmla="*/ 57 h 652"/>
                <a:gd name="T52" fmla="*/ 462 w 604"/>
                <a:gd name="T53" fmla="*/ 57 h 652"/>
                <a:gd name="T54" fmla="*/ 462 w 604"/>
                <a:gd name="T55" fmla="*/ 272 h 652"/>
                <a:gd name="T56" fmla="*/ 142 w 604"/>
                <a:gd name="T57" fmla="*/ 27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04" h="652">
                  <a:moveTo>
                    <a:pt x="142" y="272"/>
                  </a:moveTo>
                  <a:lnTo>
                    <a:pt x="142" y="57"/>
                  </a:lnTo>
                  <a:lnTo>
                    <a:pt x="206" y="57"/>
                  </a:lnTo>
                  <a:lnTo>
                    <a:pt x="206" y="0"/>
                  </a:lnTo>
                  <a:lnTo>
                    <a:pt x="0" y="0"/>
                  </a:lnTo>
                  <a:lnTo>
                    <a:pt x="0" y="57"/>
                  </a:lnTo>
                  <a:lnTo>
                    <a:pt x="64" y="57"/>
                  </a:lnTo>
                  <a:lnTo>
                    <a:pt x="64" y="587"/>
                  </a:lnTo>
                  <a:lnTo>
                    <a:pt x="0" y="587"/>
                  </a:lnTo>
                  <a:lnTo>
                    <a:pt x="0" y="652"/>
                  </a:lnTo>
                  <a:lnTo>
                    <a:pt x="206" y="652"/>
                  </a:lnTo>
                  <a:lnTo>
                    <a:pt x="206" y="587"/>
                  </a:lnTo>
                  <a:lnTo>
                    <a:pt x="142" y="587"/>
                  </a:lnTo>
                  <a:lnTo>
                    <a:pt x="142" y="329"/>
                  </a:lnTo>
                  <a:lnTo>
                    <a:pt x="462" y="329"/>
                  </a:lnTo>
                  <a:lnTo>
                    <a:pt x="462" y="587"/>
                  </a:lnTo>
                  <a:lnTo>
                    <a:pt x="398" y="587"/>
                  </a:lnTo>
                  <a:lnTo>
                    <a:pt x="398" y="652"/>
                  </a:lnTo>
                  <a:lnTo>
                    <a:pt x="604" y="652"/>
                  </a:lnTo>
                  <a:lnTo>
                    <a:pt x="604" y="587"/>
                  </a:lnTo>
                  <a:lnTo>
                    <a:pt x="540" y="587"/>
                  </a:lnTo>
                  <a:lnTo>
                    <a:pt x="540" y="57"/>
                  </a:lnTo>
                  <a:lnTo>
                    <a:pt x="604" y="57"/>
                  </a:lnTo>
                  <a:lnTo>
                    <a:pt x="604" y="0"/>
                  </a:lnTo>
                  <a:lnTo>
                    <a:pt x="398" y="0"/>
                  </a:lnTo>
                  <a:lnTo>
                    <a:pt x="398" y="57"/>
                  </a:lnTo>
                  <a:lnTo>
                    <a:pt x="462" y="57"/>
                  </a:lnTo>
                  <a:lnTo>
                    <a:pt x="462" y="272"/>
                  </a:lnTo>
                  <a:lnTo>
                    <a:pt x="142" y="2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17" name="Freeform 6">
              <a:extLst>
                <a:ext uri="{FF2B5EF4-FFF2-40B4-BE49-F238E27FC236}">
                  <a16:creationId xmlns:a16="http://schemas.microsoft.com/office/drawing/2014/main" id="{7111873F-5B39-42DE-99F1-E7FC74583C0C}"/>
                </a:ext>
              </a:extLst>
            </p:cNvPr>
            <p:cNvSpPr>
              <a:spLocks/>
            </p:cNvSpPr>
            <p:nvPr/>
          </p:nvSpPr>
          <p:spPr bwMode="auto">
            <a:xfrm>
              <a:off x="8042275" y="2816225"/>
              <a:ext cx="822325" cy="1035050"/>
            </a:xfrm>
            <a:custGeom>
              <a:avLst/>
              <a:gdLst>
                <a:gd name="T0" fmla="*/ 27 w 73"/>
                <a:gd name="T1" fmla="*/ 82 h 91"/>
                <a:gd name="T2" fmla="*/ 19 w 73"/>
                <a:gd name="T3" fmla="*/ 82 h 91"/>
                <a:gd name="T4" fmla="*/ 19 w 73"/>
                <a:gd name="T5" fmla="*/ 54 h 91"/>
                <a:gd name="T6" fmla="*/ 37 w 73"/>
                <a:gd name="T7" fmla="*/ 35 h 91"/>
                <a:gd name="T8" fmla="*/ 55 w 73"/>
                <a:gd name="T9" fmla="*/ 54 h 91"/>
                <a:gd name="T10" fmla="*/ 55 w 73"/>
                <a:gd name="T11" fmla="*/ 82 h 91"/>
                <a:gd name="T12" fmla="*/ 46 w 73"/>
                <a:gd name="T13" fmla="*/ 82 h 91"/>
                <a:gd name="T14" fmla="*/ 46 w 73"/>
                <a:gd name="T15" fmla="*/ 91 h 91"/>
                <a:gd name="T16" fmla="*/ 73 w 73"/>
                <a:gd name="T17" fmla="*/ 91 h 91"/>
                <a:gd name="T18" fmla="*/ 73 w 73"/>
                <a:gd name="T19" fmla="*/ 82 h 91"/>
                <a:gd name="T20" fmla="*/ 65 w 73"/>
                <a:gd name="T21" fmla="*/ 82 h 91"/>
                <a:gd name="T22" fmla="*/ 65 w 73"/>
                <a:gd name="T23" fmla="*/ 54 h 91"/>
                <a:gd name="T24" fmla="*/ 38 w 73"/>
                <a:gd name="T25" fmla="*/ 26 h 91"/>
                <a:gd name="T26" fmla="*/ 19 w 73"/>
                <a:gd name="T27" fmla="*/ 35 h 91"/>
                <a:gd name="T28" fmla="*/ 19 w 73"/>
                <a:gd name="T29" fmla="*/ 0 h 91"/>
                <a:gd name="T30" fmla="*/ 0 w 73"/>
                <a:gd name="T31" fmla="*/ 0 h 91"/>
                <a:gd name="T32" fmla="*/ 0 w 73"/>
                <a:gd name="T33" fmla="*/ 8 h 91"/>
                <a:gd name="T34" fmla="*/ 9 w 73"/>
                <a:gd name="T35" fmla="*/ 8 h 91"/>
                <a:gd name="T36" fmla="*/ 9 w 73"/>
                <a:gd name="T37" fmla="*/ 82 h 91"/>
                <a:gd name="T38" fmla="*/ 0 w 73"/>
                <a:gd name="T39" fmla="*/ 82 h 91"/>
                <a:gd name="T40" fmla="*/ 0 w 73"/>
                <a:gd name="T41" fmla="*/ 91 h 91"/>
                <a:gd name="T42" fmla="*/ 27 w 73"/>
                <a:gd name="T43" fmla="*/ 91 h 91"/>
                <a:gd name="T44" fmla="*/ 27 w 73"/>
                <a:gd name="T45" fmla="*/ 8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3" h="91">
                  <a:moveTo>
                    <a:pt x="27" y="82"/>
                  </a:moveTo>
                  <a:cubicBezTo>
                    <a:pt x="19" y="82"/>
                    <a:pt x="19" y="82"/>
                    <a:pt x="19" y="82"/>
                  </a:cubicBezTo>
                  <a:cubicBezTo>
                    <a:pt x="19" y="54"/>
                    <a:pt x="19" y="54"/>
                    <a:pt x="19" y="54"/>
                  </a:cubicBezTo>
                  <a:cubicBezTo>
                    <a:pt x="19" y="41"/>
                    <a:pt x="25" y="35"/>
                    <a:pt x="37" y="35"/>
                  </a:cubicBezTo>
                  <a:cubicBezTo>
                    <a:pt x="48" y="35"/>
                    <a:pt x="55" y="41"/>
                    <a:pt x="55" y="54"/>
                  </a:cubicBezTo>
                  <a:cubicBezTo>
                    <a:pt x="55" y="82"/>
                    <a:pt x="55" y="82"/>
                    <a:pt x="55" y="82"/>
                  </a:cubicBezTo>
                  <a:cubicBezTo>
                    <a:pt x="46" y="82"/>
                    <a:pt x="46" y="82"/>
                    <a:pt x="46" y="82"/>
                  </a:cubicBezTo>
                  <a:cubicBezTo>
                    <a:pt x="46" y="91"/>
                    <a:pt x="46" y="91"/>
                    <a:pt x="46" y="91"/>
                  </a:cubicBezTo>
                  <a:cubicBezTo>
                    <a:pt x="73" y="91"/>
                    <a:pt x="73" y="91"/>
                    <a:pt x="73" y="91"/>
                  </a:cubicBezTo>
                  <a:cubicBezTo>
                    <a:pt x="73" y="82"/>
                    <a:pt x="73" y="82"/>
                    <a:pt x="73" y="82"/>
                  </a:cubicBezTo>
                  <a:cubicBezTo>
                    <a:pt x="65" y="82"/>
                    <a:pt x="65" y="82"/>
                    <a:pt x="65" y="82"/>
                  </a:cubicBezTo>
                  <a:cubicBezTo>
                    <a:pt x="65" y="54"/>
                    <a:pt x="65" y="54"/>
                    <a:pt x="65" y="54"/>
                  </a:cubicBezTo>
                  <a:cubicBezTo>
                    <a:pt x="65" y="39"/>
                    <a:pt x="55" y="26"/>
                    <a:pt x="38" y="26"/>
                  </a:cubicBezTo>
                  <a:cubicBezTo>
                    <a:pt x="30" y="26"/>
                    <a:pt x="23" y="29"/>
                    <a:pt x="19" y="35"/>
                  </a:cubicBezTo>
                  <a:cubicBezTo>
                    <a:pt x="19" y="0"/>
                    <a:pt x="19" y="0"/>
                    <a:pt x="19" y="0"/>
                  </a:cubicBezTo>
                  <a:cubicBezTo>
                    <a:pt x="0" y="0"/>
                    <a:pt x="0" y="0"/>
                    <a:pt x="0" y="0"/>
                  </a:cubicBezTo>
                  <a:cubicBezTo>
                    <a:pt x="0" y="8"/>
                    <a:pt x="0" y="8"/>
                    <a:pt x="0" y="8"/>
                  </a:cubicBezTo>
                  <a:cubicBezTo>
                    <a:pt x="9" y="8"/>
                    <a:pt x="9" y="8"/>
                    <a:pt x="9" y="8"/>
                  </a:cubicBezTo>
                  <a:cubicBezTo>
                    <a:pt x="9" y="82"/>
                    <a:pt x="9" y="82"/>
                    <a:pt x="9" y="82"/>
                  </a:cubicBezTo>
                  <a:cubicBezTo>
                    <a:pt x="0" y="82"/>
                    <a:pt x="0" y="82"/>
                    <a:pt x="0" y="82"/>
                  </a:cubicBezTo>
                  <a:cubicBezTo>
                    <a:pt x="0" y="91"/>
                    <a:pt x="0" y="91"/>
                    <a:pt x="0" y="91"/>
                  </a:cubicBezTo>
                  <a:cubicBezTo>
                    <a:pt x="27" y="91"/>
                    <a:pt x="27" y="91"/>
                    <a:pt x="27" y="91"/>
                  </a:cubicBezTo>
                  <a:lnTo>
                    <a:pt x="27" y="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18" name="Freeform 7">
              <a:extLst>
                <a:ext uri="{FF2B5EF4-FFF2-40B4-BE49-F238E27FC236}">
                  <a16:creationId xmlns:a16="http://schemas.microsoft.com/office/drawing/2014/main" id="{3CB93BBE-80DA-457D-B72D-9C9C5E5B8688}"/>
                </a:ext>
              </a:extLst>
            </p:cNvPr>
            <p:cNvSpPr>
              <a:spLocks noEditPoints="1"/>
            </p:cNvSpPr>
            <p:nvPr/>
          </p:nvSpPr>
          <p:spPr bwMode="auto">
            <a:xfrm>
              <a:off x="6419850" y="3111500"/>
              <a:ext cx="822325" cy="750888"/>
            </a:xfrm>
            <a:custGeom>
              <a:avLst/>
              <a:gdLst>
                <a:gd name="T0" fmla="*/ 73 w 73"/>
                <a:gd name="T1" fmla="*/ 10 h 66"/>
                <a:gd name="T2" fmla="*/ 73 w 73"/>
                <a:gd name="T3" fmla="*/ 2 h 66"/>
                <a:gd name="T4" fmla="*/ 54 w 73"/>
                <a:gd name="T5" fmla="*/ 2 h 66"/>
                <a:gd name="T6" fmla="*/ 54 w 73"/>
                <a:gd name="T7" fmla="*/ 11 h 66"/>
                <a:gd name="T8" fmla="*/ 31 w 73"/>
                <a:gd name="T9" fmla="*/ 0 h 66"/>
                <a:gd name="T10" fmla="*/ 0 w 73"/>
                <a:gd name="T11" fmla="*/ 33 h 66"/>
                <a:gd name="T12" fmla="*/ 31 w 73"/>
                <a:gd name="T13" fmla="*/ 66 h 66"/>
                <a:gd name="T14" fmla="*/ 54 w 73"/>
                <a:gd name="T15" fmla="*/ 55 h 66"/>
                <a:gd name="T16" fmla="*/ 54 w 73"/>
                <a:gd name="T17" fmla="*/ 65 h 66"/>
                <a:gd name="T18" fmla="*/ 73 w 73"/>
                <a:gd name="T19" fmla="*/ 65 h 66"/>
                <a:gd name="T20" fmla="*/ 73 w 73"/>
                <a:gd name="T21" fmla="*/ 56 h 66"/>
                <a:gd name="T22" fmla="*/ 64 w 73"/>
                <a:gd name="T23" fmla="*/ 56 h 66"/>
                <a:gd name="T24" fmla="*/ 64 w 73"/>
                <a:gd name="T25" fmla="*/ 10 h 66"/>
                <a:gd name="T26" fmla="*/ 73 w 73"/>
                <a:gd name="T27" fmla="*/ 10 h 66"/>
                <a:gd name="T28" fmla="*/ 33 w 73"/>
                <a:gd name="T29" fmla="*/ 58 h 66"/>
                <a:gd name="T30" fmla="*/ 11 w 73"/>
                <a:gd name="T31" fmla="*/ 33 h 66"/>
                <a:gd name="T32" fmla="*/ 33 w 73"/>
                <a:gd name="T33" fmla="*/ 9 h 66"/>
                <a:gd name="T34" fmla="*/ 54 w 73"/>
                <a:gd name="T35" fmla="*/ 33 h 66"/>
                <a:gd name="T36" fmla="*/ 33 w 73"/>
                <a:gd name="T37" fmla="*/ 5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 h="66">
                  <a:moveTo>
                    <a:pt x="73" y="10"/>
                  </a:moveTo>
                  <a:cubicBezTo>
                    <a:pt x="73" y="2"/>
                    <a:pt x="73" y="2"/>
                    <a:pt x="73" y="2"/>
                  </a:cubicBezTo>
                  <a:cubicBezTo>
                    <a:pt x="54" y="2"/>
                    <a:pt x="54" y="2"/>
                    <a:pt x="54" y="2"/>
                  </a:cubicBezTo>
                  <a:cubicBezTo>
                    <a:pt x="54" y="11"/>
                    <a:pt x="54" y="11"/>
                    <a:pt x="54" y="11"/>
                  </a:cubicBezTo>
                  <a:cubicBezTo>
                    <a:pt x="49" y="4"/>
                    <a:pt x="41" y="0"/>
                    <a:pt x="31" y="0"/>
                  </a:cubicBezTo>
                  <a:cubicBezTo>
                    <a:pt x="13" y="0"/>
                    <a:pt x="0" y="14"/>
                    <a:pt x="0" y="33"/>
                  </a:cubicBezTo>
                  <a:cubicBezTo>
                    <a:pt x="0" y="52"/>
                    <a:pt x="13" y="66"/>
                    <a:pt x="31" y="66"/>
                  </a:cubicBezTo>
                  <a:cubicBezTo>
                    <a:pt x="41" y="66"/>
                    <a:pt x="49" y="62"/>
                    <a:pt x="54" y="55"/>
                  </a:cubicBezTo>
                  <a:cubicBezTo>
                    <a:pt x="54" y="65"/>
                    <a:pt x="54" y="65"/>
                    <a:pt x="54" y="65"/>
                  </a:cubicBezTo>
                  <a:cubicBezTo>
                    <a:pt x="73" y="65"/>
                    <a:pt x="73" y="65"/>
                    <a:pt x="73" y="65"/>
                  </a:cubicBezTo>
                  <a:cubicBezTo>
                    <a:pt x="73" y="56"/>
                    <a:pt x="73" y="56"/>
                    <a:pt x="73" y="56"/>
                  </a:cubicBezTo>
                  <a:cubicBezTo>
                    <a:pt x="64" y="56"/>
                    <a:pt x="64" y="56"/>
                    <a:pt x="64" y="56"/>
                  </a:cubicBezTo>
                  <a:cubicBezTo>
                    <a:pt x="64" y="10"/>
                    <a:pt x="64" y="10"/>
                    <a:pt x="64" y="10"/>
                  </a:cubicBezTo>
                  <a:lnTo>
                    <a:pt x="73" y="10"/>
                  </a:lnTo>
                  <a:close/>
                  <a:moveTo>
                    <a:pt x="33" y="58"/>
                  </a:moveTo>
                  <a:cubicBezTo>
                    <a:pt x="20" y="58"/>
                    <a:pt x="11" y="47"/>
                    <a:pt x="11" y="33"/>
                  </a:cubicBezTo>
                  <a:cubicBezTo>
                    <a:pt x="11" y="19"/>
                    <a:pt x="20" y="9"/>
                    <a:pt x="33" y="9"/>
                  </a:cubicBezTo>
                  <a:cubicBezTo>
                    <a:pt x="46" y="9"/>
                    <a:pt x="54" y="19"/>
                    <a:pt x="54" y="33"/>
                  </a:cubicBezTo>
                  <a:cubicBezTo>
                    <a:pt x="54" y="47"/>
                    <a:pt x="46" y="58"/>
                    <a:pt x="33" y="5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19" name="Freeform 8">
              <a:extLst>
                <a:ext uri="{FF2B5EF4-FFF2-40B4-BE49-F238E27FC236}">
                  <a16:creationId xmlns:a16="http://schemas.microsoft.com/office/drawing/2014/main" id="{0D49BCB4-A340-471B-971A-24BD033C7F38}"/>
                </a:ext>
              </a:extLst>
            </p:cNvPr>
            <p:cNvSpPr>
              <a:spLocks noEditPoints="1"/>
            </p:cNvSpPr>
            <p:nvPr/>
          </p:nvSpPr>
          <p:spPr bwMode="auto">
            <a:xfrm>
              <a:off x="5608638" y="3111500"/>
              <a:ext cx="731838" cy="750888"/>
            </a:xfrm>
            <a:custGeom>
              <a:avLst/>
              <a:gdLst>
                <a:gd name="T0" fmla="*/ 65 w 65"/>
                <a:gd name="T1" fmla="*/ 32 h 66"/>
                <a:gd name="T2" fmla="*/ 33 w 65"/>
                <a:gd name="T3" fmla="*/ 0 h 66"/>
                <a:gd name="T4" fmla="*/ 0 w 65"/>
                <a:gd name="T5" fmla="*/ 33 h 66"/>
                <a:gd name="T6" fmla="*/ 33 w 65"/>
                <a:gd name="T7" fmla="*/ 66 h 66"/>
                <a:gd name="T8" fmla="*/ 63 w 65"/>
                <a:gd name="T9" fmla="*/ 48 h 66"/>
                <a:gd name="T10" fmla="*/ 53 w 65"/>
                <a:gd name="T11" fmla="*/ 48 h 66"/>
                <a:gd name="T12" fmla="*/ 34 w 65"/>
                <a:gd name="T13" fmla="*/ 58 h 66"/>
                <a:gd name="T14" fmla="*/ 11 w 65"/>
                <a:gd name="T15" fmla="*/ 37 h 66"/>
                <a:gd name="T16" fmla="*/ 65 w 65"/>
                <a:gd name="T17" fmla="*/ 37 h 66"/>
                <a:gd name="T18" fmla="*/ 65 w 65"/>
                <a:gd name="T19" fmla="*/ 32 h 66"/>
                <a:gd name="T20" fmla="*/ 11 w 65"/>
                <a:gd name="T21" fmla="*/ 28 h 66"/>
                <a:gd name="T22" fmla="*/ 33 w 65"/>
                <a:gd name="T23" fmla="*/ 8 h 66"/>
                <a:gd name="T24" fmla="*/ 55 w 65"/>
                <a:gd name="T25" fmla="*/ 28 h 66"/>
                <a:gd name="T26" fmla="*/ 11 w 65"/>
                <a:gd name="T27"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 h="66">
                  <a:moveTo>
                    <a:pt x="65" y="32"/>
                  </a:moveTo>
                  <a:cubicBezTo>
                    <a:pt x="65" y="13"/>
                    <a:pt x="53" y="0"/>
                    <a:pt x="33" y="0"/>
                  </a:cubicBezTo>
                  <a:cubicBezTo>
                    <a:pt x="14" y="0"/>
                    <a:pt x="0" y="14"/>
                    <a:pt x="0" y="33"/>
                  </a:cubicBezTo>
                  <a:cubicBezTo>
                    <a:pt x="0" y="53"/>
                    <a:pt x="14" y="66"/>
                    <a:pt x="33" y="66"/>
                  </a:cubicBezTo>
                  <a:cubicBezTo>
                    <a:pt x="47" y="66"/>
                    <a:pt x="58" y="59"/>
                    <a:pt x="63" y="48"/>
                  </a:cubicBezTo>
                  <a:cubicBezTo>
                    <a:pt x="53" y="48"/>
                    <a:pt x="53" y="48"/>
                    <a:pt x="53" y="48"/>
                  </a:cubicBezTo>
                  <a:cubicBezTo>
                    <a:pt x="50" y="54"/>
                    <a:pt x="43" y="58"/>
                    <a:pt x="34" y="58"/>
                  </a:cubicBezTo>
                  <a:cubicBezTo>
                    <a:pt x="19" y="58"/>
                    <a:pt x="12" y="49"/>
                    <a:pt x="11" y="37"/>
                  </a:cubicBezTo>
                  <a:cubicBezTo>
                    <a:pt x="65" y="37"/>
                    <a:pt x="65" y="37"/>
                    <a:pt x="65" y="37"/>
                  </a:cubicBezTo>
                  <a:lnTo>
                    <a:pt x="65" y="32"/>
                  </a:lnTo>
                  <a:close/>
                  <a:moveTo>
                    <a:pt x="11" y="28"/>
                  </a:moveTo>
                  <a:cubicBezTo>
                    <a:pt x="12" y="17"/>
                    <a:pt x="20" y="8"/>
                    <a:pt x="33" y="8"/>
                  </a:cubicBezTo>
                  <a:cubicBezTo>
                    <a:pt x="47" y="8"/>
                    <a:pt x="54" y="18"/>
                    <a:pt x="55" y="28"/>
                  </a:cubicBezTo>
                  <a:lnTo>
                    <a:pt x="1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20" name="Freeform 9">
              <a:extLst>
                <a:ext uri="{FF2B5EF4-FFF2-40B4-BE49-F238E27FC236}">
                  <a16:creationId xmlns:a16="http://schemas.microsoft.com/office/drawing/2014/main" id="{0C4938EB-CD7A-497C-9BA4-5CD6B3F08D8E}"/>
                </a:ext>
              </a:extLst>
            </p:cNvPr>
            <p:cNvSpPr>
              <a:spLocks/>
            </p:cNvSpPr>
            <p:nvPr/>
          </p:nvSpPr>
          <p:spPr bwMode="auto">
            <a:xfrm>
              <a:off x="7613650" y="2952750"/>
              <a:ext cx="360363" cy="898525"/>
            </a:xfrm>
            <a:custGeom>
              <a:avLst/>
              <a:gdLst>
                <a:gd name="T0" fmla="*/ 20 w 32"/>
                <a:gd name="T1" fmla="*/ 62 h 79"/>
                <a:gd name="T2" fmla="*/ 20 w 32"/>
                <a:gd name="T3" fmla="*/ 24 h 79"/>
                <a:gd name="T4" fmla="*/ 32 w 32"/>
                <a:gd name="T5" fmla="*/ 24 h 79"/>
                <a:gd name="T6" fmla="*/ 32 w 32"/>
                <a:gd name="T7" fmla="*/ 16 h 79"/>
                <a:gd name="T8" fmla="*/ 20 w 32"/>
                <a:gd name="T9" fmla="*/ 16 h 79"/>
                <a:gd name="T10" fmla="*/ 20 w 32"/>
                <a:gd name="T11" fmla="*/ 0 h 79"/>
                <a:gd name="T12" fmla="*/ 9 w 32"/>
                <a:gd name="T13" fmla="*/ 0 h 79"/>
                <a:gd name="T14" fmla="*/ 9 w 32"/>
                <a:gd name="T15" fmla="*/ 16 h 79"/>
                <a:gd name="T16" fmla="*/ 0 w 32"/>
                <a:gd name="T17" fmla="*/ 16 h 79"/>
                <a:gd name="T18" fmla="*/ 0 w 32"/>
                <a:gd name="T19" fmla="*/ 24 h 79"/>
                <a:gd name="T20" fmla="*/ 9 w 32"/>
                <a:gd name="T21" fmla="*/ 24 h 79"/>
                <a:gd name="T22" fmla="*/ 9 w 32"/>
                <a:gd name="T23" fmla="*/ 63 h 79"/>
                <a:gd name="T24" fmla="*/ 26 w 32"/>
                <a:gd name="T25" fmla="*/ 79 h 79"/>
                <a:gd name="T26" fmla="*/ 32 w 32"/>
                <a:gd name="T27" fmla="*/ 79 h 79"/>
                <a:gd name="T28" fmla="*/ 32 w 32"/>
                <a:gd name="T29" fmla="*/ 70 h 79"/>
                <a:gd name="T30" fmla="*/ 27 w 32"/>
                <a:gd name="T31" fmla="*/ 71 h 79"/>
                <a:gd name="T32" fmla="*/ 20 w 32"/>
                <a:gd name="T33" fmla="*/ 6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79">
                  <a:moveTo>
                    <a:pt x="20" y="62"/>
                  </a:moveTo>
                  <a:cubicBezTo>
                    <a:pt x="20" y="24"/>
                    <a:pt x="20" y="24"/>
                    <a:pt x="20" y="24"/>
                  </a:cubicBezTo>
                  <a:cubicBezTo>
                    <a:pt x="32" y="24"/>
                    <a:pt x="32" y="24"/>
                    <a:pt x="32" y="24"/>
                  </a:cubicBezTo>
                  <a:cubicBezTo>
                    <a:pt x="32" y="16"/>
                    <a:pt x="32" y="16"/>
                    <a:pt x="32" y="16"/>
                  </a:cubicBezTo>
                  <a:cubicBezTo>
                    <a:pt x="20" y="16"/>
                    <a:pt x="20" y="16"/>
                    <a:pt x="20" y="16"/>
                  </a:cubicBezTo>
                  <a:cubicBezTo>
                    <a:pt x="20" y="0"/>
                    <a:pt x="20" y="0"/>
                    <a:pt x="20" y="0"/>
                  </a:cubicBezTo>
                  <a:cubicBezTo>
                    <a:pt x="9" y="0"/>
                    <a:pt x="9" y="0"/>
                    <a:pt x="9" y="0"/>
                  </a:cubicBezTo>
                  <a:cubicBezTo>
                    <a:pt x="9" y="16"/>
                    <a:pt x="9" y="16"/>
                    <a:pt x="9" y="16"/>
                  </a:cubicBezTo>
                  <a:cubicBezTo>
                    <a:pt x="0" y="16"/>
                    <a:pt x="0" y="16"/>
                    <a:pt x="0" y="16"/>
                  </a:cubicBezTo>
                  <a:cubicBezTo>
                    <a:pt x="0" y="24"/>
                    <a:pt x="0" y="24"/>
                    <a:pt x="0" y="24"/>
                  </a:cubicBezTo>
                  <a:cubicBezTo>
                    <a:pt x="9" y="24"/>
                    <a:pt x="9" y="24"/>
                    <a:pt x="9" y="24"/>
                  </a:cubicBezTo>
                  <a:cubicBezTo>
                    <a:pt x="9" y="63"/>
                    <a:pt x="9" y="63"/>
                    <a:pt x="9" y="63"/>
                  </a:cubicBezTo>
                  <a:cubicBezTo>
                    <a:pt x="9" y="74"/>
                    <a:pt x="14" y="79"/>
                    <a:pt x="26" y="79"/>
                  </a:cubicBezTo>
                  <a:cubicBezTo>
                    <a:pt x="28" y="79"/>
                    <a:pt x="31" y="79"/>
                    <a:pt x="32" y="79"/>
                  </a:cubicBezTo>
                  <a:cubicBezTo>
                    <a:pt x="32" y="70"/>
                    <a:pt x="32" y="70"/>
                    <a:pt x="32" y="70"/>
                  </a:cubicBezTo>
                  <a:cubicBezTo>
                    <a:pt x="30" y="71"/>
                    <a:pt x="29" y="71"/>
                    <a:pt x="27" y="71"/>
                  </a:cubicBezTo>
                  <a:cubicBezTo>
                    <a:pt x="22" y="71"/>
                    <a:pt x="20" y="69"/>
                    <a:pt x="20" y="6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21" name="Freeform 10">
              <a:extLst>
                <a:ext uri="{FF2B5EF4-FFF2-40B4-BE49-F238E27FC236}">
                  <a16:creationId xmlns:a16="http://schemas.microsoft.com/office/drawing/2014/main" id="{38FB080F-C58C-4388-AF4B-47AA97CFE9F5}"/>
                </a:ext>
              </a:extLst>
            </p:cNvPr>
            <p:cNvSpPr>
              <a:spLocks/>
            </p:cNvSpPr>
            <p:nvPr/>
          </p:nvSpPr>
          <p:spPr bwMode="auto">
            <a:xfrm>
              <a:off x="7275513" y="2816225"/>
              <a:ext cx="338138" cy="1035050"/>
            </a:xfrm>
            <a:custGeom>
              <a:avLst/>
              <a:gdLst>
                <a:gd name="T0" fmla="*/ 24 w 30"/>
                <a:gd name="T1" fmla="*/ 91 h 91"/>
                <a:gd name="T2" fmla="*/ 30 w 30"/>
                <a:gd name="T3" fmla="*/ 91 h 91"/>
                <a:gd name="T4" fmla="*/ 30 w 30"/>
                <a:gd name="T5" fmla="*/ 82 h 91"/>
                <a:gd name="T6" fmla="*/ 26 w 30"/>
                <a:gd name="T7" fmla="*/ 83 h 91"/>
                <a:gd name="T8" fmla="*/ 19 w 30"/>
                <a:gd name="T9" fmla="*/ 74 h 91"/>
                <a:gd name="T10" fmla="*/ 19 w 30"/>
                <a:gd name="T11" fmla="*/ 0 h 91"/>
                <a:gd name="T12" fmla="*/ 0 w 30"/>
                <a:gd name="T13" fmla="*/ 0 h 91"/>
                <a:gd name="T14" fmla="*/ 0 w 30"/>
                <a:gd name="T15" fmla="*/ 8 h 91"/>
                <a:gd name="T16" fmla="*/ 9 w 30"/>
                <a:gd name="T17" fmla="*/ 8 h 91"/>
                <a:gd name="T18" fmla="*/ 9 w 30"/>
                <a:gd name="T19" fmla="*/ 74 h 91"/>
                <a:gd name="T20" fmla="*/ 24 w 30"/>
                <a:gd name="T2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91">
                  <a:moveTo>
                    <a:pt x="24" y="91"/>
                  </a:moveTo>
                  <a:cubicBezTo>
                    <a:pt x="26" y="91"/>
                    <a:pt x="29" y="91"/>
                    <a:pt x="30" y="91"/>
                  </a:cubicBezTo>
                  <a:cubicBezTo>
                    <a:pt x="30" y="82"/>
                    <a:pt x="30" y="82"/>
                    <a:pt x="30" y="82"/>
                  </a:cubicBezTo>
                  <a:cubicBezTo>
                    <a:pt x="28" y="83"/>
                    <a:pt x="27" y="83"/>
                    <a:pt x="26" y="83"/>
                  </a:cubicBezTo>
                  <a:cubicBezTo>
                    <a:pt x="21" y="83"/>
                    <a:pt x="19" y="80"/>
                    <a:pt x="19" y="74"/>
                  </a:cubicBezTo>
                  <a:cubicBezTo>
                    <a:pt x="19" y="0"/>
                    <a:pt x="19" y="0"/>
                    <a:pt x="19" y="0"/>
                  </a:cubicBezTo>
                  <a:cubicBezTo>
                    <a:pt x="0" y="0"/>
                    <a:pt x="0" y="0"/>
                    <a:pt x="0" y="0"/>
                  </a:cubicBezTo>
                  <a:cubicBezTo>
                    <a:pt x="0" y="8"/>
                    <a:pt x="0" y="8"/>
                    <a:pt x="0" y="8"/>
                  </a:cubicBezTo>
                  <a:cubicBezTo>
                    <a:pt x="9" y="8"/>
                    <a:pt x="9" y="8"/>
                    <a:pt x="9" y="8"/>
                  </a:cubicBezTo>
                  <a:cubicBezTo>
                    <a:pt x="9" y="74"/>
                    <a:pt x="9" y="74"/>
                    <a:pt x="9" y="74"/>
                  </a:cubicBezTo>
                  <a:cubicBezTo>
                    <a:pt x="9" y="85"/>
                    <a:pt x="13" y="91"/>
                    <a:pt x="24" y="91"/>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22" name="Freeform 11">
              <a:extLst>
                <a:ext uri="{FF2B5EF4-FFF2-40B4-BE49-F238E27FC236}">
                  <a16:creationId xmlns:a16="http://schemas.microsoft.com/office/drawing/2014/main" id="{BAF44958-70BD-4D20-94BC-622DD0D8A8D3}"/>
                </a:ext>
              </a:extLst>
            </p:cNvPr>
            <p:cNvSpPr>
              <a:spLocks/>
            </p:cNvSpPr>
            <p:nvPr/>
          </p:nvSpPr>
          <p:spPr bwMode="auto">
            <a:xfrm>
              <a:off x="3603625" y="2781300"/>
              <a:ext cx="911225" cy="1092200"/>
            </a:xfrm>
            <a:custGeom>
              <a:avLst/>
              <a:gdLst>
                <a:gd name="T0" fmla="*/ 28 w 81"/>
                <a:gd name="T1" fmla="*/ 65 h 96"/>
                <a:gd name="T2" fmla="*/ 41 w 81"/>
                <a:gd name="T3" fmla="*/ 74 h 96"/>
                <a:gd name="T4" fmla="*/ 52 w 81"/>
                <a:gd name="T5" fmla="*/ 68 h 96"/>
                <a:gd name="T6" fmla="*/ 36 w 81"/>
                <a:gd name="T7" fmla="*/ 59 h 96"/>
                <a:gd name="T8" fmla="*/ 12 w 81"/>
                <a:gd name="T9" fmla="*/ 50 h 96"/>
                <a:gd name="T10" fmla="*/ 1 w 81"/>
                <a:gd name="T11" fmla="*/ 29 h 96"/>
                <a:gd name="T12" fmla="*/ 39 w 81"/>
                <a:gd name="T13" fmla="*/ 0 h 96"/>
                <a:gd name="T14" fmla="*/ 78 w 81"/>
                <a:gd name="T15" fmla="*/ 29 h 96"/>
                <a:gd name="T16" fmla="*/ 51 w 81"/>
                <a:gd name="T17" fmla="*/ 29 h 96"/>
                <a:gd name="T18" fmla="*/ 39 w 81"/>
                <a:gd name="T19" fmla="*/ 21 h 96"/>
                <a:gd name="T20" fmla="*/ 30 w 81"/>
                <a:gd name="T21" fmla="*/ 27 h 96"/>
                <a:gd name="T22" fmla="*/ 43 w 81"/>
                <a:gd name="T23" fmla="*/ 35 h 96"/>
                <a:gd name="T24" fmla="*/ 69 w 81"/>
                <a:gd name="T25" fmla="*/ 43 h 96"/>
                <a:gd name="T26" fmla="*/ 81 w 81"/>
                <a:gd name="T27" fmla="*/ 65 h 96"/>
                <a:gd name="T28" fmla="*/ 40 w 81"/>
                <a:gd name="T29" fmla="*/ 96 h 96"/>
                <a:gd name="T30" fmla="*/ 0 w 81"/>
                <a:gd name="T31" fmla="*/ 65 h 96"/>
                <a:gd name="T32" fmla="*/ 28 w 81"/>
                <a:gd name="T33" fmla="*/ 6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96">
                  <a:moveTo>
                    <a:pt x="28" y="65"/>
                  </a:moveTo>
                  <a:cubicBezTo>
                    <a:pt x="29" y="72"/>
                    <a:pt x="33" y="74"/>
                    <a:pt x="41" y="74"/>
                  </a:cubicBezTo>
                  <a:cubicBezTo>
                    <a:pt x="48" y="74"/>
                    <a:pt x="52" y="72"/>
                    <a:pt x="52" y="68"/>
                  </a:cubicBezTo>
                  <a:cubicBezTo>
                    <a:pt x="52" y="62"/>
                    <a:pt x="47" y="62"/>
                    <a:pt x="36" y="59"/>
                  </a:cubicBezTo>
                  <a:cubicBezTo>
                    <a:pt x="24" y="55"/>
                    <a:pt x="15" y="53"/>
                    <a:pt x="12" y="50"/>
                  </a:cubicBezTo>
                  <a:cubicBezTo>
                    <a:pt x="5" y="45"/>
                    <a:pt x="1" y="38"/>
                    <a:pt x="1" y="29"/>
                  </a:cubicBezTo>
                  <a:cubicBezTo>
                    <a:pt x="1" y="11"/>
                    <a:pt x="15" y="0"/>
                    <a:pt x="39" y="0"/>
                  </a:cubicBezTo>
                  <a:cubicBezTo>
                    <a:pt x="63" y="0"/>
                    <a:pt x="77" y="10"/>
                    <a:pt x="78" y="29"/>
                  </a:cubicBezTo>
                  <a:cubicBezTo>
                    <a:pt x="51" y="29"/>
                    <a:pt x="51" y="29"/>
                    <a:pt x="51" y="29"/>
                  </a:cubicBezTo>
                  <a:cubicBezTo>
                    <a:pt x="50" y="23"/>
                    <a:pt x="46" y="21"/>
                    <a:pt x="39" y="21"/>
                  </a:cubicBezTo>
                  <a:cubicBezTo>
                    <a:pt x="33" y="21"/>
                    <a:pt x="30" y="23"/>
                    <a:pt x="30" y="27"/>
                  </a:cubicBezTo>
                  <a:cubicBezTo>
                    <a:pt x="30" y="32"/>
                    <a:pt x="34" y="33"/>
                    <a:pt x="43" y="35"/>
                  </a:cubicBezTo>
                  <a:cubicBezTo>
                    <a:pt x="54" y="38"/>
                    <a:pt x="63" y="40"/>
                    <a:pt x="69" y="43"/>
                  </a:cubicBezTo>
                  <a:cubicBezTo>
                    <a:pt x="77" y="49"/>
                    <a:pt x="81" y="55"/>
                    <a:pt x="81" y="65"/>
                  </a:cubicBezTo>
                  <a:cubicBezTo>
                    <a:pt x="81" y="84"/>
                    <a:pt x="66" y="96"/>
                    <a:pt x="40" y="96"/>
                  </a:cubicBezTo>
                  <a:cubicBezTo>
                    <a:pt x="16" y="96"/>
                    <a:pt x="1" y="84"/>
                    <a:pt x="0" y="65"/>
                  </a:cubicBezTo>
                  <a:lnTo>
                    <a:pt x="28" y="6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23" name="Freeform 12">
              <a:extLst>
                <a:ext uri="{FF2B5EF4-FFF2-40B4-BE49-F238E27FC236}">
                  <a16:creationId xmlns:a16="http://schemas.microsoft.com/office/drawing/2014/main" id="{6178D6E0-263D-45AD-BE10-D95989C192BE}"/>
                </a:ext>
              </a:extLst>
            </p:cNvPr>
            <p:cNvSpPr>
              <a:spLocks/>
            </p:cNvSpPr>
            <p:nvPr/>
          </p:nvSpPr>
          <p:spPr bwMode="auto">
            <a:xfrm>
              <a:off x="1698625" y="2781300"/>
              <a:ext cx="1014413" cy="1092200"/>
            </a:xfrm>
            <a:custGeom>
              <a:avLst/>
              <a:gdLst>
                <a:gd name="T0" fmla="*/ 90 w 90"/>
                <a:gd name="T1" fmla="*/ 58 h 96"/>
                <a:gd name="T2" fmla="*/ 46 w 90"/>
                <a:gd name="T3" fmla="*/ 96 h 96"/>
                <a:gd name="T4" fmla="*/ 0 w 90"/>
                <a:gd name="T5" fmla="*/ 48 h 96"/>
                <a:gd name="T6" fmla="*/ 46 w 90"/>
                <a:gd name="T7" fmla="*/ 0 h 96"/>
                <a:gd name="T8" fmla="*/ 89 w 90"/>
                <a:gd name="T9" fmla="*/ 37 h 96"/>
                <a:gd name="T10" fmla="*/ 62 w 90"/>
                <a:gd name="T11" fmla="*/ 37 h 96"/>
                <a:gd name="T12" fmla="*/ 46 w 90"/>
                <a:gd name="T13" fmla="*/ 23 h 96"/>
                <a:gd name="T14" fmla="*/ 29 w 90"/>
                <a:gd name="T15" fmla="*/ 48 h 96"/>
                <a:gd name="T16" fmla="*/ 47 w 90"/>
                <a:gd name="T17" fmla="*/ 73 h 96"/>
                <a:gd name="T18" fmla="*/ 62 w 90"/>
                <a:gd name="T19" fmla="*/ 58 h 96"/>
                <a:gd name="T20" fmla="*/ 90 w 90"/>
                <a:gd name="T21" fmla="*/ 5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96">
                  <a:moveTo>
                    <a:pt x="90" y="58"/>
                  </a:moveTo>
                  <a:cubicBezTo>
                    <a:pt x="88" y="82"/>
                    <a:pt x="72" y="96"/>
                    <a:pt x="46" y="96"/>
                  </a:cubicBezTo>
                  <a:cubicBezTo>
                    <a:pt x="17" y="96"/>
                    <a:pt x="0" y="78"/>
                    <a:pt x="0" y="48"/>
                  </a:cubicBezTo>
                  <a:cubicBezTo>
                    <a:pt x="0" y="18"/>
                    <a:pt x="17" y="0"/>
                    <a:pt x="46" y="0"/>
                  </a:cubicBezTo>
                  <a:cubicBezTo>
                    <a:pt x="72" y="0"/>
                    <a:pt x="88" y="13"/>
                    <a:pt x="89" y="37"/>
                  </a:cubicBezTo>
                  <a:cubicBezTo>
                    <a:pt x="62" y="37"/>
                    <a:pt x="62" y="37"/>
                    <a:pt x="62" y="37"/>
                  </a:cubicBezTo>
                  <a:cubicBezTo>
                    <a:pt x="61" y="28"/>
                    <a:pt x="55" y="23"/>
                    <a:pt x="46" y="23"/>
                  </a:cubicBezTo>
                  <a:cubicBezTo>
                    <a:pt x="35" y="23"/>
                    <a:pt x="29" y="31"/>
                    <a:pt x="29" y="48"/>
                  </a:cubicBezTo>
                  <a:cubicBezTo>
                    <a:pt x="29" y="65"/>
                    <a:pt x="35" y="73"/>
                    <a:pt x="47" y="73"/>
                  </a:cubicBezTo>
                  <a:cubicBezTo>
                    <a:pt x="56" y="73"/>
                    <a:pt x="61" y="68"/>
                    <a:pt x="62" y="58"/>
                  </a:cubicBezTo>
                  <a:lnTo>
                    <a:pt x="90" y="58"/>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24" name="Freeform 13">
              <a:extLst>
                <a:ext uri="{FF2B5EF4-FFF2-40B4-BE49-F238E27FC236}">
                  <a16:creationId xmlns:a16="http://schemas.microsoft.com/office/drawing/2014/main" id="{5E418160-22DA-431A-9B45-BDEDF2B7B5AF}"/>
                </a:ext>
              </a:extLst>
            </p:cNvPr>
            <p:cNvSpPr>
              <a:spLocks/>
            </p:cNvSpPr>
            <p:nvPr/>
          </p:nvSpPr>
          <p:spPr bwMode="auto">
            <a:xfrm>
              <a:off x="2644775" y="2816225"/>
              <a:ext cx="1014413" cy="1023938"/>
            </a:xfrm>
            <a:custGeom>
              <a:avLst/>
              <a:gdLst>
                <a:gd name="T0" fmla="*/ 0 w 639"/>
                <a:gd name="T1" fmla="*/ 0 h 645"/>
                <a:gd name="T2" fmla="*/ 206 w 639"/>
                <a:gd name="T3" fmla="*/ 0 h 645"/>
                <a:gd name="T4" fmla="*/ 320 w 639"/>
                <a:gd name="T5" fmla="*/ 415 h 645"/>
                <a:gd name="T6" fmla="*/ 433 w 639"/>
                <a:gd name="T7" fmla="*/ 0 h 645"/>
                <a:gd name="T8" fmla="*/ 639 w 639"/>
                <a:gd name="T9" fmla="*/ 0 h 645"/>
                <a:gd name="T10" fmla="*/ 419 w 639"/>
                <a:gd name="T11" fmla="*/ 645 h 645"/>
                <a:gd name="T12" fmla="*/ 213 w 639"/>
                <a:gd name="T13" fmla="*/ 645 h 645"/>
                <a:gd name="T14" fmla="*/ 0 w 639"/>
                <a:gd name="T15" fmla="*/ 0 h 6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9" h="645">
                  <a:moveTo>
                    <a:pt x="0" y="0"/>
                  </a:moveTo>
                  <a:lnTo>
                    <a:pt x="206" y="0"/>
                  </a:lnTo>
                  <a:lnTo>
                    <a:pt x="320" y="415"/>
                  </a:lnTo>
                  <a:lnTo>
                    <a:pt x="433" y="0"/>
                  </a:lnTo>
                  <a:lnTo>
                    <a:pt x="639" y="0"/>
                  </a:lnTo>
                  <a:lnTo>
                    <a:pt x="419" y="645"/>
                  </a:lnTo>
                  <a:lnTo>
                    <a:pt x="213" y="645"/>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25" name="Freeform 14">
              <a:extLst>
                <a:ext uri="{FF2B5EF4-FFF2-40B4-BE49-F238E27FC236}">
                  <a16:creationId xmlns:a16="http://schemas.microsoft.com/office/drawing/2014/main" id="{91A4F274-1376-4B3F-9106-428B3F243841}"/>
                </a:ext>
              </a:extLst>
            </p:cNvPr>
            <p:cNvSpPr>
              <a:spLocks/>
            </p:cNvSpPr>
            <p:nvPr/>
          </p:nvSpPr>
          <p:spPr bwMode="auto">
            <a:xfrm>
              <a:off x="279400" y="2781300"/>
              <a:ext cx="1295400" cy="1092200"/>
            </a:xfrm>
            <a:custGeom>
              <a:avLst/>
              <a:gdLst>
                <a:gd name="T0" fmla="*/ 4 w 115"/>
                <a:gd name="T1" fmla="*/ 42 h 96"/>
                <a:gd name="T2" fmla="*/ 0 w 115"/>
                <a:gd name="T3" fmla="*/ 33 h 96"/>
                <a:gd name="T4" fmla="*/ 4 w 115"/>
                <a:gd name="T5" fmla="*/ 23 h 96"/>
                <a:gd name="T6" fmla="*/ 22 w 115"/>
                <a:gd name="T7" fmla="*/ 4 h 96"/>
                <a:gd name="T8" fmla="*/ 32 w 115"/>
                <a:gd name="T9" fmla="*/ 0 h 96"/>
                <a:gd name="T10" fmla="*/ 42 w 115"/>
                <a:gd name="T11" fmla="*/ 4 h 96"/>
                <a:gd name="T12" fmla="*/ 58 w 115"/>
                <a:gd name="T13" fmla="*/ 20 h 96"/>
                <a:gd name="T14" fmla="*/ 73 w 115"/>
                <a:gd name="T15" fmla="*/ 4 h 96"/>
                <a:gd name="T16" fmla="*/ 83 w 115"/>
                <a:gd name="T17" fmla="*/ 0 h 96"/>
                <a:gd name="T18" fmla="*/ 93 w 115"/>
                <a:gd name="T19" fmla="*/ 4 h 96"/>
                <a:gd name="T20" fmla="*/ 111 w 115"/>
                <a:gd name="T21" fmla="*/ 23 h 96"/>
                <a:gd name="T22" fmla="*/ 115 w 115"/>
                <a:gd name="T23" fmla="*/ 33 h 96"/>
                <a:gd name="T24" fmla="*/ 111 w 115"/>
                <a:gd name="T25" fmla="*/ 42 h 96"/>
                <a:gd name="T26" fmla="*/ 58 w 115"/>
                <a:gd name="T27" fmla="*/ 96 h 96"/>
                <a:gd name="T28" fmla="*/ 57 w 115"/>
                <a:gd name="T29" fmla="*/ 96 h 96"/>
                <a:gd name="T30" fmla="*/ 4 w 115"/>
                <a:gd name="T31" fmla="*/ 4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96">
                  <a:moveTo>
                    <a:pt x="4" y="42"/>
                  </a:moveTo>
                  <a:cubicBezTo>
                    <a:pt x="1" y="40"/>
                    <a:pt x="0" y="36"/>
                    <a:pt x="0" y="33"/>
                  </a:cubicBezTo>
                  <a:cubicBezTo>
                    <a:pt x="0" y="29"/>
                    <a:pt x="1" y="25"/>
                    <a:pt x="4" y="23"/>
                  </a:cubicBezTo>
                  <a:cubicBezTo>
                    <a:pt x="22" y="4"/>
                    <a:pt x="22" y="4"/>
                    <a:pt x="22" y="4"/>
                  </a:cubicBezTo>
                  <a:cubicBezTo>
                    <a:pt x="25" y="1"/>
                    <a:pt x="29" y="0"/>
                    <a:pt x="32" y="0"/>
                  </a:cubicBezTo>
                  <a:cubicBezTo>
                    <a:pt x="36" y="0"/>
                    <a:pt x="39" y="1"/>
                    <a:pt x="42" y="4"/>
                  </a:cubicBezTo>
                  <a:cubicBezTo>
                    <a:pt x="58" y="20"/>
                    <a:pt x="58" y="20"/>
                    <a:pt x="58" y="20"/>
                  </a:cubicBezTo>
                  <a:cubicBezTo>
                    <a:pt x="73" y="4"/>
                    <a:pt x="73" y="4"/>
                    <a:pt x="73" y="4"/>
                  </a:cubicBezTo>
                  <a:cubicBezTo>
                    <a:pt x="76" y="1"/>
                    <a:pt x="79" y="0"/>
                    <a:pt x="83" y="0"/>
                  </a:cubicBezTo>
                  <a:cubicBezTo>
                    <a:pt x="87" y="0"/>
                    <a:pt x="90" y="1"/>
                    <a:pt x="93" y="4"/>
                  </a:cubicBezTo>
                  <a:cubicBezTo>
                    <a:pt x="111" y="23"/>
                    <a:pt x="111" y="23"/>
                    <a:pt x="111" y="23"/>
                  </a:cubicBezTo>
                  <a:cubicBezTo>
                    <a:pt x="114" y="25"/>
                    <a:pt x="115" y="29"/>
                    <a:pt x="115" y="33"/>
                  </a:cubicBezTo>
                  <a:cubicBezTo>
                    <a:pt x="115" y="36"/>
                    <a:pt x="114" y="40"/>
                    <a:pt x="111" y="42"/>
                  </a:cubicBezTo>
                  <a:cubicBezTo>
                    <a:pt x="58" y="96"/>
                    <a:pt x="58" y="96"/>
                    <a:pt x="58" y="96"/>
                  </a:cubicBezTo>
                  <a:cubicBezTo>
                    <a:pt x="57" y="96"/>
                    <a:pt x="57" y="96"/>
                    <a:pt x="57" y="96"/>
                  </a:cubicBezTo>
                  <a:lnTo>
                    <a:pt x="4" y="42"/>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panose="020B0604020202020204" pitchFamily="34" charset="0"/>
              </a:endParaRPr>
            </a:p>
          </p:txBody>
        </p:sp>
      </p:grpSp>
    </p:spTree>
    <p:extLst>
      <p:ext uri="{BB962C8B-B14F-4D97-AF65-F5344CB8AC3E}">
        <p14:creationId xmlns:p14="http://schemas.microsoft.com/office/powerpoint/2010/main" val="807305569"/>
      </p:ext>
    </p:extLst>
  </p:cSld>
  <p:clrMap bg1="lt1" tx1="dk1" bg2="lt2" tx2="dk2" accent1="accent1" accent2="accent2" accent3="accent3" accent4="accent4" accent5="accent5" accent6="accent6" hlink="hlink" folHlink="folHlink"/>
  <p:sldLayoutIdLst>
    <p:sldLayoutId id="2147483773" r:id="rId1"/>
    <p:sldLayoutId id="2147483815" r:id="rId2"/>
    <p:sldLayoutId id="2147483804" r:id="rId3"/>
    <p:sldLayoutId id="2147483775" r:id="rId4"/>
    <p:sldLayoutId id="2147483776" r:id="rId5"/>
    <p:sldLayoutId id="2147483777" r:id="rId6"/>
    <p:sldLayoutId id="2147483805" r:id="rId7"/>
    <p:sldLayoutId id="2147483806" r:id="rId8"/>
    <p:sldLayoutId id="2147483808" r:id="rId9"/>
    <p:sldLayoutId id="2147483807" r:id="rId10"/>
    <p:sldLayoutId id="2147483818" r:id="rId11"/>
    <p:sldLayoutId id="2147483814" r:id="rId1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txStyles>
    <p:titleStyle>
      <a:lvl1pPr algn="l" defTabSz="914400" rtl="0" eaLnBrk="1" latinLnBrk="0" hangingPunct="1">
        <a:lnSpc>
          <a:spcPct val="90000"/>
        </a:lnSpc>
        <a:spcBef>
          <a:spcPct val="0"/>
        </a:spcBef>
        <a:buNone/>
        <a:defRPr sz="2800" b="0" i="0" kern="1200">
          <a:solidFill>
            <a:schemeClr val="accent2"/>
          </a:solidFill>
          <a:latin typeface="+mj-lt"/>
          <a:ea typeface="Open Sans" panose="020B0606030504020204" pitchFamily="34" charset="0"/>
          <a:cs typeface="Open Sans" panose="020B0606030504020204" pitchFamily="34" charset="0"/>
        </a:defRPr>
      </a:lvl1pPr>
    </p:titleStyle>
    <p:body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3.xml"/><Relationship Id="rId13" Type="http://schemas.openxmlformats.org/officeDocument/2006/relationships/slide" Target="slide56.xml"/><Relationship Id="rId18" Type="http://schemas.openxmlformats.org/officeDocument/2006/relationships/slide" Target="slide85.xml"/><Relationship Id="rId3" Type="http://schemas.openxmlformats.org/officeDocument/2006/relationships/notesSlide" Target="../notesSlides/notesSlide1.xml"/><Relationship Id="rId7" Type="http://schemas.openxmlformats.org/officeDocument/2006/relationships/slide" Target="slide4.xml"/><Relationship Id="rId12" Type="http://schemas.openxmlformats.org/officeDocument/2006/relationships/slide" Target="slide36.xml"/><Relationship Id="rId17" Type="http://schemas.openxmlformats.org/officeDocument/2006/relationships/slide" Target="slide80.xml"/><Relationship Id="rId2" Type="http://schemas.openxmlformats.org/officeDocument/2006/relationships/slideLayout" Target="../slideLayouts/slideLayout3.xml"/><Relationship Id="rId16" Type="http://schemas.openxmlformats.org/officeDocument/2006/relationships/slide" Target="slide71.xml"/><Relationship Id="rId20" Type="http://schemas.openxmlformats.org/officeDocument/2006/relationships/slide" Target="slide107.xml"/><Relationship Id="rId1" Type="http://schemas.openxmlformats.org/officeDocument/2006/relationships/tags" Target="../tags/tag15.xml"/><Relationship Id="rId6" Type="http://schemas.openxmlformats.org/officeDocument/2006/relationships/image" Target="../media/image5.jpeg"/><Relationship Id="rId11" Type="http://schemas.openxmlformats.org/officeDocument/2006/relationships/slide" Target="slide26.xml"/><Relationship Id="rId5" Type="http://schemas.openxmlformats.org/officeDocument/2006/relationships/image" Target="../media/image2.emf"/><Relationship Id="rId15" Type="http://schemas.openxmlformats.org/officeDocument/2006/relationships/slide" Target="slide65.xml"/><Relationship Id="rId10" Type="http://schemas.openxmlformats.org/officeDocument/2006/relationships/slide" Target="slide23.xml"/><Relationship Id="rId19" Type="http://schemas.openxmlformats.org/officeDocument/2006/relationships/slide" Target="slide88.xml"/><Relationship Id="rId4" Type="http://schemas.openxmlformats.org/officeDocument/2006/relationships/oleObject" Target="../embeddings/oleObject3.bin"/><Relationship Id="rId9" Type="http://schemas.openxmlformats.org/officeDocument/2006/relationships/slide" Target="slide15.xml"/><Relationship Id="rId14" Type="http://schemas.openxmlformats.org/officeDocument/2006/relationships/slide" Target="slide64.xml"/></Relationships>
</file>

<file path=ppt/slides/_rels/slide2.xml.rels><?xml version="1.0" encoding="UTF-8" standalone="yes"?>
<Relationships xmlns="http://schemas.openxmlformats.org/package/2006/relationships"><Relationship Id="rId8" Type="http://schemas.openxmlformats.org/officeDocument/2006/relationships/slide" Target="slide137.xml"/><Relationship Id="rId3" Type="http://schemas.openxmlformats.org/officeDocument/2006/relationships/notesSlide" Target="../notesSlides/notesSlide2.xml"/><Relationship Id="rId7" Type="http://schemas.openxmlformats.org/officeDocument/2006/relationships/slide" Target="slide102.xml"/><Relationship Id="rId2" Type="http://schemas.openxmlformats.org/officeDocument/2006/relationships/slideLayout" Target="../slideLayouts/slideLayout3.xml"/><Relationship Id="rId1" Type="http://schemas.openxmlformats.org/officeDocument/2006/relationships/tags" Target="../tags/tag16.xml"/><Relationship Id="rId6" Type="http://schemas.openxmlformats.org/officeDocument/2006/relationships/image" Target="../media/image5.jpeg"/><Relationship Id="rId11" Type="http://schemas.openxmlformats.org/officeDocument/2006/relationships/slide" Target="slide163.xml"/><Relationship Id="rId5" Type="http://schemas.openxmlformats.org/officeDocument/2006/relationships/image" Target="../media/image2.emf"/><Relationship Id="rId10" Type="http://schemas.openxmlformats.org/officeDocument/2006/relationships/slide" Target="slide159.xml"/><Relationship Id="rId4" Type="http://schemas.openxmlformats.org/officeDocument/2006/relationships/oleObject" Target="../embeddings/oleObject3.bin"/><Relationship Id="rId9" Type="http://schemas.openxmlformats.org/officeDocument/2006/relationships/slide" Target="slide15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aetnao365.sharepoint.com/:p:/s/Solution_Integration/EdNpdVcNYDNFlUj4KLae0ekB1r60zNGlgeQnM3NjnPI8Jw?e=LpvXlR" TargetMode="External"/><Relationship Id="rId2" Type="http://schemas.openxmlformats.org/officeDocument/2006/relationships/hyperlink" Target="https://aetnao365.sharepoint.com/:p:/s/Solution_Integration/EUjxMGPGUehLqtSqTvWArOYBX8E8MqrGRZbFVebOc8bPuA?e=cnut0O" TargetMode="External"/><Relationship Id="rId1" Type="http://schemas.openxmlformats.org/officeDocument/2006/relationships/slideLayout" Target="../slideLayouts/slideLayout4.xml"/><Relationship Id="rId5" Type="http://schemas.openxmlformats.org/officeDocument/2006/relationships/hyperlink" Target="https://aetnao365.sharepoint.com/sites/Solution_Integration/Tooling/API's%20and%20Services/APIService%20Name%20Request%20Guide.docx?Web=1" TargetMode="External"/><Relationship Id="rId4" Type="http://schemas.openxmlformats.org/officeDocument/2006/relationships/hyperlink" Target="https://aetnao365.sharepoint.com/sites/Solution_Integration/Lists/APINameUpdates/All%20Grouped%20by%20Request%20Status.aspx?InitialTabId=Ribbon%2EListItem&amp;VisibilityContext=WSSTabPersistence" TargetMode="External"/></Relationships>
</file>

<file path=ppt/slides/_rels/slide5.xml.rels><?xml version="1.0" encoding="UTF-8" standalone="yes"?>
<Relationships xmlns="http://schemas.openxmlformats.org/package/2006/relationships"><Relationship Id="rId2" Type="http://schemas.openxmlformats.org/officeDocument/2006/relationships/hyperlink" Target="https://aetnao365.sharepoint.com/:x:/r/sites/Solution_Integration/Roles/Integration%20Architect/APIC%20Request%20Form%201.2.xlsx?d=w8e77b55bc0ff4ef6af7dfcd83c8098d1&amp;csf=1&amp;web=1&amp;e=o7cwPb"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dev-apim.apps.dev.cloudpak-aznp.cvshealth.com/manager/eatest/"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swagger.io/specification/v2/" TargetMode="Externa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 Target="slide2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slide" Target="slide63.xml"/><Relationship Id="rId1" Type="http://schemas.openxmlformats.org/officeDocument/2006/relationships/slideLayout" Target="../slideLayouts/slideLayout7.xml"/><Relationship Id="rId5" Type="http://schemas.openxmlformats.org/officeDocument/2006/relationships/image" Target="../media/image85.png"/><Relationship Id="rId4" Type="http://schemas.openxmlformats.org/officeDocument/2006/relationships/image" Target="../media/image84.png"/></Relationships>
</file>

<file path=ppt/slides/_rels/slide6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6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7.xml"/><Relationship Id="rId5" Type="http://schemas.openxmlformats.org/officeDocument/2006/relationships/image" Target="../media/image92.png"/><Relationship Id="rId4" Type="http://schemas.openxmlformats.org/officeDocument/2006/relationships/image" Target="../media/image9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hyperlink" Target="https://swagger.io/blog/api-strategy/difference-between-swagger-and-openapi/" TargetMode="External"/><Relationship Id="rId2" Type="http://schemas.openxmlformats.org/officeDocument/2006/relationships/hyperlink" Target="https://swagger.io/specification/" TargetMode="Externa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7.xml"/><Relationship Id="rId4" Type="http://schemas.openxmlformats.org/officeDocument/2006/relationships/image" Target="../media/image95.png"/></Relationships>
</file>

<file path=ppt/slides/_rels/slide6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0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93.png"/><Relationship Id="rId1" Type="http://schemas.openxmlformats.org/officeDocument/2006/relationships/slideLayout" Target="../slideLayouts/slideLayout7.xml"/><Relationship Id="rId4" Type="http://schemas.openxmlformats.org/officeDocument/2006/relationships/image" Target="../media/image104.png"/></Relationships>
</file>

<file path=ppt/slides/_rels/slide7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slide" Target="slide15.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36.xml"/><Relationship Id="rId1" Type="http://schemas.openxmlformats.org/officeDocument/2006/relationships/slideLayout" Target="../slideLayouts/slideLayout7.xml"/><Relationship Id="rId5" Type="http://schemas.openxmlformats.org/officeDocument/2006/relationships/image" Target="../media/image116.png"/><Relationship Id="rId4" Type="http://schemas.openxmlformats.org/officeDocument/2006/relationships/slide" Target="slide2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7.xml"/><Relationship Id="rId4" Type="http://schemas.openxmlformats.org/officeDocument/2006/relationships/image" Target="../media/image122.png"/></Relationships>
</file>

<file path=ppt/slides/_rels/slide90.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7.xml"/><Relationship Id="rId4" Type="http://schemas.openxmlformats.org/officeDocument/2006/relationships/image" Target="../media/image129.png"/></Relationships>
</file>

<file path=ppt/slides/_rels/slide94.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7.xml"/><Relationship Id="rId4" Type="http://schemas.openxmlformats.org/officeDocument/2006/relationships/image" Target="../media/image132.png"/></Relationships>
</file>

<file path=ppt/slides/_rels/slide9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hyperlink" Target="https://aetnao365.sharepoint.com/:x:/r/sites/Solution_Integration/Roles/Integration%20Domain%20Lead/APIC%20Security%20Definition%20Template.xlsx?d=w79b0b81f46eb48bfa4ea79db60dc6ff7&amp;csf=1&amp;web=1&amp;e=Lv1mzr" TargetMode="External"/><Relationship Id="rId1" Type="http://schemas.openxmlformats.org/officeDocument/2006/relationships/slideLayout" Target="../slideLayouts/slideLayout7.xml"/><Relationship Id="rId5" Type="http://schemas.openxmlformats.org/officeDocument/2006/relationships/image" Target="../media/image135.png"/><Relationship Id="rId4" Type="http://schemas.openxmlformats.org/officeDocument/2006/relationships/image" Target="../media/image134.png"/></Relationships>
</file>

<file path=ppt/slides/_rels/slide96.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7.xml"/><Relationship Id="rId4" Type="http://schemas.openxmlformats.org/officeDocument/2006/relationships/image" Target="../media/image138.png"/></Relationships>
</file>

<file path=ppt/slides/_rels/slide97.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slide" Target="slide102.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slide" Target="slide102.xml"/><Relationship Id="rId1" Type="http://schemas.openxmlformats.org/officeDocument/2006/relationships/slideLayout" Target="../slideLayouts/slideLayout7.xml"/><Relationship Id="rId6" Type="http://schemas.openxmlformats.org/officeDocument/2006/relationships/image" Target="../media/image145.png"/><Relationship Id="rId5" Type="http://schemas.openxmlformats.org/officeDocument/2006/relationships/slide" Target="slide23.xml"/><Relationship Id="rId4" Type="http://schemas.openxmlformats.org/officeDocument/2006/relationships/slide" Target="slide26.xml"/></Relationships>
</file>

<file path=ppt/slides/_rels/slide102.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7.xml"/><Relationship Id="rId4" Type="http://schemas.openxmlformats.org/officeDocument/2006/relationships/image" Target="../media/image152.png"/></Relationships>
</file>

<file path=ppt/slides/_rels/slide109.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25.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7.xml"/><Relationship Id="rId4" Type="http://schemas.openxmlformats.org/officeDocument/2006/relationships/image" Target="../media/image162.png"/></Relationships>
</file>

<file path=ppt/slides/_rels/slide116.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9.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slideLayout" Target="../slideLayouts/slideLayout7.xml"/><Relationship Id="rId4" Type="http://schemas.openxmlformats.org/officeDocument/2006/relationships/image" Target="../media/image175.png"/></Relationships>
</file>

<file path=ppt/slides/_rels/slide125.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image" Target="../media/image176.png"/><Relationship Id="rId1" Type="http://schemas.openxmlformats.org/officeDocument/2006/relationships/slideLayout" Target="../slideLayouts/slideLayout7.xml"/><Relationship Id="rId4" Type="http://schemas.openxmlformats.org/officeDocument/2006/relationships/image" Target="../media/image178.png"/></Relationships>
</file>

<file path=ppt/slides/_rels/slide126.xml.rels><?xml version="1.0" encoding="UTF-8" standalone="yes"?>
<Relationships xmlns="http://schemas.openxmlformats.org/package/2006/relationships"><Relationship Id="rId3" Type="http://schemas.openxmlformats.org/officeDocument/2006/relationships/slide" Target="slide124.xml"/><Relationship Id="rId2" Type="http://schemas.openxmlformats.org/officeDocument/2006/relationships/slide" Target="slide130.xml"/><Relationship Id="rId1" Type="http://schemas.openxmlformats.org/officeDocument/2006/relationships/slideLayout" Target="../slideLayouts/slideLayout7.xml"/><Relationship Id="rId4" Type="http://schemas.openxmlformats.org/officeDocument/2006/relationships/image" Target="../media/image179.png"/></Relationships>
</file>

<file path=ppt/slides/_rels/slide127.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80.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image" Target="../media/image182.png"/><Relationship Id="rId1" Type="http://schemas.openxmlformats.org/officeDocument/2006/relationships/slideLayout" Target="../slideLayouts/slideLayout7.xml"/><Relationship Id="rId4" Type="http://schemas.openxmlformats.org/officeDocument/2006/relationships/image" Target="../media/image184.png"/></Relationships>
</file>

<file path=ppt/slides/_rels/slide129.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slide" Target="slide102.xml"/><Relationship Id="rId1" Type="http://schemas.openxmlformats.org/officeDocument/2006/relationships/slideLayout" Target="../slideLayouts/slideLayout7.xml"/><Relationship Id="rId6" Type="http://schemas.openxmlformats.org/officeDocument/2006/relationships/image" Target="../media/image145.png"/><Relationship Id="rId5" Type="http://schemas.openxmlformats.org/officeDocument/2006/relationships/slide" Target="slide23.xml"/><Relationship Id="rId4" Type="http://schemas.openxmlformats.org/officeDocument/2006/relationships/slide" Target="slide2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2" Type="http://schemas.openxmlformats.org/officeDocument/2006/relationships/image" Target="../media/image185.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186.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187.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image" Target="../media/image188.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image" Target="../media/image190.pn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image" Target="../media/image192.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image" Target="../media/image193.pn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197.pn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198.pn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199.pn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202.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203.pn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image" Target="../media/image204.pn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hyperlink" Target="https://aetnao365.sharepoint.com/:p:/r/sites/Solution_Integration/_layouts/15/Doc.aspx?sourcedoc=%7BDC11FFFC-B64C-4074-880E-D45B8589DBE0%7D&amp;file=APIC%20Products%2C%20Plans%20and%20rate-limits%20Guidance.pptx&amp;action=edit&amp;mobileredirect=true" TargetMode="Externa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2" Type="http://schemas.openxmlformats.org/officeDocument/2006/relationships/image" Target="../media/image206.pn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image" Target="../media/image207.pn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208.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hyperlink" Target="https://placeholder-apigw/v3/internal/auth/oauth2/authorize" TargetMode="Externa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image" Target="../media/image212.png"/><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image" Target="../media/image214.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image" Target="../media/image216.pn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4.xml.rels><?xml version="1.0" encoding="UTF-8" standalone="yes"?>
<Relationships xmlns="http://schemas.openxmlformats.org/package/2006/relationships"><Relationship Id="rId2" Type="http://schemas.openxmlformats.org/officeDocument/2006/relationships/image" Target="../media/image218.pn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Placeholder 15"/>
          <p:cNvPicPr>
            <a:picLocks noGrp="1" noChangeAspect="1"/>
          </p:cNvPicPr>
          <p:nvPr>
            <p:ph type="pic" sz="quarter" idx="13"/>
          </p:nvPr>
        </p:nvPicPr>
        <p:blipFill>
          <a:blip r:embed="rId6">
            <a:extLst>
              <a:ext uri="{28A0092B-C50C-407E-A947-70E740481C1C}">
                <a14:useLocalDpi xmlns:a14="http://schemas.microsoft.com/office/drawing/2010/main" val="0"/>
              </a:ext>
            </a:extLst>
          </a:blip>
          <a:srcRect/>
          <a:stretch>
            <a:fillRect/>
          </a:stretch>
        </p:blipFill>
        <p:spPr>
          <a:xfrm>
            <a:off x="0" y="0"/>
            <a:ext cx="4990623" cy="6858000"/>
          </a:xfrm>
        </p:spPr>
      </p:pic>
      <p:sp>
        <p:nvSpPr>
          <p:cNvPr id="10" name="Title 9"/>
          <p:cNvSpPr>
            <a:spLocks noGrp="1"/>
          </p:cNvSpPr>
          <p:nvPr>
            <p:ph type="ctrTitle"/>
          </p:nvPr>
        </p:nvSpPr>
        <p:spPr>
          <a:xfrm>
            <a:off x="5586134" y="164122"/>
            <a:ext cx="6087634" cy="618307"/>
          </a:xfrm>
        </p:spPr>
        <p:txBody>
          <a:bodyPr/>
          <a:lstStyle/>
          <a:p>
            <a:r>
              <a:rPr lang="en-US">
                <a:latin typeface="Arial"/>
                <a:cs typeface="Arial"/>
                <a:sym typeface="Arial" panose="020B0604020202020204" pitchFamily="34" charset="0"/>
              </a:rPr>
              <a:t>Table of Contents</a:t>
            </a:r>
            <a:r>
              <a:rPr lang="en-US">
                <a:latin typeface="Arial"/>
                <a:cs typeface="Arial"/>
              </a:rPr>
              <a:t> </a:t>
            </a:r>
            <a:endParaRPr lang="en-US">
              <a:latin typeface="Arial" panose="020B0604020202020204" pitchFamily="34" charset="0"/>
              <a:cs typeface="Arial" panose="020B0604020202020204" pitchFamily="34" charset="0"/>
              <a:sym typeface="Arial" panose="020B0604020202020204" pitchFamily="34" charset="0"/>
            </a:endParaRPr>
          </a:p>
        </p:txBody>
      </p:sp>
      <p:sp>
        <p:nvSpPr>
          <p:cNvPr id="3" name="Rectangle 2">
            <a:extLst>
              <a:ext uri="{FF2B5EF4-FFF2-40B4-BE49-F238E27FC236}">
                <a16:creationId xmlns:a16="http://schemas.microsoft.com/office/drawing/2014/main" id="{3F1079D4-BC3B-43F3-A36F-C358CB101180}"/>
              </a:ext>
            </a:extLst>
          </p:cNvPr>
          <p:cNvSpPr/>
          <p:nvPr/>
        </p:nvSpPr>
        <p:spPr>
          <a:xfrm>
            <a:off x="5295797" y="1431324"/>
            <a:ext cx="787395" cy="369332"/>
          </a:xfrm>
          <a:prstGeom prst="rect">
            <a:avLst/>
          </a:prstGeom>
        </p:spPr>
        <p:txBody>
          <a:bodyPr wrap="none">
            <a:spAutoFit/>
          </a:bodyPr>
          <a:lstStyle/>
          <a:p>
            <a:r>
              <a:rPr lang="en-US">
                <a:solidFill>
                  <a:schemeClr val="bg1"/>
                </a:solidFill>
                <a:hlinkClick r:id="rId7" action="ppaction://hlinksldjump">
                  <a:extLst>
                    <a:ext uri="{A12FA001-AC4F-418D-AE19-62706E023703}">
                      <ahyp:hlinkClr xmlns:ahyp="http://schemas.microsoft.com/office/drawing/2018/hyperlinkcolor" val="tx"/>
                    </a:ext>
                  </a:extLst>
                </a:hlinkClick>
              </a:rPr>
              <a:t>Setup</a:t>
            </a:r>
            <a:endParaRPr lang="en-US">
              <a:solidFill>
                <a:schemeClr val="bg1"/>
              </a:solidFill>
            </a:endParaRPr>
          </a:p>
        </p:txBody>
      </p:sp>
      <p:sp>
        <p:nvSpPr>
          <p:cNvPr id="4" name="Rectangle 3">
            <a:extLst>
              <a:ext uri="{FF2B5EF4-FFF2-40B4-BE49-F238E27FC236}">
                <a16:creationId xmlns:a16="http://schemas.microsoft.com/office/drawing/2014/main" id="{2B45B17D-4289-4658-A0CE-BED649FF119A}"/>
              </a:ext>
            </a:extLst>
          </p:cNvPr>
          <p:cNvSpPr/>
          <p:nvPr/>
        </p:nvSpPr>
        <p:spPr>
          <a:xfrm>
            <a:off x="5295797" y="1091915"/>
            <a:ext cx="1390124" cy="369332"/>
          </a:xfrm>
          <a:prstGeom prst="rect">
            <a:avLst/>
          </a:prstGeom>
        </p:spPr>
        <p:txBody>
          <a:bodyPr wrap="none">
            <a:spAutoFit/>
          </a:bodyPr>
          <a:lstStyle/>
          <a:p>
            <a:r>
              <a:rPr lang="en-US">
                <a:solidFill>
                  <a:schemeClr val="bg1"/>
                </a:solidFill>
                <a:hlinkClick r:id="rId8" action="ppaction://hlinksldjump">
                  <a:extLst>
                    <a:ext uri="{A12FA001-AC4F-418D-AE19-62706E023703}">
                      <ahyp:hlinkClr xmlns:ahyp="http://schemas.microsoft.com/office/drawing/2018/hyperlinkcolor" val="tx"/>
                    </a:ext>
                  </a:extLst>
                </a:hlinkClick>
              </a:rPr>
              <a:t>Introduction</a:t>
            </a:r>
            <a:endParaRPr lang="en-US">
              <a:solidFill>
                <a:schemeClr val="bg1"/>
              </a:solidFill>
            </a:endParaRPr>
          </a:p>
        </p:txBody>
      </p:sp>
      <p:sp>
        <p:nvSpPr>
          <p:cNvPr id="11" name="TextBox 10">
            <a:extLst>
              <a:ext uri="{FF2B5EF4-FFF2-40B4-BE49-F238E27FC236}">
                <a16:creationId xmlns:a16="http://schemas.microsoft.com/office/drawing/2014/main" id="{B9E3BD87-DAF3-469C-94EB-87E76123B55F}"/>
              </a:ext>
            </a:extLst>
          </p:cNvPr>
          <p:cNvSpPr txBox="1"/>
          <p:nvPr/>
        </p:nvSpPr>
        <p:spPr>
          <a:xfrm>
            <a:off x="5295797" y="1770733"/>
            <a:ext cx="6096000" cy="369332"/>
          </a:xfrm>
          <a:prstGeom prst="rect">
            <a:avLst/>
          </a:prstGeom>
          <a:noFill/>
        </p:spPr>
        <p:txBody>
          <a:bodyPr wrap="square">
            <a:spAutoFit/>
          </a:bodyPr>
          <a:lstStyle/>
          <a:p>
            <a:r>
              <a:rPr lang="en-US">
                <a:solidFill>
                  <a:srgbClr val="F7F7F7"/>
                </a:solidFill>
                <a:hlinkClick r:id="rId9" action="ppaction://hlinksldjump">
                  <a:extLst>
                    <a:ext uri="{A12FA001-AC4F-418D-AE19-62706E023703}">
                      <ahyp:hlinkClr xmlns:ahyp="http://schemas.microsoft.com/office/drawing/2018/hyperlinkcolor" val="tx"/>
                    </a:ext>
                  </a:extLst>
                </a:hlinkClick>
              </a:rPr>
              <a:t>Importing Swagger 2.0 as a proxy</a:t>
            </a:r>
            <a:endParaRPr lang="en-US">
              <a:solidFill>
                <a:srgbClr val="F7F7F7"/>
              </a:solidFill>
            </a:endParaRPr>
          </a:p>
        </p:txBody>
      </p:sp>
      <p:sp>
        <p:nvSpPr>
          <p:cNvPr id="13" name="TextBox 12">
            <a:extLst>
              <a:ext uri="{FF2B5EF4-FFF2-40B4-BE49-F238E27FC236}">
                <a16:creationId xmlns:a16="http://schemas.microsoft.com/office/drawing/2014/main" id="{89AF2EDE-9E2E-4BC3-861D-7A2D1B63298E}"/>
              </a:ext>
            </a:extLst>
          </p:cNvPr>
          <p:cNvSpPr txBox="1"/>
          <p:nvPr/>
        </p:nvSpPr>
        <p:spPr>
          <a:xfrm>
            <a:off x="5295797" y="2110142"/>
            <a:ext cx="6096000" cy="369332"/>
          </a:xfrm>
          <a:prstGeom prst="rect">
            <a:avLst/>
          </a:prstGeom>
          <a:noFill/>
        </p:spPr>
        <p:txBody>
          <a:bodyPr wrap="square">
            <a:spAutoFit/>
          </a:bodyPr>
          <a:lstStyle/>
          <a:p>
            <a:r>
              <a:rPr lang="en-US">
                <a:solidFill>
                  <a:srgbClr val="F7F7F7"/>
                </a:solidFill>
                <a:hlinkClick r:id="rId10" action="ppaction://hlinksldjump">
                  <a:extLst>
                    <a:ext uri="{A12FA001-AC4F-418D-AE19-62706E023703}">
                      <ahyp:hlinkClr xmlns:ahyp="http://schemas.microsoft.com/office/drawing/2018/hyperlinkcolor" val="tx"/>
                    </a:ext>
                  </a:extLst>
                </a:hlinkClick>
              </a:rPr>
              <a:t>Assemble for Proxy Invoke</a:t>
            </a:r>
            <a:endParaRPr lang="en-US">
              <a:solidFill>
                <a:srgbClr val="F7F7F7"/>
              </a:solidFill>
            </a:endParaRPr>
          </a:p>
        </p:txBody>
      </p:sp>
      <p:sp>
        <p:nvSpPr>
          <p:cNvPr id="15" name="TextBox 14">
            <a:extLst>
              <a:ext uri="{FF2B5EF4-FFF2-40B4-BE49-F238E27FC236}">
                <a16:creationId xmlns:a16="http://schemas.microsoft.com/office/drawing/2014/main" id="{ECC0234F-411C-4FFD-8331-5634F279AF6E}"/>
              </a:ext>
            </a:extLst>
          </p:cNvPr>
          <p:cNvSpPr txBox="1"/>
          <p:nvPr/>
        </p:nvSpPr>
        <p:spPr>
          <a:xfrm>
            <a:off x="5295797" y="2449551"/>
            <a:ext cx="6096000" cy="369332"/>
          </a:xfrm>
          <a:prstGeom prst="rect">
            <a:avLst/>
          </a:prstGeom>
          <a:noFill/>
        </p:spPr>
        <p:txBody>
          <a:bodyPr wrap="square">
            <a:spAutoFit/>
          </a:bodyPr>
          <a:lstStyle/>
          <a:p>
            <a:r>
              <a:rPr lang="en-US">
                <a:solidFill>
                  <a:srgbClr val="F7F7F7"/>
                </a:solidFill>
                <a:hlinkClick r:id="rId11" action="ppaction://hlinksldjump">
                  <a:extLst>
                    <a:ext uri="{A12FA001-AC4F-418D-AE19-62706E023703}">
                      <ahyp:hlinkClr xmlns:ahyp="http://schemas.microsoft.com/office/drawing/2018/hyperlinkcolor" val="tx"/>
                    </a:ext>
                  </a:extLst>
                </a:hlinkClick>
              </a:rPr>
              <a:t>Mapping to Swagger Services</a:t>
            </a:r>
            <a:endParaRPr lang="en-US">
              <a:solidFill>
                <a:srgbClr val="F7F7F7"/>
              </a:solidFill>
            </a:endParaRPr>
          </a:p>
        </p:txBody>
      </p:sp>
      <p:sp>
        <p:nvSpPr>
          <p:cNvPr id="17" name="TextBox 16">
            <a:extLst>
              <a:ext uri="{FF2B5EF4-FFF2-40B4-BE49-F238E27FC236}">
                <a16:creationId xmlns:a16="http://schemas.microsoft.com/office/drawing/2014/main" id="{637D61A7-8DBA-4612-920E-31AAA0444266}"/>
              </a:ext>
            </a:extLst>
          </p:cNvPr>
          <p:cNvSpPr txBox="1"/>
          <p:nvPr/>
        </p:nvSpPr>
        <p:spPr>
          <a:xfrm>
            <a:off x="5295797" y="2788960"/>
            <a:ext cx="6096000" cy="369332"/>
          </a:xfrm>
          <a:prstGeom prst="rect">
            <a:avLst/>
          </a:prstGeom>
          <a:noFill/>
        </p:spPr>
        <p:txBody>
          <a:bodyPr wrap="square">
            <a:spAutoFit/>
          </a:bodyPr>
          <a:lstStyle/>
          <a:p>
            <a:r>
              <a:rPr lang="en-US">
                <a:solidFill>
                  <a:srgbClr val="F7F7F7"/>
                </a:solidFill>
                <a:hlinkClick r:id="rId12" action="ppaction://hlinksldjump">
                  <a:extLst>
                    <a:ext uri="{A12FA001-AC4F-418D-AE19-62706E023703}">
                      <ahyp:hlinkClr xmlns:ahyp="http://schemas.microsoft.com/office/drawing/2018/hyperlinkcolor" val="tx"/>
                    </a:ext>
                  </a:extLst>
                </a:hlinkClick>
              </a:rPr>
              <a:t>Mapping to XML Services</a:t>
            </a:r>
            <a:endParaRPr lang="en-US">
              <a:solidFill>
                <a:srgbClr val="F7F7F7"/>
              </a:solidFill>
            </a:endParaRPr>
          </a:p>
        </p:txBody>
      </p:sp>
      <p:sp>
        <p:nvSpPr>
          <p:cNvPr id="23" name="TextBox 22">
            <a:extLst>
              <a:ext uri="{FF2B5EF4-FFF2-40B4-BE49-F238E27FC236}">
                <a16:creationId xmlns:a16="http://schemas.microsoft.com/office/drawing/2014/main" id="{2075D162-5092-47F4-98CB-2B5BBC4C7A0E}"/>
              </a:ext>
            </a:extLst>
          </p:cNvPr>
          <p:cNvSpPr txBox="1"/>
          <p:nvPr/>
        </p:nvSpPr>
        <p:spPr>
          <a:xfrm>
            <a:off x="5295797" y="3131681"/>
            <a:ext cx="6096000" cy="369332"/>
          </a:xfrm>
          <a:prstGeom prst="rect">
            <a:avLst/>
          </a:prstGeom>
          <a:noFill/>
        </p:spPr>
        <p:txBody>
          <a:bodyPr wrap="square">
            <a:spAutoFit/>
          </a:bodyPr>
          <a:lstStyle/>
          <a:p>
            <a:r>
              <a:rPr lang="en-US">
                <a:solidFill>
                  <a:srgbClr val="F7F7F7"/>
                </a:solidFill>
                <a:hlinkClick r:id="rId13" action="ppaction://hlinksldjump">
                  <a:extLst>
                    <a:ext uri="{A12FA001-AC4F-418D-AE19-62706E023703}">
                      <ahyp:hlinkClr xmlns:ahyp="http://schemas.microsoft.com/office/drawing/2018/hyperlinkcolor" val="tx"/>
                    </a:ext>
                  </a:extLst>
                </a:hlinkClick>
              </a:rPr>
              <a:t>Move proxy API from V5 to V10</a:t>
            </a:r>
            <a:endParaRPr lang="en-US">
              <a:solidFill>
                <a:srgbClr val="F7F7F7"/>
              </a:solidFill>
            </a:endParaRPr>
          </a:p>
        </p:txBody>
      </p:sp>
      <p:sp>
        <p:nvSpPr>
          <p:cNvPr id="25" name="TextBox 24">
            <a:extLst>
              <a:ext uri="{FF2B5EF4-FFF2-40B4-BE49-F238E27FC236}">
                <a16:creationId xmlns:a16="http://schemas.microsoft.com/office/drawing/2014/main" id="{FEDFD294-26B7-422A-9FAC-70DBAEBDB1FF}"/>
              </a:ext>
            </a:extLst>
          </p:cNvPr>
          <p:cNvSpPr txBox="1"/>
          <p:nvPr/>
        </p:nvSpPr>
        <p:spPr>
          <a:xfrm>
            <a:off x="5295797" y="3473716"/>
            <a:ext cx="6096000" cy="369332"/>
          </a:xfrm>
          <a:prstGeom prst="rect">
            <a:avLst/>
          </a:prstGeom>
          <a:noFill/>
        </p:spPr>
        <p:txBody>
          <a:bodyPr wrap="square">
            <a:spAutoFit/>
          </a:bodyPr>
          <a:lstStyle/>
          <a:p>
            <a:r>
              <a:rPr lang="en-US">
                <a:solidFill>
                  <a:srgbClr val="F7F7F7"/>
                </a:solidFill>
                <a:hlinkClick r:id="rId14" action="ppaction://hlinksldjump">
                  <a:extLst>
                    <a:ext uri="{A12FA001-AC4F-418D-AE19-62706E023703}">
                      <ahyp:hlinkClr xmlns:ahyp="http://schemas.microsoft.com/office/drawing/2018/hyperlinkcolor" val="tx"/>
                    </a:ext>
                  </a:extLst>
                </a:hlinkClick>
              </a:rPr>
              <a:t>Moving a mapped API from V5 to V10</a:t>
            </a:r>
            <a:endParaRPr lang="en-US">
              <a:solidFill>
                <a:srgbClr val="F7F7F7"/>
              </a:solidFill>
            </a:endParaRPr>
          </a:p>
        </p:txBody>
      </p:sp>
      <p:sp>
        <p:nvSpPr>
          <p:cNvPr id="27" name="TextBox 26">
            <a:extLst>
              <a:ext uri="{FF2B5EF4-FFF2-40B4-BE49-F238E27FC236}">
                <a16:creationId xmlns:a16="http://schemas.microsoft.com/office/drawing/2014/main" id="{EA6F9166-1786-40F3-A36B-00452880C121}"/>
              </a:ext>
            </a:extLst>
          </p:cNvPr>
          <p:cNvSpPr txBox="1"/>
          <p:nvPr/>
        </p:nvSpPr>
        <p:spPr>
          <a:xfrm>
            <a:off x="5295797" y="3838333"/>
            <a:ext cx="6096000" cy="369332"/>
          </a:xfrm>
          <a:prstGeom prst="rect">
            <a:avLst/>
          </a:prstGeom>
          <a:noFill/>
        </p:spPr>
        <p:txBody>
          <a:bodyPr wrap="square">
            <a:spAutoFit/>
          </a:bodyPr>
          <a:lstStyle/>
          <a:p>
            <a:r>
              <a:rPr lang="en-US" sz="1800">
                <a:solidFill>
                  <a:srgbClr val="F7F7F7"/>
                </a:solidFill>
                <a:latin typeface="Arial"/>
                <a:cs typeface="Arial"/>
                <a:hlinkClick r:id="rId15" action="ppaction://hlinksldjump">
                  <a:extLst>
                    <a:ext uri="{A12FA001-AC4F-418D-AE19-62706E023703}">
                      <ahyp:hlinkClr xmlns:ahyp="http://schemas.microsoft.com/office/drawing/2018/hyperlinkcolor" val="tx"/>
                    </a:ext>
                  </a:extLst>
                </a:hlinkClick>
              </a:rPr>
              <a:t>Importing a </a:t>
            </a:r>
            <a:r>
              <a:rPr lang="en-US" sz="1800" err="1">
                <a:solidFill>
                  <a:srgbClr val="F7F7F7"/>
                </a:solidFill>
                <a:latin typeface="Arial"/>
                <a:cs typeface="Arial"/>
                <a:hlinkClick r:id="rId15" action="ppaction://hlinksldjump">
                  <a:extLst>
                    <a:ext uri="{A12FA001-AC4F-418D-AE19-62706E023703}">
                      <ahyp:hlinkClr xmlns:ahyp="http://schemas.microsoft.com/office/drawing/2018/hyperlinkcolor" val="tx"/>
                    </a:ext>
                  </a:extLst>
                </a:hlinkClick>
              </a:rPr>
              <a:t>OpenAPI</a:t>
            </a:r>
            <a:r>
              <a:rPr lang="en-US" sz="1800">
                <a:solidFill>
                  <a:srgbClr val="F7F7F7"/>
                </a:solidFill>
                <a:latin typeface="Arial"/>
                <a:cs typeface="Arial"/>
                <a:hlinkClick r:id="rId15" action="ppaction://hlinksldjump">
                  <a:extLst>
                    <a:ext uri="{A12FA001-AC4F-418D-AE19-62706E023703}">
                      <ahyp:hlinkClr xmlns:ahyp="http://schemas.microsoft.com/office/drawing/2018/hyperlinkcolor" val="tx"/>
                    </a:ext>
                  </a:extLst>
                </a:hlinkClick>
              </a:rPr>
              <a:t> 3.0 for proxy API</a:t>
            </a:r>
            <a:endParaRPr lang="en-US" sz="1800">
              <a:solidFill>
                <a:srgbClr val="F7F7F7"/>
              </a:solidFill>
              <a:latin typeface="Arial"/>
              <a:cs typeface="Arial"/>
            </a:endParaRPr>
          </a:p>
        </p:txBody>
      </p:sp>
      <p:sp>
        <p:nvSpPr>
          <p:cNvPr id="30" name="TextBox 29">
            <a:extLst>
              <a:ext uri="{FF2B5EF4-FFF2-40B4-BE49-F238E27FC236}">
                <a16:creationId xmlns:a16="http://schemas.microsoft.com/office/drawing/2014/main" id="{D824A53E-CC4B-429A-A887-505A38484146}"/>
              </a:ext>
            </a:extLst>
          </p:cNvPr>
          <p:cNvSpPr txBox="1"/>
          <p:nvPr/>
        </p:nvSpPr>
        <p:spPr>
          <a:xfrm>
            <a:off x="5295797" y="4177742"/>
            <a:ext cx="6096000" cy="369332"/>
          </a:xfrm>
          <a:prstGeom prst="rect">
            <a:avLst/>
          </a:prstGeom>
          <a:noFill/>
        </p:spPr>
        <p:txBody>
          <a:bodyPr wrap="square">
            <a:spAutoFit/>
          </a:bodyPr>
          <a:lstStyle/>
          <a:p>
            <a:r>
              <a:rPr lang="en-US" sz="1800">
                <a:solidFill>
                  <a:srgbClr val="F7F7F7"/>
                </a:solidFill>
                <a:latin typeface="Arial"/>
                <a:cs typeface="Arial"/>
                <a:hlinkClick r:id="rId16" action="ppaction://hlinksldjump">
                  <a:extLst>
                    <a:ext uri="{A12FA001-AC4F-418D-AE19-62706E023703}">
                      <ahyp:hlinkClr xmlns:ahyp="http://schemas.microsoft.com/office/drawing/2018/hyperlinkcolor" val="tx"/>
                    </a:ext>
                  </a:extLst>
                </a:hlinkClick>
              </a:rPr>
              <a:t>Importing a SOAP proxy API</a:t>
            </a:r>
            <a:endParaRPr lang="en-US" sz="1800">
              <a:solidFill>
                <a:srgbClr val="F7F7F7"/>
              </a:solidFill>
              <a:latin typeface="Arial"/>
              <a:cs typeface="Arial"/>
            </a:endParaRPr>
          </a:p>
        </p:txBody>
      </p:sp>
      <p:sp>
        <p:nvSpPr>
          <p:cNvPr id="31" name="TextBox 30">
            <a:extLst>
              <a:ext uri="{FF2B5EF4-FFF2-40B4-BE49-F238E27FC236}">
                <a16:creationId xmlns:a16="http://schemas.microsoft.com/office/drawing/2014/main" id="{164333AE-9910-42FC-9469-456D1F0A03B7}"/>
              </a:ext>
            </a:extLst>
          </p:cNvPr>
          <p:cNvSpPr txBox="1"/>
          <p:nvPr/>
        </p:nvSpPr>
        <p:spPr>
          <a:xfrm>
            <a:off x="5295797" y="4512436"/>
            <a:ext cx="6096000" cy="369332"/>
          </a:xfrm>
          <a:prstGeom prst="rect">
            <a:avLst/>
          </a:prstGeom>
          <a:noFill/>
        </p:spPr>
        <p:txBody>
          <a:bodyPr wrap="square">
            <a:spAutoFit/>
          </a:bodyPr>
          <a:lstStyle/>
          <a:p>
            <a:r>
              <a:rPr lang="en-US" sz="1800">
                <a:solidFill>
                  <a:srgbClr val="F7F7F7"/>
                </a:solidFill>
                <a:latin typeface="Arial"/>
                <a:cs typeface="Arial"/>
                <a:hlinkClick r:id="rId17" action="ppaction://hlinksldjump">
                  <a:extLst>
                    <a:ext uri="{A12FA001-AC4F-418D-AE19-62706E023703}">
                      <ahyp:hlinkClr xmlns:ahyp="http://schemas.microsoft.com/office/drawing/2018/hyperlinkcolor" val="tx"/>
                    </a:ext>
                  </a:extLst>
                </a:hlinkClick>
              </a:rPr>
              <a:t>Cloning a V10 API </a:t>
            </a:r>
            <a:endParaRPr lang="en-US">
              <a:solidFill>
                <a:srgbClr val="F7F7F7"/>
              </a:solidFill>
            </a:endParaRPr>
          </a:p>
        </p:txBody>
      </p:sp>
      <p:sp>
        <p:nvSpPr>
          <p:cNvPr id="33" name="TextBox 32">
            <a:extLst>
              <a:ext uri="{FF2B5EF4-FFF2-40B4-BE49-F238E27FC236}">
                <a16:creationId xmlns:a16="http://schemas.microsoft.com/office/drawing/2014/main" id="{FD5F3A00-37EA-4F04-8C85-D9F86D9B772E}"/>
              </a:ext>
            </a:extLst>
          </p:cNvPr>
          <p:cNvSpPr txBox="1"/>
          <p:nvPr/>
        </p:nvSpPr>
        <p:spPr>
          <a:xfrm>
            <a:off x="5295797" y="4849836"/>
            <a:ext cx="6096000" cy="369332"/>
          </a:xfrm>
          <a:prstGeom prst="rect">
            <a:avLst/>
          </a:prstGeom>
          <a:noFill/>
        </p:spPr>
        <p:txBody>
          <a:bodyPr wrap="square">
            <a:spAutoFit/>
          </a:bodyPr>
          <a:lstStyle/>
          <a:p>
            <a:r>
              <a:rPr lang="en-US" sz="1800">
                <a:solidFill>
                  <a:srgbClr val="F7F7F7"/>
                </a:solidFill>
                <a:latin typeface="Arial"/>
                <a:cs typeface="Arial"/>
                <a:hlinkClick r:id="rId18" action="ppaction://hlinksldjump">
                  <a:extLst>
                    <a:ext uri="{A12FA001-AC4F-418D-AE19-62706E023703}">
                      <ahyp:hlinkClr xmlns:ahyp="http://schemas.microsoft.com/office/drawing/2018/hyperlinkcolor" val="tx"/>
                    </a:ext>
                  </a:extLst>
                </a:hlinkClick>
              </a:rPr>
              <a:t>Create a new V10 API version</a:t>
            </a:r>
            <a:endParaRPr lang="en-US">
              <a:solidFill>
                <a:srgbClr val="F7F7F7"/>
              </a:solidFill>
            </a:endParaRPr>
          </a:p>
        </p:txBody>
      </p:sp>
      <p:sp>
        <p:nvSpPr>
          <p:cNvPr id="35" name="TextBox 34">
            <a:extLst>
              <a:ext uri="{FF2B5EF4-FFF2-40B4-BE49-F238E27FC236}">
                <a16:creationId xmlns:a16="http://schemas.microsoft.com/office/drawing/2014/main" id="{BB9C48DF-B8E5-4872-B8AF-AC87ED280520}"/>
              </a:ext>
            </a:extLst>
          </p:cNvPr>
          <p:cNvSpPr txBox="1"/>
          <p:nvPr/>
        </p:nvSpPr>
        <p:spPr>
          <a:xfrm>
            <a:off x="5295797" y="5184530"/>
            <a:ext cx="6096000" cy="369332"/>
          </a:xfrm>
          <a:prstGeom prst="rect">
            <a:avLst/>
          </a:prstGeom>
          <a:noFill/>
        </p:spPr>
        <p:txBody>
          <a:bodyPr wrap="square">
            <a:spAutoFit/>
          </a:bodyPr>
          <a:lstStyle/>
          <a:p>
            <a:r>
              <a:rPr lang="en-US" sz="1800">
                <a:solidFill>
                  <a:schemeClr val="bg1"/>
                </a:solidFill>
                <a:latin typeface="Arial"/>
                <a:cs typeface="Arial"/>
                <a:hlinkClick r:id="rId19" action="ppaction://hlinksldjump">
                  <a:extLst>
                    <a:ext uri="{A12FA001-AC4F-418D-AE19-62706E023703}">
                      <ahyp:hlinkClr xmlns:ahyp="http://schemas.microsoft.com/office/drawing/2018/hyperlinkcolor" val="tx"/>
                    </a:ext>
                  </a:extLst>
                </a:hlinkClick>
              </a:rPr>
              <a:t>Create a new </a:t>
            </a:r>
            <a:r>
              <a:rPr lang="en-US" sz="1800" err="1">
                <a:solidFill>
                  <a:schemeClr val="bg1"/>
                </a:solidFill>
                <a:latin typeface="Arial"/>
                <a:cs typeface="Arial"/>
                <a:hlinkClick r:id="rId19" action="ppaction://hlinksldjump">
                  <a:extLst>
                    <a:ext uri="{A12FA001-AC4F-418D-AE19-62706E023703}">
                      <ahyp:hlinkClr xmlns:ahyp="http://schemas.microsoft.com/office/drawing/2018/hyperlinkcolor" val="tx"/>
                    </a:ext>
                  </a:extLst>
                </a:hlinkClick>
              </a:rPr>
              <a:t>OpenAPI</a:t>
            </a:r>
            <a:r>
              <a:rPr lang="en-US" sz="1800">
                <a:solidFill>
                  <a:schemeClr val="bg1"/>
                </a:solidFill>
                <a:latin typeface="Arial"/>
                <a:cs typeface="Arial"/>
                <a:hlinkClick r:id="rId19" action="ppaction://hlinksldjump">
                  <a:extLst>
                    <a:ext uri="{A12FA001-AC4F-418D-AE19-62706E023703}">
                      <ahyp:hlinkClr xmlns:ahyp="http://schemas.microsoft.com/office/drawing/2018/hyperlinkcolor" val="tx"/>
                    </a:ext>
                  </a:extLst>
                </a:hlinkClick>
              </a:rPr>
              <a:t> 2.0 using APIC V10</a:t>
            </a:r>
            <a:endParaRPr lang="en-US">
              <a:solidFill>
                <a:schemeClr val="bg1"/>
              </a:solidFill>
            </a:endParaRPr>
          </a:p>
        </p:txBody>
      </p:sp>
      <p:sp>
        <p:nvSpPr>
          <p:cNvPr id="39" name="TextBox 38">
            <a:extLst>
              <a:ext uri="{FF2B5EF4-FFF2-40B4-BE49-F238E27FC236}">
                <a16:creationId xmlns:a16="http://schemas.microsoft.com/office/drawing/2014/main" id="{A9B1E0B7-68BC-4DBA-B0F5-542043E15350}"/>
              </a:ext>
            </a:extLst>
          </p:cNvPr>
          <p:cNvSpPr txBox="1"/>
          <p:nvPr/>
        </p:nvSpPr>
        <p:spPr>
          <a:xfrm>
            <a:off x="5295797" y="5551853"/>
            <a:ext cx="6096000" cy="369332"/>
          </a:xfrm>
          <a:prstGeom prst="rect">
            <a:avLst/>
          </a:prstGeom>
          <a:noFill/>
        </p:spPr>
        <p:txBody>
          <a:bodyPr wrap="square">
            <a:spAutoFit/>
          </a:bodyPr>
          <a:lstStyle/>
          <a:p>
            <a:r>
              <a:rPr lang="en-US" sz="1800">
                <a:solidFill>
                  <a:schemeClr val="bg1"/>
                </a:solidFill>
                <a:latin typeface="Arial"/>
                <a:cs typeface="Arial"/>
                <a:hlinkClick r:id="rId20" action="ppaction://hlinksldjump">
                  <a:extLst>
                    <a:ext uri="{A12FA001-AC4F-418D-AE19-62706E023703}">
                      <ahyp:hlinkClr xmlns:ahyp="http://schemas.microsoft.com/office/drawing/2018/hyperlinkcolor" val="tx"/>
                    </a:ext>
                  </a:extLst>
                </a:hlinkClick>
              </a:rPr>
              <a:t>Create a new </a:t>
            </a:r>
            <a:r>
              <a:rPr lang="en-US" sz="1800" err="1">
                <a:solidFill>
                  <a:schemeClr val="bg1"/>
                </a:solidFill>
                <a:latin typeface="Arial"/>
                <a:cs typeface="Arial"/>
                <a:hlinkClick r:id="rId20" action="ppaction://hlinksldjump">
                  <a:extLst>
                    <a:ext uri="{A12FA001-AC4F-418D-AE19-62706E023703}">
                      <ahyp:hlinkClr xmlns:ahyp="http://schemas.microsoft.com/office/drawing/2018/hyperlinkcolor" val="tx"/>
                    </a:ext>
                  </a:extLst>
                </a:hlinkClick>
              </a:rPr>
              <a:t>OpenAPI</a:t>
            </a:r>
            <a:r>
              <a:rPr lang="en-US" sz="1800">
                <a:solidFill>
                  <a:schemeClr val="bg1"/>
                </a:solidFill>
                <a:latin typeface="Arial"/>
                <a:cs typeface="Arial"/>
                <a:hlinkClick r:id="rId20" action="ppaction://hlinksldjump">
                  <a:extLst>
                    <a:ext uri="{A12FA001-AC4F-418D-AE19-62706E023703}">
                      <ahyp:hlinkClr xmlns:ahyp="http://schemas.microsoft.com/office/drawing/2018/hyperlinkcolor" val="tx"/>
                    </a:ext>
                  </a:extLst>
                </a:hlinkClick>
              </a:rPr>
              <a:t> 3.0 using APIC V10</a:t>
            </a:r>
            <a:endParaRPr lang="en-US">
              <a:solidFill>
                <a:schemeClr val="bg1"/>
              </a:solidFill>
            </a:endParaRPr>
          </a:p>
        </p:txBody>
      </p:sp>
    </p:spTree>
    <p:extLst>
      <p:ext uri="{BB962C8B-B14F-4D97-AF65-F5344CB8AC3E}">
        <p14:creationId xmlns:p14="http://schemas.microsoft.com/office/powerpoint/2010/main" val="1807657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Placeholder 15"/>
          <p:cNvPicPr>
            <a:picLocks noGrp="1" noChangeAspect="1"/>
          </p:cNvPicPr>
          <p:nvPr>
            <p:ph type="pic" sz="quarter" idx="13"/>
          </p:nvPr>
        </p:nvPicPr>
        <p:blipFill>
          <a:blip r:embed="rId6">
            <a:extLst>
              <a:ext uri="{28A0092B-C50C-407E-A947-70E740481C1C}">
                <a14:useLocalDpi xmlns:a14="http://schemas.microsoft.com/office/drawing/2010/main" val="0"/>
              </a:ext>
            </a:extLst>
          </a:blip>
          <a:srcRect/>
          <a:stretch>
            <a:fillRect/>
          </a:stretch>
        </p:blipFill>
        <p:spPr>
          <a:xfrm>
            <a:off x="0" y="0"/>
            <a:ext cx="4990623" cy="6858000"/>
          </a:xfrm>
        </p:spPr>
      </p:pic>
      <p:sp>
        <p:nvSpPr>
          <p:cNvPr id="10" name="Title 9"/>
          <p:cNvSpPr>
            <a:spLocks noGrp="1"/>
          </p:cNvSpPr>
          <p:nvPr>
            <p:ph type="ctrTitle"/>
          </p:nvPr>
        </p:nvSpPr>
        <p:spPr>
          <a:xfrm>
            <a:off x="5586134" y="164122"/>
            <a:ext cx="6087634" cy="618307"/>
          </a:xfrm>
        </p:spPr>
        <p:txBody>
          <a:bodyPr/>
          <a:lstStyle/>
          <a:p>
            <a:r>
              <a:rPr lang="en-US">
                <a:latin typeface="Arial"/>
                <a:cs typeface="Arial"/>
                <a:sym typeface="Arial" panose="020B0604020202020204" pitchFamily="34" charset="0"/>
              </a:rPr>
              <a:t>Table of Contents</a:t>
            </a:r>
            <a:r>
              <a:rPr lang="en-US">
                <a:latin typeface="Arial"/>
                <a:cs typeface="Arial"/>
              </a:rPr>
              <a:t> </a:t>
            </a:r>
            <a:endParaRPr lang="en-US">
              <a:latin typeface="Arial" panose="020B0604020202020204" pitchFamily="34" charset="0"/>
              <a:cs typeface="Arial" panose="020B0604020202020204" pitchFamily="34" charset="0"/>
              <a:sym typeface="Arial" panose="020B0604020202020204" pitchFamily="34" charset="0"/>
            </a:endParaRPr>
          </a:p>
        </p:txBody>
      </p:sp>
      <p:sp>
        <p:nvSpPr>
          <p:cNvPr id="22" name="TextBox 21">
            <a:extLst>
              <a:ext uri="{FF2B5EF4-FFF2-40B4-BE49-F238E27FC236}">
                <a16:creationId xmlns:a16="http://schemas.microsoft.com/office/drawing/2014/main" id="{8B5FD0BF-D8E8-445C-B051-23F673627007}"/>
              </a:ext>
            </a:extLst>
          </p:cNvPr>
          <p:cNvSpPr txBox="1"/>
          <p:nvPr/>
        </p:nvSpPr>
        <p:spPr>
          <a:xfrm>
            <a:off x="5231026" y="1162220"/>
            <a:ext cx="6096000" cy="369332"/>
          </a:xfrm>
          <a:prstGeom prst="rect">
            <a:avLst/>
          </a:prstGeom>
          <a:noFill/>
        </p:spPr>
        <p:txBody>
          <a:bodyPr wrap="square">
            <a:spAutoFit/>
          </a:bodyPr>
          <a:lstStyle/>
          <a:p>
            <a:r>
              <a:rPr lang="en-US" sz="1800">
                <a:solidFill>
                  <a:srgbClr val="F7F7F7"/>
                </a:solidFill>
                <a:latin typeface="Arial"/>
                <a:cs typeface="Arial"/>
                <a:hlinkClick r:id="rId7" action="ppaction://hlinksldjump">
                  <a:extLst>
                    <a:ext uri="{A12FA001-AC4F-418D-AE19-62706E023703}">
                      <ahyp:hlinkClr xmlns:ahyp="http://schemas.microsoft.com/office/drawing/2018/hyperlinkcolor" val="tx"/>
                    </a:ext>
                  </a:extLst>
                </a:hlinkClick>
              </a:rPr>
              <a:t>Create a complex definition using the V10 UI</a:t>
            </a:r>
            <a:endParaRPr lang="en-US">
              <a:solidFill>
                <a:srgbClr val="F7F7F7"/>
              </a:solidFill>
            </a:endParaRPr>
          </a:p>
        </p:txBody>
      </p:sp>
      <p:sp>
        <p:nvSpPr>
          <p:cNvPr id="24" name="TextBox 23">
            <a:extLst>
              <a:ext uri="{FF2B5EF4-FFF2-40B4-BE49-F238E27FC236}">
                <a16:creationId xmlns:a16="http://schemas.microsoft.com/office/drawing/2014/main" id="{783B61C8-8F06-4264-890A-88CCD3DF63FD}"/>
              </a:ext>
            </a:extLst>
          </p:cNvPr>
          <p:cNvSpPr txBox="1"/>
          <p:nvPr/>
        </p:nvSpPr>
        <p:spPr>
          <a:xfrm>
            <a:off x="5231026" y="1531552"/>
            <a:ext cx="6096000" cy="369332"/>
          </a:xfrm>
          <a:prstGeom prst="rect">
            <a:avLst/>
          </a:prstGeom>
          <a:noFill/>
        </p:spPr>
        <p:txBody>
          <a:bodyPr wrap="square">
            <a:spAutoFit/>
          </a:bodyPr>
          <a:lstStyle/>
          <a:p>
            <a:r>
              <a:rPr lang="en-US" sz="1800">
                <a:solidFill>
                  <a:srgbClr val="F7F7F7"/>
                </a:solidFill>
                <a:latin typeface="Arial"/>
                <a:cs typeface="Arial"/>
                <a:hlinkClick r:id="rId8" action="ppaction://hlinksldjump">
                  <a:extLst>
                    <a:ext uri="{A12FA001-AC4F-418D-AE19-62706E023703}">
                      <ahyp:hlinkClr xmlns:ahyp="http://schemas.microsoft.com/office/drawing/2018/hyperlinkcolor" val="tx"/>
                    </a:ext>
                  </a:extLst>
                </a:hlinkClick>
              </a:rPr>
              <a:t>Create an API Product</a:t>
            </a:r>
            <a:endParaRPr lang="en-US">
              <a:solidFill>
                <a:srgbClr val="F7F7F7"/>
              </a:solidFill>
            </a:endParaRPr>
          </a:p>
        </p:txBody>
      </p:sp>
      <p:sp>
        <p:nvSpPr>
          <p:cNvPr id="26" name="TextBox 25">
            <a:extLst>
              <a:ext uri="{FF2B5EF4-FFF2-40B4-BE49-F238E27FC236}">
                <a16:creationId xmlns:a16="http://schemas.microsoft.com/office/drawing/2014/main" id="{FA9770F6-3BAC-42C2-81C1-567233CED393}"/>
              </a:ext>
            </a:extLst>
          </p:cNvPr>
          <p:cNvSpPr txBox="1"/>
          <p:nvPr/>
        </p:nvSpPr>
        <p:spPr>
          <a:xfrm>
            <a:off x="5231026" y="1900884"/>
            <a:ext cx="6096000" cy="369332"/>
          </a:xfrm>
          <a:prstGeom prst="rect">
            <a:avLst/>
          </a:prstGeom>
          <a:noFill/>
        </p:spPr>
        <p:txBody>
          <a:bodyPr wrap="square">
            <a:spAutoFit/>
          </a:bodyPr>
          <a:lstStyle/>
          <a:p>
            <a:r>
              <a:rPr lang="en-US" sz="1800">
                <a:solidFill>
                  <a:srgbClr val="F7F7F7"/>
                </a:solidFill>
                <a:latin typeface="Arial"/>
                <a:cs typeface="Arial"/>
                <a:hlinkClick r:id="rId9" action="ppaction://hlinksldjump">
                  <a:extLst>
                    <a:ext uri="{A12FA001-AC4F-418D-AE19-62706E023703}">
                      <ahyp:hlinkClr xmlns:ahyp="http://schemas.microsoft.com/office/drawing/2018/hyperlinkcolor" val="tx"/>
                    </a:ext>
                  </a:extLst>
                </a:hlinkClick>
              </a:rPr>
              <a:t>Publish an API Product to the Portal</a:t>
            </a:r>
            <a:endParaRPr lang="en-US">
              <a:solidFill>
                <a:srgbClr val="F7F7F7"/>
              </a:solidFill>
            </a:endParaRPr>
          </a:p>
        </p:txBody>
      </p:sp>
      <p:sp>
        <p:nvSpPr>
          <p:cNvPr id="28" name="TextBox 27">
            <a:extLst>
              <a:ext uri="{FF2B5EF4-FFF2-40B4-BE49-F238E27FC236}">
                <a16:creationId xmlns:a16="http://schemas.microsoft.com/office/drawing/2014/main" id="{34C00495-4566-4500-94E4-CB01A7E2BCBC}"/>
              </a:ext>
            </a:extLst>
          </p:cNvPr>
          <p:cNvSpPr txBox="1"/>
          <p:nvPr/>
        </p:nvSpPr>
        <p:spPr>
          <a:xfrm>
            <a:off x="5231026" y="2270216"/>
            <a:ext cx="6096000" cy="369332"/>
          </a:xfrm>
          <a:prstGeom prst="rect">
            <a:avLst/>
          </a:prstGeom>
          <a:noFill/>
        </p:spPr>
        <p:txBody>
          <a:bodyPr wrap="square">
            <a:spAutoFit/>
          </a:bodyPr>
          <a:lstStyle/>
          <a:p>
            <a:r>
              <a:rPr lang="en-US" sz="1800">
                <a:solidFill>
                  <a:srgbClr val="F7F7F7"/>
                </a:solidFill>
                <a:latin typeface="Arial"/>
                <a:cs typeface="Arial"/>
                <a:hlinkClick r:id="rId10" action="ppaction://hlinksldjump">
                  <a:extLst>
                    <a:ext uri="{A12FA001-AC4F-418D-AE19-62706E023703}">
                      <ahyp:hlinkClr xmlns:ahyp="http://schemas.microsoft.com/office/drawing/2018/hyperlinkcolor" val="tx"/>
                    </a:ext>
                  </a:extLst>
                </a:hlinkClick>
              </a:rPr>
              <a:t>Delete an API Product from the Portal</a:t>
            </a:r>
            <a:endParaRPr lang="en-US">
              <a:solidFill>
                <a:srgbClr val="F7F7F7"/>
              </a:solidFill>
            </a:endParaRPr>
          </a:p>
        </p:txBody>
      </p:sp>
      <p:sp>
        <p:nvSpPr>
          <p:cNvPr id="32" name="TextBox 31">
            <a:extLst>
              <a:ext uri="{FF2B5EF4-FFF2-40B4-BE49-F238E27FC236}">
                <a16:creationId xmlns:a16="http://schemas.microsoft.com/office/drawing/2014/main" id="{CD4E1610-B4A2-453B-BD88-EA9214493E41}"/>
              </a:ext>
            </a:extLst>
          </p:cNvPr>
          <p:cNvSpPr txBox="1"/>
          <p:nvPr/>
        </p:nvSpPr>
        <p:spPr>
          <a:xfrm>
            <a:off x="5231026" y="2639548"/>
            <a:ext cx="6096000" cy="369332"/>
          </a:xfrm>
          <a:prstGeom prst="rect">
            <a:avLst/>
          </a:prstGeom>
          <a:noFill/>
        </p:spPr>
        <p:txBody>
          <a:bodyPr wrap="square">
            <a:spAutoFit/>
          </a:bodyPr>
          <a:lstStyle/>
          <a:p>
            <a:r>
              <a:rPr lang="en-US" sz="1800">
                <a:solidFill>
                  <a:srgbClr val="F7F7F7"/>
                </a:solidFill>
                <a:latin typeface="Arial"/>
                <a:cs typeface="Arial"/>
                <a:hlinkClick r:id="rId11" action="ppaction://hlinksldjump">
                  <a:extLst>
                    <a:ext uri="{A12FA001-AC4F-418D-AE19-62706E023703}">
                      <ahyp:hlinkClr xmlns:ahyp="http://schemas.microsoft.com/office/drawing/2018/hyperlinkcolor" val="tx"/>
                    </a:ext>
                  </a:extLst>
                </a:hlinkClick>
              </a:rPr>
              <a:t>Download Realization for an API</a:t>
            </a:r>
            <a:endParaRPr lang="en-US">
              <a:solidFill>
                <a:srgbClr val="F7F7F7"/>
              </a:solidFill>
            </a:endParaRPr>
          </a:p>
        </p:txBody>
      </p:sp>
    </p:spTree>
    <p:extLst>
      <p:ext uri="{BB962C8B-B14F-4D97-AF65-F5344CB8AC3E}">
        <p14:creationId xmlns:p14="http://schemas.microsoft.com/office/powerpoint/2010/main" val="32809464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p:txBody>
          <a:bodyPr/>
          <a:lstStyle/>
          <a:p>
            <a:r>
              <a:rPr lang="en-US"/>
              <a:t>Introduction</a:t>
            </a:r>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What’s in here</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11272838" cy="4174867"/>
          </a:xfrm>
        </p:spPr>
        <p:txBody>
          <a:bodyPr lIns="91440" tIns="45720" rIns="91440" bIns="45720" anchor="t"/>
          <a:lstStyle/>
          <a:p>
            <a:r>
              <a:rPr lang="en-US" sz="1600">
                <a:latin typeface="Arial"/>
                <a:cs typeface="Arial"/>
              </a:rPr>
              <a:t>This document provides general instructions for creating and configuring APIs in APIConnect Version 10. It will cover:</a:t>
            </a:r>
          </a:p>
          <a:p>
            <a:pPr marL="285750" indent="-285750">
              <a:buFont typeface="Arial" panose="020B0604020202020204" pitchFamily="34" charset="0"/>
              <a:buChar char="•"/>
            </a:pPr>
            <a:r>
              <a:rPr lang="en-US" sz="1600">
                <a:latin typeface="Arial"/>
                <a:cs typeface="Arial"/>
              </a:rPr>
              <a:t>Importing Swagger generated from RSA</a:t>
            </a:r>
          </a:p>
          <a:p>
            <a:pPr marL="285750" indent="-285750">
              <a:buFont typeface="Arial" panose="020B0604020202020204" pitchFamily="34" charset="0"/>
              <a:buChar char="•"/>
            </a:pPr>
            <a:r>
              <a:rPr lang="en-US" sz="1600">
                <a:latin typeface="Arial"/>
                <a:cs typeface="Arial"/>
              </a:rPr>
              <a:t>Importing vendor API specifications</a:t>
            </a:r>
          </a:p>
          <a:p>
            <a:pPr marL="285750" indent="-285750">
              <a:buFont typeface="Arial" panose="020B0604020202020204" pitchFamily="34" charset="0"/>
              <a:buChar char="•"/>
            </a:pPr>
            <a:r>
              <a:rPr lang="en-US" sz="1600">
                <a:latin typeface="Arial"/>
                <a:cs typeface="Arial"/>
              </a:rPr>
              <a:t>Creating new APIs using the API Connect user interface</a:t>
            </a:r>
          </a:p>
          <a:p>
            <a:pPr marL="285750" indent="-285750">
              <a:buFont typeface="Arial" panose="020B0604020202020204" pitchFamily="34" charset="0"/>
              <a:buChar char="•"/>
            </a:pPr>
            <a:r>
              <a:rPr lang="en-US" sz="1600">
                <a:latin typeface="Arial"/>
                <a:cs typeface="Arial"/>
              </a:rPr>
              <a:t>Moving APIs from Version 5 to Version 10</a:t>
            </a:r>
          </a:p>
          <a:p>
            <a:pPr marL="285750" indent="-285750">
              <a:buFont typeface="Arial" panose="020B0604020202020204" pitchFamily="34" charset="0"/>
              <a:buChar char="•"/>
            </a:pPr>
            <a:r>
              <a:rPr lang="en-US" sz="1600">
                <a:latin typeface="Arial"/>
                <a:cs typeface="Arial"/>
              </a:rPr>
              <a:t>Setting up Products</a:t>
            </a:r>
          </a:p>
          <a:p>
            <a:endParaRPr lang="en-US" sz="1600"/>
          </a:p>
          <a:p>
            <a:endParaRPr lang="en-US" sz="1600"/>
          </a:p>
          <a:p>
            <a:endParaRPr lang="en-US" sz="1600"/>
          </a:p>
        </p:txBody>
      </p:sp>
    </p:spTree>
    <p:extLst>
      <p:ext uri="{BB962C8B-B14F-4D97-AF65-F5344CB8AC3E}">
        <p14:creationId xmlns:p14="http://schemas.microsoft.com/office/powerpoint/2010/main" val="42888764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Setup</a:t>
            </a:r>
          </a:p>
        </p:txBody>
      </p:sp>
      <p:sp>
        <p:nvSpPr>
          <p:cNvPr id="3" name="Text Placeholder 2"/>
          <p:cNvSpPr>
            <a:spLocks noGrp="1"/>
          </p:cNvSpPr>
          <p:nvPr>
            <p:ph type="body" sz="quarter" idx="11"/>
          </p:nvPr>
        </p:nvSpPr>
        <p:spPr/>
        <p:txBody>
          <a:bodyPr/>
          <a:lstStyle/>
          <a:p>
            <a:pPr lvl="0"/>
            <a:r>
              <a:rPr lang="en-US" b="1" i="1"/>
              <a:t>Best Practices and Name Request location</a:t>
            </a:r>
          </a:p>
        </p:txBody>
      </p:sp>
      <p:sp>
        <p:nvSpPr>
          <p:cNvPr id="4" name="Text Placeholder 3"/>
          <p:cNvSpPr>
            <a:spLocks noGrp="1"/>
          </p:cNvSpPr>
          <p:nvPr>
            <p:ph type="body" sz="quarter" idx="12"/>
          </p:nvPr>
        </p:nvSpPr>
        <p:spPr/>
        <p:txBody>
          <a:bodyPr lIns="91440" tIns="45720" rIns="91440" bIns="45720" anchor="t"/>
          <a:lstStyle/>
          <a:p>
            <a:pPr lvl="0"/>
            <a:r>
              <a:rPr lang="en-US" sz="1600" b="1" i="1" u="sng">
                <a:latin typeface="Arial"/>
                <a:cs typeface="Arial"/>
              </a:rPr>
              <a:t>Naming guides and Best Practices</a:t>
            </a:r>
            <a:endParaRPr lang="en-US" sz="1600" b="1" i="1">
              <a:latin typeface="Arial"/>
              <a:cs typeface="Arial"/>
            </a:endParaRPr>
          </a:p>
          <a:p>
            <a:pPr lvl="0"/>
            <a:r>
              <a:rPr lang="en-US" sz="1600" u="sng">
                <a:latin typeface="Arial"/>
                <a:cs typeface="Arial"/>
                <a:hlinkClick r:id="rId2"/>
              </a:rPr>
              <a:t>API and Service Naming Tool Content</a:t>
            </a:r>
            <a:endParaRPr lang="en-US" sz="1600">
              <a:latin typeface="Arial"/>
              <a:cs typeface="Arial"/>
            </a:endParaRPr>
          </a:p>
          <a:p>
            <a:pPr lvl="0"/>
            <a:r>
              <a:rPr lang="en-US" sz="1600" u="sng">
                <a:latin typeface="Arial"/>
                <a:cs typeface="Arial"/>
                <a:hlinkClick r:id="rId3"/>
              </a:rPr>
              <a:t>Integration Best Practices Cheat Sheet</a:t>
            </a:r>
            <a:endParaRPr lang="en-US" sz="1600">
              <a:latin typeface="Arial"/>
              <a:cs typeface="Arial"/>
            </a:endParaRPr>
          </a:p>
          <a:p>
            <a:pPr lvl="0"/>
            <a:r>
              <a:rPr lang="en-US" sz="1600" b="1" i="1" u="sng">
                <a:latin typeface="Arial"/>
                <a:cs typeface="Arial"/>
              </a:rPr>
              <a:t>Request a New Service or API Name</a:t>
            </a:r>
            <a:endParaRPr lang="en-US" sz="1600" b="1" i="1">
              <a:latin typeface="Arial"/>
              <a:cs typeface="Arial"/>
            </a:endParaRPr>
          </a:p>
          <a:p>
            <a:r>
              <a:rPr lang="en-US" sz="1600">
                <a:latin typeface="Arial"/>
                <a:cs typeface="Arial"/>
              </a:rPr>
              <a:t>The </a:t>
            </a:r>
            <a:r>
              <a:rPr lang="en-US" sz="1600">
                <a:latin typeface="Arial"/>
                <a:cs typeface="Arial"/>
                <a:hlinkClick r:id="rId4"/>
              </a:rPr>
              <a:t>API/Service Name Requests</a:t>
            </a:r>
            <a:r>
              <a:rPr lang="en-US" sz="1600">
                <a:latin typeface="Arial"/>
                <a:cs typeface="Arial"/>
              </a:rPr>
              <a:t> list found on the EAA SharePoint site</a:t>
            </a:r>
          </a:p>
          <a:p>
            <a:r>
              <a:rPr lang="en-US" sz="1600">
                <a:latin typeface="Arial"/>
                <a:ea typeface="Open Sans"/>
                <a:cs typeface="Arial"/>
              </a:rPr>
              <a:t>A guide for submitting Name Requests is found </a:t>
            </a:r>
            <a:r>
              <a:rPr lang="en-US" sz="1600">
                <a:latin typeface="Arial"/>
                <a:ea typeface="Open Sans"/>
                <a:cs typeface="Arial"/>
                <a:hlinkClick r:id="rId5"/>
              </a:rPr>
              <a:t>here</a:t>
            </a:r>
            <a:endParaRPr lang="en-US" sz="1600">
              <a:latin typeface="Arial"/>
              <a:ea typeface="Open Sans"/>
              <a:cs typeface="Arial"/>
            </a:endParaRPr>
          </a:p>
          <a:p>
            <a:endParaRPr lang="en-US" sz="1600"/>
          </a:p>
          <a:p>
            <a:endParaRPr lang="en-US" sz="1400"/>
          </a:p>
          <a:p>
            <a:endParaRPr lang="en-US" sz="1400"/>
          </a:p>
          <a:p>
            <a:endParaRPr lang="en-US" sz="1400"/>
          </a:p>
          <a:p>
            <a:endParaRPr lang="en-US" sz="1400"/>
          </a:p>
          <a:p>
            <a:endParaRPr lang="en-US" sz="1600"/>
          </a:p>
          <a:p>
            <a:endParaRPr lang="en-US"/>
          </a:p>
          <a:p>
            <a:endParaRPr lang="en-US" sz="1600"/>
          </a:p>
          <a:p>
            <a:endParaRPr lang="en-US" sz="1600"/>
          </a:p>
          <a:p>
            <a:endParaRPr lang="en-US"/>
          </a:p>
        </p:txBody>
      </p:sp>
    </p:spTree>
    <p:extLst>
      <p:ext uri="{BB962C8B-B14F-4D97-AF65-F5344CB8AC3E}">
        <p14:creationId xmlns:p14="http://schemas.microsoft.com/office/powerpoint/2010/main" val="3716701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Setup</a:t>
            </a:r>
          </a:p>
        </p:txBody>
      </p:sp>
      <p:sp>
        <p:nvSpPr>
          <p:cNvPr id="3" name="Text Placeholder 2"/>
          <p:cNvSpPr>
            <a:spLocks noGrp="1"/>
          </p:cNvSpPr>
          <p:nvPr>
            <p:ph type="body" sz="quarter" idx="11"/>
          </p:nvPr>
        </p:nvSpPr>
        <p:spPr/>
        <p:txBody>
          <a:bodyPr/>
          <a:lstStyle/>
          <a:p>
            <a:pPr lvl="0"/>
            <a:r>
              <a:rPr lang="en-US" b="1" i="1"/>
              <a:t>Request access to Development Provider Organization and Portal</a:t>
            </a:r>
          </a:p>
        </p:txBody>
      </p:sp>
      <p:sp>
        <p:nvSpPr>
          <p:cNvPr id="4" name="Text Placeholder 3"/>
          <p:cNvSpPr>
            <a:spLocks noGrp="1"/>
          </p:cNvSpPr>
          <p:nvPr>
            <p:ph type="body" sz="quarter" idx="12"/>
          </p:nvPr>
        </p:nvSpPr>
        <p:spPr/>
        <p:txBody>
          <a:bodyPr lIns="91440" tIns="45720" rIns="91440" bIns="45720" anchor="t"/>
          <a:lstStyle/>
          <a:p>
            <a:r>
              <a:rPr lang="en-US" sz="1600">
                <a:latin typeface="Arial"/>
                <a:cs typeface="Arial"/>
              </a:rPr>
              <a:t>Request access to the APIC Connect Development Provider Organizations.</a:t>
            </a:r>
          </a:p>
          <a:p>
            <a:r>
              <a:rPr lang="en-US" sz="1600"/>
              <a:t>Download a copy of the </a:t>
            </a:r>
            <a:r>
              <a:rPr lang="en-US" sz="1600">
                <a:hlinkClick r:id="rId2"/>
              </a:rPr>
              <a:t>form</a:t>
            </a:r>
            <a:r>
              <a:rPr lang="en-US" sz="1600"/>
              <a:t> and fill out.</a:t>
            </a:r>
          </a:p>
          <a:p>
            <a:r>
              <a:rPr lang="en-US" sz="1600"/>
              <a:t>Submit the form as instructed.</a:t>
            </a:r>
          </a:p>
          <a:p>
            <a:endParaRPr lang="en-US" sz="1600"/>
          </a:p>
          <a:p>
            <a:endParaRPr lang="en-US" sz="1600"/>
          </a:p>
          <a:p>
            <a:endParaRPr lang="en-US" sz="1600"/>
          </a:p>
          <a:p>
            <a:endParaRPr lang="en-US" sz="1600"/>
          </a:p>
          <a:p>
            <a:endParaRPr lang="en-US" sz="1600"/>
          </a:p>
          <a:p>
            <a:endParaRPr lang="en-US" sz="1600"/>
          </a:p>
          <a:p>
            <a:endParaRPr lang="en-US" sz="1600"/>
          </a:p>
          <a:p>
            <a:endParaRPr lang="en-US" sz="1600"/>
          </a:p>
        </p:txBody>
      </p:sp>
    </p:spTree>
    <p:extLst>
      <p:ext uri="{BB962C8B-B14F-4D97-AF65-F5344CB8AC3E}">
        <p14:creationId xmlns:p14="http://schemas.microsoft.com/office/powerpoint/2010/main" val="21336710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Setup</a:t>
            </a:r>
          </a:p>
        </p:txBody>
      </p:sp>
      <p:sp>
        <p:nvSpPr>
          <p:cNvPr id="3" name="Text Placeholder 2"/>
          <p:cNvSpPr>
            <a:spLocks noGrp="1"/>
          </p:cNvSpPr>
          <p:nvPr>
            <p:ph type="body" sz="quarter" idx="11"/>
          </p:nvPr>
        </p:nvSpPr>
        <p:spPr/>
        <p:txBody>
          <a:bodyPr/>
          <a:lstStyle/>
          <a:p>
            <a:pPr lvl="0"/>
            <a:r>
              <a:rPr lang="en-US" b="1" i="1"/>
              <a:t>Request access to Development Provider Organization and Portal</a:t>
            </a:r>
          </a:p>
        </p:txBody>
      </p:sp>
      <p:sp>
        <p:nvSpPr>
          <p:cNvPr id="4" name="Text Placeholder 3"/>
          <p:cNvSpPr>
            <a:spLocks noGrp="1"/>
          </p:cNvSpPr>
          <p:nvPr>
            <p:ph type="body" sz="quarter" idx="12"/>
          </p:nvPr>
        </p:nvSpPr>
        <p:spPr/>
        <p:txBody>
          <a:bodyPr/>
          <a:lstStyle/>
          <a:p>
            <a:r>
              <a:rPr lang="en-US" sz="1400"/>
              <a:t>Download a copy to the local space</a:t>
            </a:r>
          </a:p>
          <a:p>
            <a:endParaRPr lang="en-US" sz="1400"/>
          </a:p>
          <a:p>
            <a:endParaRPr lang="en-US" sz="1400"/>
          </a:p>
          <a:p>
            <a:endParaRPr lang="en-US" sz="1400"/>
          </a:p>
          <a:p>
            <a:endParaRPr lang="en-US" sz="1400"/>
          </a:p>
          <a:p>
            <a:endParaRPr lang="en-US" sz="1400"/>
          </a:p>
          <a:p>
            <a:endParaRPr lang="en-US" sz="1600"/>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971FE1BE-7475-4E6F-964A-4C5C053D35BE}"/>
              </a:ext>
            </a:extLst>
          </p:cNvPr>
          <p:cNvPicPr>
            <a:picLocks noChangeAspect="1"/>
          </p:cNvPicPr>
          <p:nvPr/>
        </p:nvPicPr>
        <p:blipFill>
          <a:blip r:embed="rId2"/>
          <a:stretch>
            <a:fillRect/>
          </a:stretch>
        </p:blipFill>
        <p:spPr>
          <a:xfrm>
            <a:off x="216317" y="1762125"/>
            <a:ext cx="5743575" cy="3333750"/>
          </a:xfrm>
          <a:prstGeom prst="rect">
            <a:avLst/>
          </a:prstGeom>
        </p:spPr>
      </p:pic>
    </p:spTree>
    <p:extLst>
      <p:ext uri="{BB962C8B-B14F-4D97-AF65-F5344CB8AC3E}">
        <p14:creationId xmlns:p14="http://schemas.microsoft.com/office/powerpoint/2010/main" val="23224277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8DF9C80F-2679-4444-BBD7-910DD6209DF7}"/>
              </a:ext>
            </a:extLst>
          </p:cNvPr>
          <p:cNvPicPr>
            <a:picLocks noChangeAspect="1"/>
          </p:cNvPicPr>
          <p:nvPr/>
        </p:nvPicPr>
        <p:blipFill>
          <a:blip r:embed="rId2"/>
          <a:stretch>
            <a:fillRect/>
          </a:stretch>
        </p:blipFill>
        <p:spPr>
          <a:xfrm>
            <a:off x="138113" y="1676927"/>
            <a:ext cx="6460807" cy="4614862"/>
          </a:xfrm>
          <a:prstGeom prst="rect">
            <a:avLst/>
          </a:prstGeom>
        </p:spPr>
      </p:pic>
      <p:sp>
        <p:nvSpPr>
          <p:cNvPr id="2" name="Title 1"/>
          <p:cNvSpPr>
            <a:spLocks noGrp="1"/>
          </p:cNvSpPr>
          <p:nvPr>
            <p:ph type="title"/>
          </p:nvPr>
        </p:nvSpPr>
        <p:spPr/>
        <p:txBody>
          <a:bodyPr/>
          <a:lstStyle/>
          <a:p>
            <a:r>
              <a:rPr lang="en-US"/>
              <a:t>Setup</a:t>
            </a:r>
          </a:p>
        </p:txBody>
      </p:sp>
      <p:sp>
        <p:nvSpPr>
          <p:cNvPr id="3" name="Text Placeholder 2"/>
          <p:cNvSpPr>
            <a:spLocks noGrp="1"/>
          </p:cNvSpPr>
          <p:nvPr>
            <p:ph type="body" sz="quarter" idx="11"/>
          </p:nvPr>
        </p:nvSpPr>
        <p:spPr/>
        <p:txBody>
          <a:bodyPr/>
          <a:lstStyle/>
          <a:p>
            <a:pPr lvl="0"/>
            <a:r>
              <a:rPr lang="en-US" b="1" i="1"/>
              <a:t>Request access to Development Provider Organization and Portal</a:t>
            </a:r>
          </a:p>
        </p:txBody>
      </p:sp>
      <p:sp>
        <p:nvSpPr>
          <p:cNvPr id="4" name="Text Placeholder 3"/>
          <p:cNvSpPr>
            <a:spLocks noGrp="1"/>
          </p:cNvSpPr>
          <p:nvPr>
            <p:ph type="body" sz="quarter" idx="12"/>
          </p:nvPr>
        </p:nvSpPr>
        <p:spPr>
          <a:xfrm>
            <a:off x="6882063" y="1732343"/>
            <a:ext cx="4847974" cy="4453710"/>
          </a:xfrm>
        </p:spPr>
        <p:txBody>
          <a:bodyPr/>
          <a:lstStyle/>
          <a:p>
            <a:r>
              <a:rPr lang="en-US" sz="1400"/>
              <a:t>Download a copy to the local space</a:t>
            </a:r>
          </a:p>
          <a:p>
            <a:r>
              <a:rPr lang="en-US" sz="1400"/>
              <a:t>Fill out and send to </a:t>
            </a:r>
            <a:r>
              <a:rPr lang="en-US" sz="1400" err="1"/>
              <a:t>APICAccessRequest</a:t>
            </a:r>
            <a:r>
              <a:rPr lang="en-US" sz="1400"/>
              <a:t> email address.</a:t>
            </a:r>
          </a:p>
          <a:p>
            <a:endParaRPr lang="en-US" sz="1400"/>
          </a:p>
          <a:p>
            <a:r>
              <a:rPr lang="en-US" sz="1400"/>
              <a:t>Make sure to select both the Developer and the Portal Domain .</a:t>
            </a:r>
          </a:p>
          <a:p>
            <a:r>
              <a:rPr lang="en-US" sz="1400"/>
              <a:t>Make sure to add “-V10” at the end of each domain selected.</a:t>
            </a:r>
          </a:p>
          <a:p>
            <a:r>
              <a:rPr lang="en-US" sz="1400"/>
              <a:t>Consider requesting the Healthcare and HCB QA portal for research purposes. This only needs to be done one time. </a:t>
            </a:r>
          </a:p>
          <a:p>
            <a:endParaRPr lang="en-US" sz="1400"/>
          </a:p>
          <a:p>
            <a:endParaRPr lang="en-US" sz="1400"/>
          </a:p>
          <a:p>
            <a:endParaRPr lang="en-US" sz="1400"/>
          </a:p>
          <a:p>
            <a:endParaRPr lang="en-US" sz="1400"/>
          </a:p>
          <a:p>
            <a:endParaRPr lang="en-US" sz="1400"/>
          </a:p>
          <a:p>
            <a:endParaRPr lang="en-US" sz="1400"/>
          </a:p>
          <a:p>
            <a:endParaRPr lang="en-US" sz="1600"/>
          </a:p>
          <a:p>
            <a:endParaRPr lang="en-US"/>
          </a:p>
          <a:p>
            <a:endParaRPr lang="en-US" sz="1600"/>
          </a:p>
          <a:p>
            <a:endParaRPr lang="en-US" sz="1600"/>
          </a:p>
          <a:p>
            <a:endParaRPr lang="en-US"/>
          </a:p>
        </p:txBody>
      </p:sp>
      <p:cxnSp>
        <p:nvCxnSpPr>
          <p:cNvPr id="6" name="Straight Arrow Connector 5">
            <a:extLst>
              <a:ext uri="{FF2B5EF4-FFF2-40B4-BE49-F238E27FC236}">
                <a16:creationId xmlns:a16="http://schemas.microsoft.com/office/drawing/2014/main" id="{D4C8DCA3-056A-4048-9A27-09EFF6749AA5}"/>
              </a:ext>
            </a:extLst>
          </p:cNvPr>
          <p:cNvCxnSpPr>
            <a:cxnSpLocks/>
          </p:cNvCxnSpPr>
          <p:nvPr/>
        </p:nvCxnSpPr>
        <p:spPr>
          <a:xfrm flipH="1">
            <a:off x="2646947" y="3025958"/>
            <a:ext cx="4222307" cy="956495"/>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5E2381B-0327-468B-A79E-6FAE3DEE3A39}"/>
              </a:ext>
            </a:extLst>
          </p:cNvPr>
          <p:cNvCxnSpPr>
            <a:cxnSpLocks/>
          </p:cNvCxnSpPr>
          <p:nvPr/>
        </p:nvCxnSpPr>
        <p:spPr>
          <a:xfrm flipH="1">
            <a:off x="2646947" y="3207895"/>
            <a:ext cx="4235116" cy="1733717"/>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8AA00C2-3BE1-49B5-A3C6-64666F7D82D8}"/>
              </a:ext>
            </a:extLst>
          </p:cNvPr>
          <p:cNvCxnSpPr>
            <a:cxnSpLocks/>
          </p:cNvCxnSpPr>
          <p:nvPr/>
        </p:nvCxnSpPr>
        <p:spPr>
          <a:xfrm flipH="1">
            <a:off x="2719137" y="4194485"/>
            <a:ext cx="4150117" cy="1374035"/>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AD7D2AB-7B3F-400B-B0A6-92910C6E1D8A}"/>
              </a:ext>
            </a:extLst>
          </p:cNvPr>
          <p:cNvCxnSpPr>
            <a:cxnSpLocks/>
          </p:cNvCxnSpPr>
          <p:nvPr/>
        </p:nvCxnSpPr>
        <p:spPr>
          <a:xfrm flipH="1">
            <a:off x="4006517" y="4376135"/>
            <a:ext cx="2862737" cy="1192385"/>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5530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Setup</a:t>
            </a:r>
          </a:p>
        </p:txBody>
      </p:sp>
      <p:sp>
        <p:nvSpPr>
          <p:cNvPr id="3" name="Text Placeholder 2"/>
          <p:cNvSpPr>
            <a:spLocks noGrp="1"/>
          </p:cNvSpPr>
          <p:nvPr>
            <p:ph type="body" sz="quarter" idx="11"/>
          </p:nvPr>
        </p:nvSpPr>
        <p:spPr/>
        <p:txBody>
          <a:bodyPr/>
          <a:lstStyle/>
          <a:p>
            <a:pPr lvl="0"/>
            <a:r>
              <a:rPr lang="en-US" b="1" i="1"/>
              <a:t>How to access the Development Provider Organization</a:t>
            </a:r>
          </a:p>
        </p:txBody>
      </p:sp>
      <p:sp>
        <p:nvSpPr>
          <p:cNvPr id="4" name="Text Placeholder 3"/>
          <p:cNvSpPr>
            <a:spLocks noGrp="1"/>
          </p:cNvSpPr>
          <p:nvPr>
            <p:ph type="body" sz="quarter" idx="12"/>
          </p:nvPr>
        </p:nvSpPr>
        <p:spPr>
          <a:xfrm>
            <a:off x="6882063" y="1732343"/>
            <a:ext cx="4847974" cy="4453710"/>
          </a:xfrm>
        </p:spPr>
        <p:txBody>
          <a:bodyPr/>
          <a:lstStyle/>
          <a:p>
            <a:r>
              <a:rPr lang="en-US" sz="1400"/>
              <a:t>Accessing the V10 APIConnect Manager</a:t>
            </a:r>
          </a:p>
          <a:p>
            <a:r>
              <a:rPr lang="en-US" sz="1400">
                <a:hlinkClick r:id="rId2"/>
              </a:rPr>
              <a:t>https://dev-apim.apps.dev.cloudpak-aznp.cvshealth.com/manager/eatest/</a:t>
            </a:r>
            <a:endParaRPr lang="en-US" sz="1400"/>
          </a:p>
          <a:p>
            <a:r>
              <a:rPr lang="en-US" sz="1400"/>
              <a:t>Enter your Username and Password</a:t>
            </a:r>
          </a:p>
          <a:p>
            <a:r>
              <a:rPr lang="en-US" sz="1400"/>
              <a:t>Click Login (be patient)</a:t>
            </a:r>
          </a:p>
          <a:p>
            <a:endParaRPr lang="en-US" sz="1400"/>
          </a:p>
          <a:p>
            <a:endParaRPr lang="en-US" sz="1400"/>
          </a:p>
          <a:p>
            <a:endParaRPr lang="en-US" sz="1400"/>
          </a:p>
          <a:p>
            <a:endParaRPr lang="en-US" sz="1400"/>
          </a:p>
          <a:p>
            <a:endParaRPr lang="en-US" sz="1400"/>
          </a:p>
          <a:p>
            <a:endParaRPr lang="en-US" sz="1400"/>
          </a:p>
          <a:p>
            <a:endParaRPr lang="en-US" sz="1600"/>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E8165518-488C-4B6F-9424-3FDB311A0E14}"/>
              </a:ext>
            </a:extLst>
          </p:cNvPr>
          <p:cNvPicPr>
            <a:picLocks noChangeAspect="1"/>
          </p:cNvPicPr>
          <p:nvPr/>
        </p:nvPicPr>
        <p:blipFill>
          <a:blip r:embed="rId3"/>
          <a:stretch>
            <a:fillRect/>
          </a:stretch>
        </p:blipFill>
        <p:spPr>
          <a:xfrm>
            <a:off x="156661" y="1732344"/>
            <a:ext cx="6406664" cy="3597646"/>
          </a:xfrm>
          <a:prstGeom prst="rect">
            <a:avLst/>
          </a:prstGeom>
        </p:spPr>
      </p:pic>
    </p:spTree>
    <p:extLst>
      <p:ext uri="{BB962C8B-B14F-4D97-AF65-F5344CB8AC3E}">
        <p14:creationId xmlns:p14="http://schemas.microsoft.com/office/powerpoint/2010/main" val="13667870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Setup</a:t>
            </a:r>
          </a:p>
        </p:txBody>
      </p:sp>
      <p:sp>
        <p:nvSpPr>
          <p:cNvPr id="3" name="Text Placeholder 2"/>
          <p:cNvSpPr>
            <a:spLocks noGrp="1"/>
          </p:cNvSpPr>
          <p:nvPr>
            <p:ph type="body" sz="quarter" idx="11"/>
          </p:nvPr>
        </p:nvSpPr>
        <p:spPr/>
        <p:txBody>
          <a:bodyPr/>
          <a:lstStyle/>
          <a:p>
            <a:pPr lvl="0"/>
            <a:r>
              <a:rPr lang="en-US" b="1" i="1"/>
              <a:t>How to access the Development Provider Portal</a:t>
            </a:r>
          </a:p>
        </p:txBody>
      </p:sp>
      <p:sp>
        <p:nvSpPr>
          <p:cNvPr id="4" name="Text Placeholder 3"/>
          <p:cNvSpPr>
            <a:spLocks noGrp="1"/>
          </p:cNvSpPr>
          <p:nvPr>
            <p:ph type="body" sz="quarter" idx="12"/>
          </p:nvPr>
        </p:nvSpPr>
        <p:spPr>
          <a:xfrm>
            <a:off x="6882063" y="1732343"/>
            <a:ext cx="4847974" cy="4453710"/>
          </a:xfrm>
        </p:spPr>
        <p:txBody>
          <a:bodyPr/>
          <a:lstStyle/>
          <a:p>
            <a:r>
              <a:rPr lang="en-US" sz="1400"/>
              <a:t>After logging in</a:t>
            </a:r>
          </a:p>
          <a:p>
            <a:r>
              <a:rPr lang="en-US" sz="1400"/>
              <a:t>Click Manage</a:t>
            </a:r>
          </a:p>
          <a:p>
            <a:endParaRPr lang="en-US" sz="1400"/>
          </a:p>
          <a:p>
            <a:endParaRPr lang="en-US" sz="1400"/>
          </a:p>
          <a:p>
            <a:endParaRPr lang="en-US" sz="1400"/>
          </a:p>
          <a:p>
            <a:endParaRPr lang="en-US" sz="1400"/>
          </a:p>
          <a:p>
            <a:endParaRPr lang="en-US" sz="1400"/>
          </a:p>
          <a:p>
            <a:endParaRPr lang="en-US" sz="1400"/>
          </a:p>
          <a:p>
            <a:endParaRPr lang="en-US" sz="1600"/>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C0890355-961C-4FDE-9D28-225B34A59187}"/>
              </a:ext>
            </a:extLst>
          </p:cNvPr>
          <p:cNvPicPr>
            <a:picLocks noChangeAspect="1"/>
          </p:cNvPicPr>
          <p:nvPr/>
        </p:nvPicPr>
        <p:blipFill>
          <a:blip r:embed="rId2"/>
          <a:stretch>
            <a:fillRect/>
          </a:stretch>
        </p:blipFill>
        <p:spPr>
          <a:xfrm>
            <a:off x="187492" y="1732343"/>
            <a:ext cx="4838700" cy="4762500"/>
          </a:xfrm>
          <a:prstGeom prst="rect">
            <a:avLst/>
          </a:prstGeom>
        </p:spPr>
      </p:pic>
    </p:spTree>
    <p:extLst>
      <p:ext uri="{BB962C8B-B14F-4D97-AF65-F5344CB8AC3E}">
        <p14:creationId xmlns:p14="http://schemas.microsoft.com/office/powerpoint/2010/main" val="15580249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Setup</a:t>
            </a:r>
          </a:p>
        </p:txBody>
      </p:sp>
      <p:sp>
        <p:nvSpPr>
          <p:cNvPr id="3" name="Text Placeholder 2"/>
          <p:cNvSpPr>
            <a:spLocks noGrp="1"/>
          </p:cNvSpPr>
          <p:nvPr>
            <p:ph type="body" sz="quarter" idx="11"/>
          </p:nvPr>
        </p:nvSpPr>
        <p:spPr/>
        <p:txBody>
          <a:bodyPr/>
          <a:lstStyle/>
          <a:p>
            <a:pPr lvl="0"/>
            <a:r>
              <a:rPr lang="en-US" b="1" i="1"/>
              <a:t>How to access the Development Provider Portal</a:t>
            </a:r>
          </a:p>
        </p:txBody>
      </p:sp>
      <p:sp>
        <p:nvSpPr>
          <p:cNvPr id="4" name="Text Placeholder 3"/>
          <p:cNvSpPr>
            <a:spLocks noGrp="1"/>
          </p:cNvSpPr>
          <p:nvPr>
            <p:ph type="body" sz="quarter" idx="12"/>
          </p:nvPr>
        </p:nvSpPr>
        <p:spPr>
          <a:xfrm>
            <a:off x="6882063" y="1732343"/>
            <a:ext cx="4847974" cy="4453710"/>
          </a:xfrm>
        </p:spPr>
        <p:txBody>
          <a:bodyPr/>
          <a:lstStyle/>
          <a:p>
            <a:r>
              <a:rPr lang="en-US" sz="1400"/>
              <a:t>Point to and click Sandbox</a:t>
            </a:r>
          </a:p>
          <a:p>
            <a:endParaRPr lang="en-US" sz="1400"/>
          </a:p>
          <a:p>
            <a:endParaRPr lang="en-US" sz="1400"/>
          </a:p>
          <a:p>
            <a:endParaRPr lang="en-US" sz="1400"/>
          </a:p>
          <a:p>
            <a:endParaRPr lang="en-US" sz="1400"/>
          </a:p>
          <a:p>
            <a:endParaRPr lang="en-US" sz="1400"/>
          </a:p>
          <a:p>
            <a:endParaRPr lang="en-US" sz="1400"/>
          </a:p>
          <a:p>
            <a:endParaRPr lang="en-US" sz="1600"/>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D2F3E073-A281-4F3A-99F0-850A71C14A58}"/>
              </a:ext>
            </a:extLst>
          </p:cNvPr>
          <p:cNvPicPr>
            <a:picLocks noChangeAspect="1"/>
          </p:cNvPicPr>
          <p:nvPr/>
        </p:nvPicPr>
        <p:blipFill>
          <a:blip r:embed="rId2"/>
          <a:stretch>
            <a:fillRect/>
          </a:stretch>
        </p:blipFill>
        <p:spPr>
          <a:xfrm>
            <a:off x="266700" y="1732343"/>
            <a:ext cx="5829300" cy="3857625"/>
          </a:xfrm>
          <a:prstGeom prst="rect">
            <a:avLst/>
          </a:prstGeom>
        </p:spPr>
      </p:pic>
    </p:spTree>
    <p:extLst>
      <p:ext uri="{BB962C8B-B14F-4D97-AF65-F5344CB8AC3E}">
        <p14:creationId xmlns:p14="http://schemas.microsoft.com/office/powerpoint/2010/main" val="21066393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Setup</a:t>
            </a:r>
          </a:p>
        </p:txBody>
      </p:sp>
      <p:sp>
        <p:nvSpPr>
          <p:cNvPr id="3" name="Text Placeholder 2"/>
          <p:cNvSpPr>
            <a:spLocks noGrp="1"/>
          </p:cNvSpPr>
          <p:nvPr>
            <p:ph type="body" sz="quarter" idx="11"/>
          </p:nvPr>
        </p:nvSpPr>
        <p:spPr/>
        <p:txBody>
          <a:bodyPr/>
          <a:lstStyle/>
          <a:p>
            <a:pPr lvl="0"/>
            <a:r>
              <a:rPr lang="en-US" b="1" i="1"/>
              <a:t>How to access the Development Provider Portal</a:t>
            </a:r>
          </a:p>
        </p:txBody>
      </p:sp>
      <p:sp>
        <p:nvSpPr>
          <p:cNvPr id="4" name="Text Placeholder 3"/>
          <p:cNvSpPr>
            <a:spLocks noGrp="1"/>
          </p:cNvSpPr>
          <p:nvPr>
            <p:ph type="body" sz="quarter" idx="12"/>
          </p:nvPr>
        </p:nvSpPr>
        <p:spPr>
          <a:xfrm>
            <a:off x="6882063" y="1732343"/>
            <a:ext cx="4847974" cy="4453710"/>
          </a:xfrm>
        </p:spPr>
        <p:txBody>
          <a:bodyPr/>
          <a:lstStyle/>
          <a:p>
            <a:r>
              <a:rPr lang="en-US" sz="1400"/>
              <a:t>Accessing the V10 APIConnect Portal</a:t>
            </a:r>
          </a:p>
          <a:p>
            <a:r>
              <a:rPr lang="en-US" sz="1400"/>
              <a:t>Click Catalog setting and Portal</a:t>
            </a:r>
          </a:p>
          <a:p>
            <a:r>
              <a:rPr lang="en-US" sz="1400"/>
              <a:t>Copy the Portal URL</a:t>
            </a:r>
          </a:p>
          <a:p>
            <a:endParaRPr lang="en-US" sz="1400"/>
          </a:p>
          <a:p>
            <a:endParaRPr lang="en-US" sz="1400"/>
          </a:p>
          <a:p>
            <a:endParaRPr lang="en-US" sz="1400"/>
          </a:p>
          <a:p>
            <a:endParaRPr lang="en-US" sz="1400"/>
          </a:p>
          <a:p>
            <a:endParaRPr lang="en-US" sz="1400"/>
          </a:p>
          <a:p>
            <a:endParaRPr lang="en-US" sz="1400"/>
          </a:p>
          <a:p>
            <a:endParaRPr lang="en-US" sz="1600"/>
          </a:p>
          <a:p>
            <a:endParaRPr lang="en-US"/>
          </a:p>
          <a:p>
            <a:endParaRPr lang="en-US" sz="1600"/>
          </a:p>
          <a:p>
            <a:endParaRPr lang="en-US" sz="1600"/>
          </a:p>
          <a:p>
            <a:endParaRPr lang="en-US"/>
          </a:p>
        </p:txBody>
      </p:sp>
      <p:pic>
        <p:nvPicPr>
          <p:cNvPr id="8" name="Picture 7">
            <a:extLst>
              <a:ext uri="{FF2B5EF4-FFF2-40B4-BE49-F238E27FC236}">
                <a16:creationId xmlns:a16="http://schemas.microsoft.com/office/drawing/2014/main" id="{37F1D771-408E-4F7C-8CF9-42DADF5C2101}"/>
              </a:ext>
            </a:extLst>
          </p:cNvPr>
          <p:cNvPicPr>
            <a:picLocks noChangeAspect="1"/>
          </p:cNvPicPr>
          <p:nvPr/>
        </p:nvPicPr>
        <p:blipFill>
          <a:blip r:embed="rId2"/>
          <a:stretch>
            <a:fillRect/>
          </a:stretch>
        </p:blipFill>
        <p:spPr>
          <a:xfrm>
            <a:off x="215064" y="1732343"/>
            <a:ext cx="6457549" cy="3615596"/>
          </a:xfrm>
          <a:prstGeom prst="rect">
            <a:avLst/>
          </a:prstGeom>
        </p:spPr>
      </p:pic>
    </p:spTree>
    <p:extLst>
      <p:ext uri="{BB962C8B-B14F-4D97-AF65-F5344CB8AC3E}">
        <p14:creationId xmlns:p14="http://schemas.microsoft.com/office/powerpoint/2010/main" val="17231669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Setup</a:t>
            </a:r>
          </a:p>
        </p:txBody>
      </p:sp>
      <p:sp>
        <p:nvSpPr>
          <p:cNvPr id="3" name="Text Placeholder 2"/>
          <p:cNvSpPr>
            <a:spLocks noGrp="1"/>
          </p:cNvSpPr>
          <p:nvPr>
            <p:ph type="body" sz="quarter" idx="11"/>
          </p:nvPr>
        </p:nvSpPr>
        <p:spPr/>
        <p:txBody>
          <a:bodyPr/>
          <a:lstStyle/>
          <a:p>
            <a:pPr lvl="0"/>
            <a:r>
              <a:rPr lang="en-US" b="1" i="1"/>
              <a:t>How to access the Development Provider Portal</a:t>
            </a:r>
          </a:p>
        </p:txBody>
      </p:sp>
      <p:sp>
        <p:nvSpPr>
          <p:cNvPr id="4" name="Text Placeholder 3"/>
          <p:cNvSpPr>
            <a:spLocks noGrp="1"/>
          </p:cNvSpPr>
          <p:nvPr>
            <p:ph type="body" sz="quarter" idx="12"/>
          </p:nvPr>
        </p:nvSpPr>
        <p:spPr>
          <a:xfrm>
            <a:off x="6882063" y="1732343"/>
            <a:ext cx="4847974" cy="4453710"/>
          </a:xfrm>
        </p:spPr>
        <p:txBody>
          <a:bodyPr/>
          <a:lstStyle/>
          <a:p>
            <a:r>
              <a:rPr lang="en-US" sz="1400"/>
              <a:t>Open a new Browser tab and Paste the Portal URL into the address</a:t>
            </a:r>
          </a:p>
          <a:p>
            <a:r>
              <a:rPr lang="en-US" sz="1400"/>
              <a:t>Sign into your account</a:t>
            </a:r>
          </a:p>
          <a:p>
            <a:endParaRPr lang="en-US" sz="1400"/>
          </a:p>
          <a:p>
            <a:endParaRPr lang="en-US" sz="1400"/>
          </a:p>
          <a:p>
            <a:endParaRPr lang="en-US" sz="1400"/>
          </a:p>
          <a:p>
            <a:endParaRPr lang="en-US" sz="1400"/>
          </a:p>
          <a:p>
            <a:endParaRPr lang="en-US" sz="1400"/>
          </a:p>
          <a:p>
            <a:endParaRPr lang="en-US" sz="1400"/>
          </a:p>
          <a:p>
            <a:endParaRPr lang="en-US" sz="1600"/>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8C38AE94-5BE4-42A0-BF12-04EF2672D2C0}"/>
              </a:ext>
            </a:extLst>
          </p:cNvPr>
          <p:cNvPicPr>
            <a:picLocks noChangeAspect="1"/>
          </p:cNvPicPr>
          <p:nvPr/>
        </p:nvPicPr>
        <p:blipFill>
          <a:blip r:embed="rId2"/>
          <a:stretch>
            <a:fillRect/>
          </a:stretch>
        </p:blipFill>
        <p:spPr>
          <a:xfrm>
            <a:off x="221081" y="1732342"/>
            <a:ext cx="4158414" cy="4548983"/>
          </a:xfrm>
          <a:prstGeom prst="rect">
            <a:avLst/>
          </a:prstGeom>
        </p:spPr>
      </p:pic>
    </p:spTree>
    <p:extLst>
      <p:ext uri="{BB962C8B-B14F-4D97-AF65-F5344CB8AC3E}">
        <p14:creationId xmlns:p14="http://schemas.microsoft.com/office/powerpoint/2010/main" val="15199157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Setup</a:t>
            </a:r>
          </a:p>
        </p:txBody>
      </p:sp>
      <p:sp>
        <p:nvSpPr>
          <p:cNvPr id="3" name="Text Placeholder 2"/>
          <p:cNvSpPr>
            <a:spLocks noGrp="1"/>
          </p:cNvSpPr>
          <p:nvPr>
            <p:ph type="body" sz="quarter" idx="11"/>
          </p:nvPr>
        </p:nvSpPr>
        <p:spPr/>
        <p:txBody>
          <a:bodyPr/>
          <a:lstStyle/>
          <a:p>
            <a:pPr lvl="0"/>
            <a:r>
              <a:rPr lang="en-US" b="1" i="1"/>
              <a:t>How to access the Development Provider Portal</a:t>
            </a:r>
          </a:p>
        </p:txBody>
      </p:sp>
      <p:sp>
        <p:nvSpPr>
          <p:cNvPr id="4" name="Text Placeholder 3"/>
          <p:cNvSpPr>
            <a:spLocks noGrp="1"/>
          </p:cNvSpPr>
          <p:nvPr>
            <p:ph type="body" sz="quarter" idx="12"/>
          </p:nvPr>
        </p:nvSpPr>
        <p:spPr>
          <a:xfrm>
            <a:off x="6882063" y="1732343"/>
            <a:ext cx="4847974" cy="4453710"/>
          </a:xfrm>
        </p:spPr>
        <p:txBody>
          <a:bodyPr/>
          <a:lstStyle/>
          <a:p>
            <a:r>
              <a:rPr lang="en-US" sz="1400"/>
              <a:t>Enter </a:t>
            </a:r>
            <a:r>
              <a:rPr lang="en-US" sz="1400" err="1"/>
              <a:t>UserName</a:t>
            </a:r>
            <a:r>
              <a:rPr lang="en-US" sz="1400"/>
              <a:t> and Password</a:t>
            </a:r>
          </a:p>
          <a:p>
            <a:endParaRPr lang="en-US" sz="1400"/>
          </a:p>
          <a:p>
            <a:endParaRPr lang="en-US" sz="1400"/>
          </a:p>
          <a:p>
            <a:endParaRPr lang="en-US" sz="1400"/>
          </a:p>
          <a:p>
            <a:endParaRPr lang="en-US" sz="1400"/>
          </a:p>
          <a:p>
            <a:endParaRPr lang="en-US" sz="1400"/>
          </a:p>
          <a:p>
            <a:endParaRPr lang="en-US" sz="1400"/>
          </a:p>
          <a:p>
            <a:endParaRPr lang="en-US" sz="1600"/>
          </a:p>
          <a:p>
            <a:endParaRPr lang="en-US"/>
          </a:p>
          <a:p>
            <a:endParaRPr lang="en-US" sz="1600"/>
          </a:p>
          <a:p>
            <a:endParaRPr lang="en-US" sz="1600"/>
          </a:p>
          <a:p>
            <a:endParaRPr lang="en-US"/>
          </a:p>
        </p:txBody>
      </p:sp>
      <p:pic>
        <p:nvPicPr>
          <p:cNvPr id="8" name="Picture 7">
            <a:extLst>
              <a:ext uri="{FF2B5EF4-FFF2-40B4-BE49-F238E27FC236}">
                <a16:creationId xmlns:a16="http://schemas.microsoft.com/office/drawing/2014/main" id="{9DC7D79E-A0D1-4F78-B0E8-471AFC8BA0AA}"/>
              </a:ext>
            </a:extLst>
          </p:cNvPr>
          <p:cNvPicPr>
            <a:picLocks noChangeAspect="1"/>
          </p:cNvPicPr>
          <p:nvPr/>
        </p:nvPicPr>
        <p:blipFill>
          <a:blip r:embed="rId2"/>
          <a:stretch>
            <a:fillRect/>
          </a:stretch>
        </p:blipFill>
        <p:spPr>
          <a:xfrm>
            <a:off x="105276" y="1673198"/>
            <a:ext cx="6457525" cy="3933518"/>
          </a:xfrm>
          <a:prstGeom prst="rect">
            <a:avLst/>
          </a:prstGeom>
        </p:spPr>
      </p:pic>
    </p:spTree>
    <p:extLst>
      <p:ext uri="{BB962C8B-B14F-4D97-AF65-F5344CB8AC3E}">
        <p14:creationId xmlns:p14="http://schemas.microsoft.com/office/powerpoint/2010/main" val="5860765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Setup</a:t>
            </a:r>
          </a:p>
        </p:txBody>
      </p:sp>
      <p:sp>
        <p:nvSpPr>
          <p:cNvPr id="3" name="Text Placeholder 2"/>
          <p:cNvSpPr>
            <a:spLocks noGrp="1"/>
          </p:cNvSpPr>
          <p:nvPr>
            <p:ph type="body" sz="quarter" idx="11"/>
          </p:nvPr>
        </p:nvSpPr>
        <p:spPr/>
        <p:txBody>
          <a:bodyPr/>
          <a:lstStyle/>
          <a:p>
            <a:pPr lvl="0"/>
            <a:r>
              <a:rPr lang="en-US" b="1" i="1"/>
              <a:t>How to access the Development Provider Portal</a:t>
            </a:r>
          </a:p>
        </p:txBody>
      </p:sp>
      <p:sp>
        <p:nvSpPr>
          <p:cNvPr id="4" name="Text Placeholder 3"/>
          <p:cNvSpPr>
            <a:spLocks noGrp="1"/>
          </p:cNvSpPr>
          <p:nvPr>
            <p:ph type="body" sz="quarter" idx="12"/>
          </p:nvPr>
        </p:nvSpPr>
        <p:spPr>
          <a:xfrm>
            <a:off x="6882063" y="1732343"/>
            <a:ext cx="4847974" cy="4453710"/>
          </a:xfrm>
        </p:spPr>
        <p:txBody>
          <a:bodyPr/>
          <a:lstStyle/>
          <a:p>
            <a:r>
              <a:rPr lang="en-US" sz="1400"/>
              <a:t>Explore the APIS and Products.  (Need a new screen shot)</a:t>
            </a:r>
          </a:p>
          <a:p>
            <a:endParaRPr lang="en-US" sz="1400"/>
          </a:p>
          <a:p>
            <a:endParaRPr lang="en-US" sz="1400"/>
          </a:p>
          <a:p>
            <a:endParaRPr lang="en-US" sz="1400"/>
          </a:p>
          <a:p>
            <a:endParaRPr lang="en-US" sz="1400"/>
          </a:p>
          <a:p>
            <a:endParaRPr lang="en-US" sz="1400"/>
          </a:p>
          <a:p>
            <a:endParaRPr lang="en-US" sz="1400"/>
          </a:p>
          <a:p>
            <a:endParaRPr lang="en-US" sz="1600"/>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C4C26AB4-4F70-4700-ABC0-34438E92AD5B}"/>
              </a:ext>
            </a:extLst>
          </p:cNvPr>
          <p:cNvPicPr>
            <a:picLocks noChangeAspect="1"/>
          </p:cNvPicPr>
          <p:nvPr/>
        </p:nvPicPr>
        <p:blipFill>
          <a:blip r:embed="rId2"/>
          <a:stretch>
            <a:fillRect/>
          </a:stretch>
        </p:blipFill>
        <p:spPr>
          <a:xfrm>
            <a:off x="326666" y="1937266"/>
            <a:ext cx="4983272" cy="4043863"/>
          </a:xfrm>
          <a:prstGeom prst="rect">
            <a:avLst/>
          </a:prstGeom>
        </p:spPr>
      </p:pic>
    </p:spTree>
    <p:extLst>
      <p:ext uri="{BB962C8B-B14F-4D97-AF65-F5344CB8AC3E}">
        <p14:creationId xmlns:p14="http://schemas.microsoft.com/office/powerpoint/2010/main" val="4686095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Importing Swagger 2.0 as a proxy</a:t>
            </a:r>
          </a:p>
        </p:txBody>
      </p:sp>
      <p:sp>
        <p:nvSpPr>
          <p:cNvPr id="3" name="Text Placeholder 2"/>
          <p:cNvSpPr>
            <a:spLocks noGrp="1"/>
          </p:cNvSpPr>
          <p:nvPr>
            <p:ph type="body" sz="quarter" idx="11"/>
          </p:nvPr>
        </p:nvSpPr>
        <p:spPr/>
        <p:txBody>
          <a:bodyPr/>
          <a:lstStyle/>
          <a:p>
            <a:pPr lvl="0"/>
            <a:r>
              <a:rPr lang="en-US" b="1" i="1"/>
              <a:t>Introduction</a:t>
            </a:r>
          </a:p>
        </p:txBody>
      </p:sp>
      <p:sp>
        <p:nvSpPr>
          <p:cNvPr id="4" name="Text Placeholder 3"/>
          <p:cNvSpPr>
            <a:spLocks noGrp="1"/>
          </p:cNvSpPr>
          <p:nvPr>
            <p:ph type="body" sz="quarter" idx="12"/>
          </p:nvPr>
        </p:nvSpPr>
        <p:spPr/>
        <p:txBody>
          <a:bodyPr/>
          <a:lstStyle/>
          <a:p>
            <a:r>
              <a:rPr lang="en-US" sz="1600"/>
              <a:t>This section describes how to import a Swagger YAML or JSON file into API Connect v10.  It assumes a validated YAML or JSON file and API Connect v10 is active and the correct Development Provider Organization is selected.  </a:t>
            </a:r>
          </a:p>
          <a:p>
            <a:r>
              <a:rPr lang="en-US" sz="1600"/>
              <a:t>Return to the API Manager tab to perform this action.</a:t>
            </a:r>
          </a:p>
          <a:p>
            <a:r>
              <a:rPr lang="en-US" sz="1600">
                <a:latin typeface="Arial"/>
                <a:cs typeface="Arial"/>
              </a:rPr>
              <a:t>Swagger 2.0 specifications can be found </a:t>
            </a:r>
            <a:r>
              <a:rPr lang="en-US" sz="1600">
                <a:latin typeface="Arial"/>
                <a:cs typeface="Arial"/>
                <a:hlinkClick r:id="rId2"/>
              </a:rPr>
              <a:t>here</a:t>
            </a:r>
            <a:r>
              <a:rPr lang="en-US" sz="1600">
                <a:latin typeface="Arial"/>
                <a:cs typeface="Arial"/>
              </a:rPr>
              <a:t>.</a:t>
            </a:r>
            <a:endParaRPr lang="en-US" sz="1600"/>
          </a:p>
          <a:p>
            <a:endParaRPr lang="en-US" sz="1600"/>
          </a:p>
          <a:p>
            <a:endParaRPr lang="en-US" sz="1400"/>
          </a:p>
          <a:p>
            <a:endParaRPr lang="en-US" sz="1400"/>
          </a:p>
          <a:p>
            <a:endParaRPr lang="en-US" sz="1400"/>
          </a:p>
          <a:p>
            <a:endParaRPr lang="en-US" sz="1400"/>
          </a:p>
          <a:p>
            <a:endParaRPr lang="en-US" sz="1600"/>
          </a:p>
          <a:p>
            <a:endParaRPr lang="en-US"/>
          </a:p>
          <a:p>
            <a:endParaRPr lang="en-US" sz="1600"/>
          </a:p>
          <a:p>
            <a:endParaRPr lang="en-US" sz="1600"/>
          </a:p>
          <a:p>
            <a:endParaRPr lang="en-US"/>
          </a:p>
        </p:txBody>
      </p:sp>
    </p:spTree>
    <p:extLst>
      <p:ext uri="{BB962C8B-B14F-4D97-AF65-F5344CB8AC3E}">
        <p14:creationId xmlns:p14="http://schemas.microsoft.com/office/powerpoint/2010/main" val="26670983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7B2AE14-8733-42D7-9D0F-2FB7D83ABA55}"/>
              </a:ext>
            </a:extLst>
          </p:cNvPr>
          <p:cNvPicPr>
            <a:picLocks noChangeAspect="1"/>
          </p:cNvPicPr>
          <p:nvPr/>
        </p:nvPicPr>
        <p:blipFill>
          <a:blip r:embed="rId2"/>
          <a:stretch>
            <a:fillRect/>
          </a:stretch>
        </p:blipFill>
        <p:spPr>
          <a:xfrm>
            <a:off x="124214" y="2596253"/>
            <a:ext cx="6419850" cy="1771650"/>
          </a:xfrm>
          <a:prstGeom prst="rect">
            <a:avLst/>
          </a:prstGeom>
        </p:spPr>
      </p:pic>
      <p:sp>
        <p:nvSpPr>
          <p:cNvPr id="2" name="Title 1"/>
          <p:cNvSpPr>
            <a:spLocks noGrp="1"/>
          </p:cNvSpPr>
          <p:nvPr>
            <p:ph type="title"/>
          </p:nvPr>
        </p:nvSpPr>
        <p:spPr/>
        <p:txBody>
          <a:bodyPr/>
          <a:lstStyle/>
          <a:p>
            <a:r>
              <a:rPr lang="en-US"/>
              <a:t>Importing Swagger 2.0 as a proxy</a:t>
            </a:r>
          </a:p>
        </p:txBody>
      </p:sp>
      <p:sp>
        <p:nvSpPr>
          <p:cNvPr id="3" name="Text Placeholder 2"/>
          <p:cNvSpPr>
            <a:spLocks noGrp="1"/>
          </p:cNvSpPr>
          <p:nvPr>
            <p:ph type="body" sz="quarter" idx="11"/>
          </p:nvPr>
        </p:nvSpPr>
        <p:spPr/>
        <p:txBody>
          <a:bodyPr/>
          <a:lstStyle/>
          <a:p>
            <a:r>
              <a:rPr lang="en-US"/>
              <a:t>Add</a:t>
            </a:r>
          </a:p>
        </p:txBody>
      </p:sp>
      <p:sp>
        <p:nvSpPr>
          <p:cNvPr id="4" name="Text Placeholder 3"/>
          <p:cNvSpPr>
            <a:spLocks noGrp="1"/>
          </p:cNvSpPr>
          <p:nvPr>
            <p:ph type="body" sz="quarter" idx="12"/>
          </p:nvPr>
        </p:nvSpPr>
        <p:spPr/>
        <p:txBody>
          <a:bodyPr anchor="t"/>
          <a:lstStyle/>
          <a:p>
            <a:r>
              <a:rPr lang="en-US" sz="1600">
                <a:latin typeface="Arial"/>
                <a:cs typeface="Arial"/>
              </a:rPr>
              <a:t>Click Develop icon</a:t>
            </a:r>
          </a:p>
          <a:p>
            <a:endParaRPr lang="en-US" sz="1600">
              <a:latin typeface="Arial"/>
              <a:cs typeface="Arial"/>
            </a:endParaRPr>
          </a:p>
          <a:p>
            <a:r>
              <a:rPr lang="en-US" sz="1600">
                <a:latin typeface="Arial"/>
                <a:cs typeface="Arial"/>
              </a:rPr>
              <a:t>Click the API tab </a:t>
            </a:r>
          </a:p>
          <a:p>
            <a:endParaRPr lang="en-US" sz="1600">
              <a:latin typeface="Arial"/>
              <a:cs typeface="Arial"/>
            </a:endParaRPr>
          </a:p>
          <a:p>
            <a:r>
              <a:rPr lang="en-US" sz="1600">
                <a:latin typeface="Arial"/>
                <a:cs typeface="Arial"/>
              </a:rPr>
              <a:t>Click the Add button</a:t>
            </a:r>
          </a:p>
          <a:p>
            <a:endParaRPr lang="en-US" sz="1600">
              <a:latin typeface="Arial"/>
              <a:cs typeface="Arial"/>
            </a:endParaRPr>
          </a:p>
          <a:p>
            <a:r>
              <a:rPr lang="en-US" sz="1600">
                <a:latin typeface="Arial"/>
                <a:cs typeface="Arial"/>
              </a:rPr>
              <a:t>Click API (from REST, </a:t>
            </a:r>
            <a:r>
              <a:rPr lang="en-US" sz="1600" err="1">
                <a:latin typeface="Arial"/>
                <a:cs typeface="Arial"/>
              </a:rPr>
              <a:t>GraphQL</a:t>
            </a:r>
            <a:r>
              <a:rPr lang="en-US" sz="1600">
                <a:latin typeface="Arial"/>
                <a:cs typeface="Arial"/>
              </a:rPr>
              <a:t> or SOAP)</a:t>
            </a:r>
            <a:endParaRPr lang="en-US" sz="1600"/>
          </a:p>
          <a:p>
            <a:endParaRPr lang="en-US" sz="1600"/>
          </a:p>
          <a:p>
            <a:endParaRPr lang="en-US" sz="1600"/>
          </a:p>
          <a:p>
            <a:endParaRPr lang="en-US" sz="1600"/>
          </a:p>
          <a:p>
            <a:endParaRPr lang="en-US" sz="1600"/>
          </a:p>
          <a:p>
            <a:endParaRPr lang="en-US"/>
          </a:p>
          <a:p>
            <a:endParaRPr lang="en-US" sz="1600"/>
          </a:p>
          <a:p>
            <a:endParaRPr lang="en-US" sz="1600"/>
          </a:p>
          <a:p>
            <a:endParaRPr lang="en-US"/>
          </a:p>
        </p:txBody>
      </p:sp>
      <p:cxnSp>
        <p:nvCxnSpPr>
          <p:cNvPr id="8" name="Straight Arrow Connector 7">
            <a:extLst>
              <a:ext uri="{FF2B5EF4-FFF2-40B4-BE49-F238E27FC236}">
                <a16:creationId xmlns:a16="http://schemas.microsoft.com/office/drawing/2014/main" id="{B669D44A-CC68-42F4-897B-44D01EEE106A}"/>
              </a:ext>
            </a:extLst>
          </p:cNvPr>
          <p:cNvCxnSpPr>
            <a:cxnSpLocks/>
          </p:cNvCxnSpPr>
          <p:nvPr/>
        </p:nvCxnSpPr>
        <p:spPr>
          <a:xfrm flipH="1">
            <a:off x="354563" y="2174789"/>
            <a:ext cx="6301612" cy="1397896"/>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5A5B69D-AFD6-4349-A151-E817DB31391B}"/>
              </a:ext>
            </a:extLst>
          </p:cNvPr>
          <p:cNvCxnSpPr>
            <a:cxnSpLocks/>
          </p:cNvCxnSpPr>
          <p:nvPr/>
        </p:nvCxnSpPr>
        <p:spPr>
          <a:xfrm flipH="1">
            <a:off x="1017037" y="2992202"/>
            <a:ext cx="5639138" cy="673550"/>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F6C54DA-B7BB-4FFE-A8AF-C64EF4F922DC}"/>
              </a:ext>
            </a:extLst>
          </p:cNvPr>
          <p:cNvCxnSpPr>
            <a:cxnSpLocks/>
          </p:cNvCxnSpPr>
          <p:nvPr/>
        </p:nvCxnSpPr>
        <p:spPr>
          <a:xfrm flipH="1" flipV="1">
            <a:off x="6096000" y="3395407"/>
            <a:ext cx="560173" cy="354557"/>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2220F3F-BDFD-4107-AAE8-27FDF673E3EC}"/>
              </a:ext>
            </a:extLst>
          </p:cNvPr>
          <p:cNvCxnSpPr>
            <a:cxnSpLocks/>
          </p:cNvCxnSpPr>
          <p:nvPr/>
        </p:nvCxnSpPr>
        <p:spPr>
          <a:xfrm flipH="1" flipV="1">
            <a:off x="5772727" y="3677312"/>
            <a:ext cx="883446" cy="839270"/>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71232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Importing Swagger 2.0 as a proxy</a:t>
            </a:r>
          </a:p>
        </p:txBody>
      </p:sp>
      <p:sp>
        <p:nvSpPr>
          <p:cNvPr id="3" name="Text Placeholder 2"/>
          <p:cNvSpPr>
            <a:spLocks noGrp="1"/>
          </p:cNvSpPr>
          <p:nvPr>
            <p:ph type="body" sz="quarter" idx="11"/>
          </p:nvPr>
        </p:nvSpPr>
        <p:spPr/>
        <p:txBody>
          <a:bodyPr/>
          <a:lstStyle/>
          <a:p>
            <a:r>
              <a:rPr lang="en-US"/>
              <a:t>Select the API to import</a:t>
            </a:r>
          </a:p>
        </p:txBody>
      </p:sp>
      <p:sp>
        <p:nvSpPr>
          <p:cNvPr id="4" name="Text Placeholder 3"/>
          <p:cNvSpPr>
            <a:spLocks noGrp="1"/>
          </p:cNvSpPr>
          <p:nvPr>
            <p:ph type="body" sz="quarter" idx="12"/>
          </p:nvPr>
        </p:nvSpPr>
        <p:spPr/>
        <p:txBody>
          <a:bodyPr/>
          <a:lstStyle/>
          <a:p>
            <a:endParaRPr lang="en-US"/>
          </a:p>
          <a:p>
            <a:r>
              <a:rPr lang="en-US" sz="1600"/>
              <a:t>Select </a:t>
            </a:r>
            <a:r>
              <a:rPr lang="en-US" sz="1600" err="1"/>
              <a:t>OpenAPI</a:t>
            </a:r>
            <a:r>
              <a:rPr lang="en-US" sz="1600"/>
              <a:t> 2.0</a:t>
            </a:r>
          </a:p>
          <a:p>
            <a:endParaRPr lang="en-US" sz="1600"/>
          </a:p>
          <a:p>
            <a:r>
              <a:rPr lang="en-US" sz="1600"/>
              <a:t>Under “Import”</a:t>
            </a:r>
          </a:p>
          <a:p>
            <a:endParaRPr lang="en-US" sz="1600"/>
          </a:p>
          <a:p>
            <a:r>
              <a:rPr lang="en-US" sz="1600"/>
              <a:t>Click on Existing Open API</a:t>
            </a:r>
          </a:p>
          <a:p>
            <a:endParaRPr lang="en-US" sz="1600"/>
          </a:p>
          <a:p>
            <a:r>
              <a:rPr lang="en-US" sz="1600"/>
              <a:t>Select Next</a:t>
            </a:r>
          </a:p>
          <a:p>
            <a:endParaRPr lang="en-US" sz="1600"/>
          </a:p>
          <a:p>
            <a:endParaRPr lang="en-US"/>
          </a:p>
        </p:txBody>
      </p:sp>
      <p:pic>
        <p:nvPicPr>
          <p:cNvPr id="7" name="Picture 6">
            <a:extLst>
              <a:ext uri="{FF2B5EF4-FFF2-40B4-BE49-F238E27FC236}">
                <a16:creationId xmlns:a16="http://schemas.microsoft.com/office/drawing/2014/main" id="{C7461D76-95F5-4328-9603-A1C655BA89C8}"/>
              </a:ext>
            </a:extLst>
          </p:cNvPr>
          <p:cNvPicPr>
            <a:picLocks noChangeAspect="1"/>
          </p:cNvPicPr>
          <p:nvPr/>
        </p:nvPicPr>
        <p:blipFill>
          <a:blip r:embed="rId2"/>
          <a:stretch>
            <a:fillRect/>
          </a:stretch>
        </p:blipFill>
        <p:spPr>
          <a:xfrm>
            <a:off x="197427" y="1724275"/>
            <a:ext cx="3238500" cy="2085975"/>
          </a:xfrm>
          <a:prstGeom prst="rect">
            <a:avLst/>
          </a:prstGeom>
        </p:spPr>
      </p:pic>
      <p:pic>
        <p:nvPicPr>
          <p:cNvPr id="10" name="Picture 9">
            <a:extLst>
              <a:ext uri="{FF2B5EF4-FFF2-40B4-BE49-F238E27FC236}">
                <a16:creationId xmlns:a16="http://schemas.microsoft.com/office/drawing/2014/main" id="{0CB51E8C-3080-4007-B743-E516A25669B5}"/>
              </a:ext>
            </a:extLst>
          </p:cNvPr>
          <p:cNvPicPr>
            <a:picLocks noChangeAspect="1"/>
          </p:cNvPicPr>
          <p:nvPr/>
        </p:nvPicPr>
        <p:blipFill>
          <a:blip r:embed="rId3"/>
          <a:stretch>
            <a:fillRect/>
          </a:stretch>
        </p:blipFill>
        <p:spPr>
          <a:xfrm>
            <a:off x="197427" y="3978552"/>
            <a:ext cx="3238500" cy="2291271"/>
          </a:xfrm>
          <a:prstGeom prst="rect">
            <a:avLst/>
          </a:prstGeom>
        </p:spPr>
      </p:pic>
    </p:spTree>
    <p:extLst>
      <p:ext uri="{BB962C8B-B14F-4D97-AF65-F5344CB8AC3E}">
        <p14:creationId xmlns:p14="http://schemas.microsoft.com/office/powerpoint/2010/main" val="40401465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Importing Swagger 2.0 as a proxy</a:t>
            </a:r>
          </a:p>
        </p:txBody>
      </p:sp>
      <p:sp>
        <p:nvSpPr>
          <p:cNvPr id="3" name="Text Placeholder 2"/>
          <p:cNvSpPr>
            <a:spLocks noGrp="1"/>
          </p:cNvSpPr>
          <p:nvPr>
            <p:ph type="body" sz="quarter" idx="11"/>
          </p:nvPr>
        </p:nvSpPr>
        <p:spPr/>
        <p:txBody>
          <a:bodyPr/>
          <a:lstStyle/>
          <a:p>
            <a:r>
              <a:rPr lang="en-US"/>
              <a:t>Select file to import</a:t>
            </a:r>
          </a:p>
        </p:txBody>
      </p:sp>
      <p:sp>
        <p:nvSpPr>
          <p:cNvPr id="4" name="Text Placeholder 3"/>
          <p:cNvSpPr>
            <a:spLocks noGrp="1"/>
          </p:cNvSpPr>
          <p:nvPr>
            <p:ph type="body" sz="quarter" idx="12"/>
          </p:nvPr>
        </p:nvSpPr>
        <p:spPr/>
        <p:txBody>
          <a:bodyPr/>
          <a:lstStyle/>
          <a:p>
            <a:r>
              <a:rPr lang="en-US" sz="1600"/>
              <a:t>Drag and drop or click the screen to select the file to import</a:t>
            </a:r>
          </a:p>
          <a:p>
            <a:r>
              <a:rPr lang="en-US" sz="1600"/>
              <a:t>Select the file to import</a:t>
            </a:r>
          </a:p>
          <a:p>
            <a:r>
              <a:rPr lang="en-US" sz="1600">
                <a:latin typeface="Arial"/>
                <a:cs typeface="Arial"/>
              </a:rPr>
              <a:t>File has been imported and successfully validated</a:t>
            </a:r>
          </a:p>
          <a:p>
            <a:r>
              <a:rPr lang="en-US" sz="1600">
                <a:latin typeface="Arial"/>
                <a:cs typeface="Arial"/>
              </a:rPr>
              <a:t>Click Next</a:t>
            </a:r>
          </a:p>
          <a:p>
            <a:endParaRPr lang="en-US" sz="1600"/>
          </a:p>
          <a:p>
            <a:endParaRPr lang="en-US"/>
          </a:p>
          <a:p>
            <a:endParaRPr lang="en-US" sz="1600"/>
          </a:p>
          <a:p>
            <a:endParaRPr lang="en-US" sz="1600"/>
          </a:p>
          <a:p>
            <a:endParaRPr lang="en-US"/>
          </a:p>
        </p:txBody>
      </p:sp>
      <p:pic>
        <p:nvPicPr>
          <p:cNvPr id="7" name="Picture 6">
            <a:extLst>
              <a:ext uri="{FF2B5EF4-FFF2-40B4-BE49-F238E27FC236}">
                <a16:creationId xmlns:a16="http://schemas.microsoft.com/office/drawing/2014/main" id="{02F507D3-34A8-485C-A49D-65A8F1ECBED5}"/>
              </a:ext>
            </a:extLst>
          </p:cNvPr>
          <p:cNvPicPr>
            <a:picLocks noChangeAspect="1"/>
          </p:cNvPicPr>
          <p:nvPr/>
        </p:nvPicPr>
        <p:blipFill>
          <a:blip r:embed="rId2"/>
          <a:stretch>
            <a:fillRect/>
          </a:stretch>
        </p:blipFill>
        <p:spPr>
          <a:xfrm>
            <a:off x="85726" y="1718140"/>
            <a:ext cx="4136417" cy="1901047"/>
          </a:xfrm>
          <a:prstGeom prst="rect">
            <a:avLst/>
          </a:prstGeom>
        </p:spPr>
      </p:pic>
      <p:cxnSp>
        <p:nvCxnSpPr>
          <p:cNvPr id="9" name="Straight Arrow Connector 8">
            <a:extLst>
              <a:ext uri="{FF2B5EF4-FFF2-40B4-BE49-F238E27FC236}">
                <a16:creationId xmlns:a16="http://schemas.microsoft.com/office/drawing/2014/main" id="{63B9AA51-7DBC-4F9C-A6CD-A2F50A45A380}"/>
              </a:ext>
            </a:extLst>
          </p:cNvPr>
          <p:cNvCxnSpPr>
            <a:cxnSpLocks/>
          </p:cNvCxnSpPr>
          <p:nvPr/>
        </p:nvCxnSpPr>
        <p:spPr>
          <a:xfrm flipH="1">
            <a:off x="1566407" y="2309588"/>
            <a:ext cx="5053791" cy="481320"/>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BB60545E-306C-4BC2-852A-5F2EC40F7882}"/>
              </a:ext>
            </a:extLst>
          </p:cNvPr>
          <p:cNvPicPr>
            <a:picLocks noChangeAspect="1"/>
          </p:cNvPicPr>
          <p:nvPr/>
        </p:nvPicPr>
        <p:blipFill>
          <a:blip r:embed="rId3"/>
          <a:stretch>
            <a:fillRect/>
          </a:stretch>
        </p:blipFill>
        <p:spPr>
          <a:xfrm>
            <a:off x="85726" y="3746428"/>
            <a:ext cx="3505200" cy="809625"/>
          </a:xfrm>
          <a:prstGeom prst="rect">
            <a:avLst/>
          </a:prstGeom>
        </p:spPr>
      </p:pic>
      <p:pic>
        <p:nvPicPr>
          <p:cNvPr id="19" name="Picture 18">
            <a:extLst>
              <a:ext uri="{FF2B5EF4-FFF2-40B4-BE49-F238E27FC236}">
                <a16:creationId xmlns:a16="http://schemas.microsoft.com/office/drawing/2014/main" id="{F572559B-6811-4905-8FB3-7C7910547551}"/>
              </a:ext>
            </a:extLst>
          </p:cNvPr>
          <p:cNvPicPr>
            <a:picLocks noChangeAspect="1"/>
          </p:cNvPicPr>
          <p:nvPr/>
        </p:nvPicPr>
        <p:blipFill>
          <a:blip r:embed="rId4"/>
          <a:stretch>
            <a:fillRect/>
          </a:stretch>
        </p:blipFill>
        <p:spPr>
          <a:xfrm>
            <a:off x="85726" y="4683294"/>
            <a:ext cx="4239784" cy="1661303"/>
          </a:xfrm>
          <a:prstGeom prst="rect">
            <a:avLst/>
          </a:prstGeom>
        </p:spPr>
      </p:pic>
      <p:cxnSp>
        <p:nvCxnSpPr>
          <p:cNvPr id="16" name="Straight Arrow Connector 15">
            <a:extLst>
              <a:ext uri="{FF2B5EF4-FFF2-40B4-BE49-F238E27FC236}">
                <a16:creationId xmlns:a16="http://schemas.microsoft.com/office/drawing/2014/main" id="{97944F13-BE49-4F42-B0F7-683548830E98}"/>
              </a:ext>
            </a:extLst>
          </p:cNvPr>
          <p:cNvCxnSpPr>
            <a:cxnSpLocks/>
          </p:cNvCxnSpPr>
          <p:nvPr/>
        </p:nvCxnSpPr>
        <p:spPr>
          <a:xfrm flipH="1">
            <a:off x="4129181" y="3746428"/>
            <a:ext cx="2491017" cy="2251421"/>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97266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Importing Swagger 2.0 as a proxy</a:t>
            </a:r>
          </a:p>
        </p:txBody>
      </p:sp>
      <p:sp>
        <p:nvSpPr>
          <p:cNvPr id="3" name="Text Placeholder 2"/>
          <p:cNvSpPr>
            <a:spLocks noGrp="1"/>
          </p:cNvSpPr>
          <p:nvPr>
            <p:ph type="body" sz="quarter" idx="11"/>
          </p:nvPr>
        </p:nvSpPr>
        <p:spPr/>
        <p:txBody>
          <a:bodyPr/>
          <a:lstStyle/>
          <a:p>
            <a:r>
              <a:rPr lang="en-US"/>
              <a:t>Post Import</a:t>
            </a:r>
          </a:p>
        </p:txBody>
      </p:sp>
      <p:sp>
        <p:nvSpPr>
          <p:cNvPr id="4" name="Text Placeholder 3"/>
          <p:cNvSpPr>
            <a:spLocks noGrp="1"/>
          </p:cNvSpPr>
          <p:nvPr>
            <p:ph type="body" sz="quarter" idx="12"/>
          </p:nvPr>
        </p:nvSpPr>
        <p:spPr/>
        <p:txBody>
          <a:bodyPr anchor="t"/>
          <a:lstStyle/>
          <a:p>
            <a:r>
              <a:rPr lang="en-US" sz="1600">
                <a:latin typeface="Arial"/>
                <a:cs typeface="Arial"/>
              </a:rPr>
              <a:t>Leave the Activate API check box unselected</a:t>
            </a:r>
          </a:p>
          <a:p>
            <a:r>
              <a:rPr lang="en-US" sz="1600"/>
              <a:t>Click Next</a:t>
            </a:r>
          </a:p>
          <a:p>
            <a:endParaRPr lang="en-US" sz="1600"/>
          </a:p>
          <a:p>
            <a:endParaRPr lang="en-US"/>
          </a:p>
        </p:txBody>
      </p:sp>
      <p:pic>
        <p:nvPicPr>
          <p:cNvPr id="8" name="Picture 7">
            <a:extLst>
              <a:ext uri="{FF2B5EF4-FFF2-40B4-BE49-F238E27FC236}">
                <a16:creationId xmlns:a16="http://schemas.microsoft.com/office/drawing/2014/main" id="{34DFE9DB-9AFC-403A-9C04-639670077C31}"/>
              </a:ext>
            </a:extLst>
          </p:cNvPr>
          <p:cNvPicPr>
            <a:picLocks noChangeAspect="1"/>
          </p:cNvPicPr>
          <p:nvPr/>
        </p:nvPicPr>
        <p:blipFill>
          <a:blip r:embed="rId2"/>
          <a:stretch>
            <a:fillRect/>
          </a:stretch>
        </p:blipFill>
        <p:spPr>
          <a:xfrm>
            <a:off x="155837" y="1778566"/>
            <a:ext cx="4867275" cy="2124075"/>
          </a:xfrm>
          <a:prstGeom prst="rect">
            <a:avLst/>
          </a:prstGeom>
        </p:spPr>
      </p:pic>
    </p:spTree>
    <p:extLst>
      <p:ext uri="{BB962C8B-B14F-4D97-AF65-F5344CB8AC3E}">
        <p14:creationId xmlns:p14="http://schemas.microsoft.com/office/powerpoint/2010/main" val="32551199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Importing Swagger 2.0 as a proxy</a:t>
            </a:r>
          </a:p>
        </p:txBody>
      </p:sp>
      <p:sp>
        <p:nvSpPr>
          <p:cNvPr id="3" name="Text Placeholder 2"/>
          <p:cNvSpPr>
            <a:spLocks noGrp="1"/>
          </p:cNvSpPr>
          <p:nvPr>
            <p:ph type="body" sz="quarter" idx="11"/>
          </p:nvPr>
        </p:nvSpPr>
        <p:spPr/>
        <p:txBody>
          <a:bodyPr/>
          <a:lstStyle/>
          <a:p>
            <a:r>
              <a:rPr lang="en-US"/>
              <a:t>Post Import</a:t>
            </a:r>
          </a:p>
        </p:txBody>
      </p:sp>
      <p:sp>
        <p:nvSpPr>
          <p:cNvPr id="4" name="Text Placeholder 3"/>
          <p:cNvSpPr>
            <a:spLocks noGrp="1"/>
          </p:cNvSpPr>
          <p:nvPr>
            <p:ph type="body" sz="quarter" idx="12"/>
          </p:nvPr>
        </p:nvSpPr>
        <p:spPr/>
        <p:txBody>
          <a:bodyPr anchor="t"/>
          <a:lstStyle/>
          <a:p>
            <a:r>
              <a:rPr lang="en-US" sz="1600">
                <a:latin typeface="Arial"/>
                <a:cs typeface="Arial"/>
              </a:rPr>
              <a:t>Click Edit API</a:t>
            </a:r>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9A17E073-C003-4E56-8B27-05C7E62700CF}"/>
              </a:ext>
            </a:extLst>
          </p:cNvPr>
          <p:cNvPicPr>
            <a:picLocks noChangeAspect="1"/>
          </p:cNvPicPr>
          <p:nvPr/>
        </p:nvPicPr>
        <p:blipFill>
          <a:blip r:embed="rId2"/>
          <a:stretch>
            <a:fillRect/>
          </a:stretch>
        </p:blipFill>
        <p:spPr>
          <a:xfrm>
            <a:off x="196111" y="1782387"/>
            <a:ext cx="5105400" cy="1962150"/>
          </a:xfrm>
          <a:prstGeom prst="rect">
            <a:avLst/>
          </a:prstGeom>
        </p:spPr>
      </p:pic>
    </p:spTree>
    <p:extLst>
      <p:ext uri="{BB962C8B-B14F-4D97-AF65-F5344CB8AC3E}">
        <p14:creationId xmlns:p14="http://schemas.microsoft.com/office/powerpoint/2010/main" val="22285426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Importing Swagger 2.0 as a proxy</a:t>
            </a:r>
          </a:p>
        </p:txBody>
      </p:sp>
      <p:sp>
        <p:nvSpPr>
          <p:cNvPr id="3" name="Text Placeholder 2"/>
          <p:cNvSpPr>
            <a:spLocks noGrp="1"/>
          </p:cNvSpPr>
          <p:nvPr>
            <p:ph type="body" sz="quarter" idx="11"/>
          </p:nvPr>
        </p:nvSpPr>
        <p:spPr/>
        <p:txBody>
          <a:bodyPr/>
          <a:lstStyle/>
          <a:p>
            <a:r>
              <a:rPr lang="en-US"/>
              <a:t>Finished Importing</a:t>
            </a:r>
          </a:p>
        </p:txBody>
      </p:sp>
      <p:sp>
        <p:nvSpPr>
          <p:cNvPr id="4" name="Text Placeholder 3"/>
          <p:cNvSpPr>
            <a:spLocks noGrp="1"/>
          </p:cNvSpPr>
          <p:nvPr>
            <p:ph type="body" sz="quarter" idx="12"/>
          </p:nvPr>
        </p:nvSpPr>
        <p:spPr/>
        <p:txBody>
          <a:bodyPr anchor="t"/>
          <a:lstStyle/>
          <a:p>
            <a:r>
              <a:rPr lang="en-US" sz="1600">
                <a:latin typeface="Arial"/>
                <a:cs typeface="Arial"/>
              </a:rPr>
              <a:t>The API has been imported</a:t>
            </a:r>
          </a:p>
          <a:p>
            <a:r>
              <a:rPr lang="en-US" sz="1600">
                <a:latin typeface="Arial"/>
                <a:cs typeface="Arial"/>
              </a:rPr>
              <a:t>Look at the “Name” field on the Info tab</a:t>
            </a:r>
          </a:p>
          <a:p>
            <a:pPr marL="198438" lvl="2" indent="0">
              <a:buNone/>
            </a:pPr>
            <a:r>
              <a:rPr lang="en-US" sz="1600">
                <a:latin typeface="Arial"/>
                <a:cs typeface="Arial"/>
              </a:rPr>
              <a:t>If there are any “_” (underscore) characters in the name field replace them with “-” (dash)</a:t>
            </a:r>
          </a:p>
          <a:p>
            <a:r>
              <a:rPr lang="en-US" sz="1600">
                <a:latin typeface="Arial"/>
                <a:cs typeface="Arial"/>
              </a:rPr>
              <a:t>Go to the section “</a:t>
            </a:r>
            <a:r>
              <a:rPr lang="en-US" sz="1600">
                <a:latin typeface="Arial"/>
                <a:cs typeface="Arial"/>
                <a:hlinkClick r:id="rId2" action="ppaction://hlinksldjump"/>
              </a:rPr>
              <a:t>Assemble for Proxy Invoke</a:t>
            </a:r>
            <a:r>
              <a:rPr lang="en-US" sz="1600">
                <a:latin typeface="Arial"/>
                <a:cs typeface="Arial"/>
              </a:rPr>
              <a:t>”</a:t>
            </a:r>
            <a:endParaRPr lang="en-US"/>
          </a:p>
          <a:p>
            <a:endParaRPr lang="en-US" sz="1600"/>
          </a:p>
          <a:p>
            <a:endParaRPr lang="en-US" sz="1600"/>
          </a:p>
          <a:p>
            <a:endParaRPr lang="en-US"/>
          </a:p>
        </p:txBody>
      </p:sp>
      <p:pic>
        <p:nvPicPr>
          <p:cNvPr id="7" name="Picture 6">
            <a:extLst>
              <a:ext uri="{FF2B5EF4-FFF2-40B4-BE49-F238E27FC236}">
                <a16:creationId xmlns:a16="http://schemas.microsoft.com/office/drawing/2014/main" id="{98D034DF-1E3D-43E3-875D-F063EFF872E7}"/>
              </a:ext>
            </a:extLst>
          </p:cNvPr>
          <p:cNvPicPr>
            <a:picLocks noChangeAspect="1"/>
          </p:cNvPicPr>
          <p:nvPr/>
        </p:nvPicPr>
        <p:blipFill>
          <a:blip r:embed="rId3"/>
          <a:stretch>
            <a:fillRect/>
          </a:stretch>
        </p:blipFill>
        <p:spPr>
          <a:xfrm>
            <a:off x="227240" y="1743075"/>
            <a:ext cx="6381750" cy="3371850"/>
          </a:xfrm>
          <a:prstGeom prst="rect">
            <a:avLst/>
          </a:prstGeom>
        </p:spPr>
      </p:pic>
    </p:spTree>
    <p:extLst>
      <p:ext uri="{BB962C8B-B14F-4D97-AF65-F5344CB8AC3E}">
        <p14:creationId xmlns:p14="http://schemas.microsoft.com/office/powerpoint/2010/main" val="1489450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Importing Swagger 2.0 as a proxy</a:t>
            </a:r>
          </a:p>
        </p:txBody>
      </p:sp>
      <p:sp>
        <p:nvSpPr>
          <p:cNvPr id="3" name="Text Placeholder 2"/>
          <p:cNvSpPr>
            <a:spLocks noGrp="1"/>
          </p:cNvSpPr>
          <p:nvPr>
            <p:ph type="body" sz="quarter" idx="11"/>
          </p:nvPr>
        </p:nvSpPr>
        <p:spPr/>
        <p:txBody>
          <a:bodyPr/>
          <a:lstStyle/>
          <a:p>
            <a:r>
              <a:rPr lang="en-US"/>
              <a:t>Finalizing Security</a:t>
            </a:r>
          </a:p>
        </p:txBody>
      </p:sp>
      <p:sp>
        <p:nvSpPr>
          <p:cNvPr id="4" name="Text Placeholder 3"/>
          <p:cNvSpPr>
            <a:spLocks noGrp="1"/>
          </p:cNvSpPr>
          <p:nvPr>
            <p:ph type="body" sz="quarter" idx="12"/>
          </p:nvPr>
        </p:nvSpPr>
        <p:spPr>
          <a:xfrm>
            <a:off x="6922347" y="1823477"/>
            <a:ext cx="4990570" cy="4174372"/>
          </a:xfrm>
        </p:spPr>
        <p:txBody>
          <a:bodyPr anchor="t"/>
          <a:lstStyle/>
          <a:p>
            <a:endParaRPr lang="en-US" sz="1600"/>
          </a:p>
          <a:p>
            <a:r>
              <a:rPr lang="en-US"/>
              <a:t>Expand Security Schemas</a:t>
            </a:r>
          </a:p>
          <a:p>
            <a:r>
              <a:rPr lang="en-US"/>
              <a:t>Select OAuth2 schema</a:t>
            </a:r>
          </a:p>
          <a:p>
            <a:r>
              <a:rPr lang="en-US"/>
              <a:t>Click Update</a:t>
            </a:r>
          </a:p>
          <a:p>
            <a:r>
              <a:rPr lang="en-US"/>
              <a:t>Select placeholder-</a:t>
            </a:r>
            <a:r>
              <a:rPr lang="en-US" err="1"/>
              <a:t>apigw</a:t>
            </a:r>
            <a:r>
              <a:rPr lang="en-US"/>
              <a:t> from the OAuth Provider dropdown</a:t>
            </a:r>
          </a:p>
          <a:p>
            <a:r>
              <a:rPr lang="en-US"/>
              <a:t>Select Implicit from the Flow dropdown</a:t>
            </a:r>
          </a:p>
          <a:p>
            <a:r>
              <a:rPr lang="en-US"/>
              <a:t>Click Save</a:t>
            </a:r>
          </a:p>
          <a:p>
            <a:endParaRPr lang="en-US"/>
          </a:p>
        </p:txBody>
      </p:sp>
      <p:pic>
        <p:nvPicPr>
          <p:cNvPr id="13" name="Picture 12">
            <a:extLst>
              <a:ext uri="{FF2B5EF4-FFF2-40B4-BE49-F238E27FC236}">
                <a16:creationId xmlns:a16="http://schemas.microsoft.com/office/drawing/2014/main" id="{3EE26C00-4306-2DE3-AD46-B83863FD17D9}"/>
              </a:ext>
            </a:extLst>
          </p:cNvPr>
          <p:cNvPicPr>
            <a:picLocks noChangeAspect="1"/>
          </p:cNvPicPr>
          <p:nvPr/>
        </p:nvPicPr>
        <p:blipFill>
          <a:blip r:embed="rId2"/>
          <a:stretch>
            <a:fillRect/>
          </a:stretch>
        </p:blipFill>
        <p:spPr>
          <a:xfrm>
            <a:off x="153092" y="1674077"/>
            <a:ext cx="3346565" cy="2846753"/>
          </a:xfrm>
          <a:prstGeom prst="rect">
            <a:avLst/>
          </a:prstGeom>
        </p:spPr>
      </p:pic>
      <p:pic>
        <p:nvPicPr>
          <p:cNvPr id="15" name="Picture 14">
            <a:extLst>
              <a:ext uri="{FF2B5EF4-FFF2-40B4-BE49-F238E27FC236}">
                <a16:creationId xmlns:a16="http://schemas.microsoft.com/office/drawing/2014/main" id="{3FF0C7FC-6583-B0DE-4DC2-A867D6475AF0}"/>
              </a:ext>
            </a:extLst>
          </p:cNvPr>
          <p:cNvPicPr>
            <a:picLocks noChangeAspect="1"/>
          </p:cNvPicPr>
          <p:nvPr/>
        </p:nvPicPr>
        <p:blipFill>
          <a:blip r:embed="rId3"/>
          <a:stretch>
            <a:fillRect/>
          </a:stretch>
        </p:blipFill>
        <p:spPr>
          <a:xfrm>
            <a:off x="153093" y="4690100"/>
            <a:ext cx="3803765" cy="987644"/>
          </a:xfrm>
          <a:prstGeom prst="rect">
            <a:avLst/>
          </a:prstGeom>
        </p:spPr>
      </p:pic>
      <p:pic>
        <p:nvPicPr>
          <p:cNvPr id="17" name="Picture 16">
            <a:extLst>
              <a:ext uri="{FF2B5EF4-FFF2-40B4-BE49-F238E27FC236}">
                <a16:creationId xmlns:a16="http://schemas.microsoft.com/office/drawing/2014/main" id="{781D922A-EC7C-FE05-BC45-E61539B68EE1}"/>
              </a:ext>
            </a:extLst>
          </p:cNvPr>
          <p:cNvPicPr>
            <a:picLocks noChangeAspect="1"/>
          </p:cNvPicPr>
          <p:nvPr/>
        </p:nvPicPr>
        <p:blipFill>
          <a:blip r:embed="rId4"/>
          <a:stretch>
            <a:fillRect/>
          </a:stretch>
        </p:blipFill>
        <p:spPr>
          <a:xfrm>
            <a:off x="153093" y="5849621"/>
            <a:ext cx="5212079" cy="497362"/>
          </a:xfrm>
          <a:prstGeom prst="rect">
            <a:avLst/>
          </a:prstGeom>
        </p:spPr>
      </p:pic>
    </p:spTree>
    <p:extLst>
      <p:ext uri="{BB962C8B-B14F-4D97-AF65-F5344CB8AC3E}">
        <p14:creationId xmlns:p14="http://schemas.microsoft.com/office/powerpoint/2010/main" val="10860780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Assemble for Proxy Invoke</a:t>
            </a:r>
          </a:p>
        </p:txBody>
      </p:sp>
      <p:sp>
        <p:nvSpPr>
          <p:cNvPr id="3" name="Text Placeholder 2"/>
          <p:cNvSpPr>
            <a:spLocks noGrp="1"/>
          </p:cNvSpPr>
          <p:nvPr>
            <p:ph type="body" sz="quarter" idx="11"/>
          </p:nvPr>
        </p:nvSpPr>
        <p:spPr/>
        <p:txBody>
          <a:bodyPr/>
          <a:lstStyle/>
          <a:p>
            <a:pPr lvl="0"/>
            <a:r>
              <a:rPr lang="en-US"/>
              <a:t>Introduction</a:t>
            </a:r>
          </a:p>
        </p:txBody>
      </p:sp>
      <p:sp>
        <p:nvSpPr>
          <p:cNvPr id="4" name="Text Placeholder 3"/>
          <p:cNvSpPr>
            <a:spLocks noGrp="1"/>
          </p:cNvSpPr>
          <p:nvPr>
            <p:ph type="body" sz="quarter" idx="12"/>
          </p:nvPr>
        </p:nvSpPr>
        <p:spPr/>
        <p:txBody>
          <a:bodyPr/>
          <a:lstStyle/>
          <a:p>
            <a:r>
              <a:rPr lang="en-US" sz="1600"/>
              <a:t>This section describes how to configure a proxy API using the Assemble tab in API Connect v10.</a:t>
            </a:r>
          </a:p>
          <a:p>
            <a:endParaRPr lang="en-US" sz="1400"/>
          </a:p>
          <a:p>
            <a:endParaRPr lang="en-US" sz="1400"/>
          </a:p>
          <a:p>
            <a:endParaRPr lang="en-US" sz="1400"/>
          </a:p>
          <a:p>
            <a:endParaRPr lang="en-US" sz="1400"/>
          </a:p>
          <a:p>
            <a:endParaRPr lang="en-US" sz="1600"/>
          </a:p>
          <a:p>
            <a:endParaRPr lang="en-US"/>
          </a:p>
          <a:p>
            <a:endParaRPr lang="en-US" sz="1600"/>
          </a:p>
          <a:p>
            <a:endParaRPr lang="en-US" sz="1600"/>
          </a:p>
          <a:p>
            <a:endParaRPr lang="en-US"/>
          </a:p>
        </p:txBody>
      </p:sp>
    </p:spTree>
    <p:extLst>
      <p:ext uri="{BB962C8B-B14F-4D97-AF65-F5344CB8AC3E}">
        <p14:creationId xmlns:p14="http://schemas.microsoft.com/office/powerpoint/2010/main" val="3320938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FFBCA72-EBEA-4B4E-9170-58C3F994E5F1}"/>
              </a:ext>
            </a:extLst>
          </p:cNvPr>
          <p:cNvPicPr>
            <a:picLocks noChangeAspect="1"/>
          </p:cNvPicPr>
          <p:nvPr/>
        </p:nvPicPr>
        <p:blipFill>
          <a:blip r:embed="rId2"/>
          <a:stretch>
            <a:fillRect/>
          </a:stretch>
        </p:blipFill>
        <p:spPr>
          <a:xfrm>
            <a:off x="288823" y="2011681"/>
            <a:ext cx="6358467" cy="2861310"/>
          </a:xfrm>
          <a:prstGeom prst="rect">
            <a:avLst/>
          </a:prstGeom>
        </p:spPr>
      </p:pic>
      <p:sp>
        <p:nvSpPr>
          <p:cNvPr id="2" name="Title 1"/>
          <p:cNvSpPr>
            <a:spLocks noGrp="1"/>
          </p:cNvSpPr>
          <p:nvPr>
            <p:ph type="title"/>
          </p:nvPr>
        </p:nvSpPr>
        <p:spPr/>
        <p:txBody>
          <a:bodyPr/>
          <a:lstStyle/>
          <a:p>
            <a:r>
              <a:rPr lang="en-US"/>
              <a:t>Assemble for Proxy Invoke</a:t>
            </a:r>
          </a:p>
        </p:txBody>
      </p:sp>
      <p:sp>
        <p:nvSpPr>
          <p:cNvPr id="3" name="Text Placeholder 2"/>
          <p:cNvSpPr>
            <a:spLocks noGrp="1"/>
          </p:cNvSpPr>
          <p:nvPr>
            <p:ph type="body" sz="quarter" idx="11"/>
          </p:nvPr>
        </p:nvSpPr>
        <p:spPr/>
        <p:txBody>
          <a:bodyPr/>
          <a:lstStyle/>
          <a:p>
            <a:r>
              <a:rPr lang="en-US"/>
              <a:t>Invoke</a:t>
            </a:r>
          </a:p>
        </p:txBody>
      </p:sp>
      <p:sp>
        <p:nvSpPr>
          <p:cNvPr id="4" name="Text Placeholder 3"/>
          <p:cNvSpPr>
            <a:spLocks noGrp="1"/>
          </p:cNvSpPr>
          <p:nvPr>
            <p:ph type="body" sz="quarter" idx="12"/>
          </p:nvPr>
        </p:nvSpPr>
        <p:spPr/>
        <p:txBody>
          <a:bodyPr anchor="t"/>
          <a:lstStyle/>
          <a:p>
            <a:r>
              <a:rPr lang="en-US" sz="1600">
                <a:latin typeface="Arial"/>
                <a:cs typeface="Arial"/>
              </a:rPr>
              <a:t>This can be used for many of the APIs that we import and create</a:t>
            </a:r>
          </a:p>
          <a:p>
            <a:r>
              <a:rPr lang="en-US" sz="1600">
                <a:latin typeface="Arial"/>
                <a:cs typeface="Arial"/>
              </a:rPr>
              <a:t>Click the Gateway tab</a:t>
            </a:r>
          </a:p>
          <a:p>
            <a:endParaRPr lang="en-US" sz="1600">
              <a:latin typeface="Arial"/>
              <a:cs typeface="Arial"/>
            </a:endParaRPr>
          </a:p>
          <a:p>
            <a:endParaRPr lang="en-US"/>
          </a:p>
          <a:p>
            <a:endParaRPr lang="en-US" sz="1600"/>
          </a:p>
          <a:p>
            <a:endParaRPr lang="en-US" sz="1600"/>
          </a:p>
          <a:p>
            <a:endParaRPr lang="en-US"/>
          </a:p>
        </p:txBody>
      </p:sp>
      <p:cxnSp>
        <p:nvCxnSpPr>
          <p:cNvPr id="7" name="Straight Arrow Connector 6">
            <a:extLst>
              <a:ext uri="{FF2B5EF4-FFF2-40B4-BE49-F238E27FC236}">
                <a16:creationId xmlns:a16="http://schemas.microsoft.com/office/drawing/2014/main" id="{03BE079A-CC33-41C2-B9C0-DE7097916EC6}"/>
              </a:ext>
            </a:extLst>
          </p:cNvPr>
          <p:cNvCxnSpPr>
            <a:cxnSpLocks/>
          </p:cNvCxnSpPr>
          <p:nvPr/>
        </p:nvCxnSpPr>
        <p:spPr>
          <a:xfrm flipH="1">
            <a:off x="2957885" y="2822713"/>
            <a:ext cx="3689405" cy="166977"/>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90568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Assemble for Proxy Invoke</a:t>
            </a:r>
          </a:p>
        </p:txBody>
      </p:sp>
      <p:sp>
        <p:nvSpPr>
          <p:cNvPr id="3" name="Text Placeholder 2"/>
          <p:cNvSpPr>
            <a:spLocks noGrp="1"/>
          </p:cNvSpPr>
          <p:nvPr>
            <p:ph type="body" sz="quarter" idx="11"/>
          </p:nvPr>
        </p:nvSpPr>
        <p:spPr/>
        <p:txBody>
          <a:bodyPr/>
          <a:lstStyle/>
          <a:p>
            <a:r>
              <a:rPr lang="en-US"/>
              <a:t>Invoke settings</a:t>
            </a:r>
          </a:p>
        </p:txBody>
      </p:sp>
      <p:sp>
        <p:nvSpPr>
          <p:cNvPr id="4" name="Text Placeholder 3"/>
          <p:cNvSpPr>
            <a:spLocks noGrp="1"/>
          </p:cNvSpPr>
          <p:nvPr>
            <p:ph type="body" sz="quarter" idx="12"/>
          </p:nvPr>
        </p:nvSpPr>
        <p:spPr>
          <a:xfrm>
            <a:off x="6747418" y="1711519"/>
            <a:ext cx="4990570" cy="4357314"/>
          </a:xfrm>
        </p:spPr>
        <p:txBody>
          <a:bodyPr anchor="t"/>
          <a:lstStyle/>
          <a:p>
            <a:r>
              <a:rPr lang="en-US" sz="1600">
                <a:latin typeface="Arial"/>
                <a:cs typeface="Arial"/>
              </a:rPr>
              <a:t>Click on the invoke</a:t>
            </a:r>
          </a:p>
          <a:p>
            <a:endParaRPr lang="en-US" sz="1600">
              <a:latin typeface="Arial"/>
              <a:cs typeface="Arial"/>
            </a:endParaRPr>
          </a:p>
          <a:p>
            <a:r>
              <a:rPr lang="en-US" sz="1600">
                <a:latin typeface="Arial"/>
                <a:cs typeface="Arial"/>
              </a:rPr>
              <a:t>Enter the service endpoint in the Description</a:t>
            </a:r>
          </a:p>
          <a:p>
            <a:r>
              <a:rPr lang="en-US" sz="1600">
                <a:latin typeface="Arial"/>
                <a:cs typeface="Arial"/>
              </a:rPr>
              <a:t>Scroll down to set the following:</a:t>
            </a:r>
          </a:p>
          <a:p>
            <a:pPr marL="198438" lvl="2" indent="0">
              <a:buNone/>
            </a:pPr>
            <a:r>
              <a:rPr lang="en-US" sz="1600">
                <a:latin typeface="Arial"/>
                <a:cs typeface="Arial"/>
              </a:rPr>
              <a:t>Set the http Method as Keep</a:t>
            </a:r>
          </a:p>
          <a:p>
            <a:pPr marL="198438" lvl="2" indent="0">
              <a:buNone/>
            </a:pPr>
            <a:r>
              <a:rPr lang="en-US" sz="1600">
                <a:latin typeface="Arial"/>
                <a:cs typeface="Arial"/>
              </a:rPr>
              <a:t>Set Cache Type as No Cache </a:t>
            </a:r>
          </a:p>
          <a:p>
            <a:pPr marL="198438" lvl="2" indent="0">
              <a:buNone/>
            </a:pPr>
            <a:r>
              <a:rPr lang="en-US" sz="1600">
                <a:latin typeface="Arial"/>
                <a:cs typeface="Arial"/>
              </a:rPr>
              <a:t>Ensure Time to Live is blank</a:t>
            </a:r>
          </a:p>
          <a:p>
            <a:pPr marL="198438" lvl="2" indent="0">
              <a:buNone/>
            </a:pPr>
            <a:r>
              <a:rPr lang="en-US" sz="1600">
                <a:latin typeface="Arial"/>
                <a:cs typeface="Arial"/>
              </a:rPr>
              <a:t>Ensure Stop on error is not selected</a:t>
            </a:r>
          </a:p>
          <a:p>
            <a:endParaRPr lang="en-US" sz="1600">
              <a:latin typeface="Arial"/>
              <a:cs typeface="Arial"/>
            </a:endParaRPr>
          </a:p>
          <a:p>
            <a:endParaRPr lang="en-US"/>
          </a:p>
          <a:p>
            <a:endParaRPr lang="en-US" sz="1600"/>
          </a:p>
          <a:p>
            <a:endParaRPr lang="en-US" sz="1600"/>
          </a:p>
          <a:p>
            <a:endParaRPr lang="en-US"/>
          </a:p>
        </p:txBody>
      </p:sp>
      <p:pic>
        <p:nvPicPr>
          <p:cNvPr id="17" name="Picture 16">
            <a:extLst>
              <a:ext uri="{FF2B5EF4-FFF2-40B4-BE49-F238E27FC236}">
                <a16:creationId xmlns:a16="http://schemas.microsoft.com/office/drawing/2014/main" id="{4EE59C58-0083-48F4-A128-799FCF44D593}"/>
              </a:ext>
            </a:extLst>
          </p:cNvPr>
          <p:cNvPicPr>
            <a:picLocks noChangeAspect="1"/>
          </p:cNvPicPr>
          <p:nvPr/>
        </p:nvPicPr>
        <p:blipFill>
          <a:blip r:embed="rId2"/>
          <a:stretch>
            <a:fillRect/>
          </a:stretch>
        </p:blipFill>
        <p:spPr>
          <a:xfrm>
            <a:off x="143264" y="3315790"/>
            <a:ext cx="4219575" cy="742950"/>
          </a:xfrm>
          <a:prstGeom prst="rect">
            <a:avLst/>
          </a:prstGeom>
        </p:spPr>
      </p:pic>
      <p:pic>
        <p:nvPicPr>
          <p:cNvPr id="19" name="Picture 18">
            <a:extLst>
              <a:ext uri="{FF2B5EF4-FFF2-40B4-BE49-F238E27FC236}">
                <a16:creationId xmlns:a16="http://schemas.microsoft.com/office/drawing/2014/main" id="{ABB43C4E-FDA1-4C23-A6DE-8C9324B808FC}"/>
              </a:ext>
            </a:extLst>
          </p:cNvPr>
          <p:cNvPicPr>
            <a:picLocks noChangeAspect="1"/>
          </p:cNvPicPr>
          <p:nvPr/>
        </p:nvPicPr>
        <p:blipFill>
          <a:blip r:embed="rId3"/>
          <a:stretch>
            <a:fillRect/>
          </a:stretch>
        </p:blipFill>
        <p:spPr>
          <a:xfrm>
            <a:off x="125067" y="4152386"/>
            <a:ext cx="4248150" cy="1524000"/>
          </a:xfrm>
          <a:prstGeom prst="rect">
            <a:avLst/>
          </a:prstGeom>
        </p:spPr>
      </p:pic>
      <p:pic>
        <p:nvPicPr>
          <p:cNvPr id="27" name="Picture 26">
            <a:extLst>
              <a:ext uri="{FF2B5EF4-FFF2-40B4-BE49-F238E27FC236}">
                <a16:creationId xmlns:a16="http://schemas.microsoft.com/office/drawing/2014/main" id="{8E199866-F6A4-4913-A20A-7AD4657A42CB}"/>
              </a:ext>
            </a:extLst>
          </p:cNvPr>
          <p:cNvPicPr>
            <a:picLocks noChangeAspect="1"/>
          </p:cNvPicPr>
          <p:nvPr/>
        </p:nvPicPr>
        <p:blipFill>
          <a:blip r:embed="rId4"/>
          <a:stretch>
            <a:fillRect/>
          </a:stretch>
        </p:blipFill>
        <p:spPr>
          <a:xfrm>
            <a:off x="143264" y="2603019"/>
            <a:ext cx="4267200" cy="619125"/>
          </a:xfrm>
          <a:prstGeom prst="rect">
            <a:avLst/>
          </a:prstGeom>
        </p:spPr>
      </p:pic>
      <p:pic>
        <p:nvPicPr>
          <p:cNvPr id="29" name="Picture 28">
            <a:extLst>
              <a:ext uri="{FF2B5EF4-FFF2-40B4-BE49-F238E27FC236}">
                <a16:creationId xmlns:a16="http://schemas.microsoft.com/office/drawing/2014/main" id="{7977C2BB-FDF8-41D7-A4BA-02274FF4CFA4}"/>
              </a:ext>
            </a:extLst>
          </p:cNvPr>
          <p:cNvPicPr>
            <a:picLocks noChangeAspect="1"/>
          </p:cNvPicPr>
          <p:nvPr/>
        </p:nvPicPr>
        <p:blipFill>
          <a:blip r:embed="rId5"/>
          <a:stretch>
            <a:fillRect/>
          </a:stretch>
        </p:blipFill>
        <p:spPr>
          <a:xfrm>
            <a:off x="143264" y="1630995"/>
            <a:ext cx="4267200" cy="923925"/>
          </a:xfrm>
          <a:prstGeom prst="rect">
            <a:avLst/>
          </a:prstGeom>
        </p:spPr>
      </p:pic>
      <p:pic>
        <p:nvPicPr>
          <p:cNvPr id="31" name="Picture 30">
            <a:extLst>
              <a:ext uri="{FF2B5EF4-FFF2-40B4-BE49-F238E27FC236}">
                <a16:creationId xmlns:a16="http://schemas.microsoft.com/office/drawing/2014/main" id="{9FA3C843-EE1B-42FE-88B0-C1332DA1DE76}"/>
              </a:ext>
            </a:extLst>
          </p:cNvPr>
          <p:cNvPicPr>
            <a:picLocks noChangeAspect="1"/>
          </p:cNvPicPr>
          <p:nvPr/>
        </p:nvPicPr>
        <p:blipFill>
          <a:blip r:embed="rId6"/>
          <a:stretch>
            <a:fillRect/>
          </a:stretch>
        </p:blipFill>
        <p:spPr>
          <a:xfrm>
            <a:off x="125067" y="5830708"/>
            <a:ext cx="4276725" cy="476250"/>
          </a:xfrm>
          <a:prstGeom prst="rect">
            <a:avLst/>
          </a:prstGeom>
        </p:spPr>
      </p:pic>
    </p:spTree>
    <p:extLst>
      <p:ext uri="{BB962C8B-B14F-4D97-AF65-F5344CB8AC3E}">
        <p14:creationId xmlns:p14="http://schemas.microsoft.com/office/powerpoint/2010/main" val="15989457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p:txBody>
          <a:bodyPr/>
          <a:lstStyle/>
          <a:p>
            <a:r>
              <a:rPr lang="en-US"/>
              <a:t>Mapping to Swagger Services</a:t>
            </a:r>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Introduction</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11272838" cy="4174867"/>
          </a:xfrm>
        </p:spPr>
        <p:txBody>
          <a:bodyPr lIns="91440" tIns="45720" rIns="91440" bIns="45720" anchor="t"/>
          <a:lstStyle/>
          <a:p>
            <a:r>
              <a:rPr lang="en-US" sz="1600"/>
              <a:t>This section describes how </a:t>
            </a:r>
            <a:r>
              <a:rPr lang="en-US" sz="1600">
                <a:latin typeface="Arial"/>
                <a:cs typeface="Arial"/>
              </a:rPr>
              <a:t>to map a previously created Swagger API to a backend Swagger service.</a:t>
            </a:r>
            <a:r>
              <a:rPr lang="en-US" sz="1600"/>
              <a:t> </a:t>
            </a:r>
            <a:r>
              <a:rPr lang="en-US" sz="1600">
                <a:latin typeface="Arial"/>
                <a:cs typeface="Arial"/>
              </a:rPr>
              <a:t>The Swagger service could be vendor generated or internally generated by an IA using RSA in the Swagger stream.  </a:t>
            </a:r>
          </a:p>
          <a:p>
            <a:r>
              <a:rPr lang="en-US" sz="1600">
                <a:latin typeface="Arial"/>
                <a:cs typeface="Arial"/>
              </a:rPr>
              <a:t>Some examples for creating these Opportunistic APIs are:</a:t>
            </a:r>
          </a:p>
          <a:p>
            <a:pPr marL="285750" indent="-285750">
              <a:buFont typeface="Arial" panose="020B0604020202020204" pitchFamily="34" charset="0"/>
              <a:buChar char="•"/>
            </a:pPr>
            <a:r>
              <a:rPr lang="en-US" sz="1600">
                <a:latin typeface="Arial"/>
                <a:cs typeface="Arial"/>
              </a:rPr>
              <a:t>Reduce the payload for a mobile app.</a:t>
            </a:r>
          </a:p>
          <a:p>
            <a:pPr marL="285750" indent="-285750">
              <a:buFont typeface="Arial" panose="020B0604020202020204" pitchFamily="34" charset="0"/>
              <a:buChar char="•"/>
            </a:pPr>
            <a:r>
              <a:rPr lang="en-US" sz="1600">
                <a:latin typeface="Arial"/>
                <a:cs typeface="Arial"/>
              </a:rPr>
              <a:t>To change the attribute names for a Vendor specific need. </a:t>
            </a:r>
            <a:endParaRPr lang="en-US" sz="1600">
              <a:highlight>
                <a:srgbClr val="FFFF00"/>
              </a:highlight>
            </a:endParaRPr>
          </a:p>
          <a:p>
            <a:endParaRPr lang="en-US" sz="1600"/>
          </a:p>
          <a:p>
            <a:endParaRPr lang="en-US" sz="1600"/>
          </a:p>
        </p:txBody>
      </p:sp>
    </p:spTree>
    <p:extLst>
      <p:ext uri="{BB962C8B-B14F-4D97-AF65-F5344CB8AC3E}">
        <p14:creationId xmlns:p14="http://schemas.microsoft.com/office/powerpoint/2010/main" val="456235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Swagger Services</a:t>
            </a:r>
          </a:p>
        </p:txBody>
      </p:sp>
      <p:sp>
        <p:nvSpPr>
          <p:cNvPr id="3" name="Text Placeholder 2"/>
          <p:cNvSpPr>
            <a:spLocks noGrp="1"/>
          </p:cNvSpPr>
          <p:nvPr>
            <p:ph type="body" sz="quarter" idx="11"/>
          </p:nvPr>
        </p:nvSpPr>
        <p:spPr/>
        <p:txBody>
          <a:bodyPr/>
          <a:lstStyle/>
          <a:p>
            <a:r>
              <a:rPr lang="en-US"/>
              <a:t>Configuring Backend Swagger service – Get Inputs</a:t>
            </a:r>
          </a:p>
        </p:txBody>
      </p:sp>
      <p:sp>
        <p:nvSpPr>
          <p:cNvPr id="4" name="Text Placeholder 3"/>
          <p:cNvSpPr>
            <a:spLocks noGrp="1"/>
          </p:cNvSpPr>
          <p:nvPr>
            <p:ph type="body" sz="quarter" idx="12"/>
          </p:nvPr>
        </p:nvSpPr>
        <p:spPr>
          <a:xfrm>
            <a:off x="6739467" y="1702676"/>
            <a:ext cx="4990570" cy="4483377"/>
          </a:xfrm>
        </p:spPr>
        <p:txBody>
          <a:bodyPr anchor="t"/>
          <a:lstStyle/>
          <a:p>
            <a:endParaRPr lang="en-US" sz="1600">
              <a:latin typeface="Arial"/>
              <a:cs typeface="Arial"/>
            </a:endParaRPr>
          </a:p>
          <a:p>
            <a:endParaRPr lang="en-US"/>
          </a:p>
          <a:p>
            <a:endParaRPr lang="en-US" sz="1600"/>
          </a:p>
          <a:p>
            <a:endParaRPr lang="en-US" sz="1600"/>
          </a:p>
          <a:p>
            <a:endParaRPr lang="en-US"/>
          </a:p>
        </p:txBody>
      </p:sp>
      <p:sp>
        <p:nvSpPr>
          <p:cNvPr id="5" name="Text Placeholder 3">
            <a:extLst>
              <a:ext uri="{FF2B5EF4-FFF2-40B4-BE49-F238E27FC236}">
                <a16:creationId xmlns:a16="http://schemas.microsoft.com/office/drawing/2014/main" id="{6A525982-6943-4D2A-BD87-19AA48312A83}"/>
              </a:ext>
            </a:extLst>
          </p:cNvPr>
          <p:cNvSpPr txBox="1">
            <a:spLocks/>
          </p:cNvSpPr>
          <p:nvPr/>
        </p:nvSpPr>
        <p:spPr>
          <a:xfrm>
            <a:off x="6813039" y="1823477"/>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An API has already been created from YAML</a:t>
            </a:r>
          </a:p>
          <a:p>
            <a:r>
              <a:rPr lang="en-US" sz="1600">
                <a:latin typeface="Arial"/>
                <a:cs typeface="Arial"/>
              </a:rPr>
              <a:t>On the Assemble tab Click the Invoke</a:t>
            </a:r>
          </a:p>
          <a:p>
            <a:r>
              <a:rPr lang="en-US" sz="1600">
                <a:latin typeface="Arial"/>
                <a:cs typeface="Arial"/>
              </a:rPr>
              <a:t>Scroll down to view the URL in the bottom pane.</a:t>
            </a:r>
          </a:p>
          <a:p>
            <a:r>
              <a:rPr lang="en-US" sz="1600">
                <a:latin typeface="Arial"/>
                <a:cs typeface="Arial"/>
              </a:rPr>
              <a:t>Update the URL, add a “?” after the $(</a:t>
            </a:r>
            <a:r>
              <a:rPr lang="en-US" sz="1600" err="1">
                <a:latin typeface="Arial"/>
                <a:cs typeface="Arial"/>
              </a:rPr>
              <a:t>backendURL</a:t>
            </a:r>
            <a:r>
              <a:rPr lang="en-US" sz="1600">
                <a:latin typeface="Arial"/>
                <a:cs typeface="Arial"/>
              </a:rPr>
              <a:t>) to begin the query parameters</a:t>
            </a:r>
          </a:p>
          <a:p>
            <a:r>
              <a:rPr lang="en-US" sz="1600">
                <a:latin typeface="Arial"/>
                <a:cs typeface="Arial"/>
              </a:rPr>
              <a:t>Parameters are in the form of &lt;key&gt; = &lt;value&gt; and are separated by an &amp;</a:t>
            </a:r>
          </a:p>
          <a:p>
            <a:r>
              <a:rPr lang="en-US" sz="1600">
                <a:latin typeface="Arial"/>
                <a:cs typeface="Arial"/>
              </a:rPr>
              <a:t>Include all parameters needed for the Request </a:t>
            </a:r>
          </a:p>
          <a:p>
            <a:r>
              <a:rPr lang="en-US" sz="1600">
                <a:latin typeface="Arial"/>
                <a:cs typeface="Arial"/>
              </a:rPr>
              <a:t>&lt;key&gt; is the expected service input parameter</a:t>
            </a:r>
          </a:p>
          <a:p>
            <a:r>
              <a:rPr lang="en-US" sz="1600">
                <a:latin typeface="Arial"/>
                <a:cs typeface="Arial"/>
              </a:rPr>
              <a:t>&lt;value&gt; is in the form of $(</a:t>
            </a:r>
            <a:r>
              <a:rPr lang="en-US" sz="1600" err="1">
                <a:latin typeface="Arial"/>
                <a:cs typeface="Arial"/>
              </a:rPr>
              <a:t>request.parameter</a:t>
            </a:r>
            <a:r>
              <a:rPr lang="en-US" sz="1600">
                <a:latin typeface="Arial"/>
                <a:cs typeface="Arial"/>
              </a:rPr>
              <a:t>.&lt;name&gt;)</a:t>
            </a: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7" name="Picture 6">
            <a:extLst>
              <a:ext uri="{FF2B5EF4-FFF2-40B4-BE49-F238E27FC236}">
                <a16:creationId xmlns:a16="http://schemas.microsoft.com/office/drawing/2014/main" id="{9AC84BCE-0061-41E5-991C-F61D7ED34B64}"/>
              </a:ext>
            </a:extLst>
          </p:cNvPr>
          <p:cNvPicPr>
            <a:picLocks noChangeAspect="1"/>
          </p:cNvPicPr>
          <p:nvPr/>
        </p:nvPicPr>
        <p:blipFill>
          <a:blip r:embed="rId2"/>
          <a:stretch>
            <a:fillRect/>
          </a:stretch>
        </p:blipFill>
        <p:spPr>
          <a:xfrm>
            <a:off x="122675" y="1823476"/>
            <a:ext cx="5298591" cy="1425049"/>
          </a:xfrm>
          <a:prstGeom prst="rect">
            <a:avLst/>
          </a:prstGeom>
        </p:spPr>
      </p:pic>
      <p:pic>
        <p:nvPicPr>
          <p:cNvPr id="11" name="Picture 10">
            <a:extLst>
              <a:ext uri="{FF2B5EF4-FFF2-40B4-BE49-F238E27FC236}">
                <a16:creationId xmlns:a16="http://schemas.microsoft.com/office/drawing/2014/main" id="{20DF2373-8B05-43AF-989F-1D8A78F21B82}"/>
              </a:ext>
            </a:extLst>
          </p:cNvPr>
          <p:cNvPicPr>
            <a:picLocks noChangeAspect="1"/>
          </p:cNvPicPr>
          <p:nvPr/>
        </p:nvPicPr>
        <p:blipFill>
          <a:blip r:embed="rId3"/>
          <a:stretch>
            <a:fillRect/>
          </a:stretch>
        </p:blipFill>
        <p:spPr>
          <a:xfrm>
            <a:off x="99756" y="3458589"/>
            <a:ext cx="6553200" cy="971550"/>
          </a:xfrm>
          <a:prstGeom prst="rect">
            <a:avLst/>
          </a:prstGeom>
        </p:spPr>
      </p:pic>
    </p:spTree>
    <p:extLst>
      <p:ext uri="{BB962C8B-B14F-4D97-AF65-F5344CB8AC3E}">
        <p14:creationId xmlns:p14="http://schemas.microsoft.com/office/powerpoint/2010/main" val="2525531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Swagger Services</a:t>
            </a:r>
          </a:p>
        </p:txBody>
      </p:sp>
      <p:sp>
        <p:nvSpPr>
          <p:cNvPr id="3" name="Text Placeholder 2"/>
          <p:cNvSpPr>
            <a:spLocks noGrp="1"/>
          </p:cNvSpPr>
          <p:nvPr>
            <p:ph type="body" sz="quarter" idx="11"/>
          </p:nvPr>
        </p:nvSpPr>
        <p:spPr/>
        <p:txBody>
          <a:bodyPr/>
          <a:lstStyle/>
          <a:p>
            <a:r>
              <a:rPr lang="en-US"/>
              <a:t>Configuring Backend Swagger service – Setup response payload</a:t>
            </a:r>
          </a:p>
        </p:txBody>
      </p:sp>
      <p:sp>
        <p:nvSpPr>
          <p:cNvPr id="4" name="Text Placeholder 3"/>
          <p:cNvSpPr>
            <a:spLocks noGrp="1"/>
          </p:cNvSpPr>
          <p:nvPr>
            <p:ph type="body" sz="quarter" idx="12"/>
          </p:nvPr>
        </p:nvSpPr>
        <p:spPr>
          <a:xfrm>
            <a:off x="6739467" y="1702676"/>
            <a:ext cx="4990570" cy="4483377"/>
          </a:xfrm>
        </p:spPr>
        <p:txBody>
          <a:bodyPr anchor="t"/>
          <a:lstStyle/>
          <a:p>
            <a:endParaRPr lang="en-US" sz="1600">
              <a:latin typeface="Arial"/>
              <a:cs typeface="Arial"/>
            </a:endParaRPr>
          </a:p>
          <a:p>
            <a:endParaRPr lang="en-US"/>
          </a:p>
          <a:p>
            <a:endParaRPr lang="en-US" sz="1600"/>
          </a:p>
          <a:p>
            <a:endParaRPr lang="en-US" sz="1600"/>
          </a:p>
          <a:p>
            <a:endParaRPr lang="en-US"/>
          </a:p>
        </p:txBody>
      </p:sp>
      <p:sp>
        <p:nvSpPr>
          <p:cNvPr id="5" name="Text Placeholder 3">
            <a:extLst>
              <a:ext uri="{FF2B5EF4-FFF2-40B4-BE49-F238E27FC236}">
                <a16:creationId xmlns:a16="http://schemas.microsoft.com/office/drawing/2014/main" id="{6A525982-6943-4D2A-BD87-19AA48312A83}"/>
              </a:ext>
            </a:extLst>
          </p:cNvPr>
          <p:cNvSpPr txBox="1">
            <a:spLocks/>
          </p:cNvSpPr>
          <p:nvPr/>
        </p:nvSpPr>
        <p:spPr>
          <a:xfrm>
            <a:off x="6813039" y="1823477"/>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10" name="Text Placeholder 3">
            <a:extLst>
              <a:ext uri="{FF2B5EF4-FFF2-40B4-BE49-F238E27FC236}">
                <a16:creationId xmlns:a16="http://schemas.microsoft.com/office/drawing/2014/main" id="{E207B226-8F7E-4EC6-BCD9-A9E0FE7D7072}"/>
              </a:ext>
            </a:extLst>
          </p:cNvPr>
          <p:cNvSpPr txBox="1">
            <a:spLocks/>
          </p:cNvSpPr>
          <p:nvPr/>
        </p:nvSpPr>
        <p:spPr>
          <a:xfrm>
            <a:off x="6965439" y="1975877"/>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In order to generate the response structure for the output of the service use the following steps:</a:t>
            </a:r>
          </a:p>
          <a:p>
            <a:r>
              <a:rPr lang="en-US" sz="1600">
                <a:latin typeface="Arial"/>
                <a:cs typeface="Arial"/>
              </a:rPr>
              <a:t>Obtain the JSON Swagger document for the back-end service</a:t>
            </a:r>
          </a:p>
          <a:p>
            <a:r>
              <a:rPr lang="en-US" sz="1600">
                <a:latin typeface="Arial"/>
                <a:cs typeface="Arial"/>
              </a:rPr>
              <a:t>If a YAML file is provided convert to JSON using Swagger.IO or similar method</a:t>
            </a:r>
          </a:p>
          <a:p>
            <a:r>
              <a:rPr lang="en-US" sz="1600">
                <a:latin typeface="Arial"/>
                <a:cs typeface="Arial"/>
              </a:rPr>
              <a:t>Open the JSON file with an editor like Notepad++</a:t>
            </a:r>
          </a:p>
          <a:p>
            <a:endParaRPr lang="en-US" sz="1600">
              <a:latin typeface="Arial"/>
              <a:cs typeface="Arial"/>
            </a:endParaRPr>
          </a:p>
          <a:p>
            <a:endParaRPr lang="en-US"/>
          </a:p>
          <a:p>
            <a:endParaRPr lang="en-US" sz="1600"/>
          </a:p>
          <a:p>
            <a:endParaRPr lang="en-US" sz="1600"/>
          </a:p>
          <a:p>
            <a:endParaRPr lang="en-US"/>
          </a:p>
        </p:txBody>
      </p:sp>
      <p:pic>
        <p:nvPicPr>
          <p:cNvPr id="12" name="Picture 11">
            <a:extLst>
              <a:ext uri="{FF2B5EF4-FFF2-40B4-BE49-F238E27FC236}">
                <a16:creationId xmlns:a16="http://schemas.microsoft.com/office/drawing/2014/main" id="{D9BAF354-5B52-4E14-B075-9540C244D3BE}"/>
              </a:ext>
            </a:extLst>
          </p:cNvPr>
          <p:cNvPicPr>
            <a:picLocks noChangeAspect="1"/>
          </p:cNvPicPr>
          <p:nvPr/>
        </p:nvPicPr>
        <p:blipFill>
          <a:blip r:embed="rId2"/>
          <a:stretch>
            <a:fillRect/>
          </a:stretch>
        </p:blipFill>
        <p:spPr>
          <a:xfrm>
            <a:off x="126657" y="1637398"/>
            <a:ext cx="6200002" cy="4618152"/>
          </a:xfrm>
          <a:prstGeom prst="rect">
            <a:avLst/>
          </a:prstGeom>
        </p:spPr>
      </p:pic>
    </p:spTree>
    <p:extLst>
      <p:ext uri="{BB962C8B-B14F-4D97-AF65-F5344CB8AC3E}">
        <p14:creationId xmlns:p14="http://schemas.microsoft.com/office/powerpoint/2010/main" val="6274196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Swagger Services</a:t>
            </a:r>
          </a:p>
        </p:txBody>
      </p:sp>
      <p:sp>
        <p:nvSpPr>
          <p:cNvPr id="3" name="Text Placeholder 2"/>
          <p:cNvSpPr>
            <a:spLocks noGrp="1"/>
          </p:cNvSpPr>
          <p:nvPr>
            <p:ph type="body" sz="quarter" idx="11"/>
          </p:nvPr>
        </p:nvSpPr>
        <p:spPr/>
        <p:txBody>
          <a:bodyPr/>
          <a:lstStyle/>
          <a:p>
            <a:r>
              <a:rPr lang="en-US"/>
              <a:t>Configuring Backend Swagger service – Setup response payload</a:t>
            </a:r>
          </a:p>
        </p:txBody>
      </p:sp>
      <p:sp>
        <p:nvSpPr>
          <p:cNvPr id="4" name="Text Placeholder 3"/>
          <p:cNvSpPr>
            <a:spLocks noGrp="1"/>
          </p:cNvSpPr>
          <p:nvPr>
            <p:ph type="body" sz="quarter" idx="12"/>
          </p:nvPr>
        </p:nvSpPr>
        <p:spPr>
          <a:xfrm>
            <a:off x="6739467" y="1702676"/>
            <a:ext cx="4990570" cy="4483377"/>
          </a:xfrm>
        </p:spPr>
        <p:txBody>
          <a:bodyPr anchor="t"/>
          <a:lstStyle/>
          <a:p>
            <a:endParaRPr lang="en-US" sz="1600">
              <a:latin typeface="Arial"/>
              <a:cs typeface="Arial"/>
            </a:endParaRPr>
          </a:p>
          <a:p>
            <a:endParaRPr lang="en-US"/>
          </a:p>
          <a:p>
            <a:endParaRPr lang="en-US" sz="1600"/>
          </a:p>
          <a:p>
            <a:endParaRPr lang="en-US" sz="1600"/>
          </a:p>
          <a:p>
            <a:endParaRPr lang="en-US"/>
          </a:p>
        </p:txBody>
      </p:sp>
      <p:sp>
        <p:nvSpPr>
          <p:cNvPr id="5" name="Text Placeholder 3">
            <a:extLst>
              <a:ext uri="{FF2B5EF4-FFF2-40B4-BE49-F238E27FC236}">
                <a16:creationId xmlns:a16="http://schemas.microsoft.com/office/drawing/2014/main" id="{6A525982-6943-4D2A-BD87-19AA48312A83}"/>
              </a:ext>
            </a:extLst>
          </p:cNvPr>
          <p:cNvSpPr txBox="1">
            <a:spLocks/>
          </p:cNvSpPr>
          <p:nvPr/>
        </p:nvSpPr>
        <p:spPr>
          <a:xfrm>
            <a:off x="6813039" y="1823477"/>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10" name="Text Placeholder 3">
            <a:extLst>
              <a:ext uri="{FF2B5EF4-FFF2-40B4-BE49-F238E27FC236}">
                <a16:creationId xmlns:a16="http://schemas.microsoft.com/office/drawing/2014/main" id="{E207B226-8F7E-4EC6-BCD9-A9E0FE7D7072}"/>
              </a:ext>
            </a:extLst>
          </p:cNvPr>
          <p:cNvSpPr txBox="1">
            <a:spLocks/>
          </p:cNvSpPr>
          <p:nvPr/>
        </p:nvSpPr>
        <p:spPr>
          <a:xfrm>
            <a:off x="6965439" y="1975877"/>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Remove all the lines above “definitions”: {</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7" name="Picture 6">
            <a:extLst>
              <a:ext uri="{FF2B5EF4-FFF2-40B4-BE49-F238E27FC236}">
                <a16:creationId xmlns:a16="http://schemas.microsoft.com/office/drawing/2014/main" id="{3DF452B2-0C23-40EE-8F44-498B2B7F337F}"/>
              </a:ext>
            </a:extLst>
          </p:cNvPr>
          <p:cNvPicPr>
            <a:picLocks noChangeAspect="1"/>
          </p:cNvPicPr>
          <p:nvPr/>
        </p:nvPicPr>
        <p:blipFill>
          <a:blip r:embed="rId2"/>
          <a:stretch>
            <a:fillRect/>
          </a:stretch>
        </p:blipFill>
        <p:spPr>
          <a:xfrm>
            <a:off x="154073" y="1702676"/>
            <a:ext cx="5884572" cy="3281215"/>
          </a:xfrm>
          <a:prstGeom prst="rect">
            <a:avLst/>
          </a:prstGeom>
        </p:spPr>
      </p:pic>
      <p:pic>
        <p:nvPicPr>
          <p:cNvPr id="9" name="Picture 8">
            <a:extLst>
              <a:ext uri="{FF2B5EF4-FFF2-40B4-BE49-F238E27FC236}">
                <a16:creationId xmlns:a16="http://schemas.microsoft.com/office/drawing/2014/main" id="{3A09B021-F7D2-4DE3-B79D-C21BB82E0545}"/>
              </a:ext>
            </a:extLst>
          </p:cNvPr>
          <p:cNvPicPr>
            <a:picLocks noChangeAspect="1"/>
          </p:cNvPicPr>
          <p:nvPr/>
        </p:nvPicPr>
        <p:blipFill>
          <a:blip r:embed="rId3"/>
          <a:stretch>
            <a:fillRect/>
          </a:stretch>
        </p:blipFill>
        <p:spPr>
          <a:xfrm>
            <a:off x="154073" y="5114961"/>
            <a:ext cx="4179030" cy="1035288"/>
          </a:xfrm>
          <a:prstGeom prst="rect">
            <a:avLst/>
          </a:prstGeom>
        </p:spPr>
      </p:pic>
    </p:spTree>
    <p:extLst>
      <p:ext uri="{BB962C8B-B14F-4D97-AF65-F5344CB8AC3E}">
        <p14:creationId xmlns:p14="http://schemas.microsoft.com/office/powerpoint/2010/main" val="6067862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Swagger Services</a:t>
            </a:r>
          </a:p>
        </p:txBody>
      </p:sp>
      <p:sp>
        <p:nvSpPr>
          <p:cNvPr id="3" name="Text Placeholder 2"/>
          <p:cNvSpPr>
            <a:spLocks noGrp="1"/>
          </p:cNvSpPr>
          <p:nvPr>
            <p:ph type="body" sz="quarter" idx="11"/>
          </p:nvPr>
        </p:nvSpPr>
        <p:spPr/>
        <p:txBody>
          <a:bodyPr/>
          <a:lstStyle/>
          <a:p>
            <a:r>
              <a:rPr lang="en-US"/>
              <a:t>Configuring Backend Swagger service – Setup response payload</a:t>
            </a:r>
          </a:p>
        </p:txBody>
      </p:sp>
      <p:sp>
        <p:nvSpPr>
          <p:cNvPr id="4" name="Text Placeholder 3"/>
          <p:cNvSpPr>
            <a:spLocks noGrp="1"/>
          </p:cNvSpPr>
          <p:nvPr>
            <p:ph type="body" sz="quarter" idx="12"/>
          </p:nvPr>
        </p:nvSpPr>
        <p:spPr>
          <a:xfrm>
            <a:off x="6739467" y="1702676"/>
            <a:ext cx="4990570" cy="4483377"/>
          </a:xfrm>
        </p:spPr>
        <p:txBody>
          <a:bodyPr anchor="t"/>
          <a:lstStyle/>
          <a:p>
            <a:endParaRPr lang="en-US" sz="1600">
              <a:latin typeface="Arial"/>
              <a:cs typeface="Arial"/>
            </a:endParaRPr>
          </a:p>
          <a:p>
            <a:endParaRPr lang="en-US"/>
          </a:p>
          <a:p>
            <a:endParaRPr lang="en-US" sz="1600"/>
          </a:p>
          <a:p>
            <a:endParaRPr lang="en-US" sz="1600"/>
          </a:p>
          <a:p>
            <a:endParaRPr lang="en-US"/>
          </a:p>
        </p:txBody>
      </p:sp>
      <p:sp>
        <p:nvSpPr>
          <p:cNvPr id="5" name="Text Placeholder 3">
            <a:extLst>
              <a:ext uri="{FF2B5EF4-FFF2-40B4-BE49-F238E27FC236}">
                <a16:creationId xmlns:a16="http://schemas.microsoft.com/office/drawing/2014/main" id="{6A525982-6943-4D2A-BD87-19AA48312A83}"/>
              </a:ext>
            </a:extLst>
          </p:cNvPr>
          <p:cNvSpPr txBox="1">
            <a:spLocks/>
          </p:cNvSpPr>
          <p:nvPr/>
        </p:nvSpPr>
        <p:spPr>
          <a:xfrm>
            <a:off x="6813039" y="1823477"/>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10" name="Text Placeholder 3">
            <a:extLst>
              <a:ext uri="{FF2B5EF4-FFF2-40B4-BE49-F238E27FC236}">
                <a16:creationId xmlns:a16="http://schemas.microsoft.com/office/drawing/2014/main" id="{E207B226-8F7E-4EC6-BCD9-A9E0FE7D7072}"/>
              </a:ext>
            </a:extLst>
          </p:cNvPr>
          <p:cNvSpPr txBox="1">
            <a:spLocks/>
          </p:cNvSpPr>
          <p:nvPr/>
        </p:nvSpPr>
        <p:spPr>
          <a:xfrm>
            <a:off x="6813039" y="1975877"/>
            <a:ext cx="530482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Insert the following above “definitions”: {</a:t>
            </a:r>
          </a:p>
          <a:p>
            <a:r>
              <a:rPr lang="en-US" sz="1400">
                <a:latin typeface="Arial"/>
                <a:cs typeface="Arial"/>
              </a:rPr>
              <a:t> {</a:t>
            </a:r>
          </a:p>
          <a:p>
            <a:r>
              <a:rPr lang="en-US" sz="1400">
                <a:latin typeface="Arial"/>
                <a:cs typeface="Arial"/>
              </a:rPr>
              <a:t>    "$schema": "http://JSON-schema.org/draft-04/schema#",</a:t>
            </a:r>
          </a:p>
          <a:p>
            <a:r>
              <a:rPr lang="en-US" sz="1400">
                <a:latin typeface="Arial"/>
                <a:cs typeface="Arial"/>
              </a:rPr>
              <a:t>    "type": "object",</a:t>
            </a:r>
          </a:p>
          <a:p>
            <a:r>
              <a:rPr lang="en-US" sz="1400">
                <a:latin typeface="Arial"/>
                <a:cs typeface="Arial"/>
              </a:rPr>
              <a:t>    "properties": {</a:t>
            </a:r>
          </a:p>
          <a:p>
            <a:r>
              <a:rPr lang="en-US" sz="1400">
                <a:latin typeface="Arial"/>
                <a:cs typeface="Arial"/>
              </a:rPr>
              <a:t>        "</a:t>
            </a:r>
            <a:r>
              <a:rPr lang="en-US" sz="1400" err="1">
                <a:latin typeface="Arial"/>
                <a:cs typeface="Arial"/>
              </a:rPr>
              <a:t>YourNeededDefinitionHere</a:t>
            </a:r>
            <a:r>
              <a:rPr lang="en-US" sz="1400">
                <a:latin typeface="Arial"/>
                <a:cs typeface="Arial"/>
              </a:rPr>
              <a:t>": {"$ref" : "#/definitions/</a:t>
            </a:r>
            <a:r>
              <a:rPr lang="en-US" sz="1400" err="1">
                <a:latin typeface="Arial"/>
                <a:cs typeface="Arial"/>
              </a:rPr>
              <a:t>YourNeededDefinitionHere</a:t>
            </a:r>
            <a:r>
              <a:rPr lang="en-US" sz="1400">
                <a:latin typeface="Arial"/>
                <a:cs typeface="Arial"/>
              </a:rPr>
              <a:t>"}</a:t>
            </a:r>
          </a:p>
          <a:p>
            <a:r>
              <a:rPr lang="en-US" sz="1400">
                <a:latin typeface="Arial"/>
                <a:cs typeface="Arial"/>
              </a:rPr>
              <a:t>  },</a:t>
            </a:r>
          </a:p>
          <a:p>
            <a:r>
              <a:rPr lang="en-US" sz="1600">
                <a:latin typeface="Arial"/>
                <a:cs typeface="Arial"/>
              </a:rPr>
              <a:t>Replace both instances of “</a:t>
            </a:r>
            <a:r>
              <a:rPr lang="en-US" sz="1600" err="1">
                <a:latin typeface="Arial"/>
                <a:cs typeface="Arial"/>
              </a:rPr>
              <a:t>YourNeededDefinitionHere</a:t>
            </a:r>
            <a:r>
              <a:rPr lang="en-US" sz="1600">
                <a:latin typeface="Arial"/>
                <a:cs typeface="Arial"/>
              </a:rPr>
              <a:t>” with the definition to be returned</a:t>
            </a: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6" name="Picture 15">
            <a:extLst>
              <a:ext uri="{FF2B5EF4-FFF2-40B4-BE49-F238E27FC236}">
                <a16:creationId xmlns:a16="http://schemas.microsoft.com/office/drawing/2014/main" id="{A2DCEF25-0682-497C-8844-5B7B1129F10F}"/>
              </a:ext>
            </a:extLst>
          </p:cNvPr>
          <p:cNvPicPr>
            <a:picLocks noChangeAspect="1"/>
          </p:cNvPicPr>
          <p:nvPr/>
        </p:nvPicPr>
        <p:blipFill>
          <a:blip r:embed="rId2"/>
          <a:stretch>
            <a:fillRect/>
          </a:stretch>
        </p:blipFill>
        <p:spPr>
          <a:xfrm>
            <a:off x="189456" y="3775583"/>
            <a:ext cx="5135020" cy="1788479"/>
          </a:xfrm>
          <a:prstGeom prst="rect">
            <a:avLst/>
          </a:prstGeom>
        </p:spPr>
      </p:pic>
      <p:pic>
        <p:nvPicPr>
          <p:cNvPr id="18" name="Picture 17">
            <a:extLst>
              <a:ext uri="{FF2B5EF4-FFF2-40B4-BE49-F238E27FC236}">
                <a16:creationId xmlns:a16="http://schemas.microsoft.com/office/drawing/2014/main" id="{63B6AB46-2726-42F6-9E8B-4A90919DD7C9}"/>
              </a:ext>
            </a:extLst>
          </p:cNvPr>
          <p:cNvPicPr>
            <a:picLocks noChangeAspect="1"/>
          </p:cNvPicPr>
          <p:nvPr/>
        </p:nvPicPr>
        <p:blipFill>
          <a:blip r:embed="rId3"/>
          <a:stretch>
            <a:fillRect/>
          </a:stretch>
        </p:blipFill>
        <p:spPr>
          <a:xfrm>
            <a:off x="189454" y="1702676"/>
            <a:ext cx="4990569" cy="1749805"/>
          </a:xfrm>
          <a:prstGeom prst="rect">
            <a:avLst/>
          </a:prstGeom>
        </p:spPr>
      </p:pic>
    </p:spTree>
    <p:extLst>
      <p:ext uri="{BB962C8B-B14F-4D97-AF65-F5344CB8AC3E}">
        <p14:creationId xmlns:p14="http://schemas.microsoft.com/office/powerpoint/2010/main" val="14097694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Swagger Services</a:t>
            </a:r>
          </a:p>
        </p:txBody>
      </p:sp>
      <p:sp>
        <p:nvSpPr>
          <p:cNvPr id="3" name="Text Placeholder 2"/>
          <p:cNvSpPr>
            <a:spLocks noGrp="1"/>
          </p:cNvSpPr>
          <p:nvPr>
            <p:ph type="body" sz="quarter" idx="11"/>
          </p:nvPr>
        </p:nvSpPr>
        <p:spPr/>
        <p:txBody>
          <a:bodyPr/>
          <a:lstStyle/>
          <a:p>
            <a:r>
              <a:rPr lang="en-US"/>
              <a:t>Configuring Backend Swagger service – Setup response payload</a:t>
            </a:r>
          </a:p>
        </p:txBody>
      </p:sp>
      <p:sp>
        <p:nvSpPr>
          <p:cNvPr id="4" name="Text Placeholder 3"/>
          <p:cNvSpPr>
            <a:spLocks noGrp="1"/>
          </p:cNvSpPr>
          <p:nvPr>
            <p:ph type="body" sz="quarter" idx="12"/>
          </p:nvPr>
        </p:nvSpPr>
        <p:spPr>
          <a:xfrm>
            <a:off x="6739467" y="1702676"/>
            <a:ext cx="4990570" cy="4483377"/>
          </a:xfrm>
        </p:spPr>
        <p:txBody>
          <a:bodyPr anchor="t"/>
          <a:lstStyle/>
          <a:p>
            <a:endParaRPr lang="en-US" sz="1600">
              <a:latin typeface="Arial"/>
              <a:cs typeface="Arial"/>
            </a:endParaRPr>
          </a:p>
          <a:p>
            <a:endParaRPr lang="en-US"/>
          </a:p>
          <a:p>
            <a:endParaRPr lang="en-US" sz="1600"/>
          </a:p>
          <a:p>
            <a:endParaRPr lang="en-US" sz="1600"/>
          </a:p>
          <a:p>
            <a:endParaRPr lang="en-US"/>
          </a:p>
        </p:txBody>
      </p:sp>
      <p:sp>
        <p:nvSpPr>
          <p:cNvPr id="5" name="Text Placeholder 3">
            <a:extLst>
              <a:ext uri="{FF2B5EF4-FFF2-40B4-BE49-F238E27FC236}">
                <a16:creationId xmlns:a16="http://schemas.microsoft.com/office/drawing/2014/main" id="{6A525982-6943-4D2A-BD87-19AA48312A83}"/>
              </a:ext>
            </a:extLst>
          </p:cNvPr>
          <p:cNvSpPr txBox="1">
            <a:spLocks/>
          </p:cNvSpPr>
          <p:nvPr/>
        </p:nvSpPr>
        <p:spPr>
          <a:xfrm>
            <a:off x="6813039" y="1823477"/>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10" name="Text Placeholder 3">
            <a:extLst>
              <a:ext uri="{FF2B5EF4-FFF2-40B4-BE49-F238E27FC236}">
                <a16:creationId xmlns:a16="http://schemas.microsoft.com/office/drawing/2014/main" id="{E207B226-8F7E-4EC6-BCD9-A9E0FE7D7072}"/>
              </a:ext>
            </a:extLst>
          </p:cNvPr>
          <p:cNvSpPr txBox="1">
            <a:spLocks/>
          </p:cNvSpPr>
          <p:nvPr/>
        </p:nvSpPr>
        <p:spPr>
          <a:xfrm>
            <a:off x="6813039" y="1975877"/>
            <a:ext cx="530482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Save.</a:t>
            </a:r>
          </a:p>
          <a:p>
            <a:r>
              <a:rPr lang="en-US" sz="1600">
                <a:latin typeface="Arial"/>
                <a:cs typeface="Arial"/>
              </a:rPr>
              <a:t>Highlight (CTL-A) and copy (CTL-C) the schema just created</a:t>
            </a:r>
          </a:p>
          <a:p>
            <a:r>
              <a:rPr lang="en-US" sz="1600">
                <a:latin typeface="Arial"/>
                <a:cs typeface="Arial"/>
              </a:rPr>
              <a:t>Place an Output map on the Assemble</a:t>
            </a:r>
          </a:p>
          <a:p>
            <a:r>
              <a:rPr lang="en-US" sz="1600">
                <a:latin typeface="Arial"/>
                <a:cs typeface="Arial"/>
              </a:rPr>
              <a:t>Rename the Map using the Configure options button</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7" name="Picture 6">
            <a:extLst>
              <a:ext uri="{FF2B5EF4-FFF2-40B4-BE49-F238E27FC236}">
                <a16:creationId xmlns:a16="http://schemas.microsoft.com/office/drawing/2014/main" id="{46D3CAFA-7221-4794-915B-0324D217D5C6}"/>
              </a:ext>
            </a:extLst>
          </p:cNvPr>
          <p:cNvPicPr>
            <a:picLocks noChangeAspect="1"/>
          </p:cNvPicPr>
          <p:nvPr/>
        </p:nvPicPr>
        <p:blipFill>
          <a:blip r:embed="rId2"/>
          <a:stretch>
            <a:fillRect/>
          </a:stretch>
        </p:blipFill>
        <p:spPr>
          <a:xfrm>
            <a:off x="300037" y="1823477"/>
            <a:ext cx="3781425" cy="1790700"/>
          </a:xfrm>
          <a:prstGeom prst="rect">
            <a:avLst/>
          </a:prstGeom>
        </p:spPr>
      </p:pic>
      <p:pic>
        <p:nvPicPr>
          <p:cNvPr id="11" name="Picture 10">
            <a:extLst>
              <a:ext uri="{FF2B5EF4-FFF2-40B4-BE49-F238E27FC236}">
                <a16:creationId xmlns:a16="http://schemas.microsoft.com/office/drawing/2014/main" id="{F033CB0C-9D08-4222-B78D-1A193810A56D}"/>
              </a:ext>
            </a:extLst>
          </p:cNvPr>
          <p:cNvPicPr>
            <a:picLocks noChangeAspect="1"/>
          </p:cNvPicPr>
          <p:nvPr/>
        </p:nvPicPr>
        <p:blipFill>
          <a:blip r:embed="rId3"/>
          <a:stretch>
            <a:fillRect/>
          </a:stretch>
        </p:blipFill>
        <p:spPr>
          <a:xfrm>
            <a:off x="300037" y="3819525"/>
            <a:ext cx="3009900" cy="971550"/>
          </a:xfrm>
          <a:prstGeom prst="rect">
            <a:avLst/>
          </a:prstGeom>
        </p:spPr>
      </p:pic>
      <p:pic>
        <p:nvPicPr>
          <p:cNvPr id="14" name="Picture 13">
            <a:extLst>
              <a:ext uri="{FF2B5EF4-FFF2-40B4-BE49-F238E27FC236}">
                <a16:creationId xmlns:a16="http://schemas.microsoft.com/office/drawing/2014/main" id="{5F52CC39-6C7B-4895-9361-DFF0BEBA2C5A}"/>
              </a:ext>
            </a:extLst>
          </p:cNvPr>
          <p:cNvPicPr>
            <a:picLocks noChangeAspect="1"/>
          </p:cNvPicPr>
          <p:nvPr/>
        </p:nvPicPr>
        <p:blipFill>
          <a:blip r:embed="rId4"/>
          <a:stretch>
            <a:fillRect/>
          </a:stretch>
        </p:blipFill>
        <p:spPr>
          <a:xfrm>
            <a:off x="300037" y="4996423"/>
            <a:ext cx="2524125" cy="1095375"/>
          </a:xfrm>
          <a:prstGeom prst="rect">
            <a:avLst/>
          </a:prstGeom>
        </p:spPr>
      </p:pic>
    </p:spTree>
    <p:extLst>
      <p:ext uri="{BB962C8B-B14F-4D97-AF65-F5344CB8AC3E}">
        <p14:creationId xmlns:p14="http://schemas.microsoft.com/office/powerpoint/2010/main" val="33871265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Swagger Services</a:t>
            </a:r>
          </a:p>
        </p:txBody>
      </p:sp>
      <p:sp>
        <p:nvSpPr>
          <p:cNvPr id="3" name="Text Placeholder 2"/>
          <p:cNvSpPr>
            <a:spLocks noGrp="1"/>
          </p:cNvSpPr>
          <p:nvPr>
            <p:ph type="body" sz="quarter" idx="11"/>
          </p:nvPr>
        </p:nvSpPr>
        <p:spPr/>
        <p:txBody>
          <a:bodyPr/>
          <a:lstStyle/>
          <a:p>
            <a:r>
              <a:rPr lang="en-US"/>
              <a:t>Configuring Backend Swagger service – Setup response payload</a:t>
            </a:r>
          </a:p>
        </p:txBody>
      </p:sp>
      <p:sp>
        <p:nvSpPr>
          <p:cNvPr id="4" name="Text Placeholder 3"/>
          <p:cNvSpPr>
            <a:spLocks noGrp="1"/>
          </p:cNvSpPr>
          <p:nvPr>
            <p:ph type="body" sz="quarter" idx="12"/>
          </p:nvPr>
        </p:nvSpPr>
        <p:spPr>
          <a:xfrm>
            <a:off x="6739467" y="1702676"/>
            <a:ext cx="4990570" cy="4483377"/>
          </a:xfrm>
        </p:spPr>
        <p:txBody>
          <a:bodyPr anchor="t"/>
          <a:lstStyle/>
          <a:p>
            <a:endParaRPr lang="en-US" sz="1600">
              <a:latin typeface="Arial"/>
              <a:cs typeface="Arial"/>
            </a:endParaRPr>
          </a:p>
          <a:p>
            <a:endParaRPr lang="en-US"/>
          </a:p>
          <a:p>
            <a:endParaRPr lang="en-US" sz="1600"/>
          </a:p>
          <a:p>
            <a:endParaRPr lang="en-US" sz="1600"/>
          </a:p>
          <a:p>
            <a:endParaRPr lang="en-US"/>
          </a:p>
        </p:txBody>
      </p:sp>
      <p:sp>
        <p:nvSpPr>
          <p:cNvPr id="5" name="Text Placeholder 3">
            <a:extLst>
              <a:ext uri="{FF2B5EF4-FFF2-40B4-BE49-F238E27FC236}">
                <a16:creationId xmlns:a16="http://schemas.microsoft.com/office/drawing/2014/main" id="{6A525982-6943-4D2A-BD87-19AA48312A83}"/>
              </a:ext>
            </a:extLst>
          </p:cNvPr>
          <p:cNvSpPr txBox="1">
            <a:spLocks/>
          </p:cNvSpPr>
          <p:nvPr/>
        </p:nvSpPr>
        <p:spPr>
          <a:xfrm>
            <a:off x="6813039" y="1823477"/>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10" name="Text Placeholder 3">
            <a:extLst>
              <a:ext uri="{FF2B5EF4-FFF2-40B4-BE49-F238E27FC236}">
                <a16:creationId xmlns:a16="http://schemas.microsoft.com/office/drawing/2014/main" id="{E207B226-8F7E-4EC6-BCD9-A9E0FE7D7072}"/>
              </a:ext>
            </a:extLst>
          </p:cNvPr>
          <p:cNvSpPr txBox="1">
            <a:spLocks/>
          </p:cNvSpPr>
          <p:nvPr/>
        </p:nvSpPr>
        <p:spPr>
          <a:xfrm>
            <a:off x="6813039" y="1975877"/>
            <a:ext cx="530482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Open the Map </a:t>
            </a:r>
          </a:p>
          <a:p>
            <a:r>
              <a:rPr lang="en-US" sz="1600">
                <a:latin typeface="Arial"/>
                <a:cs typeface="Arial"/>
              </a:rPr>
              <a:t>Click the Edit inputs pencil on the Input side</a:t>
            </a:r>
          </a:p>
          <a:p>
            <a:r>
              <a:rPr lang="en-US" sz="1600">
                <a:latin typeface="Arial"/>
                <a:cs typeface="Arial"/>
              </a:rPr>
              <a:t>Click Add input</a:t>
            </a:r>
          </a:p>
          <a:p>
            <a:r>
              <a:rPr lang="en-US" sz="1600">
                <a:latin typeface="Arial"/>
                <a:cs typeface="Arial"/>
              </a:rPr>
              <a:t>Select Inline schema from the Definition </a:t>
            </a: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8" name="Picture 7">
            <a:extLst>
              <a:ext uri="{FF2B5EF4-FFF2-40B4-BE49-F238E27FC236}">
                <a16:creationId xmlns:a16="http://schemas.microsoft.com/office/drawing/2014/main" id="{FA680573-EA38-4A4B-8121-D785B76CC22C}"/>
              </a:ext>
            </a:extLst>
          </p:cNvPr>
          <p:cNvPicPr>
            <a:picLocks noChangeAspect="1"/>
          </p:cNvPicPr>
          <p:nvPr/>
        </p:nvPicPr>
        <p:blipFill>
          <a:blip r:embed="rId2"/>
          <a:stretch>
            <a:fillRect/>
          </a:stretch>
        </p:blipFill>
        <p:spPr>
          <a:xfrm>
            <a:off x="195262" y="1702676"/>
            <a:ext cx="2447925" cy="952500"/>
          </a:xfrm>
          <a:prstGeom prst="rect">
            <a:avLst/>
          </a:prstGeom>
        </p:spPr>
      </p:pic>
      <p:pic>
        <p:nvPicPr>
          <p:cNvPr id="12" name="Picture 11">
            <a:extLst>
              <a:ext uri="{FF2B5EF4-FFF2-40B4-BE49-F238E27FC236}">
                <a16:creationId xmlns:a16="http://schemas.microsoft.com/office/drawing/2014/main" id="{90913504-A4A1-4FEF-98D6-E6A1545035E6}"/>
              </a:ext>
            </a:extLst>
          </p:cNvPr>
          <p:cNvPicPr>
            <a:picLocks noChangeAspect="1"/>
          </p:cNvPicPr>
          <p:nvPr/>
        </p:nvPicPr>
        <p:blipFill>
          <a:blip r:embed="rId3"/>
          <a:stretch>
            <a:fillRect/>
          </a:stretch>
        </p:blipFill>
        <p:spPr>
          <a:xfrm>
            <a:off x="201868" y="2890837"/>
            <a:ext cx="1905000" cy="1076325"/>
          </a:xfrm>
          <a:prstGeom prst="rect">
            <a:avLst/>
          </a:prstGeom>
        </p:spPr>
      </p:pic>
      <p:pic>
        <p:nvPicPr>
          <p:cNvPr id="15" name="Picture 14">
            <a:extLst>
              <a:ext uri="{FF2B5EF4-FFF2-40B4-BE49-F238E27FC236}">
                <a16:creationId xmlns:a16="http://schemas.microsoft.com/office/drawing/2014/main" id="{468DDD9E-1B8C-4CE1-B07D-1585931CBA3B}"/>
              </a:ext>
            </a:extLst>
          </p:cNvPr>
          <p:cNvPicPr>
            <a:picLocks noChangeAspect="1"/>
          </p:cNvPicPr>
          <p:nvPr/>
        </p:nvPicPr>
        <p:blipFill>
          <a:blip r:embed="rId4"/>
          <a:stretch>
            <a:fillRect/>
          </a:stretch>
        </p:blipFill>
        <p:spPr>
          <a:xfrm>
            <a:off x="195262" y="4135711"/>
            <a:ext cx="5010150" cy="2066925"/>
          </a:xfrm>
          <a:prstGeom prst="rect">
            <a:avLst/>
          </a:prstGeom>
        </p:spPr>
      </p:pic>
    </p:spTree>
    <p:extLst>
      <p:ext uri="{BB962C8B-B14F-4D97-AF65-F5344CB8AC3E}">
        <p14:creationId xmlns:p14="http://schemas.microsoft.com/office/powerpoint/2010/main" val="45910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Swagger Services</a:t>
            </a:r>
          </a:p>
        </p:txBody>
      </p:sp>
      <p:sp>
        <p:nvSpPr>
          <p:cNvPr id="3" name="Text Placeholder 2"/>
          <p:cNvSpPr>
            <a:spLocks noGrp="1"/>
          </p:cNvSpPr>
          <p:nvPr>
            <p:ph type="body" sz="quarter" idx="11"/>
          </p:nvPr>
        </p:nvSpPr>
        <p:spPr/>
        <p:txBody>
          <a:bodyPr/>
          <a:lstStyle/>
          <a:p>
            <a:r>
              <a:rPr lang="en-US"/>
              <a:t>Configuring Backend Swagger service – Setup response payload</a:t>
            </a:r>
          </a:p>
        </p:txBody>
      </p:sp>
      <p:sp>
        <p:nvSpPr>
          <p:cNvPr id="4" name="Text Placeholder 3"/>
          <p:cNvSpPr>
            <a:spLocks noGrp="1"/>
          </p:cNvSpPr>
          <p:nvPr>
            <p:ph type="body" sz="quarter" idx="12"/>
          </p:nvPr>
        </p:nvSpPr>
        <p:spPr>
          <a:xfrm>
            <a:off x="6739467" y="1702676"/>
            <a:ext cx="4990570" cy="4483377"/>
          </a:xfrm>
        </p:spPr>
        <p:txBody>
          <a:bodyPr anchor="t"/>
          <a:lstStyle/>
          <a:p>
            <a:endParaRPr lang="en-US" sz="1600">
              <a:latin typeface="Arial"/>
              <a:cs typeface="Arial"/>
            </a:endParaRPr>
          </a:p>
          <a:p>
            <a:endParaRPr lang="en-US"/>
          </a:p>
          <a:p>
            <a:endParaRPr lang="en-US" sz="1600"/>
          </a:p>
          <a:p>
            <a:endParaRPr lang="en-US" sz="1600"/>
          </a:p>
          <a:p>
            <a:endParaRPr lang="en-US"/>
          </a:p>
        </p:txBody>
      </p:sp>
      <p:sp>
        <p:nvSpPr>
          <p:cNvPr id="5" name="Text Placeholder 3">
            <a:extLst>
              <a:ext uri="{FF2B5EF4-FFF2-40B4-BE49-F238E27FC236}">
                <a16:creationId xmlns:a16="http://schemas.microsoft.com/office/drawing/2014/main" id="{6A525982-6943-4D2A-BD87-19AA48312A83}"/>
              </a:ext>
            </a:extLst>
          </p:cNvPr>
          <p:cNvSpPr txBox="1">
            <a:spLocks/>
          </p:cNvSpPr>
          <p:nvPr/>
        </p:nvSpPr>
        <p:spPr>
          <a:xfrm>
            <a:off x="6813039" y="1823477"/>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10" name="Text Placeholder 3">
            <a:extLst>
              <a:ext uri="{FF2B5EF4-FFF2-40B4-BE49-F238E27FC236}">
                <a16:creationId xmlns:a16="http://schemas.microsoft.com/office/drawing/2014/main" id="{E207B226-8F7E-4EC6-BCD9-A9E0FE7D7072}"/>
              </a:ext>
            </a:extLst>
          </p:cNvPr>
          <p:cNvSpPr txBox="1">
            <a:spLocks/>
          </p:cNvSpPr>
          <p:nvPr/>
        </p:nvSpPr>
        <p:spPr>
          <a:xfrm>
            <a:off x="6813039" y="1975877"/>
            <a:ext cx="530482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Select Schema as JSON tab and paste in the copied content</a:t>
            </a:r>
          </a:p>
          <a:p>
            <a:r>
              <a:rPr lang="en-US" sz="1600">
                <a:latin typeface="Arial"/>
                <a:cs typeface="Arial"/>
              </a:rPr>
              <a:t>Click Done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7" name="Picture 6">
            <a:extLst>
              <a:ext uri="{FF2B5EF4-FFF2-40B4-BE49-F238E27FC236}">
                <a16:creationId xmlns:a16="http://schemas.microsoft.com/office/drawing/2014/main" id="{270A4B4D-3FCB-4E73-BE72-F688886EC2B9}"/>
              </a:ext>
            </a:extLst>
          </p:cNvPr>
          <p:cNvPicPr>
            <a:picLocks noChangeAspect="1"/>
          </p:cNvPicPr>
          <p:nvPr/>
        </p:nvPicPr>
        <p:blipFill>
          <a:blip r:embed="rId2"/>
          <a:stretch>
            <a:fillRect/>
          </a:stretch>
        </p:blipFill>
        <p:spPr>
          <a:xfrm>
            <a:off x="247650" y="1702676"/>
            <a:ext cx="5410200" cy="2847975"/>
          </a:xfrm>
          <a:prstGeom prst="rect">
            <a:avLst/>
          </a:prstGeom>
        </p:spPr>
      </p:pic>
    </p:spTree>
    <p:extLst>
      <p:ext uri="{BB962C8B-B14F-4D97-AF65-F5344CB8AC3E}">
        <p14:creationId xmlns:p14="http://schemas.microsoft.com/office/powerpoint/2010/main" val="22529304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Swagger Services</a:t>
            </a:r>
          </a:p>
        </p:txBody>
      </p:sp>
      <p:sp>
        <p:nvSpPr>
          <p:cNvPr id="3" name="Text Placeholder 2"/>
          <p:cNvSpPr>
            <a:spLocks noGrp="1"/>
          </p:cNvSpPr>
          <p:nvPr>
            <p:ph type="body" sz="quarter" idx="11"/>
          </p:nvPr>
        </p:nvSpPr>
        <p:spPr/>
        <p:txBody>
          <a:bodyPr/>
          <a:lstStyle/>
          <a:p>
            <a:r>
              <a:rPr lang="en-US"/>
              <a:t>Configuring Backend Swagger service – Map response</a:t>
            </a:r>
          </a:p>
        </p:txBody>
      </p:sp>
      <p:sp>
        <p:nvSpPr>
          <p:cNvPr id="4" name="Text Placeholder 3"/>
          <p:cNvSpPr>
            <a:spLocks noGrp="1"/>
          </p:cNvSpPr>
          <p:nvPr>
            <p:ph type="body" sz="quarter" idx="12"/>
          </p:nvPr>
        </p:nvSpPr>
        <p:spPr>
          <a:xfrm>
            <a:off x="6739467" y="1702676"/>
            <a:ext cx="4990570" cy="4483377"/>
          </a:xfrm>
        </p:spPr>
        <p:txBody>
          <a:bodyPr anchor="t"/>
          <a:lstStyle/>
          <a:p>
            <a:endParaRPr lang="en-US" sz="1600">
              <a:latin typeface="Arial"/>
              <a:cs typeface="Arial"/>
            </a:endParaRPr>
          </a:p>
          <a:p>
            <a:endParaRPr lang="en-US"/>
          </a:p>
          <a:p>
            <a:endParaRPr lang="en-US" sz="1600"/>
          </a:p>
          <a:p>
            <a:endParaRPr lang="en-US" sz="1600"/>
          </a:p>
          <a:p>
            <a:endParaRPr lang="en-US"/>
          </a:p>
        </p:txBody>
      </p:sp>
      <p:sp>
        <p:nvSpPr>
          <p:cNvPr id="5" name="Text Placeholder 3">
            <a:extLst>
              <a:ext uri="{FF2B5EF4-FFF2-40B4-BE49-F238E27FC236}">
                <a16:creationId xmlns:a16="http://schemas.microsoft.com/office/drawing/2014/main" id="{6A525982-6943-4D2A-BD87-19AA48312A83}"/>
              </a:ext>
            </a:extLst>
          </p:cNvPr>
          <p:cNvSpPr txBox="1">
            <a:spLocks/>
          </p:cNvSpPr>
          <p:nvPr/>
        </p:nvSpPr>
        <p:spPr>
          <a:xfrm>
            <a:off x="6813039" y="1823477"/>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10" name="Text Placeholder 3">
            <a:extLst>
              <a:ext uri="{FF2B5EF4-FFF2-40B4-BE49-F238E27FC236}">
                <a16:creationId xmlns:a16="http://schemas.microsoft.com/office/drawing/2014/main" id="{E207B226-8F7E-4EC6-BCD9-A9E0FE7D7072}"/>
              </a:ext>
            </a:extLst>
          </p:cNvPr>
          <p:cNvSpPr txBox="1">
            <a:spLocks/>
          </p:cNvSpPr>
          <p:nvPr/>
        </p:nvSpPr>
        <p:spPr>
          <a:xfrm>
            <a:off x="6813039" y="1975877"/>
            <a:ext cx="530482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1" name="Picture 10">
            <a:extLst>
              <a:ext uri="{FF2B5EF4-FFF2-40B4-BE49-F238E27FC236}">
                <a16:creationId xmlns:a16="http://schemas.microsoft.com/office/drawing/2014/main" id="{C05FA98E-7548-45AB-AF5D-B34F443E1762}"/>
              </a:ext>
            </a:extLst>
          </p:cNvPr>
          <p:cNvPicPr>
            <a:picLocks noChangeAspect="1"/>
          </p:cNvPicPr>
          <p:nvPr/>
        </p:nvPicPr>
        <p:blipFill>
          <a:blip r:embed="rId2"/>
          <a:stretch>
            <a:fillRect/>
          </a:stretch>
        </p:blipFill>
        <p:spPr>
          <a:xfrm>
            <a:off x="255570" y="1823477"/>
            <a:ext cx="6410325" cy="1152525"/>
          </a:xfrm>
          <a:prstGeom prst="rect">
            <a:avLst/>
          </a:prstGeom>
        </p:spPr>
      </p:pic>
      <p:sp>
        <p:nvSpPr>
          <p:cNvPr id="12" name="Text Placeholder 3">
            <a:extLst>
              <a:ext uri="{FF2B5EF4-FFF2-40B4-BE49-F238E27FC236}">
                <a16:creationId xmlns:a16="http://schemas.microsoft.com/office/drawing/2014/main" id="{7F85206E-D281-4E5F-AACC-12A8A79CE116}"/>
              </a:ext>
            </a:extLst>
          </p:cNvPr>
          <p:cNvSpPr txBox="1">
            <a:spLocks/>
          </p:cNvSpPr>
          <p:nvPr/>
        </p:nvSpPr>
        <p:spPr>
          <a:xfrm>
            <a:off x="6965439" y="2128277"/>
            <a:ext cx="530482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Click the Edit outputs pencil on the output side</a:t>
            </a:r>
          </a:p>
          <a:p>
            <a:r>
              <a:rPr lang="en-US" sz="1600">
                <a:latin typeface="Arial"/>
                <a:cs typeface="Arial"/>
              </a:rPr>
              <a:t>Click Add outputs for operation…</a:t>
            </a:r>
          </a:p>
          <a:p>
            <a:r>
              <a:rPr lang="en-US" sz="1600">
                <a:latin typeface="Arial"/>
                <a:cs typeface="Arial"/>
              </a:rPr>
              <a:t>Click GET or the operation to be mapped</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4" name="Picture 13">
            <a:extLst>
              <a:ext uri="{FF2B5EF4-FFF2-40B4-BE49-F238E27FC236}">
                <a16:creationId xmlns:a16="http://schemas.microsoft.com/office/drawing/2014/main" id="{9FD1DC90-1C6E-4528-A303-F4833C53636A}"/>
              </a:ext>
            </a:extLst>
          </p:cNvPr>
          <p:cNvPicPr>
            <a:picLocks noChangeAspect="1"/>
          </p:cNvPicPr>
          <p:nvPr/>
        </p:nvPicPr>
        <p:blipFill>
          <a:blip r:embed="rId3"/>
          <a:stretch>
            <a:fillRect/>
          </a:stretch>
        </p:blipFill>
        <p:spPr>
          <a:xfrm>
            <a:off x="255570" y="3186178"/>
            <a:ext cx="2828925" cy="1162050"/>
          </a:xfrm>
          <a:prstGeom prst="rect">
            <a:avLst/>
          </a:prstGeom>
        </p:spPr>
      </p:pic>
      <p:pic>
        <p:nvPicPr>
          <p:cNvPr id="16" name="Picture 15">
            <a:extLst>
              <a:ext uri="{FF2B5EF4-FFF2-40B4-BE49-F238E27FC236}">
                <a16:creationId xmlns:a16="http://schemas.microsoft.com/office/drawing/2014/main" id="{01BD9014-C96B-4424-A2E4-9A224F965516}"/>
              </a:ext>
            </a:extLst>
          </p:cNvPr>
          <p:cNvPicPr>
            <a:picLocks noChangeAspect="1"/>
          </p:cNvPicPr>
          <p:nvPr/>
        </p:nvPicPr>
        <p:blipFill>
          <a:blip r:embed="rId4"/>
          <a:stretch>
            <a:fillRect/>
          </a:stretch>
        </p:blipFill>
        <p:spPr>
          <a:xfrm>
            <a:off x="255570" y="4558404"/>
            <a:ext cx="2619375" cy="1323975"/>
          </a:xfrm>
          <a:prstGeom prst="rect">
            <a:avLst/>
          </a:prstGeom>
        </p:spPr>
      </p:pic>
    </p:spTree>
    <p:extLst>
      <p:ext uri="{BB962C8B-B14F-4D97-AF65-F5344CB8AC3E}">
        <p14:creationId xmlns:p14="http://schemas.microsoft.com/office/powerpoint/2010/main" val="18359838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Swagger Services</a:t>
            </a:r>
          </a:p>
        </p:txBody>
      </p:sp>
      <p:sp>
        <p:nvSpPr>
          <p:cNvPr id="3" name="Text Placeholder 2"/>
          <p:cNvSpPr>
            <a:spLocks noGrp="1"/>
          </p:cNvSpPr>
          <p:nvPr>
            <p:ph type="body" sz="quarter" idx="11"/>
          </p:nvPr>
        </p:nvSpPr>
        <p:spPr/>
        <p:txBody>
          <a:bodyPr/>
          <a:lstStyle/>
          <a:p>
            <a:r>
              <a:rPr lang="en-US"/>
              <a:t>Configuring Backend Swagger service – Map response</a:t>
            </a:r>
          </a:p>
        </p:txBody>
      </p:sp>
      <p:sp>
        <p:nvSpPr>
          <p:cNvPr id="4" name="Text Placeholder 3"/>
          <p:cNvSpPr>
            <a:spLocks noGrp="1"/>
          </p:cNvSpPr>
          <p:nvPr>
            <p:ph type="body" sz="quarter" idx="12"/>
          </p:nvPr>
        </p:nvSpPr>
        <p:spPr>
          <a:xfrm>
            <a:off x="6739467" y="1702676"/>
            <a:ext cx="4990570" cy="4483377"/>
          </a:xfrm>
        </p:spPr>
        <p:txBody>
          <a:bodyPr anchor="t"/>
          <a:lstStyle/>
          <a:p>
            <a:endParaRPr lang="en-US" sz="1600">
              <a:latin typeface="Arial"/>
              <a:cs typeface="Arial"/>
            </a:endParaRPr>
          </a:p>
          <a:p>
            <a:endParaRPr lang="en-US"/>
          </a:p>
          <a:p>
            <a:endParaRPr lang="en-US" sz="1600"/>
          </a:p>
          <a:p>
            <a:endParaRPr lang="en-US" sz="1600"/>
          </a:p>
          <a:p>
            <a:endParaRPr lang="en-US"/>
          </a:p>
        </p:txBody>
      </p:sp>
      <p:sp>
        <p:nvSpPr>
          <p:cNvPr id="5" name="Text Placeholder 3">
            <a:extLst>
              <a:ext uri="{FF2B5EF4-FFF2-40B4-BE49-F238E27FC236}">
                <a16:creationId xmlns:a16="http://schemas.microsoft.com/office/drawing/2014/main" id="{6A525982-6943-4D2A-BD87-19AA48312A83}"/>
              </a:ext>
            </a:extLst>
          </p:cNvPr>
          <p:cNvSpPr txBox="1">
            <a:spLocks/>
          </p:cNvSpPr>
          <p:nvPr/>
        </p:nvSpPr>
        <p:spPr>
          <a:xfrm>
            <a:off x="6813039" y="1823477"/>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10" name="Text Placeholder 3">
            <a:extLst>
              <a:ext uri="{FF2B5EF4-FFF2-40B4-BE49-F238E27FC236}">
                <a16:creationId xmlns:a16="http://schemas.microsoft.com/office/drawing/2014/main" id="{E207B226-8F7E-4EC6-BCD9-A9E0FE7D7072}"/>
              </a:ext>
            </a:extLst>
          </p:cNvPr>
          <p:cNvSpPr txBox="1">
            <a:spLocks/>
          </p:cNvSpPr>
          <p:nvPr/>
        </p:nvSpPr>
        <p:spPr>
          <a:xfrm>
            <a:off x="6813039" y="1975877"/>
            <a:ext cx="530482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12" name="Text Placeholder 3">
            <a:extLst>
              <a:ext uri="{FF2B5EF4-FFF2-40B4-BE49-F238E27FC236}">
                <a16:creationId xmlns:a16="http://schemas.microsoft.com/office/drawing/2014/main" id="{7F85206E-D281-4E5F-AACC-12A8A79CE116}"/>
              </a:ext>
            </a:extLst>
          </p:cNvPr>
          <p:cNvSpPr txBox="1">
            <a:spLocks/>
          </p:cNvSpPr>
          <p:nvPr/>
        </p:nvSpPr>
        <p:spPr>
          <a:xfrm>
            <a:off x="6965439" y="2128277"/>
            <a:ext cx="515242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The Response for the operation should be selected and displayed in the Definition</a:t>
            </a:r>
          </a:p>
          <a:p>
            <a:r>
              <a:rPr lang="en-US" sz="1600">
                <a:latin typeface="Arial"/>
                <a:cs typeface="Arial"/>
              </a:rPr>
              <a:t>Select application/JSON for the Content type</a:t>
            </a:r>
          </a:p>
          <a:p>
            <a:r>
              <a:rPr lang="en-US" sz="1600">
                <a:latin typeface="Arial"/>
                <a:cs typeface="Arial"/>
              </a:rPr>
              <a:t>Click Done</a:t>
            </a:r>
          </a:p>
          <a:p>
            <a:r>
              <a:rPr lang="en-US" sz="1600">
                <a:latin typeface="Arial"/>
                <a:cs typeface="Arial"/>
              </a:rPr>
              <a:t>Map the Input to the Output</a:t>
            </a:r>
          </a:p>
          <a:p>
            <a:r>
              <a:rPr lang="en-US" sz="1600">
                <a:latin typeface="Arial"/>
                <a:cs typeface="Arial"/>
              </a:rPr>
              <a:t>Click on the Source Attribute (dot) and connect to the target service attribute (dot) and click</a:t>
            </a:r>
          </a:p>
          <a:p>
            <a:r>
              <a:rPr lang="en-US" sz="1600">
                <a:latin typeface="Arial"/>
                <a:cs typeface="Arial"/>
              </a:rPr>
              <a:t>Click Save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9" name="Picture 8">
            <a:extLst>
              <a:ext uri="{FF2B5EF4-FFF2-40B4-BE49-F238E27FC236}">
                <a16:creationId xmlns:a16="http://schemas.microsoft.com/office/drawing/2014/main" id="{4C3B4825-4212-4103-AC90-67D13D23177B}"/>
              </a:ext>
            </a:extLst>
          </p:cNvPr>
          <p:cNvPicPr>
            <a:picLocks noChangeAspect="1"/>
          </p:cNvPicPr>
          <p:nvPr/>
        </p:nvPicPr>
        <p:blipFill>
          <a:blip r:embed="rId2"/>
          <a:stretch>
            <a:fillRect/>
          </a:stretch>
        </p:blipFill>
        <p:spPr>
          <a:xfrm>
            <a:off x="209551" y="1702677"/>
            <a:ext cx="5464740" cy="2104544"/>
          </a:xfrm>
          <a:prstGeom prst="rect">
            <a:avLst/>
          </a:prstGeom>
        </p:spPr>
      </p:pic>
      <p:pic>
        <p:nvPicPr>
          <p:cNvPr id="15" name="Picture 14">
            <a:extLst>
              <a:ext uri="{FF2B5EF4-FFF2-40B4-BE49-F238E27FC236}">
                <a16:creationId xmlns:a16="http://schemas.microsoft.com/office/drawing/2014/main" id="{404177B1-E7F5-4DC9-B7BB-EAE0A35F0362}"/>
              </a:ext>
            </a:extLst>
          </p:cNvPr>
          <p:cNvPicPr>
            <a:picLocks noChangeAspect="1"/>
          </p:cNvPicPr>
          <p:nvPr/>
        </p:nvPicPr>
        <p:blipFill>
          <a:blip r:embed="rId3"/>
          <a:stretch>
            <a:fillRect/>
          </a:stretch>
        </p:blipFill>
        <p:spPr>
          <a:xfrm>
            <a:off x="209551" y="4001556"/>
            <a:ext cx="5464741" cy="2307534"/>
          </a:xfrm>
          <a:prstGeom prst="rect">
            <a:avLst/>
          </a:prstGeom>
        </p:spPr>
      </p:pic>
    </p:spTree>
    <p:extLst>
      <p:ext uri="{BB962C8B-B14F-4D97-AF65-F5344CB8AC3E}">
        <p14:creationId xmlns:p14="http://schemas.microsoft.com/office/powerpoint/2010/main" val="1565861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p:txBody>
          <a:bodyPr/>
          <a:lstStyle/>
          <a:p>
            <a:r>
              <a:rPr lang="en-US"/>
              <a:t>Mapping to XML Services</a:t>
            </a:r>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Introduction</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11272838" cy="4174867"/>
          </a:xfrm>
        </p:spPr>
        <p:txBody>
          <a:bodyPr lIns="91440" tIns="45720" rIns="91440" bIns="45720" anchor="t"/>
          <a:lstStyle/>
          <a:p>
            <a:r>
              <a:rPr lang="en-US" sz="1600"/>
              <a:t>This section describes how </a:t>
            </a:r>
            <a:r>
              <a:rPr lang="en-US" sz="1600">
                <a:latin typeface="Arial"/>
                <a:cs typeface="Arial"/>
              </a:rPr>
              <a:t>to create a Swagger API that maps to an XML service.  The XML POST service is internally generated by an IA using RSA in the REST stream. </a:t>
            </a:r>
          </a:p>
          <a:p>
            <a:r>
              <a:rPr lang="en-US" sz="1600">
                <a:latin typeface="Arial"/>
                <a:cs typeface="Arial"/>
              </a:rPr>
              <a:t>Some examples for using this process are:</a:t>
            </a:r>
          </a:p>
          <a:p>
            <a:pPr marL="285750" indent="-285750">
              <a:buFont typeface="Arial" panose="020B0604020202020204" pitchFamily="34" charset="0"/>
              <a:buChar char="•"/>
            </a:pPr>
            <a:r>
              <a:rPr lang="en-US" sz="1600">
                <a:latin typeface="Arial"/>
                <a:cs typeface="Arial"/>
              </a:rPr>
              <a:t>To expose an XML POST based service through a REST API.</a:t>
            </a:r>
          </a:p>
          <a:p>
            <a:pPr marL="285750" indent="-285750">
              <a:buFont typeface="Arial" panose="020B0604020202020204" pitchFamily="34" charset="0"/>
              <a:buChar char="•"/>
            </a:pPr>
            <a:r>
              <a:rPr lang="en-US" sz="1600">
                <a:latin typeface="Arial"/>
                <a:cs typeface="Arial"/>
              </a:rPr>
              <a:t>To expose a SOAP service as a REST API.</a:t>
            </a:r>
          </a:p>
          <a:p>
            <a:pPr marL="285750" indent="-285750">
              <a:buFont typeface="Arial" panose="020B0604020202020204" pitchFamily="34" charset="0"/>
              <a:buChar char="•"/>
            </a:pPr>
            <a:r>
              <a:rPr lang="en-US" sz="1600">
                <a:latin typeface="Arial"/>
                <a:cs typeface="Arial"/>
              </a:rPr>
              <a:t>Reduce the payload for a mobile app.</a:t>
            </a:r>
          </a:p>
          <a:p>
            <a:r>
              <a:rPr lang="en-US" sz="1600">
                <a:latin typeface="Arial"/>
                <a:cs typeface="Arial"/>
              </a:rPr>
              <a:t>Because XML POST services implemented in IIB always return http 200, special attention should be paid to error mapping.</a:t>
            </a:r>
          </a:p>
          <a:p>
            <a:endParaRPr lang="en-US" sz="1600"/>
          </a:p>
          <a:p>
            <a:endParaRPr lang="en-US" sz="1600"/>
          </a:p>
          <a:p>
            <a:endParaRPr lang="en-US" sz="1600"/>
          </a:p>
        </p:txBody>
      </p:sp>
    </p:spTree>
    <p:extLst>
      <p:ext uri="{BB962C8B-B14F-4D97-AF65-F5344CB8AC3E}">
        <p14:creationId xmlns:p14="http://schemas.microsoft.com/office/powerpoint/2010/main" val="37708612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a:t>Swagger based API mapped to an XML based service</a:t>
            </a:r>
          </a:p>
        </p:txBody>
      </p:sp>
      <p:sp>
        <p:nvSpPr>
          <p:cNvPr id="4" name="Text Placeholder 3"/>
          <p:cNvSpPr>
            <a:spLocks noGrp="1"/>
          </p:cNvSpPr>
          <p:nvPr>
            <p:ph type="body" sz="quarter" idx="12"/>
          </p:nvPr>
        </p:nvSpPr>
        <p:spPr/>
        <p:txBody>
          <a:bodyPr anchor="t"/>
          <a:lstStyle/>
          <a:p>
            <a:r>
              <a:rPr lang="en-US" sz="1600">
                <a:latin typeface="Arial"/>
                <a:cs typeface="Arial"/>
              </a:rPr>
              <a:t>An API has already been created from YAML</a:t>
            </a:r>
          </a:p>
          <a:p>
            <a:r>
              <a:rPr lang="en-US" sz="1600">
                <a:latin typeface="Arial"/>
                <a:cs typeface="Arial"/>
              </a:rPr>
              <a:t>Import a .zip IIB service that only includes .</a:t>
            </a:r>
            <a:r>
              <a:rPr lang="en-US" sz="1600" err="1">
                <a:latin typeface="Arial"/>
                <a:cs typeface="Arial"/>
              </a:rPr>
              <a:t>wsdl</a:t>
            </a:r>
            <a:r>
              <a:rPr lang="en-US" sz="1600">
                <a:latin typeface="Arial"/>
                <a:cs typeface="Arial"/>
              </a:rPr>
              <a:t>, and .</a:t>
            </a:r>
            <a:r>
              <a:rPr lang="en-US" sz="1600" err="1">
                <a:latin typeface="Arial"/>
                <a:cs typeface="Arial"/>
              </a:rPr>
              <a:t>xsd</a:t>
            </a:r>
            <a:r>
              <a:rPr lang="en-US" sz="1600">
                <a:latin typeface="Arial"/>
                <a:cs typeface="Arial"/>
              </a:rPr>
              <a:t> file structures that are pertinent to the API</a:t>
            </a:r>
          </a:p>
          <a:p>
            <a:r>
              <a:rPr lang="en-US" sz="1600">
                <a:latin typeface="Arial"/>
                <a:cs typeface="Arial"/>
              </a:rPr>
              <a:t>Delete any .project,.</a:t>
            </a:r>
            <a:r>
              <a:rPr lang="en-US" sz="1600" err="1">
                <a:latin typeface="Arial"/>
                <a:cs typeface="Arial"/>
              </a:rPr>
              <a:t>emx</a:t>
            </a:r>
            <a:r>
              <a:rPr lang="en-US" sz="1600">
                <a:latin typeface="Arial"/>
                <a:cs typeface="Arial"/>
              </a:rPr>
              <a:t>, .xml, .sketch, .</a:t>
            </a:r>
            <a:r>
              <a:rPr lang="en-US" sz="1600" err="1">
                <a:latin typeface="Arial"/>
                <a:cs typeface="Arial"/>
              </a:rPr>
              <a:t>png</a:t>
            </a:r>
            <a:r>
              <a:rPr lang="en-US" sz="1600">
                <a:latin typeface="Arial"/>
                <a:cs typeface="Arial"/>
              </a:rPr>
              <a:t>…files that might be included in the .zip file.</a:t>
            </a:r>
          </a:p>
          <a:p>
            <a:r>
              <a:rPr lang="en-US" sz="1600">
                <a:latin typeface="Arial"/>
                <a:cs typeface="Arial"/>
              </a:rPr>
              <a:t>Click Develop</a:t>
            </a:r>
          </a:p>
          <a:p>
            <a:r>
              <a:rPr lang="en-US" sz="1600">
                <a:latin typeface="Arial"/>
                <a:cs typeface="Arial"/>
              </a:rPr>
              <a:t>Select Target services</a:t>
            </a:r>
          </a:p>
          <a:p>
            <a:r>
              <a:rPr lang="en-US" sz="1600">
                <a:latin typeface="Arial"/>
                <a:cs typeface="Arial"/>
              </a:rPr>
              <a:t>Click Add</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DA634980-D97C-44A3-8139-ABABC22D8301}"/>
              </a:ext>
            </a:extLst>
          </p:cNvPr>
          <p:cNvPicPr>
            <a:picLocks noChangeAspect="1"/>
          </p:cNvPicPr>
          <p:nvPr/>
        </p:nvPicPr>
        <p:blipFill>
          <a:blip r:embed="rId2"/>
          <a:stretch>
            <a:fillRect/>
          </a:stretch>
        </p:blipFill>
        <p:spPr>
          <a:xfrm>
            <a:off x="131846" y="2050882"/>
            <a:ext cx="6345398" cy="2756235"/>
          </a:xfrm>
          <a:prstGeom prst="rect">
            <a:avLst/>
          </a:prstGeom>
        </p:spPr>
      </p:pic>
    </p:spTree>
    <p:extLst>
      <p:ext uri="{BB962C8B-B14F-4D97-AF65-F5344CB8AC3E}">
        <p14:creationId xmlns:p14="http://schemas.microsoft.com/office/powerpoint/2010/main" val="1202565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a:t>Swagger based API mapped to an XML based service</a:t>
            </a:r>
          </a:p>
        </p:txBody>
      </p:sp>
      <p:sp>
        <p:nvSpPr>
          <p:cNvPr id="4" name="Text Placeholder 3"/>
          <p:cNvSpPr>
            <a:spLocks noGrp="1"/>
          </p:cNvSpPr>
          <p:nvPr>
            <p:ph type="body" sz="quarter" idx="12"/>
          </p:nvPr>
        </p:nvSpPr>
        <p:spPr/>
        <p:txBody>
          <a:bodyPr anchor="t"/>
          <a:lstStyle/>
          <a:p>
            <a:r>
              <a:rPr lang="en-US" sz="1600">
                <a:latin typeface="Arial"/>
                <a:cs typeface="Arial"/>
              </a:rPr>
              <a:t>Select target .zip file from Explorer</a:t>
            </a:r>
          </a:p>
          <a:p>
            <a:r>
              <a:rPr lang="en-US" sz="1600">
                <a:latin typeface="Arial"/>
                <a:cs typeface="Arial"/>
              </a:rPr>
              <a:t>Click Ok</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7" name="Picture 6">
            <a:extLst>
              <a:ext uri="{FF2B5EF4-FFF2-40B4-BE49-F238E27FC236}">
                <a16:creationId xmlns:a16="http://schemas.microsoft.com/office/drawing/2014/main" id="{879F124A-0F77-4A1E-887B-46590DA79AA9}"/>
              </a:ext>
            </a:extLst>
          </p:cNvPr>
          <p:cNvPicPr>
            <a:picLocks noChangeAspect="1"/>
          </p:cNvPicPr>
          <p:nvPr/>
        </p:nvPicPr>
        <p:blipFill>
          <a:blip r:embed="rId2"/>
          <a:stretch>
            <a:fillRect/>
          </a:stretch>
        </p:blipFill>
        <p:spPr>
          <a:xfrm>
            <a:off x="325604" y="1815515"/>
            <a:ext cx="5934075" cy="2962275"/>
          </a:xfrm>
          <a:prstGeom prst="rect">
            <a:avLst/>
          </a:prstGeom>
        </p:spPr>
      </p:pic>
    </p:spTree>
    <p:extLst>
      <p:ext uri="{BB962C8B-B14F-4D97-AF65-F5344CB8AC3E}">
        <p14:creationId xmlns:p14="http://schemas.microsoft.com/office/powerpoint/2010/main" val="28166017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a:t>Target Service</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r>
              <a:rPr lang="en-US" sz="1600">
                <a:latin typeface="Arial"/>
                <a:cs typeface="Arial"/>
              </a:rPr>
              <a:t>Select the target Service</a:t>
            </a:r>
          </a:p>
          <a:p>
            <a:endParaRPr lang="en-US" sz="1600">
              <a:latin typeface="Arial"/>
              <a:cs typeface="Arial"/>
            </a:endParaRPr>
          </a:p>
          <a:p>
            <a:r>
              <a:rPr lang="en-US" sz="1600">
                <a:latin typeface="Arial"/>
                <a:cs typeface="Arial"/>
              </a:rPr>
              <a:t>Click Save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9" name="Picture 8">
            <a:extLst>
              <a:ext uri="{FF2B5EF4-FFF2-40B4-BE49-F238E27FC236}">
                <a16:creationId xmlns:a16="http://schemas.microsoft.com/office/drawing/2014/main" id="{AD934537-D663-4963-AF82-8E60BB107454}"/>
              </a:ext>
            </a:extLst>
          </p:cNvPr>
          <p:cNvPicPr>
            <a:picLocks noChangeAspect="1"/>
          </p:cNvPicPr>
          <p:nvPr/>
        </p:nvPicPr>
        <p:blipFill>
          <a:blip r:embed="rId2"/>
          <a:stretch>
            <a:fillRect/>
          </a:stretch>
        </p:blipFill>
        <p:spPr>
          <a:xfrm>
            <a:off x="120817" y="1766053"/>
            <a:ext cx="6416853" cy="4420000"/>
          </a:xfrm>
          <a:prstGeom prst="rect">
            <a:avLst/>
          </a:prstGeom>
        </p:spPr>
      </p:pic>
      <p:cxnSp>
        <p:nvCxnSpPr>
          <p:cNvPr id="10" name="Straight Arrow Connector 9">
            <a:extLst>
              <a:ext uri="{FF2B5EF4-FFF2-40B4-BE49-F238E27FC236}">
                <a16:creationId xmlns:a16="http://schemas.microsoft.com/office/drawing/2014/main" id="{170EC74F-EBC6-4EF1-9047-4A1237DAAC33}"/>
              </a:ext>
            </a:extLst>
          </p:cNvPr>
          <p:cNvCxnSpPr>
            <a:cxnSpLocks/>
          </p:cNvCxnSpPr>
          <p:nvPr/>
        </p:nvCxnSpPr>
        <p:spPr>
          <a:xfrm flipH="1">
            <a:off x="1949116" y="3345511"/>
            <a:ext cx="4689453" cy="2537931"/>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2178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7BCF103-1C8B-42BA-B74E-D53135064F3F}"/>
              </a:ext>
            </a:extLst>
          </p:cNvPr>
          <p:cNvPicPr>
            <a:picLocks noChangeAspect="1"/>
          </p:cNvPicPr>
          <p:nvPr/>
        </p:nvPicPr>
        <p:blipFill>
          <a:blip r:embed="rId2"/>
          <a:stretch>
            <a:fillRect/>
          </a:stretch>
        </p:blipFill>
        <p:spPr>
          <a:xfrm>
            <a:off x="205636" y="1816748"/>
            <a:ext cx="5095875" cy="3057525"/>
          </a:xfrm>
          <a:prstGeom prst="rect">
            <a:avLst/>
          </a:prstGeom>
        </p:spPr>
      </p:pic>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a:t>Assembly Map</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r>
              <a:rPr lang="en-US" sz="1600">
                <a:latin typeface="Arial"/>
                <a:cs typeface="Arial"/>
              </a:rPr>
              <a:t>Click Assemble</a:t>
            </a:r>
          </a:p>
          <a:p>
            <a:r>
              <a:rPr lang="en-US" sz="1600">
                <a:latin typeface="Arial"/>
                <a:cs typeface="Arial"/>
              </a:rPr>
              <a:t>Drag map from Transforms area to the assembly and place before the Invoke (dotted lined box appears on line)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cxnSp>
        <p:nvCxnSpPr>
          <p:cNvPr id="10" name="Straight Arrow Connector 9">
            <a:extLst>
              <a:ext uri="{FF2B5EF4-FFF2-40B4-BE49-F238E27FC236}">
                <a16:creationId xmlns:a16="http://schemas.microsoft.com/office/drawing/2014/main" id="{170EC74F-EBC6-4EF1-9047-4A1237DAAC33}"/>
              </a:ext>
            </a:extLst>
          </p:cNvPr>
          <p:cNvCxnSpPr>
            <a:cxnSpLocks/>
          </p:cNvCxnSpPr>
          <p:nvPr/>
        </p:nvCxnSpPr>
        <p:spPr>
          <a:xfrm flipH="1" flipV="1">
            <a:off x="4065932" y="2326809"/>
            <a:ext cx="2800496" cy="506058"/>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C1CB794-B9DC-4456-898F-1F0124D225D5}"/>
              </a:ext>
            </a:extLst>
          </p:cNvPr>
          <p:cNvCxnSpPr>
            <a:cxnSpLocks/>
          </p:cNvCxnSpPr>
          <p:nvPr/>
        </p:nvCxnSpPr>
        <p:spPr>
          <a:xfrm flipH="1" flipV="1">
            <a:off x="2959768" y="3147995"/>
            <a:ext cx="3779699" cy="682374"/>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08168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11E25D-CF1B-4683-B06D-A66595E15916}"/>
              </a:ext>
            </a:extLst>
          </p:cNvPr>
          <p:cNvPicPr>
            <a:picLocks noChangeAspect="1"/>
          </p:cNvPicPr>
          <p:nvPr/>
        </p:nvPicPr>
        <p:blipFill>
          <a:blip r:embed="rId2"/>
          <a:stretch>
            <a:fillRect/>
          </a:stretch>
        </p:blipFill>
        <p:spPr>
          <a:xfrm>
            <a:off x="457200" y="3835674"/>
            <a:ext cx="4286250" cy="2162175"/>
          </a:xfrm>
          <a:prstGeom prst="rect">
            <a:avLst/>
          </a:prstGeom>
        </p:spPr>
      </p:pic>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a:t>Output Operation</a:t>
            </a:r>
          </a:p>
        </p:txBody>
      </p:sp>
      <p:sp>
        <p:nvSpPr>
          <p:cNvPr id="4" name="Text Placeholder 3"/>
          <p:cNvSpPr>
            <a:spLocks noGrp="1"/>
          </p:cNvSpPr>
          <p:nvPr>
            <p:ph type="body" sz="quarter" idx="12"/>
          </p:nvPr>
        </p:nvSpPr>
        <p:spPr/>
        <p:txBody>
          <a:bodyPr anchor="t"/>
          <a:lstStyle/>
          <a:p>
            <a:endParaRPr lang="en-US" sz="1600">
              <a:latin typeface="Arial"/>
              <a:cs typeface="Arial"/>
            </a:endParaRPr>
          </a:p>
          <a:p>
            <a:r>
              <a:rPr lang="en-US" sz="1600">
                <a:latin typeface="Arial"/>
                <a:cs typeface="Arial"/>
              </a:rPr>
              <a:t>On the Output </a:t>
            </a:r>
          </a:p>
          <a:p>
            <a:r>
              <a:rPr lang="en-US" sz="1600">
                <a:latin typeface="Arial"/>
                <a:cs typeface="Arial"/>
              </a:rPr>
              <a:t>Click Edit outputs pencil on the Output side</a:t>
            </a:r>
          </a:p>
          <a:p>
            <a:endParaRPr lang="en-US" sz="1600">
              <a:latin typeface="Arial"/>
              <a:cs typeface="Arial"/>
            </a:endParaRPr>
          </a:p>
          <a:p>
            <a:r>
              <a:rPr lang="en-US" sz="1600">
                <a:latin typeface="Arial"/>
                <a:cs typeface="Arial"/>
              </a:rPr>
              <a:t>Click either Add output or Add outputs for operation (if multiples are available)</a:t>
            </a:r>
          </a:p>
          <a:p>
            <a:endParaRPr lang="en-US" sz="1600">
              <a:latin typeface="Arial"/>
              <a:cs typeface="Arial"/>
            </a:endParaRPr>
          </a:p>
          <a:p>
            <a:endParaRPr lang="en-US" sz="1600">
              <a:latin typeface="Arial"/>
              <a:cs typeface="Arial"/>
            </a:endParaRPr>
          </a:p>
          <a:p>
            <a:r>
              <a:rPr lang="en-US" sz="1600">
                <a:latin typeface="Arial"/>
                <a:cs typeface="Arial"/>
              </a:rPr>
              <a:t>Select the operation</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cxnSp>
        <p:nvCxnSpPr>
          <p:cNvPr id="10" name="Straight Arrow Connector 9">
            <a:extLst>
              <a:ext uri="{FF2B5EF4-FFF2-40B4-BE49-F238E27FC236}">
                <a16:creationId xmlns:a16="http://schemas.microsoft.com/office/drawing/2014/main" id="{170EC74F-EBC6-4EF1-9047-4A1237DAAC33}"/>
              </a:ext>
            </a:extLst>
          </p:cNvPr>
          <p:cNvCxnSpPr>
            <a:cxnSpLocks/>
          </p:cNvCxnSpPr>
          <p:nvPr/>
        </p:nvCxnSpPr>
        <p:spPr>
          <a:xfrm flipH="1">
            <a:off x="3850105" y="3835674"/>
            <a:ext cx="2635810" cy="1119279"/>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C1CB794-B9DC-4456-898F-1F0124D225D5}"/>
              </a:ext>
            </a:extLst>
          </p:cNvPr>
          <p:cNvCxnSpPr>
            <a:cxnSpLocks/>
          </p:cNvCxnSpPr>
          <p:nvPr/>
        </p:nvCxnSpPr>
        <p:spPr>
          <a:xfrm flipH="1">
            <a:off x="3017476" y="5197642"/>
            <a:ext cx="3468438" cy="226699"/>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2D5EAD67-9583-4034-99D7-5786B59A2678}"/>
              </a:ext>
            </a:extLst>
          </p:cNvPr>
          <p:cNvPicPr>
            <a:picLocks noChangeAspect="1"/>
          </p:cNvPicPr>
          <p:nvPr/>
        </p:nvPicPr>
        <p:blipFill>
          <a:blip r:embed="rId3"/>
          <a:stretch>
            <a:fillRect/>
          </a:stretch>
        </p:blipFill>
        <p:spPr>
          <a:xfrm>
            <a:off x="125149" y="1891228"/>
            <a:ext cx="6360765" cy="1037169"/>
          </a:xfrm>
          <a:prstGeom prst="rect">
            <a:avLst/>
          </a:prstGeom>
        </p:spPr>
      </p:pic>
    </p:spTree>
    <p:extLst>
      <p:ext uri="{BB962C8B-B14F-4D97-AF65-F5344CB8AC3E}">
        <p14:creationId xmlns:p14="http://schemas.microsoft.com/office/powerpoint/2010/main" val="23791400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84CD1F26-31BA-4263-8639-DD7245416794}"/>
              </a:ext>
            </a:extLst>
          </p:cNvPr>
          <p:cNvPicPr>
            <a:picLocks noChangeAspect="1"/>
          </p:cNvPicPr>
          <p:nvPr/>
        </p:nvPicPr>
        <p:blipFill>
          <a:blip r:embed="rId2"/>
          <a:stretch>
            <a:fillRect/>
          </a:stretch>
        </p:blipFill>
        <p:spPr>
          <a:xfrm>
            <a:off x="125149" y="3790950"/>
            <a:ext cx="6392217" cy="2300287"/>
          </a:xfrm>
          <a:prstGeom prst="rect">
            <a:avLst/>
          </a:prstGeom>
        </p:spPr>
      </p:pic>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a:t>Output Definition</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r>
              <a:rPr lang="en-US" sz="1600">
                <a:latin typeface="Arial"/>
                <a:cs typeface="Arial"/>
              </a:rPr>
              <a:t>Enter service input for  the Name</a:t>
            </a:r>
          </a:p>
          <a:p>
            <a:r>
              <a:rPr lang="en-US" sz="1600">
                <a:latin typeface="Arial"/>
                <a:cs typeface="Arial"/>
              </a:rPr>
              <a:t>Select the desired definition</a:t>
            </a:r>
          </a:p>
          <a:p>
            <a:endParaRPr lang="en-US" sz="1600">
              <a:latin typeface="Arial"/>
              <a:cs typeface="Arial"/>
            </a:endParaRPr>
          </a:p>
          <a:p>
            <a:r>
              <a:rPr lang="en-US" sz="1600">
                <a:latin typeface="Arial"/>
                <a:cs typeface="Arial"/>
              </a:rPr>
              <a:t>Click Done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cxnSp>
        <p:nvCxnSpPr>
          <p:cNvPr id="10" name="Straight Arrow Connector 9">
            <a:extLst>
              <a:ext uri="{FF2B5EF4-FFF2-40B4-BE49-F238E27FC236}">
                <a16:creationId xmlns:a16="http://schemas.microsoft.com/office/drawing/2014/main" id="{170EC74F-EBC6-4EF1-9047-4A1237DAAC33}"/>
              </a:ext>
            </a:extLst>
          </p:cNvPr>
          <p:cNvCxnSpPr>
            <a:cxnSpLocks/>
          </p:cNvCxnSpPr>
          <p:nvPr/>
        </p:nvCxnSpPr>
        <p:spPr>
          <a:xfrm flipH="1">
            <a:off x="5775158" y="4932012"/>
            <a:ext cx="910167" cy="289693"/>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48913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a:t>Input Operation</a:t>
            </a:r>
          </a:p>
        </p:txBody>
      </p:sp>
      <p:sp>
        <p:nvSpPr>
          <p:cNvPr id="4" name="Text Placeholder 3"/>
          <p:cNvSpPr>
            <a:spLocks noGrp="1"/>
          </p:cNvSpPr>
          <p:nvPr>
            <p:ph type="body" sz="quarter" idx="12"/>
          </p:nvPr>
        </p:nvSpPr>
        <p:spPr/>
        <p:txBody>
          <a:bodyPr anchor="t"/>
          <a:lstStyle/>
          <a:p>
            <a:r>
              <a:rPr lang="en-US" sz="1600">
                <a:latin typeface="Arial"/>
                <a:cs typeface="Arial"/>
              </a:rPr>
              <a:t>On the Input </a:t>
            </a:r>
          </a:p>
          <a:p>
            <a:r>
              <a:rPr lang="en-US" sz="1600">
                <a:latin typeface="Arial"/>
                <a:cs typeface="Arial"/>
              </a:rPr>
              <a:t>Click Edit inputs (Pencil)</a:t>
            </a:r>
          </a:p>
          <a:p>
            <a:endParaRPr lang="en-US" sz="1600">
              <a:latin typeface="Arial"/>
              <a:cs typeface="Arial"/>
            </a:endParaRPr>
          </a:p>
          <a:p>
            <a:endParaRPr lang="en-US" sz="1600">
              <a:latin typeface="Arial"/>
              <a:cs typeface="Arial"/>
            </a:endParaRPr>
          </a:p>
          <a:p>
            <a:r>
              <a:rPr lang="en-US" sz="1600">
                <a:latin typeface="Arial"/>
                <a:cs typeface="Arial"/>
              </a:rPr>
              <a:t>Click either Add inputs or Add inputs for operation (if multiples are available)</a:t>
            </a:r>
          </a:p>
          <a:p>
            <a:r>
              <a:rPr lang="en-US" sz="1600">
                <a:latin typeface="Arial"/>
                <a:cs typeface="Arial"/>
              </a:rPr>
              <a:t>Select the operation</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cxnSp>
        <p:nvCxnSpPr>
          <p:cNvPr id="10" name="Straight Arrow Connector 9">
            <a:extLst>
              <a:ext uri="{FF2B5EF4-FFF2-40B4-BE49-F238E27FC236}">
                <a16:creationId xmlns:a16="http://schemas.microsoft.com/office/drawing/2014/main" id="{170EC74F-EBC6-4EF1-9047-4A1237DAAC33}"/>
              </a:ext>
            </a:extLst>
          </p:cNvPr>
          <p:cNvCxnSpPr>
            <a:cxnSpLocks/>
          </p:cNvCxnSpPr>
          <p:nvPr/>
        </p:nvCxnSpPr>
        <p:spPr>
          <a:xfrm flipH="1">
            <a:off x="4236720" y="3977640"/>
            <a:ext cx="2316481" cy="327660"/>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C74E8475-10B1-44BA-99A7-FB81B09CBE42}"/>
              </a:ext>
            </a:extLst>
          </p:cNvPr>
          <p:cNvPicPr>
            <a:picLocks noChangeAspect="1"/>
          </p:cNvPicPr>
          <p:nvPr/>
        </p:nvPicPr>
        <p:blipFill>
          <a:blip r:embed="rId2"/>
          <a:stretch>
            <a:fillRect/>
          </a:stretch>
        </p:blipFill>
        <p:spPr>
          <a:xfrm>
            <a:off x="235118" y="1878903"/>
            <a:ext cx="3829050" cy="1228725"/>
          </a:xfrm>
          <a:prstGeom prst="rect">
            <a:avLst/>
          </a:prstGeom>
        </p:spPr>
      </p:pic>
      <p:pic>
        <p:nvPicPr>
          <p:cNvPr id="15" name="Picture 14">
            <a:extLst>
              <a:ext uri="{FF2B5EF4-FFF2-40B4-BE49-F238E27FC236}">
                <a16:creationId xmlns:a16="http://schemas.microsoft.com/office/drawing/2014/main" id="{AB55E7D6-C06A-46E2-95B6-FE5FBEA0D431}"/>
              </a:ext>
            </a:extLst>
          </p:cNvPr>
          <p:cNvPicPr>
            <a:picLocks noChangeAspect="1"/>
          </p:cNvPicPr>
          <p:nvPr/>
        </p:nvPicPr>
        <p:blipFill>
          <a:blip r:embed="rId3"/>
          <a:stretch>
            <a:fillRect/>
          </a:stretch>
        </p:blipFill>
        <p:spPr>
          <a:xfrm>
            <a:off x="377993" y="3429000"/>
            <a:ext cx="3543300" cy="1752600"/>
          </a:xfrm>
          <a:prstGeom prst="rect">
            <a:avLst/>
          </a:prstGeom>
        </p:spPr>
      </p:pic>
    </p:spTree>
    <p:extLst>
      <p:ext uri="{BB962C8B-B14F-4D97-AF65-F5344CB8AC3E}">
        <p14:creationId xmlns:p14="http://schemas.microsoft.com/office/powerpoint/2010/main" val="30264679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a:t>Input Definition</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6" name="Text Placeholder 3">
            <a:extLst>
              <a:ext uri="{FF2B5EF4-FFF2-40B4-BE49-F238E27FC236}">
                <a16:creationId xmlns:a16="http://schemas.microsoft.com/office/drawing/2014/main" id="{097FC8FA-5F5D-46CD-BC78-70FD35855B4F}"/>
              </a:ext>
            </a:extLst>
          </p:cNvPr>
          <p:cNvSpPr txBox="1">
            <a:spLocks/>
          </p:cNvSpPr>
          <p:nvPr/>
        </p:nvSpPr>
        <p:spPr>
          <a:xfrm>
            <a:off x="6891867" y="2164081"/>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Click Done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7" name="Picture 6">
            <a:extLst>
              <a:ext uri="{FF2B5EF4-FFF2-40B4-BE49-F238E27FC236}">
                <a16:creationId xmlns:a16="http://schemas.microsoft.com/office/drawing/2014/main" id="{F1A88294-7629-4467-8A80-3DB7C4999390}"/>
              </a:ext>
            </a:extLst>
          </p:cNvPr>
          <p:cNvPicPr>
            <a:picLocks noChangeAspect="1"/>
          </p:cNvPicPr>
          <p:nvPr/>
        </p:nvPicPr>
        <p:blipFill>
          <a:blip r:embed="rId2"/>
          <a:stretch>
            <a:fillRect/>
          </a:stretch>
        </p:blipFill>
        <p:spPr>
          <a:xfrm>
            <a:off x="309563" y="1848134"/>
            <a:ext cx="6152197" cy="2001317"/>
          </a:xfrm>
          <a:prstGeom prst="rect">
            <a:avLst/>
          </a:prstGeom>
        </p:spPr>
      </p:pic>
    </p:spTree>
    <p:extLst>
      <p:ext uri="{BB962C8B-B14F-4D97-AF65-F5344CB8AC3E}">
        <p14:creationId xmlns:p14="http://schemas.microsoft.com/office/powerpoint/2010/main" val="2785330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a:t>Input\Output Final result</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F3482BB2-813B-48A2-9420-F9192E2C36F3}"/>
              </a:ext>
            </a:extLst>
          </p:cNvPr>
          <p:cNvPicPr>
            <a:picLocks noChangeAspect="1"/>
          </p:cNvPicPr>
          <p:nvPr/>
        </p:nvPicPr>
        <p:blipFill>
          <a:blip r:embed="rId2"/>
          <a:stretch>
            <a:fillRect/>
          </a:stretch>
        </p:blipFill>
        <p:spPr>
          <a:xfrm>
            <a:off x="161925" y="1781174"/>
            <a:ext cx="6086475" cy="2454927"/>
          </a:xfrm>
          <a:prstGeom prst="rect">
            <a:avLst/>
          </a:prstGeom>
        </p:spPr>
      </p:pic>
      <p:sp>
        <p:nvSpPr>
          <p:cNvPr id="7" name="Text Placeholder 3">
            <a:extLst>
              <a:ext uri="{FF2B5EF4-FFF2-40B4-BE49-F238E27FC236}">
                <a16:creationId xmlns:a16="http://schemas.microsoft.com/office/drawing/2014/main" id="{3552FB35-3730-48C9-A80D-BC88F185B081}"/>
              </a:ext>
            </a:extLst>
          </p:cNvPr>
          <p:cNvSpPr txBox="1">
            <a:spLocks/>
          </p:cNvSpPr>
          <p:nvPr/>
        </p:nvSpPr>
        <p:spPr>
          <a:xfrm>
            <a:off x="6899573" y="1905002"/>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Attributes are displayed</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Tree>
    <p:extLst>
      <p:ext uri="{BB962C8B-B14F-4D97-AF65-F5344CB8AC3E}">
        <p14:creationId xmlns:p14="http://schemas.microsoft.com/office/powerpoint/2010/main" val="4743847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a:t>Input\Output Final result</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891867" y="2164081"/>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Click on the Source Attribute (dot) and connect to the target service attribute (dot) and click</a:t>
            </a:r>
          </a:p>
          <a:p>
            <a:r>
              <a:rPr lang="en-US" sz="1600">
                <a:latin typeface="Arial"/>
                <a:cs typeface="Arial"/>
              </a:rPr>
              <a:t>Continue until all input parameters are mapped</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8" name="Picture 7">
            <a:extLst>
              <a:ext uri="{FF2B5EF4-FFF2-40B4-BE49-F238E27FC236}">
                <a16:creationId xmlns:a16="http://schemas.microsoft.com/office/drawing/2014/main" id="{859AF48F-E84D-4D4A-BDC4-6E84F325FC0E}"/>
              </a:ext>
            </a:extLst>
          </p:cNvPr>
          <p:cNvPicPr>
            <a:picLocks noChangeAspect="1"/>
          </p:cNvPicPr>
          <p:nvPr/>
        </p:nvPicPr>
        <p:blipFill>
          <a:blip r:embed="rId2"/>
          <a:stretch>
            <a:fillRect/>
          </a:stretch>
        </p:blipFill>
        <p:spPr>
          <a:xfrm>
            <a:off x="114301" y="1711169"/>
            <a:ext cx="5596466" cy="1927508"/>
          </a:xfrm>
          <a:prstGeom prst="rect">
            <a:avLst/>
          </a:prstGeom>
        </p:spPr>
      </p:pic>
      <p:pic>
        <p:nvPicPr>
          <p:cNvPr id="16" name="Picture 15">
            <a:extLst>
              <a:ext uri="{FF2B5EF4-FFF2-40B4-BE49-F238E27FC236}">
                <a16:creationId xmlns:a16="http://schemas.microsoft.com/office/drawing/2014/main" id="{2047EEF6-8DC8-43AA-8374-37CF0D2C7984}"/>
              </a:ext>
            </a:extLst>
          </p:cNvPr>
          <p:cNvPicPr>
            <a:picLocks noChangeAspect="1"/>
          </p:cNvPicPr>
          <p:nvPr/>
        </p:nvPicPr>
        <p:blipFill>
          <a:blip r:embed="rId3"/>
          <a:stretch>
            <a:fillRect/>
          </a:stretch>
        </p:blipFill>
        <p:spPr>
          <a:xfrm>
            <a:off x="114301" y="3745230"/>
            <a:ext cx="5596466" cy="2079291"/>
          </a:xfrm>
          <a:prstGeom prst="rect">
            <a:avLst/>
          </a:prstGeom>
        </p:spPr>
      </p:pic>
    </p:spTree>
    <p:extLst>
      <p:ext uri="{BB962C8B-B14F-4D97-AF65-F5344CB8AC3E}">
        <p14:creationId xmlns:p14="http://schemas.microsoft.com/office/powerpoint/2010/main" val="13792058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1144"/>
            <a:ext cx="9688623" cy="476805"/>
          </a:xfrm>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err="1"/>
              <a:t>IdType</a:t>
            </a:r>
            <a:endParaRPr lang="en-US"/>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891867" y="2164081"/>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For Identifiers</a:t>
            </a:r>
          </a:p>
          <a:p>
            <a:r>
              <a:rPr lang="en-US" sz="1600">
                <a:latin typeface="Arial"/>
                <a:cs typeface="Arial"/>
              </a:rPr>
              <a:t>Click on the target service </a:t>
            </a:r>
            <a:r>
              <a:rPr lang="en-US" sz="1600" err="1">
                <a:latin typeface="Arial"/>
                <a:cs typeface="Arial"/>
              </a:rPr>
              <a:t>idType</a:t>
            </a:r>
            <a:r>
              <a:rPr lang="en-US" sz="1600">
                <a:latin typeface="Arial"/>
                <a:cs typeface="Arial"/>
              </a:rPr>
              <a:t> attribute (dot)</a:t>
            </a:r>
          </a:p>
          <a:p>
            <a:r>
              <a:rPr lang="en-US" sz="1600">
                <a:latin typeface="Arial"/>
                <a:cs typeface="Arial"/>
              </a:rPr>
              <a:t>Set the Default to the type of the identifier from the PIM identifier spread sheet  (</a:t>
            </a:r>
            <a:r>
              <a:rPr lang="en-US" sz="1600" err="1">
                <a:latin typeface="Arial"/>
                <a:cs typeface="Arial"/>
              </a:rPr>
              <a:t>Identifier.idType</a:t>
            </a:r>
            <a:r>
              <a:rPr lang="en-US" sz="1600">
                <a:latin typeface="Arial"/>
                <a:cs typeface="Arial"/>
              </a:rPr>
              <a:t> column)</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2" name="Picture 11">
            <a:extLst>
              <a:ext uri="{FF2B5EF4-FFF2-40B4-BE49-F238E27FC236}">
                <a16:creationId xmlns:a16="http://schemas.microsoft.com/office/drawing/2014/main" id="{3B0053FD-CC67-4711-8717-40D2A905BCBF}"/>
              </a:ext>
            </a:extLst>
          </p:cNvPr>
          <p:cNvPicPr>
            <a:picLocks noChangeAspect="1"/>
          </p:cNvPicPr>
          <p:nvPr/>
        </p:nvPicPr>
        <p:blipFill>
          <a:blip r:embed="rId2"/>
          <a:stretch>
            <a:fillRect/>
          </a:stretch>
        </p:blipFill>
        <p:spPr>
          <a:xfrm>
            <a:off x="238126" y="1797142"/>
            <a:ext cx="6348942" cy="2907973"/>
          </a:xfrm>
          <a:prstGeom prst="rect">
            <a:avLst/>
          </a:prstGeom>
        </p:spPr>
      </p:pic>
    </p:spTree>
    <p:extLst>
      <p:ext uri="{BB962C8B-B14F-4D97-AF65-F5344CB8AC3E}">
        <p14:creationId xmlns:p14="http://schemas.microsoft.com/office/powerpoint/2010/main" val="6223837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err="1"/>
              <a:t>IdSource</a:t>
            </a:r>
            <a:endParaRPr lang="en-US"/>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891867" y="2164081"/>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0F42F772-91FE-43C7-BA70-9C4CAD8B8727}"/>
              </a:ext>
            </a:extLst>
          </p:cNvPr>
          <p:cNvPicPr>
            <a:picLocks noChangeAspect="1"/>
          </p:cNvPicPr>
          <p:nvPr/>
        </p:nvPicPr>
        <p:blipFill>
          <a:blip r:embed="rId2"/>
          <a:stretch>
            <a:fillRect/>
          </a:stretch>
        </p:blipFill>
        <p:spPr>
          <a:xfrm>
            <a:off x="265003" y="2266950"/>
            <a:ext cx="6179688" cy="3143249"/>
          </a:xfrm>
          <a:prstGeom prst="rect">
            <a:avLst/>
          </a:prstGeom>
        </p:spPr>
      </p:pic>
      <p:sp>
        <p:nvSpPr>
          <p:cNvPr id="9" name="Text Placeholder 3">
            <a:extLst>
              <a:ext uri="{FF2B5EF4-FFF2-40B4-BE49-F238E27FC236}">
                <a16:creationId xmlns:a16="http://schemas.microsoft.com/office/drawing/2014/main" id="{7CF1D94C-7EA9-4FF3-9F73-EA123D49129F}"/>
              </a:ext>
            </a:extLst>
          </p:cNvPr>
          <p:cNvSpPr txBox="1">
            <a:spLocks/>
          </p:cNvSpPr>
          <p:nvPr/>
        </p:nvSpPr>
        <p:spPr>
          <a:xfrm>
            <a:off x="7044267" y="2316481"/>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For Identifiers</a:t>
            </a:r>
          </a:p>
          <a:p>
            <a:r>
              <a:rPr lang="en-US" sz="1600">
                <a:latin typeface="Arial"/>
                <a:cs typeface="Arial"/>
              </a:rPr>
              <a:t>Click on the target service </a:t>
            </a:r>
            <a:r>
              <a:rPr lang="en-US" sz="1600" err="1">
                <a:latin typeface="Arial"/>
                <a:cs typeface="Arial"/>
              </a:rPr>
              <a:t>idSource</a:t>
            </a:r>
            <a:r>
              <a:rPr lang="en-US" sz="1600">
                <a:latin typeface="Arial"/>
                <a:cs typeface="Arial"/>
              </a:rPr>
              <a:t> attribute (dot)</a:t>
            </a:r>
          </a:p>
          <a:p>
            <a:r>
              <a:rPr lang="en-US" sz="1600">
                <a:latin typeface="Arial"/>
                <a:cs typeface="Arial"/>
              </a:rPr>
              <a:t>Enter the value:</a:t>
            </a:r>
          </a:p>
          <a:p>
            <a:r>
              <a:rPr lang="en-US" sz="1600">
                <a:latin typeface="Arial"/>
                <a:cs typeface="Arial"/>
              </a:rPr>
              <a:t>$(id).split(“~”)[0]</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Tree>
    <p:extLst>
      <p:ext uri="{BB962C8B-B14F-4D97-AF65-F5344CB8AC3E}">
        <p14:creationId xmlns:p14="http://schemas.microsoft.com/office/powerpoint/2010/main" val="18524462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err="1"/>
              <a:t>idValue</a:t>
            </a:r>
            <a:endParaRPr lang="en-US"/>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891867" y="2164081"/>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8" name="Picture 7">
            <a:extLst>
              <a:ext uri="{FF2B5EF4-FFF2-40B4-BE49-F238E27FC236}">
                <a16:creationId xmlns:a16="http://schemas.microsoft.com/office/drawing/2014/main" id="{935373E2-9139-4923-B4DE-920FF9072102}"/>
              </a:ext>
            </a:extLst>
          </p:cNvPr>
          <p:cNvPicPr>
            <a:picLocks noChangeAspect="1"/>
          </p:cNvPicPr>
          <p:nvPr/>
        </p:nvPicPr>
        <p:blipFill>
          <a:blip r:embed="rId2"/>
          <a:stretch>
            <a:fillRect/>
          </a:stretch>
        </p:blipFill>
        <p:spPr>
          <a:xfrm>
            <a:off x="112422" y="1798319"/>
            <a:ext cx="6474645" cy="3261362"/>
          </a:xfrm>
          <a:prstGeom prst="rect">
            <a:avLst/>
          </a:prstGeom>
        </p:spPr>
      </p:pic>
      <p:sp>
        <p:nvSpPr>
          <p:cNvPr id="9" name="Text Placeholder 3">
            <a:extLst>
              <a:ext uri="{FF2B5EF4-FFF2-40B4-BE49-F238E27FC236}">
                <a16:creationId xmlns:a16="http://schemas.microsoft.com/office/drawing/2014/main" id="{AC721C17-2F6A-413E-960D-BFA3D864A0EB}"/>
              </a:ext>
            </a:extLst>
          </p:cNvPr>
          <p:cNvSpPr txBox="1">
            <a:spLocks/>
          </p:cNvSpPr>
          <p:nvPr/>
        </p:nvSpPr>
        <p:spPr>
          <a:xfrm>
            <a:off x="7044267" y="2316481"/>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Click on the target service </a:t>
            </a:r>
            <a:r>
              <a:rPr lang="en-US" sz="1600" err="1">
                <a:latin typeface="Arial"/>
                <a:cs typeface="Arial"/>
              </a:rPr>
              <a:t>idValue</a:t>
            </a:r>
            <a:r>
              <a:rPr lang="en-US" sz="1600">
                <a:latin typeface="Arial"/>
                <a:cs typeface="Arial"/>
              </a:rPr>
              <a:t> attribute (dot)</a:t>
            </a:r>
          </a:p>
          <a:p>
            <a:r>
              <a:rPr lang="en-US" sz="1600">
                <a:latin typeface="Arial"/>
                <a:cs typeface="Arial"/>
              </a:rPr>
              <a:t>Enter the value:</a:t>
            </a:r>
          </a:p>
          <a:p>
            <a:r>
              <a:rPr lang="en-US" sz="1600">
                <a:latin typeface="Arial"/>
                <a:cs typeface="Arial"/>
              </a:rPr>
              <a:t>$(id).split(“~”)[1]</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Tree>
    <p:extLst>
      <p:ext uri="{BB962C8B-B14F-4D97-AF65-F5344CB8AC3E}">
        <p14:creationId xmlns:p14="http://schemas.microsoft.com/office/powerpoint/2010/main" val="20189807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6DCF7DD-D199-48ED-81C0-A916F54A8CA1}"/>
              </a:ext>
            </a:extLst>
          </p:cNvPr>
          <p:cNvPicPr>
            <a:picLocks noChangeAspect="1"/>
          </p:cNvPicPr>
          <p:nvPr/>
        </p:nvPicPr>
        <p:blipFill>
          <a:blip r:embed="rId2"/>
          <a:stretch>
            <a:fillRect/>
          </a:stretch>
        </p:blipFill>
        <p:spPr>
          <a:xfrm>
            <a:off x="254668" y="1812006"/>
            <a:ext cx="5410200" cy="1838325"/>
          </a:xfrm>
          <a:prstGeom prst="rect">
            <a:avLst/>
          </a:prstGeom>
        </p:spPr>
      </p:pic>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a:t>Map</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r>
              <a:rPr lang="en-US" sz="1600">
                <a:latin typeface="Arial"/>
                <a:cs typeface="Arial"/>
              </a:rPr>
              <a:t>Click Assemble</a:t>
            </a:r>
          </a:p>
          <a:p>
            <a:r>
              <a:rPr lang="en-US" sz="1600">
                <a:latin typeface="Arial"/>
                <a:cs typeface="Arial"/>
              </a:rPr>
              <a:t>Drag map from Transforms area to the assembly and place after the Invoke (dotted lined box appears on line)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cxnSp>
        <p:nvCxnSpPr>
          <p:cNvPr id="12" name="Straight Arrow Connector 11">
            <a:extLst>
              <a:ext uri="{FF2B5EF4-FFF2-40B4-BE49-F238E27FC236}">
                <a16:creationId xmlns:a16="http://schemas.microsoft.com/office/drawing/2014/main" id="{AC1CB794-B9DC-4456-898F-1F0124D225D5}"/>
              </a:ext>
            </a:extLst>
          </p:cNvPr>
          <p:cNvCxnSpPr>
            <a:cxnSpLocks/>
          </p:cNvCxnSpPr>
          <p:nvPr/>
        </p:nvCxnSpPr>
        <p:spPr>
          <a:xfrm flipH="1" flipV="1">
            <a:off x="4463716" y="3326450"/>
            <a:ext cx="3779699" cy="682374"/>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988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a:t>Input Operation</a:t>
            </a:r>
          </a:p>
        </p:txBody>
      </p:sp>
      <p:sp>
        <p:nvSpPr>
          <p:cNvPr id="4" name="Text Placeholder 3"/>
          <p:cNvSpPr>
            <a:spLocks noGrp="1"/>
          </p:cNvSpPr>
          <p:nvPr>
            <p:ph type="body" sz="quarter" idx="12"/>
          </p:nvPr>
        </p:nvSpPr>
        <p:spPr/>
        <p:txBody>
          <a:bodyPr anchor="t"/>
          <a:lstStyle/>
          <a:p>
            <a:endParaRPr lang="en-US" sz="1600">
              <a:latin typeface="Arial"/>
              <a:cs typeface="Arial"/>
            </a:endParaRPr>
          </a:p>
          <a:p>
            <a:r>
              <a:rPr lang="en-US" sz="1600">
                <a:latin typeface="Arial"/>
                <a:cs typeface="Arial"/>
              </a:rPr>
              <a:t>On the Input </a:t>
            </a:r>
          </a:p>
          <a:p>
            <a:r>
              <a:rPr lang="en-US" sz="1600">
                <a:latin typeface="Arial"/>
                <a:cs typeface="Arial"/>
              </a:rPr>
              <a:t>Click Edit Inputs (Pencil)</a:t>
            </a:r>
          </a:p>
          <a:p>
            <a:endParaRPr lang="en-US" sz="1600">
              <a:latin typeface="Arial"/>
              <a:cs typeface="Arial"/>
            </a:endParaRPr>
          </a:p>
          <a:p>
            <a:r>
              <a:rPr lang="en-US" sz="1600">
                <a:latin typeface="Arial"/>
                <a:cs typeface="Arial"/>
              </a:rPr>
              <a:t>Click Add Input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cxnSp>
        <p:nvCxnSpPr>
          <p:cNvPr id="10" name="Straight Arrow Connector 9">
            <a:extLst>
              <a:ext uri="{FF2B5EF4-FFF2-40B4-BE49-F238E27FC236}">
                <a16:creationId xmlns:a16="http://schemas.microsoft.com/office/drawing/2014/main" id="{170EC74F-EBC6-4EF1-9047-4A1237DAAC33}"/>
              </a:ext>
            </a:extLst>
          </p:cNvPr>
          <p:cNvCxnSpPr>
            <a:cxnSpLocks/>
          </p:cNvCxnSpPr>
          <p:nvPr/>
        </p:nvCxnSpPr>
        <p:spPr>
          <a:xfrm flipH="1">
            <a:off x="2081463" y="3835674"/>
            <a:ext cx="4404452" cy="744908"/>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75090325-6836-4466-83AE-08A6B4EC138D}"/>
              </a:ext>
            </a:extLst>
          </p:cNvPr>
          <p:cNvPicPr>
            <a:picLocks noChangeAspect="1"/>
          </p:cNvPicPr>
          <p:nvPr/>
        </p:nvPicPr>
        <p:blipFill>
          <a:blip r:embed="rId2"/>
          <a:stretch>
            <a:fillRect/>
          </a:stretch>
        </p:blipFill>
        <p:spPr>
          <a:xfrm>
            <a:off x="436145" y="2016563"/>
            <a:ext cx="3771900" cy="1257300"/>
          </a:xfrm>
          <a:prstGeom prst="rect">
            <a:avLst/>
          </a:prstGeom>
        </p:spPr>
      </p:pic>
      <p:pic>
        <p:nvPicPr>
          <p:cNvPr id="11" name="Picture 10">
            <a:extLst>
              <a:ext uri="{FF2B5EF4-FFF2-40B4-BE49-F238E27FC236}">
                <a16:creationId xmlns:a16="http://schemas.microsoft.com/office/drawing/2014/main" id="{D813D83D-B183-49ED-8A21-F87E60D3F481}"/>
              </a:ext>
            </a:extLst>
          </p:cNvPr>
          <p:cNvPicPr>
            <a:picLocks noChangeAspect="1"/>
          </p:cNvPicPr>
          <p:nvPr/>
        </p:nvPicPr>
        <p:blipFill>
          <a:blip r:embed="rId3"/>
          <a:stretch>
            <a:fillRect/>
          </a:stretch>
        </p:blipFill>
        <p:spPr>
          <a:xfrm>
            <a:off x="721895" y="3890923"/>
            <a:ext cx="3486150" cy="1600200"/>
          </a:xfrm>
          <a:prstGeom prst="rect">
            <a:avLst/>
          </a:prstGeom>
        </p:spPr>
      </p:pic>
    </p:spTree>
    <p:extLst>
      <p:ext uri="{BB962C8B-B14F-4D97-AF65-F5344CB8AC3E}">
        <p14:creationId xmlns:p14="http://schemas.microsoft.com/office/powerpoint/2010/main" val="35631171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a:t>Input Definition</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r>
              <a:rPr lang="en-US" sz="1600">
                <a:latin typeface="Arial"/>
                <a:cs typeface="Arial"/>
              </a:rPr>
              <a:t>Enter the </a:t>
            </a:r>
            <a:r>
              <a:rPr lang="en-US" sz="1600" err="1">
                <a:latin typeface="Arial"/>
                <a:cs typeface="Arial"/>
              </a:rPr>
              <a:t>message.body</a:t>
            </a:r>
            <a:r>
              <a:rPr lang="en-US" sz="1600">
                <a:latin typeface="Arial"/>
                <a:cs typeface="Arial"/>
              </a:rPr>
              <a:t> and service output</a:t>
            </a:r>
          </a:p>
          <a:p>
            <a:r>
              <a:rPr lang="en-US" sz="1600">
                <a:latin typeface="Arial"/>
                <a:cs typeface="Arial"/>
              </a:rPr>
              <a:t>Select application/xml</a:t>
            </a:r>
          </a:p>
          <a:p>
            <a:r>
              <a:rPr lang="en-US" sz="1600">
                <a:latin typeface="Arial"/>
                <a:cs typeface="Arial"/>
              </a:rPr>
              <a:t>Select the desired definition</a:t>
            </a:r>
          </a:p>
          <a:p>
            <a:endParaRPr lang="en-US" sz="1600">
              <a:latin typeface="Arial"/>
              <a:cs typeface="Arial"/>
            </a:endParaRPr>
          </a:p>
          <a:p>
            <a:r>
              <a:rPr lang="en-US" sz="1600">
                <a:latin typeface="Arial"/>
                <a:cs typeface="Arial"/>
              </a:rPr>
              <a:t>Click Done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1" name="Picture 10">
            <a:extLst>
              <a:ext uri="{FF2B5EF4-FFF2-40B4-BE49-F238E27FC236}">
                <a16:creationId xmlns:a16="http://schemas.microsoft.com/office/drawing/2014/main" id="{B495E7B8-F6AA-431C-8D9A-2BA12E69456A}"/>
              </a:ext>
            </a:extLst>
          </p:cNvPr>
          <p:cNvPicPr>
            <a:picLocks noChangeAspect="1"/>
          </p:cNvPicPr>
          <p:nvPr/>
        </p:nvPicPr>
        <p:blipFill>
          <a:blip r:embed="rId2"/>
          <a:stretch>
            <a:fillRect/>
          </a:stretch>
        </p:blipFill>
        <p:spPr>
          <a:xfrm>
            <a:off x="238626" y="2249905"/>
            <a:ext cx="6334613" cy="2442160"/>
          </a:xfrm>
          <a:prstGeom prst="rect">
            <a:avLst/>
          </a:prstGeom>
        </p:spPr>
      </p:pic>
    </p:spTree>
    <p:extLst>
      <p:ext uri="{BB962C8B-B14F-4D97-AF65-F5344CB8AC3E}">
        <p14:creationId xmlns:p14="http://schemas.microsoft.com/office/powerpoint/2010/main" val="9761240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DBA12B5-AB09-4C37-8F1B-593D125B915B}"/>
              </a:ext>
            </a:extLst>
          </p:cNvPr>
          <p:cNvPicPr>
            <a:picLocks noChangeAspect="1"/>
          </p:cNvPicPr>
          <p:nvPr/>
        </p:nvPicPr>
        <p:blipFill>
          <a:blip r:embed="rId2"/>
          <a:stretch>
            <a:fillRect/>
          </a:stretch>
        </p:blipFill>
        <p:spPr>
          <a:xfrm>
            <a:off x="194373" y="3871915"/>
            <a:ext cx="3267075" cy="1219200"/>
          </a:xfrm>
          <a:prstGeom prst="rect">
            <a:avLst/>
          </a:prstGeom>
        </p:spPr>
      </p:pic>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a:t>Output Operation</a:t>
            </a:r>
          </a:p>
        </p:txBody>
      </p:sp>
      <p:sp>
        <p:nvSpPr>
          <p:cNvPr id="4" name="Text Placeholder 3"/>
          <p:cNvSpPr>
            <a:spLocks noGrp="1"/>
          </p:cNvSpPr>
          <p:nvPr>
            <p:ph type="body" sz="quarter" idx="12"/>
          </p:nvPr>
        </p:nvSpPr>
        <p:spPr/>
        <p:txBody>
          <a:bodyPr anchor="t"/>
          <a:lstStyle/>
          <a:p>
            <a:endParaRPr lang="en-US" sz="1600">
              <a:latin typeface="Arial"/>
              <a:cs typeface="Arial"/>
            </a:endParaRPr>
          </a:p>
          <a:p>
            <a:r>
              <a:rPr lang="en-US" sz="1600">
                <a:latin typeface="Arial"/>
                <a:cs typeface="Arial"/>
              </a:rPr>
              <a:t>On the Input </a:t>
            </a:r>
          </a:p>
          <a:p>
            <a:r>
              <a:rPr lang="en-US" sz="1600">
                <a:latin typeface="Arial"/>
                <a:cs typeface="Arial"/>
              </a:rPr>
              <a:t>Click Edit Inputs (Pencil)</a:t>
            </a:r>
          </a:p>
          <a:p>
            <a:endParaRPr lang="en-US" sz="1600">
              <a:latin typeface="Arial"/>
              <a:cs typeface="Arial"/>
            </a:endParaRPr>
          </a:p>
          <a:p>
            <a:r>
              <a:rPr lang="en-US" sz="1600">
                <a:latin typeface="Arial"/>
                <a:cs typeface="Arial"/>
              </a:rPr>
              <a:t>Click Add Input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cxnSp>
        <p:nvCxnSpPr>
          <p:cNvPr id="10" name="Straight Arrow Connector 9">
            <a:extLst>
              <a:ext uri="{FF2B5EF4-FFF2-40B4-BE49-F238E27FC236}">
                <a16:creationId xmlns:a16="http://schemas.microsoft.com/office/drawing/2014/main" id="{170EC74F-EBC6-4EF1-9047-4A1237DAAC33}"/>
              </a:ext>
            </a:extLst>
          </p:cNvPr>
          <p:cNvCxnSpPr>
            <a:cxnSpLocks/>
          </p:cNvCxnSpPr>
          <p:nvPr/>
        </p:nvCxnSpPr>
        <p:spPr>
          <a:xfrm flipH="1">
            <a:off x="1359568" y="3802650"/>
            <a:ext cx="5042384" cy="817476"/>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20984803-54B1-4033-8A99-22D984B8ADA8}"/>
              </a:ext>
            </a:extLst>
          </p:cNvPr>
          <p:cNvPicPr>
            <a:picLocks noChangeAspect="1"/>
          </p:cNvPicPr>
          <p:nvPr/>
        </p:nvPicPr>
        <p:blipFill>
          <a:blip r:embed="rId3"/>
          <a:stretch>
            <a:fillRect/>
          </a:stretch>
        </p:blipFill>
        <p:spPr>
          <a:xfrm>
            <a:off x="245645" y="2011681"/>
            <a:ext cx="6156307" cy="924926"/>
          </a:xfrm>
          <a:prstGeom prst="rect">
            <a:avLst/>
          </a:prstGeom>
        </p:spPr>
      </p:pic>
    </p:spTree>
    <p:extLst>
      <p:ext uri="{BB962C8B-B14F-4D97-AF65-F5344CB8AC3E}">
        <p14:creationId xmlns:p14="http://schemas.microsoft.com/office/powerpoint/2010/main" val="20025172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a:t>Output Definition</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r>
              <a:rPr lang="en-US" sz="1600">
                <a:latin typeface="Arial"/>
                <a:cs typeface="Arial"/>
              </a:rPr>
              <a:t>Enter the </a:t>
            </a:r>
            <a:r>
              <a:rPr lang="en-US" sz="1600" err="1">
                <a:latin typeface="Arial"/>
                <a:cs typeface="Arial"/>
              </a:rPr>
              <a:t>message.body</a:t>
            </a:r>
            <a:r>
              <a:rPr lang="en-US" sz="1600">
                <a:latin typeface="Arial"/>
                <a:cs typeface="Arial"/>
              </a:rPr>
              <a:t> and output</a:t>
            </a:r>
          </a:p>
          <a:p>
            <a:r>
              <a:rPr lang="en-US" sz="1600">
                <a:latin typeface="Arial"/>
                <a:cs typeface="Arial"/>
              </a:rPr>
              <a:t>Select application/xml</a:t>
            </a:r>
          </a:p>
          <a:p>
            <a:r>
              <a:rPr lang="en-US" sz="1600">
                <a:latin typeface="Arial"/>
                <a:cs typeface="Arial"/>
              </a:rPr>
              <a:t>Select the desired definition (This should match the Response 200 from within the service)</a:t>
            </a:r>
          </a:p>
          <a:p>
            <a:endParaRPr lang="en-US" sz="1600">
              <a:latin typeface="Arial"/>
              <a:cs typeface="Arial"/>
            </a:endParaRPr>
          </a:p>
          <a:p>
            <a:r>
              <a:rPr lang="en-US" sz="1600">
                <a:latin typeface="Arial"/>
                <a:cs typeface="Arial"/>
              </a:rPr>
              <a:t>Click Done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8" name="Picture 7">
            <a:extLst>
              <a:ext uri="{FF2B5EF4-FFF2-40B4-BE49-F238E27FC236}">
                <a16:creationId xmlns:a16="http://schemas.microsoft.com/office/drawing/2014/main" id="{BFBB52AE-F5F6-4B0F-ABE5-E13C043A0EEB}"/>
              </a:ext>
            </a:extLst>
          </p:cNvPr>
          <p:cNvPicPr>
            <a:picLocks noChangeAspect="1"/>
          </p:cNvPicPr>
          <p:nvPr/>
        </p:nvPicPr>
        <p:blipFill>
          <a:blip r:embed="rId2"/>
          <a:stretch>
            <a:fillRect/>
          </a:stretch>
        </p:blipFill>
        <p:spPr>
          <a:xfrm>
            <a:off x="121067" y="2370221"/>
            <a:ext cx="6443501" cy="2444666"/>
          </a:xfrm>
          <a:prstGeom prst="rect">
            <a:avLst/>
          </a:prstGeom>
        </p:spPr>
      </p:pic>
    </p:spTree>
    <p:extLst>
      <p:ext uri="{BB962C8B-B14F-4D97-AF65-F5344CB8AC3E}">
        <p14:creationId xmlns:p14="http://schemas.microsoft.com/office/powerpoint/2010/main" val="20619332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Mapping to XML Services</a:t>
            </a:r>
          </a:p>
        </p:txBody>
      </p:sp>
      <p:sp>
        <p:nvSpPr>
          <p:cNvPr id="3" name="Text Placeholder 2"/>
          <p:cNvSpPr>
            <a:spLocks noGrp="1"/>
          </p:cNvSpPr>
          <p:nvPr>
            <p:ph type="body" sz="quarter" idx="11"/>
          </p:nvPr>
        </p:nvSpPr>
        <p:spPr/>
        <p:txBody>
          <a:bodyPr/>
          <a:lstStyle/>
          <a:p>
            <a:r>
              <a:rPr lang="en-US"/>
              <a:t>Input\Output Final result</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891867" y="2164081"/>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Click on the Source Attribute (dot) and connect to the target service attribute (dot) and click</a:t>
            </a:r>
          </a:p>
          <a:p>
            <a:r>
              <a:rPr lang="en-US" sz="1600">
                <a:latin typeface="Arial"/>
                <a:cs typeface="Arial"/>
              </a:rPr>
              <a:t>Continue until all input parameters are mapped</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9A30E115-9D3F-4AF2-A539-E1C7A5F7761F}"/>
              </a:ext>
            </a:extLst>
          </p:cNvPr>
          <p:cNvPicPr>
            <a:picLocks noChangeAspect="1"/>
          </p:cNvPicPr>
          <p:nvPr/>
        </p:nvPicPr>
        <p:blipFill>
          <a:blip r:embed="rId2"/>
          <a:stretch>
            <a:fillRect/>
          </a:stretch>
        </p:blipFill>
        <p:spPr>
          <a:xfrm>
            <a:off x="209800" y="1822393"/>
            <a:ext cx="6379823" cy="2003650"/>
          </a:xfrm>
          <a:prstGeom prst="rect">
            <a:avLst/>
          </a:prstGeom>
        </p:spPr>
      </p:pic>
    </p:spTree>
    <p:extLst>
      <p:ext uri="{BB962C8B-B14F-4D97-AF65-F5344CB8AC3E}">
        <p14:creationId xmlns:p14="http://schemas.microsoft.com/office/powerpoint/2010/main" val="39089240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p:txBody>
          <a:bodyPr/>
          <a:lstStyle/>
          <a:p>
            <a:r>
              <a:rPr lang="en-US"/>
              <a:t>Move proxy API from V5 to V10</a:t>
            </a:r>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Introduction</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11272838" cy="4174867"/>
          </a:xfrm>
        </p:spPr>
        <p:txBody>
          <a:bodyPr lIns="91440" tIns="45720" rIns="91440" bIns="45720" anchor="t"/>
          <a:lstStyle/>
          <a:p>
            <a:r>
              <a:rPr lang="en-US" sz="1600">
                <a:latin typeface="Arial"/>
                <a:cs typeface="Arial"/>
              </a:rPr>
              <a:t>This section describes how to move a proxy API from V5 to V10.</a:t>
            </a:r>
          </a:p>
          <a:p>
            <a:endParaRPr lang="en-US" sz="1600"/>
          </a:p>
          <a:p>
            <a:endParaRPr lang="en-US" sz="1600"/>
          </a:p>
          <a:p>
            <a:endParaRPr lang="en-US" sz="1600"/>
          </a:p>
        </p:txBody>
      </p:sp>
    </p:spTree>
    <p:extLst>
      <p:ext uri="{BB962C8B-B14F-4D97-AF65-F5344CB8AC3E}">
        <p14:creationId xmlns:p14="http://schemas.microsoft.com/office/powerpoint/2010/main" val="206558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Move proxy API from V5 to V10</a:t>
            </a:r>
          </a:p>
        </p:txBody>
      </p:sp>
      <p:sp>
        <p:nvSpPr>
          <p:cNvPr id="3" name="Text Placeholder 2"/>
          <p:cNvSpPr>
            <a:spLocks noGrp="1"/>
          </p:cNvSpPr>
          <p:nvPr>
            <p:ph type="body" sz="quarter" idx="11"/>
          </p:nvPr>
        </p:nvSpPr>
        <p:spPr/>
        <p:txBody>
          <a:bodyPr/>
          <a:lstStyle/>
          <a:p>
            <a:r>
              <a:rPr lang="en-US"/>
              <a:t>Download</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891867" y="2164081"/>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Within V5 APIConnect open the API</a:t>
            </a:r>
          </a:p>
          <a:p>
            <a:r>
              <a:rPr lang="en-US" sz="1600">
                <a:latin typeface="Arial"/>
                <a:cs typeface="Arial"/>
              </a:rPr>
              <a:t>Click on the ellipsis and select Download</a:t>
            </a:r>
          </a:p>
          <a:p>
            <a:r>
              <a:rPr lang="en-US" sz="1600">
                <a:latin typeface="Arial"/>
                <a:cs typeface="Arial"/>
              </a:rPr>
              <a:t>The YAML file will be placed in the local computer download folder</a:t>
            </a:r>
          </a:p>
          <a:p>
            <a:r>
              <a:rPr lang="en-US" sz="1600">
                <a:latin typeface="Arial"/>
                <a:cs typeface="Arial"/>
              </a:rPr>
              <a:t>Within V10 APIConnect click Add button then select API</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8" name="Picture 7">
            <a:extLst>
              <a:ext uri="{FF2B5EF4-FFF2-40B4-BE49-F238E27FC236}">
                <a16:creationId xmlns:a16="http://schemas.microsoft.com/office/drawing/2014/main" id="{3FE00FBB-4BE0-4BB3-80E2-4B32F4EF0EF0}"/>
              </a:ext>
            </a:extLst>
          </p:cNvPr>
          <p:cNvPicPr>
            <a:picLocks noChangeAspect="1"/>
          </p:cNvPicPr>
          <p:nvPr/>
        </p:nvPicPr>
        <p:blipFill>
          <a:blip r:embed="rId2"/>
          <a:stretch>
            <a:fillRect/>
          </a:stretch>
        </p:blipFill>
        <p:spPr>
          <a:xfrm>
            <a:off x="96359" y="1685926"/>
            <a:ext cx="6379597" cy="1579792"/>
          </a:xfrm>
          <a:prstGeom prst="rect">
            <a:avLst/>
          </a:prstGeom>
        </p:spPr>
      </p:pic>
      <p:pic>
        <p:nvPicPr>
          <p:cNvPr id="10" name="Picture 9">
            <a:extLst>
              <a:ext uri="{FF2B5EF4-FFF2-40B4-BE49-F238E27FC236}">
                <a16:creationId xmlns:a16="http://schemas.microsoft.com/office/drawing/2014/main" id="{790040FD-81F3-4403-8082-41DC0758AB02}"/>
              </a:ext>
            </a:extLst>
          </p:cNvPr>
          <p:cNvPicPr>
            <a:picLocks noChangeAspect="1"/>
          </p:cNvPicPr>
          <p:nvPr/>
        </p:nvPicPr>
        <p:blipFill>
          <a:blip r:embed="rId3"/>
          <a:stretch>
            <a:fillRect/>
          </a:stretch>
        </p:blipFill>
        <p:spPr>
          <a:xfrm>
            <a:off x="96359" y="3429000"/>
            <a:ext cx="6224058" cy="1387159"/>
          </a:xfrm>
          <a:prstGeom prst="rect">
            <a:avLst/>
          </a:prstGeom>
        </p:spPr>
      </p:pic>
    </p:spTree>
    <p:extLst>
      <p:ext uri="{BB962C8B-B14F-4D97-AF65-F5344CB8AC3E}">
        <p14:creationId xmlns:p14="http://schemas.microsoft.com/office/powerpoint/2010/main" val="20929041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Move proxy API from V5 to V10</a:t>
            </a:r>
          </a:p>
        </p:txBody>
      </p:sp>
      <p:sp>
        <p:nvSpPr>
          <p:cNvPr id="3" name="Text Placeholder 2"/>
          <p:cNvSpPr>
            <a:spLocks noGrp="1"/>
          </p:cNvSpPr>
          <p:nvPr>
            <p:ph type="body" sz="quarter" idx="11"/>
          </p:nvPr>
        </p:nvSpPr>
        <p:spPr/>
        <p:txBody>
          <a:bodyPr/>
          <a:lstStyle/>
          <a:p>
            <a:r>
              <a:rPr lang="en-US"/>
              <a:t>Select </a:t>
            </a:r>
            <a:r>
              <a:rPr lang="en-US" err="1"/>
              <a:t>OpenAPI</a:t>
            </a:r>
            <a:r>
              <a:rPr lang="en-US"/>
              <a:t> 2.0</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891867" y="2164081"/>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Make sure that </a:t>
            </a:r>
            <a:r>
              <a:rPr lang="en-US" sz="1600" err="1">
                <a:latin typeface="Arial"/>
                <a:cs typeface="Arial"/>
              </a:rPr>
              <a:t>OpenAPI</a:t>
            </a:r>
            <a:r>
              <a:rPr lang="en-US" sz="1600">
                <a:latin typeface="Arial"/>
                <a:cs typeface="Arial"/>
              </a:rPr>
              <a:t> 2.0 is selected</a:t>
            </a:r>
          </a:p>
          <a:p>
            <a:r>
              <a:rPr lang="en-US" sz="1600">
                <a:latin typeface="Arial"/>
                <a:cs typeface="Arial"/>
              </a:rPr>
              <a:t>Under Import, select Existing </a:t>
            </a:r>
            <a:r>
              <a:rPr lang="en-US" sz="1600" err="1">
                <a:latin typeface="Arial"/>
                <a:cs typeface="Arial"/>
              </a:rPr>
              <a:t>OpenAPI</a:t>
            </a:r>
            <a:endParaRPr lang="en-US" sz="1600">
              <a:latin typeface="Arial"/>
              <a:cs typeface="Arial"/>
            </a:endParaRPr>
          </a:p>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7F5E3F90-E708-417F-846E-78E2D7719C13}"/>
              </a:ext>
            </a:extLst>
          </p:cNvPr>
          <p:cNvPicPr>
            <a:picLocks noChangeAspect="1"/>
          </p:cNvPicPr>
          <p:nvPr/>
        </p:nvPicPr>
        <p:blipFill>
          <a:blip r:embed="rId2"/>
          <a:stretch>
            <a:fillRect/>
          </a:stretch>
        </p:blipFill>
        <p:spPr>
          <a:xfrm>
            <a:off x="171777" y="3429000"/>
            <a:ext cx="4200525" cy="1524000"/>
          </a:xfrm>
          <a:prstGeom prst="rect">
            <a:avLst/>
          </a:prstGeom>
        </p:spPr>
      </p:pic>
      <p:pic>
        <p:nvPicPr>
          <p:cNvPr id="11" name="Picture 10">
            <a:extLst>
              <a:ext uri="{FF2B5EF4-FFF2-40B4-BE49-F238E27FC236}">
                <a16:creationId xmlns:a16="http://schemas.microsoft.com/office/drawing/2014/main" id="{D4E2F770-713D-49F4-BAE0-408598203725}"/>
              </a:ext>
            </a:extLst>
          </p:cNvPr>
          <p:cNvPicPr>
            <a:picLocks noChangeAspect="1"/>
          </p:cNvPicPr>
          <p:nvPr/>
        </p:nvPicPr>
        <p:blipFill>
          <a:blip r:embed="rId3"/>
          <a:stretch>
            <a:fillRect/>
          </a:stretch>
        </p:blipFill>
        <p:spPr>
          <a:xfrm>
            <a:off x="171777" y="1796702"/>
            <a:ext cx="3076575" cy="1485900"/>
          </a:xfrm>
          <a:prstGeom prst="rect">
            <a:avLst/>
          </a:prstGeom>
        </p:spPr>
      </p:pic>
    </p:spTree>
    <p:extLst>
      <p:ext uri="{BB962C8B-B14F-4D97-AF65-F5344CB8AC3E}">
        <p14:creationId xmlns:p14="http://schemas.microsoft.com/office/powerpoint/2010/main" val="32074437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Move proxy API from V5 to V10</a:t>
            </a:r>
          </a:p>
        </p:txBody>
      </p:sp>
      <p:sp>
        <p:nvSpPr>
          <p:cNvPr id="3" name="Text Placeholder 2"/>
          <p:cNvSpPr>
            <a:spLocks noGrp="1"/>
          </p:cNvSpPr>
          <p:nvPr>
            <p:ph type="body" sz="quarter" idx="11"/>
          </p:nvPr>
        </p:nvSpPr>
        <p:spPr/>
        <p:txBody>
          <a:bodyPr/>
          <a:lstStyle/>
          <a:p>
            <a:r>
              <a:rPr lang="en-US"/>
              <a:t>Import</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891867" y="2164081"/>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t>Drag and drop or click the screen to select the file to import</a:t>
            </a:r>
          </a:p>
          <a:p>
            <a:r>
              <a:rPr lang="en-US" sz="1600">
                <a:latin typeface="Arial"/>
                <a:cs typeface="Arial"/>
              </a:rPr>
              <a:t>From Download folder select the file to import</a:t>
            </a:r>
          </a:p>
          <a:p>
            <a:r>
              <a:rPr lang="en-US" sz="1600">
                <a:latin typeface="Arial"/>
                <a:cs typeface="Arial"/>
              </a:rPr>
              <a:t>Click Open</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0" name="Picture 9">
            <a:extLst>
              <a:ext uri="{FF2B5EF4-FFF2-40B4-BE49-F238E27FC236}">
                <a16:creationId xmlns:a16="http://schemas.microsoft.com/office/drawing/2014/main" id="{766BBEEE-015C-4B83-94A3-7DB49008D415}"/>
              </a:ext>
            </a:extLst>
          </p:cNvPr>
          <p:cNvPicPr>
            <a:picLocks noChangeAspect="1"/>
          </p:cNvPicPr>
          <p:nvPr/>
        </p:nvPicPr>
        <p:blipFill>
          <a:blip r:embed="rId2"/>
          <a:stretch>
            <a:fillRect/>
          </a:stretch>
        </p:blipFill>
        <p:spPr>
          <a:xfrm>
            <a:off x="261083" y="1735790"/>
            <a:ext cx="3381375" cy="1743075"/>
          </a:xfrm>
          <a:prstGeom prst="rect">
            <a:avLst/>
          </a:prstGeom>
        </p:spPr>
      </p:pic>
      <p:pic>
        <p:nvPicPr>
          <p:cNvPr id="13" name="Picture 12">
            <a:extLst>
              <a:ext uri="{FF2B5EF4-FFF2-40B4-BE49-F238E27FC236}">
                <a16:creationId xmlns:a16="http://schemas.microsoft.com/office/drawing/2014/main" id="{28778C92-9ED7-43AB-B3EA-CB0AC8FE6B1D}"/>
              </a:ext>
            </a:extLst>
          </p:cNvPr>
          <p:cNvPicPr>
            <a:picLocks noChangeAspect="1"/>
          </p:cNvPicPr>
          <p:nvPr/>
        </p:nvPicPr>
        <p:blipFill>
          <a:blip r:embed="rId3"/>
          <a:stretch>
            <a:fillRect/>
          </a:stretch>
        </p:blipFill>
        <p:spPr>
          <a:xfrm>
            <a:off x="261083" y="3657991"/>
            <a:ext cx="6029325" cy="1771650"/>
          </a:xfrm>
          <a:prstGeom prst="rect">
            <a:avLst/>
          </a:prstGeom>
        </p:spPr>
      </p:pic>
    </p:spTree>
    <p:extLst>
      <p:ext uri="{BB962C8B-B14F-4D97-AF65-F5344CB8AC3E}">
        <p14:creationId xmlns:p14="http://schemas.microsoft.com/office/powerpoint/2010/main" val="17382044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Move proxy API from V5 to V10</a:t>
            </a:r>
          </a:p>
        </p:txBody>
      </p:sp>
      <p:sp>
        <p:nvSpPr>
          <p:cNvPr id="3" name="Text Placeholder 2"/>
          <p:cNvSpPr>
            <a:spLocks noGrp="1"/>
          </p:cNvSpPr>
          <p:nvPr>
            <p:ph type="body" sz="quarter" idx="11"/>
          </p:nvPr>
        </p:nvSpPr>
        <p:spPr/>
        <p:txBody>
          <a:bodyPr/>
          <a:lstStyle/>
          <a:p>
            <a:r>
              <a:rPr lang="en-US"/>
              <a:t>Activate API</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891867" y="2164081"/>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File has been imported and successfully validated</a:t>
            </a:r>
          </a:p>
          <a:p>
            <a:r>
              <a:rPr lang="en-US" sz="1600">
                <a:latin typeface="Arial"/>
                <a:cs typeface="Arial"/>
              </a:rPr>
              <a:t>Click Next</a:t>
            </a:r>
          </a:p>
          <a:p>
            <a:r>
              <a:rPr lang="en-US" sz="1600">
                <a:latin typeface="Arial"/>
                <a:cs typeface="Arial"/>
              </a:rPr>
              <a:t>Leave the Activate API check box unselected</a:t>
            </a:r>
          </a:p>
          <a:p>
            <a:r>
              <a:rPr lang="en-US" sz="1600"/>
              <a:t>Click Next</a:t>
            </a:r>
          </a:p>
          <a:p>
            <a:r>
              <a:rPr lang="en-US" sz="1600">
                <a:latin typeface="Arial"/>
                <a:cs typeface="Arial"/>
              </a:rPr>
              <a:t>Click Edit API on the Summary page</a:t>
            </a:r>
          </a:p>
          <a:p>
            <a:r>
              <a:rPr lang="en-US" sz="1600">
                <a:latin typeface="Arial"/>
                <a:cs typeface="Arial"/>
              </a:rPr>
              <a:t>The API will open in edit mode</a:t>
            </a:r>
          </a:p>
          <a:p>
            <a:r>
              <a:rPr lang="en-US" sz="1600">
                <a:latin typeface="Arial"/>
                <a:cs typeface="Arial"/>
              </a:rPr>
              <a:t>Look at the “Name” field on the Info tab</a:t>
            </a:r>
          </a:p>
          <a:p>
            <a:pPr marL="198438" lvl="2" indent="0">
              <a:buNone/>
            </a:pPr>
            <a:r>
              <a:rPr lang="en-US" sz="1600">
                <a:latin typeface="Arial"/>
                <a:cs typeface="Arial"/>
              </a:rPr>
              <a:t>If there are any “_” (underscore) characters in the name field replace them with “-” (dash)</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97C46353-2CFD-4D48-BE9B-F971B2093BE9}"/>
              </a:ext>
            </a:extLst>
          </p:cNvPr>
          <p:cNvPicPr>
            <a:picLocks noChangeAspect="1"/>
          </p:cNvPicPr>
          <p:nvPr/>
        </p:nvPicPr>
        <p:blipFill>
          <a:blip r:embed="rId2"/>
          <a:stretch>
            <a:fillRect/>
          </a:stretch>
        </p:blipFill>
        <p:spPr>
          <a:xfrm>
            <a:off x="243417" y="1816274"/>
            <a:ext cx="6207487" cy="3631653"/>
          </a:xfrm>
          <a:prstGeom prst="rect">
            <a:avLst/>
          </a:prstGeom>
        </p:spPr>
      </p:pic>
    </p:spTree>
    <p:extLst>
      <p:ext uri="{BB962C8B-B14F-4D97-AF65-F5344CB8AC3E}">
        <p14:creationId xmlns:p14="http://schemas.microsoft.com/office/powerpoint/2010/main" val="30055940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Move proxy API from V5 to V10</a:t>
            </a:r>
          </a:p>
        </p:txBody>
      </p:sp>
      <p:sp>
        <p:nvSpPr>
          <p:cNvPr id="3" name="Text Placeholder 2"/>
          <p:cNvSpPr>
            <a:spLocks noGrp="1"/>
          </p:cNvSpPr>
          <p:nvPr>
            <p:ph type="body" sz="quarter" idx="11"/>
          </p:nvPr>
        </p:nvSpPr>
        <p:spPr/>
        <p:txBody>
          <a:bodyPr/>
          <a:lstStyle/>
          <a:p>
            <a:r>
              <a:rPr lang="en-US"/>
              <a:t>Potential Issue</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891867" y="2164081"/>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a:latin typeface="Arial"/>
              <a:cs typeface="Arial"/>
            </a:endParaRPr>
          </a:p>
          <a:p>
            <a:r>
              <a:rPr lang="en-US" sz="1600">
                <a:latin typeface="Arial"/>
                <a:cs typeface="Arial"/>
              </a:rPr>
              <a:t>Due to some incompatibilities between V5 and V10 an invoke error may display</a:t>
            </a:r>
          </a:p>
          <a:p>
            <a:endParaRPr lang="en-US" sz="1600">
              <a:latin typeface="Arial"/>
              <a:cs typeface="Arial"/>
            </a:endParaRPr>
          </a:p>
          <a:p>
            <a:r>
              <a:rPr lang="en-US" sz="1600">
                <a:latin typeface="Arial"/>
                <a:cs typeface="Arial"/>
              </a:rPr>
              <a:t>If there is no error, click </a:t>
            </a:r>
            <a:r>
              <a:rPr lang="en-US" sz="1600">
                <a:latin typeface="Arial"/>
                <a:cs typeface="Arial"/>
                <a:hlinkClick r:id="rId2" action="ppaction://hlinksldjump"/>
              </a:rPr>
              <a:t>here</a:t>
            </a:r>
            <a:endParaRPr lang="en-US" sz="1600">
              <a:latin typeface="Arial"/>
              <a:cs typeface="Arial"/>
            </a:endParaRPr>
          </a:p>
          <a:p>
            <a:endParaRPr lang="en-US" sz="1600">
              <a:latin typeface="Arial"/>
              <a:cs typeface="Arial"/>
            </a:endParaRPr>
          </a:p>
          <a:p>
            <a:r>
              <a:rPr lang="en-US" sz="1600">
                <a:latin typeface="Arial"/>
                <a:cs typeface="Arial"/>
              </a:rPr>
              <a:t>If the error is displayed, use these steps to correct</a:t>
            </a:r>
          </a:p>
          <a:p>
            <a:r>
              <a:rPr lang="en-US" sz="1600">
                <a:latin typeface="Arial"/>
                <a:cs typeface="Arial"/>
              </a:rPr>
              <a:t>Click on Assemble</a:t>
            </a:r>
          </a:p>
          <a:p>
            <a:r>
              <a:rPr lang="en-US" sz="1600">
                <a:latin typeface="Arial"/>
                <a:cs typeface="Arial"/>
              </a:rPr>
              <a:t>Drag a new Invoke onto the Assemble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8" name="Picture 7">
            <a:extLst>
              <a:ext uri="{FF2B5EF4-FFF2-40B4-BE49-F238E27FC236}">
                <a16:creationId xmlns:a16="http://schemas.microsoft.com/office/drawing/2014/main" id="{0FBDF299-264C-4DE5-A62A-515577F228A8}"/>
              </a:ext>
            </a:extLst>
          </p:cNvPr>
          <p:cNvPicPr>
            <a:picLocks noChangeAspect="1"/>
          </p:cNvPicPr>
          <p:nvPr/>
        </p:nvPicPr>
        <p:blipFill>
          <a:blip r:embed="rId3"/>
          <a:stretch>
            <a:fillRect/>
          </a:stretch>
        </p:blipFill>
        <p:spPr>
          <a:xfrm>
            <a:off x="205839" y="1865499"/>
            <a:ext cx="6381228" cy="1479144"/>
          </a:xfrm>
          <a:prstGeom prst="rect">
            <a:avLst/>
          </a:prstGeom>
        </p:spPr>
      </p:pic>
      <p:sp>
        <p:nvSpPr>
          <p:cNvPr id="10" name="Rectangle: Rounded Corners 9">
            <a:extLst>
              <a:ext uri="{FF2B5EF4-FFF2-40B4-BE49-F238E27FC236}">
                <a16:creationId xmlns:a16="http://schemas.microsoft.com/office/drawing/2014/main" id="{A9E59465-78F9-479E-9F61-C16F30B470C3}"/>
              </a:ext>
            </a:extLst>
          </p:cNvPr>
          <p:cNvSpPr/>
          <p:nvPr/>
        </p:nvSpPr>
        <p:spPr>
          <a:xfrm>
            <a:off x="4346532" y="2042576"/>
            <a:ext cx="638827" cy="47515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cs typeface="Open Sans Bold"/>
            </a:endParaRPr>
          </a:p>
        </p:txBody>
      </p:sp>
      <p:pic>
        <p:nvPicPr>
          <p:cNvPr id="12" name="Picture 11">
            <a:extLst>
              <a:ext uri="{FF2B5EF4-FFF2-40B4-BE49-F238E27FC236}">
                <a16:creationId xmlns:a16="http://schemas.microsoft.com/office/drawing/2014/main" id="{80E301F9-FC19-4C87-8811-3D69664E5024}"/>
              </a:ext>
            </a:extLst>
          </p:cNvPr>
          <p:cNvPicPr>
            <a:picLocks noChangeAspect="1"/>
          </p:cNvPicPr>
          <p:nvPr/>
        </p:nvPicPr>
        <p:blipFill>
          <a:blip r:embed="rId4"/>
          <a:stretch>
            <a:fillRect/>
          </a:stretch>
        </p:blipFill>
        <p:spPr>
          <a:xfrm>
            <a:off x="205839" y="3584248"/>
            <a:ext cx="3971925" cy="1457325"/>
          </a:xfrm>
          <a:prstGeom prst="rect">
            <a:avLst/>
          </a:prstGeom>
        </p:spPr>
      </p:pic>
      <p:pic>
        <p:nvPicPr>
          <p:cNvPr id="14" name="Picture 13">
            <a:extLst>
              <a:ext uri="{FF2B5EF4-FFF2-40B4-BE49-F238E27FC236}">
                <a16:creationId xmlns:a16="http://schemas.microsoft.com/office/drawing/2014/main" id="{F6FF4D6A-39D5-4536-A00E-ECA66862578E}"/>
              </a:ext>
            </a:extLst>
          </p:cNvPr>
          <p:cNvPicPr>
            <a:picLocks noChangeAspect="1"/>
          </p:cNvPicPr>
          <p:nvPr/>
        </p:nvPicPr>
        <p:blipFill>
          <a:blip r:embed="rId5"/>
          <a:stretch>
            <a:fillRect/>
          </a:stretch>
        </p:blipFill>
        <p:spPr>
          <a:xfrm>
            <a:off x="205839" y="5281178"/>
            <a:ext cx="3905250" cy="1057275"/>
          </a:xfrm>
          <a:prstGeom prst="rect">
            <a:avLst/>
          </a:prstGeom>
        </p:spPr>
      </p:pic>
      <p:cxnSp>
        <p:nvCxnSpPr>
          <p:cNvPr id="6" name="Straight Arrow Connector 5">
            <a:extLst>
              <a:ext uri="{FF2B5EF4-FFF2-40B4-BE49-F238E27FC236}">
                <a16:creationId xmlns:a16="http://schemas.microsoft.com/office/drawing/2014/main" id="{C1BD4FD8-4388-4918-AC2D-1F495DD36FE8}"/>
              </a:ext>
            </a:extLst>
          </p:cNvPr>
          <p:cNvCxnSpPr>
            <a:cxnSpLocks/>
          </p:cNvCxnSpPr>
          <p:nvPr/>
        </p:nvCxnSpPr>
        <p:spPr>
          <a:xfrm flipH="1" flipV="1">
            <a:off x="4985359" y="2346960"/>
            <a:ext cx="1754108" cy="426720"/>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77679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Move proxy API from V5 to V10</a:t>
            </a:r>
          </a:p>
        </p:txBody>
      </p:sp>
      <p:sp>
        <p:nvSpPr>
          <p:cNvPr id="3" name="Text Placeholder 2"/>
          <p:cNvSpPr>
            <a:spLocks noGrp="1"/>
          </p:cNvSpPr>
          <p:nvPr>
            <p:ph type="body" sz="quarter" idx="11"/>
          </p:nvPr>
        </p:nvSpPr>
        <p:spPr/>
        <p:txBody>
          <a:bodyPr/>
          <a:lstStyle/>
          <a:p>
            <a:r>
              <a:rPr lang="en-US"/>
              <a:t>Assemble</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891867" y="2164081"/>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Copy the Title and Description from the Original V5 Invoke and paste into the appropriate areas within the V10 Invoke</a:t>
            </a:r>
          </a:p>
          <a:p>
            <a:endParaRPr lang="en-US" sz="1600">
              <a:latin typeface="Arial"/>
              <a:cs typeface="Arial"/>
            </a:endParaRPr>
          </a:p>
          <a:p>
            <a:r>
              <a:rPr lang="en-US" sz="1600">
                <a:latin typeface="Arial"/>
                <a:cs typeface="Arial"/>
              </a:rPr>
              <a:t>Delete the V5 Invoke which has an error</a:t>
            </a:r>
          </a:p>
          <a:p>
            <a:endParaRPr lang="en-US" sz="1600">
              <a:latin typeface="Arial"/>
              <a:cs typeface="Arial"/>
            </a:endParaRPr>
          </a:p>
          <a:p>
            <a:r>
              <a:rPr lang="en-US" sz="1600">
                <a:latin typeface="Arial"/>
                <a:cs typeface="Arial"/>
              </a:rPr>
              <a:t>Click Save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6" name="Picture 15">
            <a:extLst>
              <a:ext uri="{FF2B5EF4-FFF2-40B4-BE49-F238E27FC236}">
                <a16:creationId xmlns:a16="http://schemas.microsoft.com/office/drawing/2014/main" id="{C46B729C-350C-43DF-85FB-AC2044A97CD0}"/>
              </a:ext>
            </a:extLst>
          </p:cNvPr>
          <p:cNvPicPr>
            <a:picLocks noChangeAspect="1"/>
          </p:cNvPicPr>
          <p:nvPr/>
        </p:nvPicPr>
        <p:blipFill>
          <a:blip r:embed="rId2"/>
          <a:stretch>
            <a:fillRect/>
          </a:stretch>
        </p:blipFill>
        <p:spPr>
          <a:xfrm>
            <a:off x="239110" y="3779401"/>
            <a:ext cx="3074820" cy="1951580"/>
          </a:xfrm>
          <a:prstGeom prst="rect">
            <a:avLst/>
          </a:prstGeom>
        </p:spPr>
      </p:pic>
      <p:pic>
        <p:nvPicPr>
          <p:cNvPr id="18" name="Picture 17">
            <a:extLst>
              <a:ext uri="{FF2B5EF4-FFF2-40B4-BE49-F238E27FC236}">
                <a16:creationId xmlns:a16="http://schemas.microsoft.com/office/drawing/2014/main" id="{EAEDAD70-E433-48EF-A381-1DBE14A7DF1E}"/>
              </a:ext>
            </a:extLst>
          </p:cNvPr>
          <p:cNvPicPr>
            <a:picLocks noChangeAspect="1"/>
          </p:cNvPicPr>
          <p:nvPr/>
        </p:nvPicPr>
        <p:blipFill>
          <a:blip r:embed="rId3"/>
          <a:stretch>
            <a:fillRect/>
          </a:stretch>
        </p:blipFill>
        <p:spPr>
          <a:xfrm>
            <a:off x="237182" y="1652083"/>
            <a:ext cx="3142438" cy="1983409"/>
          </a:xfrm>
          <a:prstGeom prst="rect">
            <a:avLst/>
          </a:prstGeom>
        </p:spPr>
      </p:pic>
      <p:pic>
        <p:nvPicPr>
          <p:cNvPr id="20" name="Picture 19">
            <a:extLst>
              <a:ext uri="{FF2B5EF4-FFF2-40B4-BE49-F238E27FC236}">
                <a16:creationId xmlns:a16="http://schemas.microsoft.com/office/drawing/2014/main" id="{40FC0D14-3CE6-4771-ACB5-3A60D5479EDF}"/>
              </a:ext>
            </a:extLst>
          </p:cNvPr>
          <p:cNvPicPr>
            <a:picLocks noChangeAspect="1"/>
          </p:cNvPicPr>
          <p:nvPr/>
        </p:nvPicPr>
        <p:blipFill>
          <a:blip r:embed="rId4"/>
          <a:stretch>
            <a:fillRect/>
          </a:stretch>
        </p:blipFill>
        <p:spPr>
          <a:xfrm>
            <a:off x="3401868" y="5120294"/>
            <a:ext cx="3185199" cy="877555"/>
          </a:xfrm>
          <a:prstGeom prst="rect">
            <a:avLst/>
          </a:prstGeom>
        </p:spPr>
      </p:pic>
    </p:spTree>
    <p:extLst>
      <p:ext uri="{BB962C8B-B14F-4D97-AF65-F5344CB8AC3E}">
        <p14:creationId xmlns:p14="http://schemas.microsoft.com/office/powerpoint/2010/main" val="33670502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Move proxy API from V5 to V10</a:t>
            </a:r>
          </a:p>
        </p:txBody>
      </p:sp>
      <p:sp>
        <p:nvSpPr>
          <p:cNvPr id="3" name="Text Placeholder 2"/>
          <p:cNvSpPr>
            <a:spLocks noGrp="1"/>
          </p:cNvSpPr>
          <p:nvPr>
            <p:ph type="body" sz="quarter" idx="11"/>
          </p:nvPr>
        </p:nvSpPr>
        <p:spPr/>
        <p:txBody>
          <a:bodyPr/>
          <a:lstStyle/>
          <a:p>
            <a:r>
              <a:rPr lang="en-US"/>
              <a:t>Properties</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891867" y="2164081"/>
            <a:ext cx="4990570" cy="4174372"/>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Edit the Invoke</a:t>
            </a:r>
          </a:p>
          <a:p>
            <a:r>
              <a:rPr lang="en-US" sz="1600">
                <a:latin typeface="Arial"/>
                <a:cs typeface="Arial"/>
              </a:rPr>
              <a:t>Enter: $(target-</a:t>
            </a:r>
            <a:r>
              <a:rPr lang="en-US" sz="1600" err="1">
                <a:latin typeface="Arial"/>
                <a:cs typeface="Arial"/>
              </a:rPr>
              <a:t>url</a:t>
            </a:r>
            <a:r>
              <a:rPr lang="en-US" sz="1600">
                <a:latin typeface="Arial"/>
                <a:cs typeface="Arial"/>
              </a:rPr>
              <a:t>)</a:t>
            </a:r>
          </a:p>
          <a:p>
            <a:r>
              <a:rPr lang="en-US" sz="1600">
                <a:latin typeface="Arial"/>
                <a:cs typeface="Arial"/>
              </a:rPr>
              <a:t>Set the HTTP Method to Keep</a:t>
            </a:r>
          </a:p>
          <a:p>
            <a:r>
              <a:rPr lang="en-US" sz="1600">
                <a:latin typeface="Arial"/>
                <a:cs typeface="Arial"/>
              </a:rPr>
              <a:t>Set Cache Type to No Cache</a:t>
            </a:r>
          </a:p>
          <a:p>
            <a:r>
              <a:rPr lang="en-US" sz="1600">
                <a:latin typeface="Arial"/>
                <a:cs typeface="Arial"/>
              </a:rPr>
              <a:t>Ensure Time to Live is blank</a:t>
            </a:r>
          </a:p>
          <a:p>
            <a:r>
              <a:rPr lang="en-US" sz="1600">
                <a:latin typeface="Arial"/>
                <a:cs typeface="Arial"/>
              </a:rPr>
              <a:t>Ensure Stop on error is unchecked</a:t>
            </a:r>
          </a:p>
          <a:p>
            <a:r>
              <a:rPr lang="en-US" sz="1600">
                <a:latin typeface="Arial"/>
                <a:cs typeface="Arial"/>
              </a:rPr>
              <a:t>Click Save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9" name="Picture 8">
            <a:extLst>
              <a:ext uri="{FF2B5EF4-FFF2-40B4-BE49-F238E27FC236}">
                <a16:creationId xmlns:a16="http://schemas.microsoft.com/office/drawing/2014/main" id="{83357AEA-99CB-4E71-8655-63369481BBFA}"/>
              </a:ext>
            </a:extLst>
          </p:cNvPr>
          <p:cNvPicPr>
            <a:picLocks noChangeAspect="1"/>
          </p:cNvPicPr>
          <p:nvPr/>
        </p:nvPicPr>
        <p:blipFill>
          <a:blip r:embed="rId2"/>
          <a:stretch>
            <a:fillRect/>
          </a:stretch>
        </p:blipFill>
        <p:spPr>
          <a:xfrm>
            <a:off x="117308" y="2819386"/>
            <a:ext cx="2962275" cy="971550"/>
          </a:xfrm>
          <a:prstGeom prst="rect">
            <a:avLst/>
          </a:prstGeom>
        </p:spPr>
      </p:pic>
      <p:pic>
        <p:nvPicPr>
          <p:cNvPr id="11" name="Picture 10">
            <a:extLst>
              <a:ext uri="{FF2B5EF4-FFF2-40B4-BE49-F238E27FC236}">
                <a16:creationId xmlns:a16="http://schemas.microsoft.com/office/drawing/2014/main" id="{BEB86D82-115D-4B2E-86BC-C47168F8F3AB}"/>
              </a:ext>
            </a:extLst>
          </p:cNvPr>
          <p:cNvPicPr>
            <a:picLocks noChangeAspect="1"/>
          </p:cNvPicPr>
          <p:nvPr/>
        </p:nvPicPr>
        <p:blipFill>
          <a:blip r:embed="rId3"/>
          <a:stretch>
            <a:fillRect/>
          </a:stretch>
        </p:blipFill>
        <p:spPr>
          <a:xfrm>
            <a:off x="117308" y="3873774"/>
            <a:ext cx="3295650" cy="2124075"/>
          </a:xfrm>
          <a:prstGeom prst="rect">
            <a:avLst/>
          </a:prstGeom>
        </p:spPr>
      </p:pic>
      <p:pic>
        <p:nvPicPr>
          <p:cNvPr id="13" name="Picture 12">
            <a:extLst>
              <a:ext uri="{FF2B5EF4-FFF2-40B4-BE49-F238E27FC236}">
                <a16:creationId xmlns:a16="http://schemas.microsoft.com/office/drawing/2014/main" id="{061EC527-87D9-4240-940C-3708052E8F79}"/>
              </a:ext>
            </a:extLst>
          </p:cNvPr>
          <p:cNvPicPr>
            <a:picLocks noChangeAspect="1"/>
          </p:cNvPicPr>
          <p:nvPr/>
        </p:nvPicPr>
        <p:blipFill>
          <a:blip r:embed="rId4"/>
          <a:stretch>
            <a:fillRect/>
          </a:stretch>
        </p:blipFill>
        <p:spPr>
          <a:xfrm>
            <a:off x="3776134" y="5273949"/>
            <a:ext cx="1676400" cy="723900"/>
          </a:xfrm>
          <a:prstGeom prst="rect">
            <a:avLst/>
          </a:prstGeom>
        </p:spPr>
      </p:pic>
      <p:pic>
        <p:nvPicPr>
          <p:cNvPr id="15" name="Picture 14">
            <a:extLst>
              <a:ext uri="{FF2B5EF4-FFF2-40B4-BE49-F238E27FC236}">
                <a16:creationId xmlns:a16="http://schemas.microsoft.com/office/drawing/2014/main" id="{201ACA66-B437-4C41-A6B0-B63FAAF79595}"/>
              </a:ext>
            </a:extLst>
          </p:cNvPr>
          <p:cNvPicPr>
            <a:picLocks noChangeAspect="1"/>
          </p:cNvPicPr>
          <p:nvPr/>
        </p:nvPicPr>
        <p:blipFill>
          <a:blip r:embed="rId5"/>
          <a:stretch>
            <a:fillRect/>
          </a:stretch>
        </p:blipFill>
        <p:spPr>
          <a:xfrm>
            <a:off x="131568" y="1879298"/>
            <a:ext cx="2028825" cy="857250"/>
          </a:xfrm>
          <a:prstGeom prst="rect">
            <a:avLst/>
          </a:prstGeom>
        </p:spPr>
      </p:pic>
    </p:spTree>
    <p:extLst>
      <p:ext uri="{BB962C8B-B14F-4D97-AF65-F5344CB8AC3E}">
        <p14:creationId xmlns:p14="http://schemas.microsoft.com/office/powerpoint/2010/main" val="8393996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p:txBody>
          <a:bodyPr/>
          <a:lstStyle/>
          <a:p>
            <a:r>
              <a:rPr lang="en-US"/>
              <a:t>Moving a mapped API from V5 to V10</a:t>
            </a:r>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Manual Process</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11272838" cy="4174867"/>
          </a:xfrm>
        </p:spPr>
        <p:txBody>
          <a:bodyPr lIns="91440" tIns="45720" rIns="91440" bIns="45720" anchor="t"/>
          <a:lstStyle/>
          <a:p>
            <a:r>
              <a:rPr lang="en-US" sz="1600">
                <a:latin typeface="Arial"/>
                <a:cs typeface="Arial"/>
              </a:rPr>
              <a:t>This section describes how to move a mapped API from V5 to V10.</a:t>
            </a:r>
          </a:p>
          <a:p>
            <a:r>
              <a:rPr lang="en-US" sz="1600">
                <a:latin typeface="Arial"/>
                <a:cs typeface="Arial"/>
              </a:rPr>
              <a:t>The APIC development team has a utility that will convert V5 APIs to V10 APIs that will update the assembly components to enable the use of the V10 DataPower API Gateways rather than the DataPower Gateway(v5 compatible). Converted APIs end with –</a:t>
            </a:r>
            <a:r>
              <a:rPr lang="en-US" sz="1600" err="1">
                <a:latin typeface="Arial"/>
                <a:cs typeface="Arial"/>
              </a:rPr>
              <a:t>apigw</a:t>
            </a:r>
            <a:r>
              <a:rPr lang="en-US" sz="1600">
                <a:latin typeface="Arial"/>
                <a:cs typeface="Arial"/>
              </a:rPr>
              <a:t>.</a:t>
            </a:r>
          </a:p>
          <a:p>
            <a:r>
              <a:rPr lang="en-US" sz="1600">
                <a:latin typeface="Arial"/>
                <a:cs typeface="Arial"/>
              </a:rPr>
              <a:t>IF the API you need to modify is most current in v5, then it will also have to be migrated (possibly again) and imported into your development org. Export that API from the v5 API Manager and email that file to Roy Klein, Stephen Waldern (backup). One of them will use the conversion utility and return a file to you that can be imported into v10 in your development organization.</a:t>
            </a:r>
          </a:p>
          <a:p>
            <a:r>
              <a:rPr lang="en-US" sz="1600">
                <a:latin typeface="Arial"/>
                <a:cs typeface="Arial"/>
              </a:rPr>
              <a:t>Once you have imported this Converted API into v10 it is recommended that you remove the –</a:t>
            </a:r>
            <a:r>
              <a:rPr lang="en-US" sz="1600" err="1">
                <a:latin typeface="Arial"/>
                <a:cs typeface="Arial"/>
              </a:rPr>
              <a:t>apigw</a:t>
            </a:r>
            <a:r>
              <a:rPr lang="en-US" sz="1600">
                <a:latin typeface="Arial"/>
                <a:cs typeface="Arial"/>
              </a:rPr>
              <a:t> from the title and name from your modified next version so we can tell that the most current version was modified in v10.</a:t>
            </a:r>
          </a:p>
        </p:txBody>
      </p:sp>
    </p:spTree>
    <p:extLst>
      <p:ext uri="{BB962C8B-B14F-4D97-AF65-F5344CB8AC3E}">
        <p14:creationId xmlns:p14="http://schemas.microsoft.com/office/powerpoint/2010/main" val="23356519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p:txBody>
          <a:bodyPr/>
          <a:lstStyle/>
          <a:p>
            <a:r>
              <a:rPr lang="en-US" sz="3200">
                <a:latin typeface="Arial"/>
                <a:cs typeface="Arial"/>
              </a:rPr>
              <a:t>Importing an OpenAPI 3.0 for proxy API</a:t>
            </a:r>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Introduction</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11272838" cy="4174867"/>
          </a:xfrm>
        </p:spPr>
        <p:txBody>
          <a:bodyPr lIns="91440" tIns="45720" rIns="91440" bIns="45720" anchor="t"/>
          <a:lstStyle/>
          <a:p>
            <a:r>
              <a:rPr lang="en-US" sz="1600">
                <a:latin typeface="Arial"/>
                <a:cs typeface="Arial"/>
              </a:rPr>
              <a:t>This section describes how to import and configure an interface defined using </a:t>
            </a:r>
            <a:r>
              <a:rPr lang="en-US" sz="1600" err="1">
                <a:latin typeface="Arial"/>
                <a:cs typeface="Arial"/>
              </a:rPr>
              <a:t>OpenAPI</a:t>
            </a:r>
            <a:r>
              <a:rPr lang="en-US" sz="1600">
                <a:latin typeface="Arial"/>
                <a:cs typeface="Arial"/>
              </a:rPr>
              <a:t> 3.0</a:t>
            </a:r>
          </a:p>
          <a:p>
            <a:r>
              <a:rPr lang="en-US" sz="1600" err="1">
                <a:latin typeface="Arial"/>
                <a:cs typeface="Arial"/>
              </a:rPr>
              <a:t>OpenAPI</a:t>
            </a:r>
            <a:r>
              <a:rPr lang="en-US" sz="1600">
                <a:latin typeface="Arial"/>
                <a:cs typeface="Arial"/>
              </a:rPr>
              <a:t> 3.0 specifications can be found </a:t>
            </a:r>
            <a:r>
              <a:rPr lang="en-US" sz="1600">
                <a:latin typeface="Arial"/>
                <a:cs typeface="Arial"/>
                <a:hlinkClick r:id="rId2"/>
              </a:rPr>
              <a:t>here</a:t>
            </a:r>
            <a:endParaRPr lang="en-US" sz="1600">
              <a:latin typeface="Arial"/>
              <a:cs typeface="Arial"/>
            </a:endParaRPr>
          </a:p>
          <a:p>
            <a:r>
              <a:rPr lang="en-US" sz="1600"/>
              <a:t>A discussion on differences between Swagger 2.0 and Open API3.0 can be found </a:t>
            </a:r>
            <a:r>
              <a:rPr lang="en-US" sz="1600">
                <a:hlinkClick r:id="rId3"/>
              </a:rPr>
              <a:t>here</a:t>
            </a:r>
            <a:endParaRPr lang="en-US" sz="1600"/>
          </a:p>
          <a:p>
            <a:endParaRPr lang="en-US" sz="1600"/>
          </a:p>
          <a:p>
            <a:endParaRPr lang="en-US" sz="1600"/>
          </a:p>
        </p:txBody>
      </p:sp>
    </p:spTree>
    <p:extLst>
      <p:ext uri="{BB962C8B-B14F-4D97-AF65-F5344CB8AC3E}">
        <p14:creationId xmlns:p14="http://schemas.microsoft.com/office/powerpoint/2010/main" val="9378831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Importing an OpenAPI 3.0 for proxy API</a:t>
            </a:r>
          </a:p>
        </p:txBody>
      </p:sp>
      <p:sp>
        <p:nvSpPr>
          <p:cNvPr id="3" name="Text Placeholder 2"/>
          <p:cNvSpPr>
            <a:spLocks noGrp="1"/>
          </p:cNvSpPr>
          <p:nvPr>
            <p:ph type="body" sz="quarter" idx="11"/>
          </p:nvPr>
        </p:nvSpPr>
        <p:spPr/>
        <p:txBody>
          <a:bodyPr/>
          <a:lstStyle/>
          <a:p>
            <a:r>
              <a:rPr lang="en-US"/>
              <a:t>Import</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From Develop </a:t>
            </a:r>
          </a:p>
          <a:p>
            <a:r>
              <a:rPr lang="en-US" sz="1600">
                <a:latin typeface="Arial"/>
                <a:cs typeface="Arial"/>
              </a:rPr>
              <a:t>Click Add and select API</a:t>
            </a:r>
          </a:p>
          <a:p>
            <a:r>
              <a:rPr lang="en-US" sz="1600">
                <a:latin typeface="Arial"/>
                <a:cs typeface="Arial"/>
              </a:rPr>
              <a:t>Click </a:t>
            </a:r>
            <a:r>
              <a:rPr lang="en-US" sz="1600" err="1">
                <a:latin typeface="Arial"/>
                <a:cs typeface="Arial"/>
              </a:rPr>
              <a:t>OpenAPI</a:t>
            </a:r>
            <a:r>
              <a:rPr lang="en-US" sz="1600">
                <a:latin typeface="Arial"/>
                <a:cs typeface="Arial"/>
              </a:rPr>
              <a:t> 3.0</a:t>
            </a:r>
          </a:p>
          <a:p>
            <a:r>
              <a:rPr lang="en-US" sz="1600">
                <a:latin typeface="Arial"/>
                <a:cs typeface="Arial"/>
              </a:rPr>
              <a:t>Under Import, select Existing </a:t>
            </a:r>
            <a:r>
              <a:rPr lang="en-US" sz="1600" err="1">
                <a:latin typeface="Arial"/>
                <a:cs typeface="Arial"/>
              </a:rPr>
              <a:t>OpenAPI</a:t>
            </a:r>
            <a:endParaRPr lang="en-US" sz="1600">
              <a:latin typeface="Arial"/>
              <a:cs typeface="Arial"/>
            </a:endParaRPr>
          </a:p>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1" name="Picture 10">
            <a:extLst>
              <a:ext uri="{FF2B5EF4-FFF2-40B4-BE49-F238E27FC236}">
                <a16:creationId xmlns:a16="http://schemas.microsoft.com/office/drawing/2014/main" id="{301D8584-04CC-440F-8D0F-50D8E41A8ACE}"/>
              </a:ext>
            </a:extLst>
          </p:cNvPr>
          <p:cNvPicPr>
            <a:picLocks noChangeAspect="1"/>
          </p:cNvPicPr>
          <p:nvPr/>
        </p:nvPicPr>
        <p:blipFill>
          <a:blip r:embed="rId2"/>
          <a:stretch>
            <a:fillRect/>
          </a:stretch>
        </p:blipFill>
        <p:spPr>
          <a:xfrm>
            <a:off x="225091" y="1903601"/>
            <a:ext cx="6361976" cy="964927"/>
          </a:xfrm>
          <a:prstGeom prst="rect">
            <a:avLst/>
          </a:prstGeom>
        </p:spPr>
      </p:pic>
      <p:pic>
        <p:nvPicPr>
          <p:cNvPr id="13" name="Picture 12">
            <a:extLst>
              <a:ext uri="{FF2B5EF4-FFF2-40B4-BE49-F238E27FC236}">
                <a16:creationId xmlns:a16="http://schemas.microsoft.com/office/drawing/2014/main" id="{BFF21A38-6F58-4B6A-AB1A-C82F35817960}"/>
              </a:ext>
            </a:extLst>
          </p:cNvPr>
          <p:cNvPicPr>
            <a:picLocks noChangeAspect="1"/>
          </p:cNvPicPr>
          <p:nvPr/>
        </p:nvPicPr>
        <p:blipFill>
          <a:blip r:embed="rId3"/>
          <a:stretch>
            <a:fillRect/>
          </a:stretch>
        </p:blipFill>
        <p:spPr>
          <a:xfrm>
            <a:off x="225091" y="3030704"/>
            <a:ext cx="3540793" cy="1493213"/>
          </a:xfrm>
          <a:prstGeom prst="rect">
            <a:avLst/>
          </a:prstGeom>
        </p:spPr>
      </p:pic>
      <p:pic>
        <p:nvPicPr>
          <p:cNvPr id="15" name="Picture 14">
            <a:extLst>
              <a:ext uri="{FF2B5EF4-FFF2-40B4-BE49-F238E27FC236}">
                <a16:creationId xmlns:a16="http://schemas.microsoft.com/office/drawing/2014/main" id="{4789863A-AB28-4B52-AB15-705EFC6D55EF}"/>
              </a:ext>
            </a:extLst>
          </p:cNvPr>
          <p:cNvPicPr>
            <a:picLocks noChangeAspect="1"/>
          </p:cNvPicPr>
          <p:nvPr/>
        </p:nvPicPr>
        <p:blipFill>
          <a:blip r:embed="rId4"/>
          <a:stretch>
            <a:fillRect/>
          </a:stretch>
        </p:blipFill>
        <p:spPr>
          <a:xfrm>
            <a:off x="225091" y="4686094"/>
            <a:ext cx="3432509" cy="1694530"/>
          </a:xfrm>
          <a:prstGeom prst="rect">
            <a:avLst/>
          </a:prstGeom>
        </p:spPr>
      </p:pic>
    </p:spTree>
    <p:extLst>
      <p:ext uri="{BB962C8B-B14F-4D97-AF65-F5344CB8AC3E}">
        <p14:creationId xmlns:p14="http://schemas.microsoft.com/office/powerpoint/2010/main" val="36289504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Importing an OpenAPI 3.0 for proxy API</a:t>
            </a:r>
          </a:p>
        </p:txBody>
      </p:sp>
      <p:sp>
        <p:nvSpPr>
          <p:cNvPr id="3" name="Text Placeholder 2"/>
          <p:cNvSpPr>
            <a:spLocks noGrp="1"/>
          </p:cNvSpPr>
          <p:nvPr>
            <p:ph type="body" sz="quarter" idx="11"/>
          </p:nvPr>
        </p:nvSpPr>
        <p:spPr/>
        <p:txBody>
          <a:bodyPr/>
          <a:lstStyle/>
          <a:p>
            <a:r>
              <a:rPr lang="en-US"/>
              <a:t>Import</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t>Drag and drop or click the screen to select the file to import</a:t>
            </a:r>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r>
              <a:rPr lang="en-US" sz="1600">
                <a:latin typeface="Arial"/>
                <a:cs typeface="Arial"/>
              </a:rPr>
              <a:t>Find and select the vendor file to upload and click Open</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3F4E47DD-632C-4722-BE6B-542CCA08FAA0}"/>
              </a:ext>
            </a:extLst>
          </p:cNvPr>
          <p:cNvPicPr>
            <a:picLocks noChangeAspect="1"/>
          </p:cNvPicPr>
          <p:nvPr/>
        </p:nvPicPr>
        <p:blipFill>
          <a:blip r:embed="rId2"/>
          <a:stretch>
            <a:fillRect/>
          </a:stretch>
        </p:blipFill>
        <p:spPr>
          <a:xfrm>
            <a:off x="246897" y="1713989"/>
            <a:ext cx="3781425" cy="2019300"/>
          </a:xfrm>
          <a:prstGeom prst="rect">
            <a:avLst/>
          </a:prstGeom>
        </p:spPr>
      </p:pic>
      <p:pic>
        <p:nvPicPr>
          <p:cNvPr id="9" name="Picture 8">
            <a:extLst>
              <a:ext uri="{FF2B5EF4-FFF2-40B4-BE49-F238E27FC236}">
                <a16:creationId xmlns:a16="http://schemas.microsoft.com/office/drawing/2014/main" id="{96F329C1-4DE9-4EEA-A387-ECC11D9083F3}"/>
              </a:ext>
            </a:extLst>
          </p:cNvPr>
          <p:cNvPicPr>
            <a:picLocks noChangeAspect="1"/>
          </p:cNvPicPr>
          <p:nvPr/>
        </p:nvPicPr>
        <p:blipFill>
          <a:blip r:embed="rId3"/>
          <a:stretch>
            <a:fillRect/>
          </a:stretch>
        </p:blipFill>
        <p:spPr>
          <a:xfrm>
            <a:off x="246897" y="3890528"/>
            <a:ext cx="5372100" cy="2295525"/>
          </a:xfrm>
          <a:prstGeom prst="rect">
            <a:avLst/>
          </a:prstGeom>
        </p:spPr>
      </p:pic>
    </p:spTree>
    <p:extLst>
      <p:ext uri="{BB962C8B-B14F-4D97-AF65-F5344CB8AC3E}">
        <p14:creationId xmlns:p14="http://schemas.microsoft.com/office/powerpoint/2010/main" val="38954161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Importing an OpenAPI 3.0 for proxy API</a:t>
            </a:r>
          </a:p>
        </p:txBody>
      </p:sp>
      <p:sp>
        <p:nvSpPr>
          <p:cNvPr id="3" name="Text Placeholder 2"/>
          <p:cNvSpPr>
            <a:spLocks noGrp="1"/>
          </p:cNvSpPr>
          <p:nvPr>
            <p:ph type="body" sz="quarter" idx="11"/>
          </p:nvPr>
        </p:nvSpPr>
        <p:spPr/>
        <p:txBody>
          <a:bodyPr/>
          <a:lstStyle/>
          <a:p>
            <a:r>
              <a:rPr lang="en-US"/>
              <a:t>Import</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File has been imported and successfully validated</a:t>
            </a:r>
          </a:p>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8" name="Picture 7">
            <a:extLst>
              <a:ext uri="{FF2B5EF4-FFF2-40B4-BE49-F238E27FC236}">
                <a16:creationId xmlns:a16="http://schemas.microsoft.com/office/drawing/2014/main" id="{B899F926-3601-4EF1-9AFB-5A71E866AE5E}"/>
              </a:ext>
            </a:extLst>
          </p:cNvPr>
          <p:cNvPicPr>
            <a:picLocks noChangeAspect="1"/>
          </p:cNvPicPr>
          <p:nvPr/>
        </p:nvPicPr>
        <p:blipFill>
          <a:blip r:embed="rId2"/>
          <a:stretch>
            <a:fillRect/>
          </a:stretch>
        </p:blipFill>
        <p:spPr>
          <a:xfrm>
            <a:off x="286251" y="1713989"/>
            <a:ext cx="6229350" cy="3848100"/>
          </a:xfrm>
          <a:prstGeom prst="rect">
            <a:avLst/>
          </a:prstGeom>
        </p:spPr>
      </p:pic>
    </p:spTree>
    <p:extLst>
      <p:ext uri="{BB962C8B-B14F-4D97-AF65-F5344CB8AC3E}">
        <p14:creationId xmlns:p14="http://schemas.microsoft.com/office/powerpoint/2010/main" val="41528179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Importing an OpenAPI 3.0 for proxy API</a:t>
            </a:r>
          </a:p>
        </p:txBody>
      </p:sp>
      <p:sp>
        <p:nvSpPr>
          <p:cNvPr id="3" name="Text Placeholder 2"/>
          <p:cNvSpPr>
            <a:spLocks noGrp="1"/>
          </p:cNvSpPr>
          <p:nvPr>
            <p:ph type="body" sz="quarter" idx="11"/>
          </p:nvPr>
        </p:nvSpPr>
        <p:spPr/>
        <p:txBody>
          <a:bodyPr/>
          <a:lstStyle/>
          <a:p>
            <a:r>
              <a:rPr lang="en-US"/>
              <a:t>Import</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Leave the Activate API check box unselected</a:t>
            </a:r>
          </a:p>
          <a:p>
            <a:r>
              <a:rPr lang="en-US" sz="1600">
                <a:latin typeface="Arial"/>
                <a:cs typeface="Arial"/>
              </a:rPr>
              <a:t>Click Next</a:t>
            </a:r>
          </a:p>
          <a:p>
            <a:r>
              <a:rPr lang="en-US" sz="1600">
                <a:latin typeface="Arial"/>
                <a:cs typeface="Arial"/>
              </a:rPr>
              <a:t>After the Summary click Edit API</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2488E78F-529E-4FB0-91C7-04A01CA5093D}"/>
              </a:ext>
            </a:extLst>
          </p:cNvPr>
          <p:cNvPicPr>
            <a:picLocks noChangeAspect="1"/>
          </p:cNvPicPr>
          <p:nvPr/>
        </p:nvPicPr>
        <p:blipFill>
          <a:blip r:embed="rId2"/>
          <a:stretch>
            <a:fillRect/>
          </a:stretch>
        </p:blipFill>
        <p:spPr>
          <a:xfrm>
            <a:off x="180474" y="1713989"/>
            <a:ext cx="5791200" cy="2085975"/>
          </a:xfrm>
          <a:prstGeom prst="rect">
            <a:avLst/>
          </a:prstGeom>
        </p:spPr>
      </p:pic>
      <p:pic>
        <p:nvPicPr>
          <p:cNvPr id="10" name="Picture 9">
            <a:extLst>
              <a:ext uri="{FF2B5EF4-FFF2-40B4-BE49-F238E27FC236}">
                <a16:creationId xmlns:a16="http://schemas.microsoft.com/office/drawing/2014/main" id="{50804101-EB0F-4B3A-A771-AB9C16CE3ED0}"/>
              </a:ext>
            </a:extLst>
          </p:cNvPr>
          <p:cNvPicPr>
            <a:picLocks noChangeAspect="1"/>
          </p:cNvPicPr>
          <p:nvPr/>
        </p:nvPicPr>
        <p:blipFill>
          <a:blip r:embed="rId3"/>
          <a:stretch>
            <a:fillRect/>
          </a:stretch>
        </p:blipFill>
        <p:spPr>
          <a:xfrm>
            <a:off x="180474" y="3886711"/>
            <a:ext cx="5791200" cy="2465840"/>
          </a:xfrm>
          <a:prstGeom prst="rect">
            <a:avLst/>
          </a:prstGeom>
        </p:spPr>
      </p:pic>
    </p:spTree>
    <p:extLst>
      <p:ext uri="{BB962C8B-B14F-4D97-AF65-F5344CB8AC3E}">
        <p14:creationId xmlns:p14="http://schemas.microsoft.com/office/powerpoint/2010/main" val="28885437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Importing an OpenAPI 3.0 for proxy API</a:t>
            </a:r>
          </a:p>
        </p:txBody>
      </p:sp>
      <p:sp>
        <p:nvSpPr>
          <p:cNvPr id="3" name="Text Placeholder 2"/>
          <p:cNvSpPr>
            <a:spLocks noGrp="1"/>
          </p:cNvSpPr>
          <p:nvPr>
            <p:ph type="body" sz="quarter" idx="11"/>
          </p:nvPr>
        </p:nvSpPr>
        <p:spPr/>
        <p:txBody>
          <a:bodyPr/>
          <a:lstStyle/>
          <a:p>
            <a:r>
              <a:rPr lang="en-US"/>
              <a:t>Import</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When the API Opens look at the “Name” field on the Info tab</a:t>
            </a:r>
          </a:p>
          <a:p>
            <a:pPr marL="198438" lvl="2" indent="0">
              <a:buNone/>
            </a:pPr>
            <a:r>
              <a:rPr lang="en-US" sz="1600">
                <a:latin typeface="Arial"/>
                <a:cs typeface="Arial"/>
              </a:rPr>
              <a:t>If there are any “_” (underscore) characters in the name field replace them with “-” (dash)</a:t>
            </a:r>
          </a:p>
          <a:p>
            <a:r>
              <a:rPr lang="en-US" sz="1600">
                <a:latin typeface="Arial"/>
                <a:cs typeface="Arial"/>
              </a:rPr>
              <a:t>Click on the Policies tab to see the Invoke</a:t>
            </a:r>
          </a:p>
          <a:p>
            <a:r>
              <a:rPr lang="en-US" sz="1600">
                <a:latin typeface="Arial"/>
                <a:cs typeface="Arial"/>
              </a:rPr>
              <a:t>The Policies tab of an OpenAPI3.0 is functionally similar to the Assembly tab of an OpenAPI2.0 section</a:t>
            </a:r>
          </a:p>
          <a:p>
            <a:r>
              <a:rPr lang="en-US" sz="1600">
                <a:latin typeface="Arial"/>
                <a:cs typeface="Arial"/>
              </a:rPr>
              <a:t>Click on the Invoke</a:t>
            </a:r>
          </a:p>
          <a:p>
            <a:r>
              <a:rPr lang="en-US" sz="1600">
                <a:latin typeface="Arial"/>
                <a:cs typeface="Arial"/>
              </a:rPr>
              <a:t>Go to Assembly for Proxy\Invoke Section of this document to complete this proxy setup</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3" name="Picture 12">
            <a:extLst>
              <a:ext uri="{FF2B5EF4-FFF2-40B4-BE49-F238E27FC236}">
                <a16:creationId xmlns:a16="http://schemas.microsoft.com/office/drawing/2014/main" id="{8BBDDF60-24B7-4CB5-9C50-CFB30BE30ACE}"/>
              </a:ext>
            </a:extLst>
          </p:cNvPr>
          <p:cNvPicPr>
            <a:picLocks noChangeAspect="1"/>
          </p:cNvPicPr>
          <p:nvPr/>
        </p:nvPicPr>
        <p:blipFill>
          <a:blip r:embed="rId3"/>
          <a:stretch>
            <a:fillRect/>
          </a:stretch>
        </p:blipFill>
        <p:spPr>
          <a:xfrm>
            <a:off x="195475" y="3800291"/>
            <a:ext cx="6320347" cy="2507572"/>
          </a:xfrm>
          <a:prstGeom prst="rect">
            <a:avLst/>
          </a:prstGeom>
        </p:spPr>
      </p:pic>
      <p:pic>
        <p:nvPicPr>
          <p:cNvPr id="9" name="Picture 8">
            <a:extLst>
              <a:ext uri="{FF2B5EF4-FFF2-40B4-BE49-F238E27FC236}">
                <a16:creationId xmlns:a16="http://schemas.microsoft.com/office/drawing/2014/main" id="{7AF9F2B2-244A-47D8-2E93-27EAD86E614D}"/>
              </a:ext>
            </a:extLst>
          </p:cNvPr>
          <p:cNvPicPr>
            <a:picLocks noChangeAspect="1"/>
          </p:cNvPicPr>
          <p:nvPr/>
        </p:nvPicPr>
        <p:blipFill>
          <a:blip r:embed="rId4"/>
          <a:stretch>
            <a:fillRect/>
          </a:stretch>
        </p:blipFill>
        <p:spPr>
          <a:xfrm>
            <a:off x="195475" y="1746396"/>
            <a:ext cx="6294702" cy="1925362"/>
          </a:xfrm>
          <a:prstGeom prst="rect">
            <a:avLst/>
          </a:prstGeom>
        </p:spPr>
      </p:pic>
      <p:cxnSp>
        <p:nvCxnSpPr>
          <p:cNvPr id="10" name="Straight Arrow Connector 9">
            <a:extLst>
              <a:ext uri="{FF2B5EF4-FFF2-40B4-BE49-F238E27FC236}">
                <a16:creationId xmlns:a16="http://schemas.microsoft.com/office/drawing/2014/main" id="{C9330B21-69FD-AC37-F89B-E5BD1915CE7F}"/>
              </a:ext>
            </a:extLst>
          </p:cNvPr>
          <p:cNvCxnSpPr>
            <a:cxnSpLocks/>
          </p:cNvCxnSpPr>
          <p:nvPr/>
        </p:nvCxnSpPr>
        <p:spPr>
          <a:xfrm flipH="1">
            <a:off x="2441643" y="2480553"/>
            <a:ext cx="4426085" cy="807396"/>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91205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p:txBody>
          <a:bodyPr/>
          <a:lstStyle/>
          <a:p>
            <a:r>
              <a:rPr lang="en-US" sz="3200">
                <a:latin typeface="Arial"/>
                <a:cs typeface="Arial"/>
              </a:rPr>
              <a:t>Importing a SOAP proxy API</a:t>
            </a:r>
            <a:br>
              <a:rPr lang="en-US" sz="3200">
                <a:latin typeface="Arial"/>
                <a:cs typeface="Arial"/>
              </a:rPr>
            </a:br>
            <a:endParaRPr lang="en-US"/>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Introduction</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11272838" cy="4174867"/>
          </a:xfrm>
        </p:spPr>
        <p:txBody>
          <a:bodyPr lIns="91440" tIns="45720" rIns="91440" bIns="45720" anchor="t"/>
          <a:lstStyle/>
          <a:p>
            <a:r>
              <a:rPr lang="en-US" sz="1600">
                <a:latin typeface="Arial"/>
                <a:cs typeface="Arial"/>
              </a:rPr>
              <a:t>This process describes how to import and configure a SOAP proxy API including:</a:t>
            </a:r>
          </a:p>
          <a:p>
            <a:pPr marL="285750" indent="-285750">
              <a:buFont typeface="Arial" panose="020B0604020202020204" pitchFamily="34" charset="0"/>
              <a:buChar char="•"/>
            </a:pPr>
            <a:r>
              <a:rPr lang="en-US" sz="1600">
                <a:latin typeface="Arial"/>
                <a:cs typeface="Arial"/>
              </a:rPr>
              <a:t>Internal first-class services.</a:t>
            </a:r>
          </a:p>
          <a:p>
            <a:pPr marL="285750" indent="-285750">
              <a:buFont typeface="Arial" panose="020B0604020202020204" pitchFamily="34" charset="0"/>
              <a:buChar char="•"/>
            </a:pPr>
            <a:r>
              <a:rPr lang="en-US" sz="1600">
                <a:latin typeface="Arial"/>
                <a:cs typeface="Arial"/>
              </a:rPr>
              <a:t>Vendor SOAP service defined with WSDL.</a:t>
            </a:r>
            <a:endParaRPr lang="en-US" sz="1600"/>
          </a:p>
        </p:txBody>
      </p:sp>
    </p:spTree>
    <p:extLst>
      <p:ext uri="{BB962C8B-B14F-4D97-AF65-F5344CB8AC3E}">
        <p14:creationId xmlns:p14="http://schemas.microsoft.com/office/powerpoint/2010/main" val="33629953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Importing a SOAP proxy API</a:t>
            </a:r>
          </a:p>
        </p:txBody>
      </p:sp>
      <p:sp>
        <p:nvSpPr>
          <p:cNvPr id="3" name="Text Placeholder 2"/>
          <p:cNvSpPr>
            <a:spLocks noGrp="1"/>
          </p:cNvSpPr>
          <p:nvPr>
            <p:ph type="body" sz="quarter" idx="11"/>
          </p:nvPr>
        </p:nvSpPr>
        <p:spPr/>
        <p:txBody>
          <a:bodyPr/>
          <a:lstStyle/>
          <a:p>
            <a:r>
              <a:rPr lang="en-US"/>
              <a:t>Select API</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From Develop </a:t>
            </a:r>
          </a:p>
          <a:p>
            <a:r>
              <a:rPr lang="en-US" sz="1600">
                <a:latin typeface="Arial"/>
                <a:cs typeface="Arial"/>
              </a:rPr>
              <a:t>Click Add and select API</a:t>
            </a:r>
          </a:p>
          <a:p>
            <a:r>
              <a:rPr lang="en-US" sz="1600">
                <a:latin typeface="Arial"/>
                <a:cs typeface="Arial"/>
              </a:rPr>
              <a:t>Click </a:t>
            </a:r>
            <a:r>
              <a:rPr lang="en-US" sz="1600" err="1">
                <a:latin typeface="Arial"/>
                <a:cs typeface="Arial"/>
              </a:rPr>
              <a:t>OpenAPI</a:t>
            </a:r>
            <a:r>
              <a:rPr lang="en-US" sz="1600">
                <a:latin typeface="Arial"/>
                <a:cs typeface="Arial"/>
              </a:rPr>
              <a:t> 2.0</a:t>
            </a:r>
          </a:p>
          <a:p>
            <a:r>
              <a:rPr lang="en-US" sz="1600">
                <a:latin typeface="Arial"/>
                <a:cs typeface="Arial"/>
              </a:rPr>
              <a:t>Under Create, select From existing WSDL service (SOAP proxy)</a:t>
            </a:r>
          </a:p>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1" name="Picture 10">
            <a:extLst>
              <a:ext uri="{FF2B5EF4-FFF2-40B4-BE49-F238E27FC236}">
                <a16:creationId xmlns:a16="http://schemas.microsoft.com/office/drawing/2014/main" id="{301D8584-04CC-440F-8D0F-50D8E41A8ACE}"/>
              </a:ext>
            </a:extLst>
          </p:cNvPr>
          <p:cNvPicPr>
            <a:picLocks noChangeAspect="1"/>
          </p:cNvPicPr>
          <p:nvPr/>
        </p:nvPicPr>
        <p:blipFill>
          <a:blip r:embed="rId2"/>
          <a:stretch>
            <a:fillRect/>
          </a:stretch>
        </p:blipFill>
        <p:spPr>
          <a:xfrm>
            <a:off x="225091" y="1903601"/>
            <a:ext cx="6361976" cy="964927"/>
          </a:xfrm>
          <a:prstGeom prst="rect">
            <a:avLst/>
          </a:prstGeom>
        </p:spPr>
      </p:pic>
      <p:pic>
        <p:nvPicPr>
          <p:cNvPr id="6" name="Picture 5">
            <a:extLst>
              <a:ext uri="{FF2B5EF4-FFF2-40B4-BE49-F238E27FC236}">
                <a16:creationId xmlns:a16="http://schemas.microsoft.com/office/drawing/2014/main" id="{E81523C9-99DA-472E-91D2-6AFF1AC63BAE}"/>
              </a:ext>
            </a:extLst>
          </p:cNvPr>
          <p:cNvPicPr>
            <a:picLocks noChangeAspect="1"/>
          </p:cNvPicPr>
          <p:nvPr/>
        </p:nvPicPr>
        <p:blipFill>
          <a:blip r:embed="rId3"/>
          <a:stretch>
            <a:fillRect/>
          </a:stretch>
        </p:blipFill>
        <p:spPr>
          <a:xfrm>
            <a:off x="225091" y="4303830"/>
            <a:ext cx="4705350" cy="819150"/>
          </a:xfrm>
          <a:prstGeom prst="rect">
            <a:avLst/>
          </a:prstGeom>
        </p:spPr>
      </p:pic>
      <p:pic>
        <p:nvPicPr>
          <p:cNvPr id="12" name="Picture 11">
            <a:extLst>
              <a:ext uri="{FF2B5EF4-FFF2-40B4-BE49-F238E27FC236}">
                <a16:creationId xmlns:a16="http://schemas.microsoft.com/office/drawing/2014/main" id="{03DE33F6-9BB7-48FE-AFA0-3AA4E82DB7B6}"/>
              </a:ext>
            </a:extLst>
          </p:cNvPr>
          <p:cNvPicPr>
            <a:picLocks noChangeAspect="1"/>
          </p:cNvPicPr>
          <p:nvPr/>
        </p:nvPicPr>
        <p:blipFill>
          <a:blip r:embed="rId4"/>
          <a:stretch>
            <a:fillRect/>
          </a:stretch>
        </p:blipFill>
        <p:spPr>
          <a:xfrm>
            <a:off x="225091" y="3100404"/>
            <a:ext cx="3476625" cy="971550"/>
          </a:xfrm>
          <a:prstGeom prst="rect">
            <a:avLst/>
          </a:prstGeom>
        </p:spPr>
      </p:pic>
    </p:spTree>
    <p:extLst>
      <p:ext uri="{BB962C8B-B14F-4D97-AF65-F5344CB8AC3E}">
        <p14:creationId xmlns:p14="http://schemas.microsoft.com/office/powerpoint/2010/main" val="21011785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Importing a SOAP proxy API</a:t>
            </a:r>
          </a:p>
        </p:txBody>
      </p:sp>
      <p:sp>
        <p:nvSpPr>
          <p:cNvPr id="3" name="Text Placeholder 2"/>
          <p:cNvSpPr>
            <a:spLocks noGrp="1"/>
          </p:cNvSpPr>
          <p:nvPr>
            <p:ph type="body" sz="quarter" idx="11"/>
          </p:nvPr>
        </p:nvSpPr>
        <p:spPr/>
        <p:txBody>
          <a:bodyPr/>
          <a:lstStyle/>
          <a:p>
            <a:r>
              <a:rPr lang="en-US"/>
              <a:t>Select the zip file</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t>Drag and drop or click the screen to select the file to import</a:t>
            </a:r>
          </a:p>
          <a:p>
            <a:r>
              <a:rPr lang="en-US" sz="1600">
                <a:latin typeface="Arial"/>
                <a:cs typeface="Arial"/>
              </a:rPr>
              <a:t>The .zip file must contain only WSDL and XSD file formats</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r>
              <a:rPr lang="en-US" sz="1600">
                <a:latin typeface="Arial"/>
                <a:cs typeface="Arial"/>
              </a:rPr>
              <a:t>Find and select the file to upload and click Open</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3F4E47DD-632C-4722-BE6B-542CCA08FAA0}"/>
              </a:ext>
            </a:extLst>
          </p:cNvPr>
          <p:cNvPicPr>
            <a:picLocks noChangeAspect="1"/>
          </p:cNvPicPr>
          <p:nvPr/>
        </p:nvPicPr>
        <p:blipFill>
          <a:blip r:embed="rId2"/>
          <a:stretch>
            <a:fillRect/>
          </a:stretch>
        </p:blipFill>
        <p:spPr>
          <a:xfrm>
            <a:off x="246897" y="1713989"/>
            <a:ext cx="3781425" cy="2019300"/>
          </a:xfrm>
          <a:prstGeom prst="rect">
            <a:avLst/>
          </a:prstGeom>
        </p:spPr>
      </p:pic>
      <p:pic>
        <p:nvPicPr>
          <p:cNvPr id="8" name="Picture 7">
            <a:extLst>
              <a:ext uri="{FF2B5EF4-FFF2-40B4-BE49-F238E27FC236}">
                <a16:creationId xmlns:a16="http://schemas.microsoft.com/office/drawing/2014/main" id="{CEA7DBD5-BADD-415B-95F5-08B3C3B538BC}"/>
              </a:ext>
            </a:extLst>
          </p:cNvPr>
          <p:cNvPicPr>
            <a:picLocks noChangeAspect="1"/>
          </p:cNvPicPr>
          <p:nvPr/>
        </p:nvPicPr>
        <p:blipFill>
          <a:blip r:embed="rId3"/>
          <a:stretch>
            <a:fillRect/>
          </a:stretch>
        </p:blipFill>
        <p:spPr>
          <a:xfrm>
            <a:off x="246897" y="3878988"/>
            <a:ext cx="6010275" cy="2428875"/>
          </a:xfrm>
          <a:prstGeom prst="rect">
            <a:avLst/>
          </a:prstGeom>
        </p:spPr>
      </p:pic>
    </p:spTree>
    <p:extLst>
      <p:ext uri="{BB962C8B-B14F-4D97-AF65-F5344CB8AC3E}">
        <p14:creationId xmlns:p14="http://schemas.microsoft.com/office/powerpoint/2010/main" val="10989552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Importing a SOAP proxy API</a:t>
            </a:r>
          </a:p>
        </p:txBody>
      </p:sp>
      <p:sp>
        <p:nvSpPr>
          <p:cNvPr id="3" name="Text Placeholder 2"/>
          <p:cNvSpPr>
            <a:spLocks noGrp="1"/>
          </p:cNvSpPr>
          <p:nvPr>
            <p:ph type="body" sz="quarter" idx="11"/>
          </p:nvPr>
        </p:nvSpPr>
        <p:spPr/>
        <p:txBody>
          <a:bodyPr/>
          <a:lstStyle/>
          <a:p>
            <a:r>
              <a:rPr lang="en-US"/>
              <a:t>Successful?</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File has been imported and successfully validated</a:t>
            </a:r>
          </a:p>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01714742-4CFE-4D03-8DFF-2AF75B898FF9}"/>
              </a:ext>
            </a:extLst>
          </p:cNvPr>
          <p:cNvPicPr>
            <a:picLocks noChangeAspect="1"/>
          </p:cNvPicPr>
          <p:nvPr/>
        </p:nvPicPr>
        <p:blipFill>
          <a:blip r:embed="rId2"/>
          <a:stretch>
            <a:fillRect/>
          </a:stretch>
        </p:blipFill>
        <p:spPr>
          <a:xfrm>
            <a:off x="228850" y="1770004"/>
            <a:ext cx="6268203" cy="3807641"/>
          </a:xfrm>
          <a:prstGeom prst="rect">
            <a:avLst/>
          </a:prstGeom>
        </p:spPr>
      </p:pic>
    </p:spTree>
    <p:extLst>
      <p:ext uri="{BB962C8B-B14F-4D97-AF65-F5344CB8AC3E}">
        <p14:creationId xmlns:p14="http://schemas.microsoft.com/office/powerpoint/2010/main" val="3605634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Importing a SOAP proxy API</a:t>
            </a:r>
          </a:p>
        </p:txBody>
      </p:sp>
      <p:sp>
        <p:nvSpPr>
          <p:cNvPr id="3" name="Text Placeholder 2"/>
          <p:cNvSpPr>
            <a:spLocks noGrp="1"/>
          </p:cNvSpPr>
          <p:nvPr>
            <p:ph type="body" sz="quarter" idx="11"/>
          </p:nvPr>
        </p:nvSpPr>
        <p:spPr/>
        <p:txBody>
          <a:bodyPr/>
          <a:lstStyle/>
          <a:p>
            <a:r>
              <a:rPr lang="en-US"/>
              <a:t>Continue</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8" name="Picture 7">
            <a:extLst>
              <a:ext uri="{FF2B5EF4-FFF2-40B4-BE49-F238E27FC236}">
                <a16:creationId xmlns:a16="http://schemas.microsoft.com/office/drawing/2014/main" id="{F7FFB3F4-6BF3-4B29-8163-7CB262C7052C}"/>
              </a:ext>
            </a:extLst>
          </p:cNvPr>
          <p:cNvPicPr>
            <a:picLocks noChangeAspect="1"/>
          </p:cNvPicPr>
          <p:nvPr/>
        </p:nvPicPr>
        <p:blipFill>
          <a:blip r:embed="rId2"/>
          <a:stretch>
            <a:fillRect/>
          </a:stretch>
        </p:blipFill>
        <p:spPr>
          <a:xfrm>
            <a:off x="131596" y="1772858"/>
            <a:ext cx="6441036" cy="3312283"/>
          </a:xfrm>
          <a:prstGeom prst="rect">
            <a:avLst/>
          </a:prstGeom>
        </p:spPr>
      </p:pic>
    </p:spTree>
    <p:extLst>
      <p:ext uri="{BB962C8B-B14F-4D97-AF65-F5344CB8AC3E}">
        <p14:creationId xmlns:p14="http://schemas.microsoft.com/office/powerpoint/2010/main" val="27562661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Importing a SOAP proxy API</a:t>
            </a:r>
          </a:p>
        </p:txBody>
      </p:sp>
      <p:sp>
        <p:nvSpPr>
          <p:cNvPr id="3" name="Text Placeholder 2"/>
          <p:cNvSpPr>
            <a:spLocks noGrp="1"/>
          </p:cNvSpPr>
          <p:nvPr>
            <p:ph type="body" sz="quarter" idx="11"/>
          </p:nvPr>
        </p:nvSpPr>
        <p:spPr/>
        <p:txBody>
          <a:bodyPr/>
          <a:lstStyle/>
          <a:p>
            <a:r>
              <a:rPr lang="en-US"/>
              <a:t>Enter details</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Ensure that Title, Version and Base path are correct</a:t>
            </a:r>
          </a:p>
          <a:p>
            <a:r>
              <a:rPr lang="en-US" sz="1600">
                <a:latin typeface="Arial"/>
                <a:cs typeface="Arial"/>
              </a:rPr>
              <a:t>Look at the “Name” field on the Info tab</a:t>
            </a:r>
          </a:p>
          <a:p>
            <a:pPr marL="198438" lvl="2" indent="0">
              <a:buNone/>
            </a:pPr>
            <a:r>
              <a:rPr lang="en-US" sz="1600">
                <a:latin typeface="Arial"/>
                <a:cs typeface="Arial"/>
              </a:rPr>
              <a:t>If there are any “_” (underscore) characters in the name field replace them with “-” (dash)</a:t>
            </a:r>
          </a:p>
          <a:p>
            <a:r>
              <a:rPr lang="en-US" sz="1600">
                <a:latin typeface="Arial"/>
                <a:cs typeface="Arial"/>
              </a:rPr>
              <a:t>Enter a Description</a:t>
            </a:r>
          </a:p>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BB4EA761-F88A-41F7-839E-613B8BE19AE1}"/>
              </a:ext>
            </a:extLst>
          </p:cNvPr>
          <p:cNvPicPr>
            <a:picLocks noChangeAspect="1"/>
          </p:cNvPicPr>
          <p:nvPr/>
        </p:nvPicPr>
        <p:blipFill>
          <a:blip r:embed="rId2"/>
          <a:stretch>
            <a:fillRect/>
          </a:stretch>
        </p:blipFill>
        <p:spPr>
          <a:xfrm>
            <a:off x="271363" y="1715302"/>
            <a:ext cx="4627170" cy="4846319"/>
          </a:xfrm>
          <a:prstGeom prst="rect">
            <a:avLst/>
          </a:prstGeom>
        </p:spPr>
      </p:pic>
    </p:spTree>
    <p:extLst>
      <p:ext uri="{BB962C8B-B14F-4D97-AF65-F5344CB8AC3E}">
        <p14:creationId xmlns:p14="http://schemas.microsoft.com/office/powerpoint/2010/main" val="23880221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Importing a SOAP proxy API</a:t>
            </a:r>
          </a:p>
        </p:txBody>
      </p:sp>
      <p:sp>
        <p:nvSpPr>
          <p:cNvPr id="3" name="Text Placeholder 2"/>
          <p:cNvSpPr>
            <a:spLocks noGrp="1"/>
          </p:cNvSpPr>
          <p:nvPr>
            <p:ph type="body" sz="quarter" idx="11"/>
          </p:nvPr>
        </p:nvSpPr>
        <p:spPr/>
        <p:txBody>
          <a:bodyPr/>
          <a:lstStyle/>
          <a:p>
            <a:r>
              <a:rPr lang="en-US"/>
              <a:t>Security settings</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Ensure Client Id and CORS settings are correct and Active API is not selected</a:t>
            </a:r>
          </a:p>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8" name="Picture 7">
            <a:extLst>
              <a:ext uri="{FF2B5EF4-FFF2-40B4-BE49-F238E27FC236}">
                <a16:creationId xmlns:a16="http://schemas.microsoft.com/office/drawing/2014/main" id="{70632BE1-61FE-46C2-A68F-FE1E0BDE1758}"/>
              </a:ext>
            </a:extLst>
          </p:cNvPr>
          <p:cNvPicPr>
            <a:picLocks noChangeAspect="1"/>
          </p:cNvPicPr>
          <p:nvPr/>
        </p:nvPicPr>
        <p:blipFill>
          <a:blip r:embed="rId2"/>
          <a:stretch>
            <a:fillRect/>
          </a:stretch>
        </p:blipFill>
        <p:spPr>
          <a:xfrm>
            <a:off x="309813" y="1713990"/>
            <a:ext cx="6030829" cy="4457924"/>
          </a:xfrm>
          <a:prstGeom prst="rect">
            <a:avLst/>
          </a:prstGeom>
        </p:spPr>
      </p:pic>
    </p:spTree>
    <p:extLst>
      <p:ext uri="{BB962C8B-B14F-4D97-AF65-F5344CB8AC3E}">
        <p14:creationId xmlns:p14="http://schemas.microsoft.com/office/powerpoint/2010/main" val="25264815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Importing a SOAP proxy API</a:t>
            </a:r>
          </a:p>
        </p:txBody>
      </p:sp>
      <p:sp>
        <p:nvSpPr>
          <p:cNvPr id="3" name="Text Placeholder 2"/>
          <p:cNvSpPr>
            <a:spLocks noGrp="1"/>
          </p:cNvSpPr>
          <p:nvPr>
            <p:ph type="body" sz="quarter" idx="11"/>
          </p:nvPr>
        </p:nvSpPr>
        <p:spPr/>
        <p:txBody>
          <a:bodyPr/>
          <a:lstStyle/>
          <a:p>
            <a:r>
              <a:rPr lang="en-US"/>
              <a:t>Edit API</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Click Edit API</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CA98D11C-7651-4DBE-A4D7-8E553472D9A1}"/>
              </a:ext>
            </a:extLst>
          </p:cNvPr>
          <p:cNvPicPr>
            <a:picLocks noChangeAspect="1"/>
          </p:cNvPicPr>
          <p:nvPr/>
        </p:nvPicPr>
        <p:blipFill>
          <a:blip r:embed="rId2"/>
          <a:stretch>
            <a:fillRect/>
          </a:stretch>
        </p:blipFill>
        <p:spPr>
          <a:xfrm>
            <a:off x="136358" y="1713990"/>
            <a:ext cx="6324600" cy="3033402"/>
          </a:xfrm>
          <a:prstGeom prst="rect">
            <a:avLst/>
          </a:prstGeom>
        </p:spPr>
      </p:pic>
    </p:spTree>
    <p:extLst>
      <p:ext uri="{BB962C8B-B14F-4D97-AF65-F5344CB8AC3E}">
        <p14:creationId xmlns:p14="http://schemas.microsoft.com/office/powerpoint/2010/main" val="17080870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Importing a SOAP proxy API</a:t>
            </a:r>
          </a:p>
        </p:txBody>
      </p:sp>
      <p:sp>
        <p:nvSpPr>
          <p:cNvPr id="3" name="Text Placeholder 2"/>
          <p:cNvSpPr>
            <a:spLocks noGrp="1"/>
          </p:cNvSpPr>
          <p:nvPr>
            <p:ph type="body" sz="quarter" idx="11"/>
          </p:nvPr>
        </p:nvSpPr>
        <p:spPr/>
        <p:txBody>
          <a:bodyPr/>
          <a:lstStyle/>
          <a:p>
            <a:r>
              <a:rPr lang="en-US"/>
              <a:t>Assemble</a:t>
            </a:r>
          </a:p>
        </p:txBody>
      </p:sp>
      <p:sp>
        <p:nvSpPr>
          <p:cNvPr id="4" name="Text Placeholder 3"/>
          <p:cNvSpPr>
            <a:spLocks noGrp="1"/>
          </p:cNvSpPr>
          <p:nvPr>
            <p:ph type="body" sz="quarter" idx="12"/>
          </p:nvPr>
        </p:nvSpPr>
        <p:spPr/>
        <p:txBody>
          <a:bodyPr anchor="t"/>
          <a:lstStyle/>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After the API opens Use the Assemble tab to validate the Proxy</a:t>
            </a:r>
          </a:p>
          <a:p>
            <a:r>
              <a:rPr lang="en-US" sz="1600">
                <a:latin typeface="Arial"/>
                <a:cs typeface="Arial"/>
              </a:rPr>
              <a:t>Enter the </a:t>
            </a:r>
            <a:r>
              <a:rPr lang="en-US" sz="1600" err="1">
                <a:latin typeface="Arial"/>
                <a:cs typeface="Arial"/>
              </a:rPr>
              <a:t>EndPoint</a:t>
            </a:r>
            <a:r>
              <a:rPr lang="en-US" sz="1600">
                <a:latin typeface="Arial"/>
                <a:cs typeface="Arial"/>
              </a:rPr>
              <a:t> in the Description</a:t>
            </a:r>
          </a:p>
          <a:p>
            <a:endParaRPr lang="en-US" sz="1600">
              <a:latin typeface="Arial"/>
              <a:cs typeface="Arial"/>
            </a:endParaRPr>
          </a:p>
          <a:p>
            <a:r>
              <a:rPr lang="en-US" sz="1600">
                <a:latin typeface="Arial"/>
                <a:cs typeface="Arial"/>
              </a:rPr>
              <a:t>Validate the following:</a:t>
            </a:r>
          </a:p>
          <a:p>
            <a:r>
              <a:rPr lang="en-US" sz="1600">
                <a:latin typeface="Arial"/>
                <a:cs typeface="Arial"/>
              </a:rPr>
              <a:t>Select Keep for the HTTP Method</a:t>
            </a:r>
          </a:p>
          <a:p>
            <a:r>
              <a:rPr lang="en-US" sz="1600">
                <a:latin typeface="Arial"/>
                <a:cs typeface="Arial"/>
              </a:rPr>
              <a:t>Select No Cache for the Cache Type</a:t>
            </a:r>
          </a:p>
          <a:p>
            <a:r>
              <a:rPr lang="en-US" sz="1600">
                <a:latin typeface="Arial"/>
                <a:cs typeface="Arial"/>
              </a:rPr>
              <a:t>Ensure Time to Live is blank</a:t>
            </a:r>
          </a:p>
          <a:p>
            <a:r>
              <a:rPr lang="en-US" sz="1600">
                <a:latin typeface="Arial"/>
                <a:cs typeface="Arial"/>
              </a:rPr>
              <a:t>Ensure Stop on Error is unchecked </a:t>
            </a: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2" name="Picture 11">
            <a:extLst>
              <a:ext uri="{FF2B5EF4-FFF2-40B4-BE49-F238E27FC236}">
                <a16:creationId xmlns:a16="http://schemas.microsoft.com/office/drawing/2014/main" id="{7C8C5656-4876-47C2-A53B-688829803C9B}"/>
              </a:ext>
            </a:extLst>
          </p:cNvPr>
          <p:cNvPicPr>
            <a:picLocks noChangeAspect="1"/>
          </p:cNvPicPr>
          <p:nvPr/>
        </p:nvPicPr>
        <p:blipFill>
          <a:blip r:embed="rId2"/>
          <a:stretch>
            <a:fillRect/>
          </a:stretch>
        </p:blipFill>
        <p:spPr>
          <a:xfrm>
            <a:off x="226344" y="1809705"/>
            <a:ext cx="4990571" cy="4545867"/>
          </a:xfrm>
          <a:prstGeom prst="rect">
            <a:avLst/>
          </a:prstGeom>
        </p:spPr>
      </p:pic>
    </p:spTree>
    <p:extLst>
      <p:ext uri="{BB962C8B-B14F-4D97-AF65-F5344CB8AC3E}">
        <p14:creationId xmlns:p14="http://schemas.microsoft.com/office/powerpoint/2010/main" val="16363431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p:txBody>
          <a:bodyPr/>
          <a:lstStyle/>
          <a:p>
            <a:r>
              <a:rPr lang="en-US" sz="3200">
                <a:latin typeface="Arial"/>
                <a:cs typeface="Arial"/>
              </a:rPr>
              <a:t>Cloning a V10 API</a:t>
            </a:r>
            <a:endParaRPr lang="en-US"/>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Introduction</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11272838" cy="4174867"/>
          </a:xfrm>
        </p:spPr>
        <p:txBody>
          <a:bodyPr lIns="91440" tIns="45720" rIns="91440" bIns="45720" anchor="t"/>
          <a:lstStyle/>
          <a:p>
            <a:r>
              <a:rPr lang="en-US" sz="1600">
                <a:latin typeface="Arial"/>
                <a:cs typeface="Arial"/>
              </a:rPr>
              <a:t>This process describes how to duplicate an API including:</a:t>
            </a:r>
          </a:p>
          <a:p>
            <a:pPr marL="285750" indent="-285750">
              <a:buFont typeface="Arial" panose="020B0604020202020204" pitchFamily="34" charset="0"/>
              <a:buChar char="•"/>
            </a:pPr>
            <a:r>
              <a:rPr lang="en-US" sz="1600">
                <a:latin typeface="Arial"/>
                <a:cs typeface="Arial"/>
              </a:rPr>
              <a:t>Creating an Opportunistic API from an Enterprise API.</a:t>
            </a:r>
          </a:p>
          <a:p>
            <a:pPr marL="285750" indent="-285750">
              <a:buFont typeface="Arial" panose="020B0604020202020204" pitchFamily="34" charset="0"/>
              <a:buChar char="•"/>
            </a:pPr>
            <a:r>
              <a:rPr lang="en-US" sz="1600">
                <a:latin typeface="Arial"/>
                <a:cs typeface="Arial"/>
              </a:rPr>
              <a:t>Duplicating the use of an Opportunistic API for another consumer. </a:t>
            </a:r>
          </a:p>
          <a:p>
            <a:endParaRPr lang="en-US" sz="1600">
              <a:latin typeface="Arial"/>
              <a:cs typeface="Arial"/>
            </a:endParaRPr>
          </a:p>
          <a:p>
            <a:r>
              <a:rPr lang="en-US" sz="1600">
                <a:latin typeface="Arial"/>
                <a:cs typeface="Arial"/>
              </a:rPr>
              <a:t>Cloning a V10 API requires downloading and updating using an editor like Notepad++.</a:t>
            </a:r>
          </a:p>
          <a:p>
            <a:endParaRPr lang="en-US" sz="1600"/>
          </a:p>
          <a:p>
            <a:endParaRPr lang="en-US" sz="1600"/>
          </a:p>
          <a:p>
            <a:endParaRPr lang="en-US" sz="1600"/>
          </a:p>
        </p:txBody>
      </p:sp>
    </p:spTree>
    <p:extLst>
      <p:ext uri="{BB962C8B-B14F-4D97-AF65-F5344CB8AC3E}">
        <p14:creationId xmlns:p14="http://schemas.microsoft.com/office/powerpoint/2010/main" val="26601927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Cloning a V10 API</a:t>
            </a:r>
          </a:p>
        </p:txBody>
      </p:sp>
      <p:sp>
        <p:nvSpPr>
          <p:cNvPr id="3" name="Text Placeholder 2"/>
          <p:cNvSpPr>
            <a:spLocks noGrp="1"/>
          </p:cNvSpPr>
          <p:nvPr>
            <p:ph type="body" sz="quarter" idx="11"/>
          </p:nvPr>
        </p:nvSpPr>
        <p:spPr/>
        <p:txBody>
          <a:bodyPr/>
          <a:lstStyle/>
          <a:p>
            <a:r>
              <a:rPr lang="en-US"/>
              <a:t>Cloning</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From Develop</a:t>
            </a:r>
          </a:p>
          <a:p>
            <a:r>
              <a:rPr lang="en-US" sz="1600">
                <a:latin typeface="Arial"/>
                <a:cs typeface="Arial"/>
              </a:rPr>
              <a:t>Select the API to Clone</a:t>
            </a:r>
          </a:p>
          <a:p>
            <a:r>
              <a:rPr lang="en-US" sz="1600">
                <a:latin typeface="Arial"/>
                <a:cs typeface="Arial"/>
              </a:rPr>
              <a:t>Using the ellipsis select Download</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8" name="Picture 7">
            <a:extLst>
              <a:ext uri="{FF2B5EF4-FFF2-40B4-BE49-F238E27FC236}">
                <a16:creationId xmlns:a16="http://schemas.microsoft.com/office/drawing/2014/main" id="{EB0D271F-DF16-4D95-9131-CD20E8C8D82B}"/>
              </a:ext>
            </a:extLst>
          </p:cNvPr>
          <p:cNvPicPr>
            <a:picLocks noChangeAspect="1"/>
          </p:cNvPicPr>
          <p:nvPr/>
        </p:nvPicPr>
        <p:blipFill>
          <a:blip r:embed="rId2"/>
          <a:stretch>
            <a:fillRect/>
          </a:stretch>
        </p:blipFill>
        <p:spPr>
          <a:xfrm>
            <a:off x="201027" y="1713989"/>
            <a:ext cx="6380247" cy="3963929"/>
          </a:xfrm>
          <a:prstGeom prst="rect">
            <a:avLst/>
          </a:prstGeom>
        </p:spPr>
      </p:pic>
    </p:spTree>
    <p:extLst>
      <p:ext uri="{BB962C8B-B14F-4D97-AF65-F5344CB8AC3E}">
        <p14:creationId xmlns:p14="http://schemas.microsoft.com/office/powerpoint/2010/main" val="27921453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Cloning a V10 API</a:t>
            </a:r>
          </a:p>
        </p:txBody>
      </p:sp>
      <p:sp>
        <p:nvSpPr>
          <p:cNvPr id="3" name="Text Placeholder 2"/>
          <p:cNvSpPr>
            <a:spLocks noGrp="1"/>
          </p:cNvSpPr>
          <p:nvPr>
            <p:ph type="body" sz="quarter" idx="11"/>
          </p:nvPr>
        </p:nvSpPr>
        <p:spPr/>
        <p:txBody>
          <a:bodyPr/>
          <a:lstStyle/>
          <a:p>
            <a:r>
              <a:rPr lang="en-US"/>
              <a:t>Cloning</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Use an editor like Notepad or Notepad++ to modify the </a:t>
            </a:r>
            <a:r>
              <a:rPr lang="en-US" sz="1600" err="1">
                <a:latin typeface="Arial"/>
                <a:cs typeface="Arial"/>
              </a:rPr>
              <a:t>yaml</a:t>
            </a:r>
            <a:endParaRPr lang="en-US" sz="1600">
              <a:latin typeface="Arial"/>
              <a:cs typeface="Arial"/>
            </a:endParaRPr>
          </a:p>
          <a:p>
            <a:r>
              <a:rPr lang="en-US" sz="1600">
                <a:latin typeface="Arial"/>
                <a:cs typeface="Arial"/>
              </a:rPr>
              <a:t>Update the title, x-</a:t>
            </a:r>
            <a:r>
              <a:rPr lang="en-US" sz="1600" err="1">
                <a:latin typeface="Arial"/>
                <a:cs typeface="Arial"/>
              </a:rPr>
              <a:t>ibm</a:t>
            </a:r>
            <a:r>
              <a:rPr lang="en-US" sz="1600">
                <a:latin typeface="Arial"/>
                <a:cs typeface="Arial"/>
              </a:rPr>
              <a:t>-name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r>
              <a:rPr lang="en-US" sz="1600">
                <a:latin typeface="Arial"/>
                <a:cs typeface="Arial"/>
              </a:rPr>
              <a:t>Save the file (rename from the downloaded name)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2" name="Picture 11">
            <a:extLst>
              <a:ext uri="{FF2B5EF4-FFF2-40B4-BE49-F238E27FC236}">
                <a16:creationId xmlns:a16="http://schemas.microsoft.com/office/drawing/2014/main" id="{1A565CD5-1DF3-4A6B-93C8-8046330CDB72}"/>
              </a:ext>
            </a:extLst>
          </p:cNvPr>
          <p:cNvPicPr>
            <a:picLocks noChangeAspect="1"/>
          </p:cNvPicPr>
          <p:nvPr/>
        </p:nvPicPr>
        <p:blipFill>
          <a:blip r:embed="rId2"/>
          <a:stretch>
            <a:fillRect/>
          </a:stretch>
        </p:blipFill>
        <p:spPr>
          <a:xfrm>
            <a:off x="233362" y="1713989"/>
            <a:ext cx="5722301" cy="3459590"/>
          </a:xfrm>
          <a:prstGeom prst="rect">
            <a:avLst/>
          </a:prstGeom>
        </p:spPr>
      </p:pic>
      <p:pic>
        <p:nvPicPr>
          <p:cNvPr id="14" name="Picture 13">
            <a:extLst>
              <a:ext uri="{FF2B5EF4-FFF2-40B4-BE49-F238E27FC236}">
                <a16:creationId xmlns:a16="http://schemas.microsoft.com/office/drawing/2014/main" id="{6F9C85A7-AB5E-4A73-9187-85D8CEE7D1C0}"/>
              </a:ext>
            </a:extLst>
          </p:cNvPr>
          <p:cNvPicPr>
            <a:picLocks noChangeAspect="1"/>
          </p:cNvPicPr>
          <p:nvPr/>
        </p:nvPicPr>
        <p:blipFill>
          <a:blip r:embed="rId3"/>
          <a:stretch>
            <a:fillRect/>
          </a:stretch>
        </p:blipFill>
        <p:spPr>
          <a:xfrm>
            <a:off x="233362" y="5364260"/>
            <a:ext cx="3219450" cy="1047750"/>
          </a:xfrm>
          <a:prstGeom prst="rect">
            <a:avLst/>
          </a:prstGeom>
        </p:spPr>
      </p:pic>
    </p:spTree>
    <p:extLst>
      <p:ext uri="{BB962C8B-B14F-4D97-AF65-F5344CB8AC3E}">
        <p14:creationId xmlns:p14="http://schemas.microsoft.com/office/powerpoint/2010/main" val="20417362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Cloning a V10 API</a:t>
            </a:r>
          </a:p>
        </p:txBody>
      </p:sp>
      <p:sp>
        <p:nvSpPr>
          <p:cNvPr id="3" name="Text Placeholder 2"/>
          <p:cNvSpPr>
            <a:spLocks noGrp="1"/>
          </p:cNvSpPr>
          <p:nvPr>
            <p:ph type="body" sz="quarter" idx="11"/>
          </p:nvPr>
        </p:nvSpPr>
        <p:spPr/>
        <p:txBody>
          <a:bodyPr/>
          <a:lstStyle/>
          <a:p>
            <a:r>
              <a:rPr lang="en-US"/>
              <a:t>Cloning</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Import the updated file using the </a:t>
            </a:r>
            <a:r>
              <a:rPr lang="en-US" sz="1600">
                <a:latin typeface="Arial"/>
                <a:cs typeface="Arial"/>
                <a:hlinkClick r:id="rId2" action="ppaction://hlinksldjump"/>
              </a:rPr>
              <a:t>section</a:t>
            </a:r>
            <a:r>
              <a:rPr lang="en-US" sz="1600">
                <a:latin typeface="Arial"/>
                <a:cs typeface="Arial"/>
              </a:rPr>
              <a:t>, Importing Swagger 2.0 as a proxy</a:t>
            </a:r>
          </a:p>
          <a:p>
            <a:r>
              <a:rPr lang="en-US" sz="1600">
                <a:latin typeface="Arial"/>
                <a:cs typeface="Arial"/>
              </a:rPr>
              <a:t>The API will have the updated Title and Name from the edited file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61F9AA55-345D-4128-A860-67B05E177E83}"/>
              </a:ext>
            </a:extLst>
          </p:cNvPr>
          <p:cNvPicPr>
            <a:picLocks noChangeAspect="1"/>
          </p:cNvPicPr>
          <p:nvPr/>
        </p:nvPicPr>
        <p:blipFill>
          <a:blip r:embed="rId3"/>
          <a:stretch>
            <a:fillRect/>
          </a:stretch>
        </p:blipFill>
        <p:spPr>
          <a:xfrm>
            <a:off x="400050" y="1713989"/>
            <a:ext cx="5695950" cy="3724275"/>
          </a:xfrm>
          <a:prstGeom prst="rect">
            <a:avLst/>
          </a:prstGeom>
        </p:spPr>
      </p:pic>
    </p:spTree>
    <p:extLst>
      <p:ext uri="{BB962C8B-B14F-4D97-AF65-F5344CB8AC3E}">
        <p14:creationId xmlns:p14="http://schemas.microsoft.com/office/powerpoint/2010/main" val="30982178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Cloning a V10 API</a:t>
            </a:r>
          </a:p>
        </p:txBody>
      </p:sp>
      <p:sp>
        <p:nvSpPr>
          <p:cNvPr id="3" name="Text Placeholder 2"/>
          <p:cNvSpPr>
            <a:spLocks noGrp="1"/>
          </p:cNvSpPr>
          <p:nvPr>
            <p:ph type="body" sz="quarter" idx="11"/>
          </p:nvPr>
        </p:nvSpPr>
        <p:spPr/>
        <p:txBody>
          <a:bodyPr/>
          <a:lstStyle/>
          <a:p>
            <a:r>
              <a:rPr lang="en-US"/>
              <a:t>Cloning</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Update the Path if necessary</a:t>
            </a:r>
          </a:p>
          <a:p>
            <a:r>
              <a:rPr lang="en-US" sz="1600">
                <a:latin typeface="Arial"/>
                <a:cs typeface="Arial"/>
              </a:rPr>
              <a:t>Add or Remove any parameters</a:t>
            </a:r>
          </a:p>
          <a:p>
            <a:r>
              <a:rPr lang="en-US" sz="1600">
                <a:latin typeface="Arial"/>
                <a:cs typeface="Arial"/>
              </a:rPr>
              <a:t>Update the Assemble for </a:t>
            </a:r>
            <a:r>
              <a:rPr lang="en-US" sz="1600">
                <a:latin typeface="Arial"/>
                <a:cs typeface="Arial"/>
                <a:hlinkClick r:id="rId2" action="ppaction://hlinksldjump"/>
              </a:rPr>
              <a:t>Mapping a XML based API </a:t>
            </a:r>
            <a:r>
              <a:rPr lang="en-US" sz="1600">
                <a:latin typeface="Arial"/>
                <a:cs typeface="Arial"/>
              </a:rPr>
              <a:t>or </a:t>
            </a:r>
            <a:r>
              <a:rPr lang="en-US" sz="1600">
                <a:latin typeface="Arial"/>
                <a:cs typeface="Arial"/>
                <a:hlinkClick r:id="rId3" action="ppaction://hlinksldjump"/>
              </a:rPr>
              <a:t>Mapping a Swagger based API </a:t>
            </a:r>
            <a:r>
              <a:rPr lang="en-US" sz="1600">
                <a:latin typeface="Arial"/>
                <a:cs typeface="Arial"/>
              </a:rPr>
              <a:t>or </a:t>
            </a:r>
            <a:r>
              <a:rPr lang="en-US" sz="1600">
                <a:latin typeface="Arial"/>
                <a:cs typeface="Arial"/>
                <a:hlinkClick r:id="rId4" action="ppaction://hlinksldjump"/>
              </a:rPr>
              <a:t>Invoke</a:t>
            </a:r>
            <a:r>
              <a:rPr lang="en-US" sz="1600">
                <a:latin typeface="Arial"/>
                <a:cs typeface="Arial"/>
              </a:rPr>
              <a:t> Endpoint differences</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A25F6BB4-EFC1-4D44-8AA9-666A16C73B67}"/>
              </a:ext>
            </a:extLst>
          </p:cNvPr>
          <p:cNvPicPr>
            <a:picLocks noChangeAspect="1"/>
          </p:cNvPicPr>
          <p:nvPr/>
        </p:nvPicPr>
        <p:blipFill>
          <a:blip r:embed="rId5"/>
          <a:stretch>
            <a:fillRect/>
          </a:stretch>
        </p:blipFill>
        <p:spPr>
          <a:xfrm>
            <a:off x="201278" y="1819525"/>
            <a:ext cx="2886075" cy="1895475"/>
          </a:xfrm>
          <a:prstGeom prst="rect">
            <a:avLst/>
          </a:prstGeom>
        </p:spPr>
      </p:pic>
    </p:spTree>
    <p:extLst>
      <p:ext uri="{BB962C8B-B14F-4D97-AF65-F5344CB8AC3E}">
        <p14:creationId xmlns:p14="http://schemas.microsoft.com/office/powerpoint/2010/main" val="39014425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p:txBody>
          <a:bodyPr/>
          <a:lstStyle/>
          <a:p>
            <a:r>
              <a:rPr lang="en-US" sz="2800">
                <a:latin typeface="Arial"/>
                <a:cs typeface="Arial"/>
              </a:rPr>
              <a:t>Create a new V10 API version</a:t>
            </a:r>
            <a:endParaRPr lang="en-US"/>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Introduction</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11272838" cy="4174867"/>
          </a:xfrm>
        </p:spPr>
        <p:txBody>
          <a:bodyPr lIns="91440" tIns="45720" rIns="91440" bIns="45720" anchor="t"/>
          <a:lstStyle/>
          <a:p>
            <a:r>
              <a:rPr lang="en-US" sz="1600">
                <a:latin typeface="Arial"/>
                <a:cs typeface="Arial"/>
              </a:rPr>
              <a:t>This section describes how to create a new version of an existing API.</a:t>
            </a:r>
          </a:p>
          <a:p>
            <a:endParaRPr lang="en-US" sz="1600"/>
          </a:p>
          <a:p>
            <a:endParaRPr lang="en-US" sz="1600"/>
          </a:p>
          <a:p>
            <a:endParaRPr lang="en-US" sz="1600"/>
          </a:p>
        </p:txBody>
      </p:sp>
    </p:spTree>
    <p:extLst>
      <p:ext uri="{BB962C8B-B14F-4D97-AF65-F5344CB8AC3E}">
        <p14:creationId xmlns:p14="http://schemas.microsoft.com/office/powerpoint/2010/main" val="6753342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Create a new V10 API version</a:t>
            </a:r>
          </a:p>
        </p:txBody>
      </p:sp>
      <p:sp>
        <p:nvSpPr>
          <p:cNvPr id="3" name="Text Placeholder 2"/>
          <p:cNvSpPr>
            <a:spLocks noGrp="1"/>
          </p:cNvSpPr>
          <p:nvPr>
            <p:ph type="body" sz="quarter" idx="11"/>
          </p:nvPr>
        </p:nvSpPr>
        <p:spPr/>
        <p:txBody>
          <a:bodyPr/>
          <a:lstStyle/>
          <a:p>
            <a:r>
              <a:rPr lang="en-US"/>
              <a:t>New Version</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From Develop</a:t>
            </a:r>
          </a:p>
          <a:p>
            <a:r>
              <a:rPr lang="en-US" sz="1600">
                <a:latin typeface="Arial"/>
                <a:cs typeface="Arial"/>
              </a:rPr>
              <a:t>Select the API to revise</a:t>
            </a:r>
          </a:p>
          <a:p>
            <a:r>
              <a:rPr lang="en-US" sz="1600">
                <a:latin typeface="Arial"/>
                <a:cs typeface="Arial"/>
              </a:rPr>
              <a:t>Using the Ellipse select Save as New Version</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2" name="Picture 11">
            <a:extLst>
              <a:ext uri="{FF2B5EF4-FFF2-40B4-BE49-F238E27FC236}">
                <a16:creationId xmlns:a16="http://schemas.microsoft.com/office/drawing/2014/main" id="{067FD443-93A5-4A01-A1C4-D4558B6A3675}"/>
              </a:ext>
            </a:extLst>
          </p:cNvPr>
          <p:cNvPicPr>
            <a:picLocks noChangeAspect="1"/>
          </p:cNvPicPr>
          <p:nvPr/>
        </p:nvPicPr>
        <p:blipFill>
          <a:blip r:embed="rId2"/>
          <a:stretch>
            <a:fillRect/>
          </a:stretch>
        </p:blipFill>
        <p:spPr>
          <a:xfrm>
            <a:off x="110790" y="1726791"/>
            <a:ext cx="6421339" cy="3494914"/>
          </a:xfrm>
          <a:prstGeom prst="rect">
            <a:avLst/>
          </a:prstGeom>
        </p:spPr>
      </p:pic>
    </p:spTree>
    <p:extLst>
      <p:ext uri="{BB962C8B-B14F-4D97-AF65-F5344CB8AC3E}">
        <p14:creationId xmlns:p14="http://schemas.microsoft.com/office/powerpoint/2010/main" val="2457643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Create a new V10 API version</a:t>
            </a:r>
          </a:p>
        </p:txBody>
      </p:sp>
      <p:sp>
        <p:nvSpPr>
          <p:cNvPr id="3" name="Text Placeholder 2"/>
          <p:cNvSpPr>
            <a:spLocks noGrp="1"/>
          </p:cNvSpPr>
          <p:nvPr>
            <p:ph type="body" sz="quarter" idx="11"/>
          </p:nvPr>
        </p:nvSpPr>
        <p:spPr/>
        <p:txBody>
          <a:bodyPr/>
          <a:lstStyle/>
          <a:p>
            <a:r>
              <a:rPr lang="en-US"/>
              <a:t>New Version</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Enter the new version number</a:t>
            </a:r>
          </a:p>
          <a:p>
            <a:r>
              <a:rPr lang="en-US" sz="1600">
                <a:latin typeface="Arial"/>
                <a:cs typeface="Arial"/>
              </a:rPr>
              <a:t>Click Submit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r>
              <a:rPr lang="en-US" sz="1600">
                <a:latin typeface="Arial"/>
                <a:cs typeface="Arial"/>
              </a:rPr>
              <a:t>Open the new Version</a:t>
            </a:r>
          </a:p>
          <a:p>
            <a:r>
              <a:rPr lang="en-US" sz="1600">
                <a:latin typeface="Arial"/>
                <a:cs typeface="Arial"/>
              </a:rPr>
              <a:t>Edit as necessary</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F3D4D879-CC55-47A4-8CFF-EDF2B09F82CE}"/>
              </a:ext>
            </a:extLst>
          </p:cNvPr>
          <p:cNvPicPr>
            <a:picLocks noChangeAspect="1"/>
          </p:cNvPicPr>
          <p:nvPr/>
        </p:nvPicPr>
        <p:blipFill>
          <a:blip r:embed="rId2"/>
          <a:stretch>
            <a:fillRect/>
          </a:stretch>
        </p:blipFill>
        <p:spPr>
          <a:xfrm>
            <a:off x="111793" y="1775058"/>
            <a:ext cx="6457950" cy="2247900"/>
          </a:xfrm>
          <a:prstGeom prst="rect">
            <a:avLst/>
          </a:prstGeom>
        </p:spPr>
      </p:pic>
      <p:pic>
        <p:nvPicPr>
          <p:cNvPr id="8" name="Picture 7">
            <a:extLst>
              <a:ext uri="{FF2B5EF4-FFF2-40B4-BE49-F238E27FC236}">
                <a16:creationId xmlns:a16="http://schemas.microsoft.com/office/drawing/2014/main" id="{AB58CC26-480C-43EE-B183-292D049DB6B8}"/>
              </a:ext>
            </a:extLst>
          </p:cNvPr>
          <p:cNvPicPr>
            <a:picLocks noChangeAspect="1"/>
          </p:cNvPicPr>
          <p:nvPr/>
        </p:nvPicPr>
        <p:blipFill>
          <a:blip r:embed="rId3"/>
          <a:stretch>
            <a:fillRect/>
          </a:stretch>
        </p:blipFill>
        <p:spPr>
          <a:xfrm>
            <a:off x="111793" y="4184409"/>
            <a:ext cx="4990571" cy="2164397"/>
          </a:xfrm>
          <a:prstGeom prst="rect">
            <a:avLst/>
          </a:prstGeom>
        </p:spPr>
      </p:pic>
    </p:spTree>
    <p:extLst>
      <p:ext uri="{BB962C8B-B14F-4D97-AF65-F5344CB8AC3E}">
        <p14:creationId xmlns:p14="http://schemas.microsoft.com/office/powerpoint/2010/main" val="16878746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p:txBody>
          <a:bodyPr/>
          <a:lstStyle/>
          <a:p>
            <a:r>
              <a:rPr lang="en-US" sz="2800">
                <a:latin typeface="Arial"/>
                <a:cs typeface="Arial"/>
              </a:rPr>
              <a:t>Create a new </a:t>
            </a:r>
            <a:r>
              <a:rPr lang="en-US" sz="2800" err="1">
                <a:latin typeface="Arial"/>
                <a:cs typeface="Arial"/>
              </a:rPr>
              <a:t>OpenAPI</a:t>
            </a:r>
            <a:r>
              <a:rPr lang="en-US" sz="2800">
                <a:latin typeface="Arial"/>
                <a:cs typeface="Arial"/>
              </a:rPr>
              <a:t> 2.0 using APIC V10</a:t>
            </a:r>
            <a:endParaRPr lang="en-US"/>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Introduction</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11272838" cy="4174867"/>
          </a:xfrm>
        </p:spPr>
        <p:txBody>
          <a:bodyPr lIns="91440" tIns="45720" rIns="91440" bIns="45720" anchor="t"/>
          <a:lstStyle/>
          <a:p>
            <a:r>
              <a:rPr lang="en-US" sz="1600">
                <a:latin typeface="Arial"/>
                <a:cs typeface="Arial"/>
              </a:rPr>
              <a:t>This section describes how to create an API that exposes a Swagger (</a:t>
            </a:r>
            <a:r>
              <a:rPr lang="en-US" sz="1600" err="1">
                <a:latin typeface="Arial"/>
                <a:cs typeface="Arial"/>
              </a:rPr>
              <a:t>OpenAPI</a:t>
            </a:r>
            <a:r>
              <a:rPr lang="en-US" sz="1600">
                <a:latin typeface="Arial"/>
                <a:cs typeface="Arial"/>
              </a:rPr>
              <a:t> 2.0) using the API Connect V10 user interface.</a:t>
            </a:r>
          </a:p>
          <a:p>
            <a:endParaRPr lang="en-US" sz="1600"/>
          </a:p>
          <a:p>
            <a:endParaRPr lang="en-US" sz="1600"/>
          </a:p>
          <a:p>
            <a:endParaRPr lang="en-US" sz="1600"/>
          </a:p>
        </p:txBody>
      </p:sp>
    </p:spTree>
    <p:extLst>
      <p:ext uri="{BB962C8B-B14F-4D97-AF65-F5344CB8AC3E}">
        <p14:creationId xmlns:p14="http://schemas.microsoft.com/office/powerpoint/2010/main" val="3669595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2.0 using APIC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From Develop</a:t>
            </a:r>
          </a:p>
          <a:p>
            <a:r>
              <a:rPr lang="en-US" sz="1600">
                <a:latin typeface="Arial"/>
                <a:cs typeface="Arial"/>
              </a:rPr>
              <a:t>Click Add</a:t>
            </a:r>
          </a:p>
          <a:p>
            <a:r>
              <a:rPr lang="en-US" sz="1600">
                <a:latin typeface="Arial"/>
                <a:cs typeface="Arial"/>
              </a:rPr>
              <a:t>Select API</a:t>
            </a:r>
          </a:p>
          <a:p>
            <a:r>
              <a:rPr lang="en-US" sz="1600">
                <a:latin typeface="Arial"/>
                <a:cs typeface="Arial"/>
              </a:rPr>
              <a:t>Select </a:t>
            </a:r>
            <a:r>
              <a:rPr lang="en-US" sz="1600" err="1">
                <a:latin typeface="Arial"/>
                <a:cs typeface="Arial"/>
              </a:rPr>
              <a:t>OpenAPI</a:t>
            </a:r>
            <a:r>
              <a:rPr lang="en-US" sz="1600">
                <a:latin typeface="Arial"/>
                <a:cs typeface="Arial"/>
              </a:rPr>
              <a:t> 2.0</a:t>
            </a:r>
          </a:p>
          <a:p>
            <a:r>
              <a:rPr lang="en-US" sz="1600">
                <a:latin typeface="Arial"/>
                <a:cs typeface="Arial"/>
              </a:rPr>
              <a:t>Select New </a:t>
            </a:r>
            <a:r>
              <a:rPr lang="en-US" sz="1600" err="1">
                <a:latin typeface="Arial"/>
                <a:cs typeface="Arial"/>
              </a:rPr>
              <a:t>OpenAPI</a:t>
            </a:r>
            <a:r>
              <a:rPr lang="en-US" sz="1600">
                <a:latin typeface="Arial"/>
                <a:cs typeface="Arial"/>
              </a:rPr>
              <a:t> from the options</a:t>
            </a:r>
          </a:p>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0" name="Picture 9">
            <a:extLst>
              <a:ext uri="{FF2B5EF4-FFF2-40B4-BE49-F238E27FC236}">
                <a16:creationId xmlns:a16="http://schemas.microsoft.com/office/drawing/2014/main" id="{3E61F4DC-7E87-479A-8F9E-E28F4D10CBB9}"/>
              </a:ext>
            </a:extLst>
          </p:cNvPr>
          <p:cNvPicPr>
            <a:picLocks noChangeAspect="1"/>
          </p:cNvPicPr>
          <p:nvPr/>
        </p:nvPicPr>
        <p:blipFill>
          <a:blip r:embed="rId2"/>
          <a:stretch>
            <a:fillRect/>
          </a:stretch>
        </p:blipFill>
        <p:spPr>
          <a:xfrm>
            <a:off x="155408" y="2784558"/>
            <a:ext cx="3990975" cy="1000125"/>
          </a:xfrm>
          <a:prstGeom prst="rect">
            <a:avLst/>
          </a:prstGeom>
        </p:spPr>
      </p:pic>
      <p:pic>
        <p:nvPicPr>
          <p:cNvPr id="15" name="Picture 14">
            <a:extLst>
              <a:ext uri="{FF2B5EF4-FFF2-40B4-BE49-F238E27FC236}">
                <a16:creationId xmlns:a16="http://schemas.microsoft.com/office/drawing/2014/main" id="{4497A64D-EB81-4349-B677-748EC6C34B9B}"/>
              </a:ext>
            </a:extLst>
          </p:cNvPr>
          <p:cNvPicPr>
            <a:picLocks noChangeAspect="1"/>
          </p:cNvPicPr>
          <p:nvPr/>
        </p:nvPicPr>
        <p:blipFill>
          <a:blip r:embed="rId3"/>
          <a:stretch>
            <a:fillRect/>
          </a:stretch>
        </p:blipFill>
        <p:spPr>
          <a:xfrm>
            <a:off x="155408" y="3977030"/>
            <a:ext cx="3990975" cy="2442819"/>
          </a:xfrm>
          <a:prstGeom prst="rect">
            <a:avLst/>
          </a:prstGeom>
        </p:spPr>
      </p:pic>
      <p:pic>
        <p:nvPicPr>
          <p:cNvPr id="6" name="Picture 5">
            <a:extLst>
              <a:ext uri="{FF2B5EF4-FFF2-40B4-BE49-F238E27FC236}">
                <a16:creationId xmlns:a16="http://schemas.microsoft.com/office/drawing/2014/main" id="{8B94C240-19D0-4111-B424-330A0280F52E}"/>
              </a:ext>
            </a:extLst>
          </p:cNvPr>
          <p:cNvPicPr>
            <a:picLocks noChangeAspect="1"/>
          </p:cNvPicPr>
          <p:nvPr/>
        </p:nvPicPr>
        <p:blipFill>
          <a:blip r:embed="rId4"/>
          <a:stretch>
            <a:fillRect/>
          </a:stretch>
        </p:blipFill>
        <p:spPr>
          <a:xfrm>
            <a:off x="155408" y="1665370"/>
            <a:ext cx="6436778" cy="1046130"/>
          </a:xfrm>
          <a:prstGeom prst="rect">
            <a:avLst/>
          </a:prstGeom>
        </p:spPr>
      </p:pic>
    </p:spTree>
    <p:extLst>
      <p:ext uri="{BB962C8B-B14F-4D97-AF65-F5344CB8AC3E}">
        <p14:creationId xmlns:p14="http://schemas.microsoft.com/office/powerpoint/2010/main" val="17248318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2.0 using APIC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Enter information pertaining to the API</a:t>
            </a:r>
          </a:p>
          <a:p>
            <a:r>
              <a:rPr lang="en-US" sz="1600">
                <a:latin typeface="Arial"/>
                <a:cs typeface="Arial"/>
              </a:rPr>
              <a:t>Enter a Title based on the submitted and approved  Naming Request from SharePoint</a:t>
            </a:r>
          </a:p>
          <a:p>
            <a:r>
              <a:rPr lang="en-US" sz="1600">
                <a:latin typeface="Arial"/>
                <a:cs typeface="Arial"/>
              </a:rPr>
              <a:t>Make sure to include /IA at the beginning of the name</a:t>
            </a:r>
          </a:p>
          <a:p>
            <a:r>
              <a:rPr lang="en-US" sz="1600">
                <a:latin typeface="Arial"/>
                <a:cs typeface="Arial"/>
              </a:rPr>
              <a:t>Look at the “Name” field on the Info tab</a:t>
            </a:r>
          </a:p>
          <a:p>
            <a:pPr marL="198438" lvl="2" indent="0">
              <a:buNone/>
            </a:pPr>
            <a:r>
              <a:rPr lang="en-US" sz="1600">
                <a:latin typeface="Arial"/>
                <a:cs typeface="Arial"/>
              </a:rPr>
              <a:t>If there are any “_” (underscore) characters in the name field replace them with “-” (dash)</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9" name="Picture 8">
            <a:extLst>
              <a:ext uri="{FF2B5EF4-FFF2-40B4-BE49-F238E27FC236}">
                <a16:creationId xmlns:a16="http://schemas.microsoft.com/office/drawing/2014/main" id="{9BA11F01-61F1-4B65-9238-6B805088CD4E}"/>
              </a:ext>
            </a:extLst>
          </p:cNvPr>
          <p:cNvPicPr>
            <a:picLocks noChangeAspect="1"/>
          </p:cNvPicPr>
          <p:nvPr/>
        </p:nvPicPr>
        <p:blipFill>
          <a:blip r:embed="rId2"/>
          <a:stretch>
            <a:fillRect/>
          </a:stretch>
        </p:blipFill>
        <p:spPr>
          <a:xfrm>
            <a:off x="231608" y="1713989"/>
            <a:ext cx="6284639" cy="3964916"/>
          </a:xfrm>
          <a:prstGeom prst="rect">
            <a:avLst/>
          </a:prstGeom>
        </p:spPr>
      </p:pic>
    </p:spTree>
    <p:extLst>
      <p:ext uri="{BB962C8B-B14F-4D97-AF65-F5344CB8AC3E}">
        <p14:creationId xmlns:p14="http://schemas.microsoft.com/office/powerpoint/2010/main" val="356247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2.0 using APIC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Enter the version</a:t>
            </a:r>
          </a:p>
          <a:p>
            <a:r>
              <a:rPr lang="en-US" sz="1600">
                <a:latin typeface="Arial"/>
                <a:cs typeface="Arial"/>
              </a:rPr>
              <a:t>Enter a Base path </a:t>
            </a:r>
          </a:p>
          <a:p>
            <a:r>
              <a:rPr lang="en-US" sz="1600">
                <a:latin typeface="Arial"/>
                <a:cs typeface="Arial"/>
              </a:rPr>
              <a:t>Enter a Description</a:t>
            </a:r>
          </a:p>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BE71CA08-D4B9-410E-A5F4-DBC3F39197B2}"/>
              </a:ext>
            </a:extLst>
          </p:cNvPr>
          <p:cNvPicPr>
            <a:picLocks noChangeAspect="1"/>
          </p:cNvPicPr>
          <p:nvPr/>
        </p:nvPicPr>
        <p:blipFill>
          <a:blip r:embed="rId2"/>
          <a:stretch>
            <a:fillRect/>
          </a:stretch>
        </p:blipFill>
        <p:spPr>
          <a:xfrm>
            <a:off x="193257" y="1752600"/>
            <a:ext cx="6375985" cy="2926137"/>
          </a:xfrm>
          <a:prstGeom prst="rect">
            <a:avLst/>
          </a:prstGeom>
        </p:spPr>
      </p:pic>
    </p:spTree>
    <p:extLst>
      <p:ext uri="{BB962C8B-B14F-4D97-AF65-F5344CB8AC3E}">
        <p14:creationId xmlns:p14="http://schemas.microsoft.com/office/powerpoint/2010/main" val="42391690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2.0 using APIC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Unless there are specific instructions to unselect these, leave them selected</a:t>
            </a:r>
          </a:p>
          <a:p>
            <a:r>
              <a:rPr lang="en-US" sz="1600">
                <a:latin typeface="Arial"/>
                <a:cs typeface="Arial"/>
              </a:rPr>
              <a:t>Click Next</a:t>
            </a:r>
          </a:p>
          <a:p>
            <a:r>
              <a:rPr lang="en-US" sz="1600">
                <a:latin typeface="Arial"/>
                <a:cs typeface="Arial"/>
              </a:rPr>
              <a:t>If there are no errors</a:t>
            </a:r>
          </a:p>
          <a:p>
            <a:r>
              <a:rPr lang="en-US" sz="1600">
                <a:latin typeface="Arial"/>
                <a:cs typeface="Arial"/>
              </a:rPr>
              <a:t>Click Edit API</a:t>
            </a:r>
          </a:p>
          <a:p>
            <a:r>
              <a:rPr lang="en-US" sz="1600">
                <a:latin typeface="Arial"/>
                <a:cs typeface="Arial"/>
              </a:rPr>
              <a:t>Otherwise correct any errors to continue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C22340E7-ED4A-4030-92C9-99155A95CC7C}"/>
              </a:ext>
            </a:extLst>
          </p:cNvPr>
          <p:cNvPicPr>
            <a:picLocks noChangeAspect="1"/>
          </p:cNvPicPr>
          <p:nvPr/>
        </p:nvPicPr>
        <p:blipFill>
          <a:blip r:embed="rId2"/>
          <a:stretch>
            <a:fillRect/>
          </a:stretch>
        </p:blipFill>
        <p:spPr>
          <a:xfrm>
            <a:off x="150896" y="1713989"/>
            <a:ext cx="5534492" cy="2534882"/>
          </a:xfrm>
          <a:prstGeom prst="rect">
            <a:avLst/>
          </a:prstGeom>
        </p:spPr>
      </p:pic>
      <p:pic>
        <p:nvPicPr>
          <p:cNvPr id="9" name="Picture 8">
            <a:extLst>
              <a:ext uri="{FF2B5EF4-FFF2-40B4-BE49-F238E27FC236}">
                <a16:creationId xmlns:a16="http://schemas.microsoft.com/office/drawing/2014/main" id="{42608EBB-888B-4953-A56B-2CFE3BEC93BA}"/>
              </a:ext>
            </a:extLst>
          </p:cNvPr>
          <p:cNvPicPr>
            <a:picLocks noChangeAspect="1"/>
          </p:cNvPicPr>
          <p:nvPr/>
        </p:nvPicPr>
        <p:blipFill>
          <a:blip r:embed="rId3"/>
          <a:stretch>
            <a:fillRect/>
          </a:stretch>
        </p:blipFill>
        <p:spPr>
          <a:xfrm>
            <a:off x="150896" y="4304971"/>
            <a:ext cx="5534493" cy="2002892"/>
          </a:xfrm>
          <a:prstGeom prst="rect">
            <a:avLst/>
          </a:prstGeom>
        </p:spPr>
      </p:pic>
    </p:spTree>
    <p:extLst>
      <p:ext uri="{BB962C8B-B14F-4D97-AF65-F5344CB8AC3E}">
        <p14:creationId xmlns:p14="http://schemas.microsoft.com/office/powerpoint/2010/main" val="32789878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2.0 using APIC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When the API opens</a:t>
            </a:r>
          </a:p>
          <a:p>
            <a:r>
              <a:rPr lang="en-US" sz="1600">
                <a:latin typeface="Arial"/>
                <a:cs typeface="Arial"/>
              </a:rPr>
              <a:t>Scroll down the API and enter the following information</a:t>
            </a:r>
          </a:p>
          <a:p>
            <a:r>
              <a:rPr lang="en-US" sz="1600">
                <a:latin typeface="Arial"/>
                <a:cs typeface="Arial"/>
              </a:rPr>
              <a:t>Enter the Summary</a:t>
            </a:r>
          </a:p>
          <a:p>
            <a:r>
              <a:rPr lang="en-US" sz="1600">
                <a:latin typeface="Arial"/>
                <a:cs typeface="Arial"/>
              </a:rPr>
              <a:t>Ensure HTTPS is selected</a:t>
            </a:r>
          </a:p>
          <a:p>
            <a:r>
              <a:rPr lang="en-US" sz="1600">
                <a:latin typeface="Arial"/>
                <a:cs typeface="Arial"/>
              </a:rPr>
              <a:t>Enter the Host name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0" name="Picture 9">
            <a:extLst>
              <a:ext uri="{FF2B5EF4-FFF2-40B4-BE49-F238E27FC236}">
                <a16:creationId xmlns:a16="http://schemas.microsoft.com/office/drawing/2014/main" id="{8EFE90A1-5C03-4DE2-AFEB-CA383AE1B70A}"/>
              </a:ext>
            </a:extLst>
          </p:cNvPr>
          <p:cNvPicPr>
            <a:picLocks noChangeAspect="1"/>
          </p:cNvPicPr>
          <p:nvPr/>
        </p:nvPicPr>
        <p:blipFill>
          <a:blip r:embed="rId2"/>
          <a:stretch>
            <a:fillRect/>
          </a:stretch>
        </p:blipFill>
        <p:spPr>
          <a:xfrm>
            <a:off x="233892" y="1713989"/>
            <a:ext cx="6445963" cy="1245779"/>
          </a:xfrm>
          <a:prstGeom prst="rect">
            <a:avLst/>
          </a:prstGeom>
        </p:spPr>
      </p:pic>
      <p:pic>
        <p:nvPicPr>
          <p:cNvPr id="12" name="Picture 11">
            <a:extLst>
              <a:ext uri="{FF2B5EF4-FFF2-40B4-BE49-F238E27FC236}">
                <a16:creationId xmlns:a16="http://schemas.microsoft.com/office/drawing/2014/main" id="{516765E6-E497-4E60-8B63-0A225FA3E2A6}"/>
              </a:ext>
            </a:extLst>
          </p:cNvPr>
          <p:cNvPicPr>
            <a:picLocks noChangeAspect="1"/>
          </p:cNvPicPr>
          <p:nvPr/>
        </p:nvPicPr>
        <p:blipFill>
          <a:blip r:embed="rId3"/>
          <a:stretch>
            <a:fillRect/>
          </a:stretch>
        </p:blipFill>
        <p:spPr>
          <a:xfrm>
            <a:off x="233892" y="3148913"/>
            <a:ext cx="3019425" cy="1724025"/>
          </a:xfrm>
          <a:prstGeom prst="rect">
            <a:avLst/>
          </a:prstGeom>
        </p:spPr>
      </p:pic>
      <p:pic>
        <p:nvPicPr>
          <p:cNvPr id="14" name="Picture 13">
            <a:extLst>
              <a:ext uri="{FF2B5EF4-FFF2-40B4-BE49-F238E27FC236}">
                <a16:creationId xmlns:a16="http://schemas.microsoft.com/office/drawing/2014/main" id="{258427ED-BA76-4BAF-84A9-8043E349D43F}"/>
              </a:ext>
            </a:extLst>
          </p:cNvPr>
          <p:cNvPicPr>
            <a:picLocks noChangeAspect="1"/>
          </p:cNvPicPr>
          <p:nvPr/>
        </p:nvPicPr>
        <p:blipFill>
          <a:blip r:embed="rId4"/>
          <a:stretch>
            <a:fillRect/>
          </a:stretch>
        </p:blipFill>
        <p:spPr>
          <a:xfrm>
            <a:off x="233892" y="4941767"/>
            <a:ext cx="2466975" cy="1476375"/>
          </a:xfrm>
          <a:prstGeom prst="rect">
            <a:avLst/>
          </a:prstGeom>
        </p:spPr>
      </p:pic>
    </p:spTree>
    <p:extLst>
      <p:ext uri="{BB962C8B-B14F-4D97-AF65-F5344CB8AC3E}">
        <p14:creationId xmlns:p14="http://schemas.microsoft.com/office/powerpoint/2010/main" val="3198921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2.0 using APIC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Select the Appropriate Consumes and Produces</a:t>
            </a:r>
          </a:p>
          <a:p>
            <a:r>
              <a:rPr lang="en-US" sz="1600">
                <a:latin typeface="Arial"/>
                <a:cs typeface="Arial"/>
              </a:rPr>
              <a:t>Scroll down to Gateway type</a:t>
            </a:r>
          </a:p>
          <a:p>
            <a:r>
              <a:rPr lang="en-US" sz="1600">
                <a:latin typeface="Arial"/>
                <a:cs typeface="Arial"/>
              </a:rPr>
              <a:t>Although it is the default make sure that DataPower API Gateway is selected</a:t>
            </a:r>
          </a:p>
          <a:p>
            <a:r>
              <a:rPr lang="en-US" sz="1600">
                <a:latin typeface="Arial"/>
                <a:cs typeface="Arial"/>
              </a:rPr>
              <a:t>Click Save to save the API</a:t>
            </a:r>
          </a:p>
          <a:p>
            <a:r>
              <a:rPr lang="en-US" sz="1600">
                <a:latin typeface="Arial"/>
                <a:cs typeface="Arial"/>
              </a:rPr>
              <a:t>Scroll up to the top of the API to continue updating the API</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57D6477A-13F3-4141-B172-E0727A0BBEF9}"/>
              </a:ext>
            </a:extLst>
          </p:cNvPr>
          <p:cNvPicPr>
            <a:picLocks noChangeAspect="1"/>
          </p:cNvPicPr>
          <p:nvPr/>
        </p:nvPicPr>
        <p:blipFill>
          <a:blip r:embed="rId2"/>
          <a:stretch>
            <a:fillRect/>
          </a:stretch>
        </p:blipFill>
        <p:spPr>
          <a:xfrm>
            <a:off x="1830805" y="1747837"/>
            <a:ext cx="1695450" cy="1685925"/>
          </a:xfrm>
          <a:prstGeom prst="rect">
            <a:avLst/>
          </a:prstGeom>
        </p:spPr>
      </p:pic>
      <p:pic>
        <p:nvPicPr>
          <p:cNvPr id="8" name="Picture 7">
            <a:extLst>
              <a:ext uri="{FF2B5EF4-FFF2-40B4-BE49-F238E27FC236}">
                <a16:creationId xmlns:a16="http://schemas.microsoft.com/office/drawing/2014/main" id="{6EA344B5-28E6-4143-BDAE-CD7A6592F4D7}"/>
              </a:ext>
            </a:extLst>
          </p:cNvPr>
          <p:cNvPicPr>
            <a:picLocks noChangeAspect="1"/>
          </p:cNvPicPr>
          <p:nvPr/>
        </p:nvPicPr>
        <p:blipFill>
          <a:blip r:embed="rId3"/>
          <a:stretch>
            <a:fillRect/>
          </a:stretch>
        </p:blipFill>
        <p:spPr>
          <a:xfrm>
            <a:off x="153904" y="1747837"/>
            <a:ext cx="1400175" cy="1676400"/>
          </a:xfrm>
          <a:prstGeom prst="rect">
            <a:avLst/>
          </a:prstGeom>
        </p:spPr>
      </p:pic>
      <p:pic>
        <p:nvPicPr>
          <p:cNvPr id="11" name="Picture 10">
            <a:extLst>
              <a:ext uri="{FF2B5EF4-FFF2-40B4-BE49-F238E27FC236}">
                <a16:creationId xmlns:a16="http://schemas.microsoft.com/office/drawing/2014/main" id="{688F441A-9328-43DC-9787-C6245D5D479F}"/>
              </a:ext>
            </a:extLst>
          </p:cNvPr>
          <p:cNvPicPr>
            <a:picLocks noChangeAspect="1"/>
          </p:cNvPicPr>
          <p:nvPr/>
        </p:nvPicPr>
        <p:blipFill>
          <a:blip r:embed="rId4"/>
          <a:stretch>
            <a:fillRect/>
          </a:stretch>
        </p:blipFill>
        <p:spPr>
          <a:xfrm>
            <a:off x="153904" y="3732140"/>
            <a:ext cx="2676525" cy="1333500"/>
          </a:xfrm>
          <a:prstGeom prst="rect">
            <a:avLst/>
          </a:prstGeom>
        </p:spPr>
      </p:pic>
    </p:spTree>
    <p:extLst>
      <p:ext uri="{BB962C8B-B14F-4D97-AF65-F5344CB8AC3E}">
        <p14:creationId xmlns:p14="http://schemas.microsoft.com/office/powerpoint/2010/main" val="10034396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2.0 using APIC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Click on Security Definitions  </a:t>
            </a:r>
          </a:p>
          <a:p>
            <a:r>
              <a:rPr lang="en-US" sz="1600">
                <a:latin typeface="Arial"/>
                <a:cs typeface="Arial"/>
              </a:rPr>
              <a:t>Click on </a:t>
            </a:r>
            <a:r>
              <a:rPr lang="en-US" sz="1600" err="1">
                <a:latin typeface="Arial"/>
                <a:cs typeface="Arial"/>
              </a:rPr>
              <a:t>clientID</a:t>
            </a:r>
            <a:endParaRPr lang="en-US" sz="1600">
              <a:latin typeface="Arial"/>
              <a:cs typeface="Arial"/>
            </a:endParaRPr>
          </a:p>
          <a:p>
            <a:r>
              <a:rPr lang="en-US" sz="1600">
                <a:latin typeface="Arial"/>
                <a:cs typeface="Arial"/>
              </a:rPr>
              <a:t>Enter the appropriate security definition in the description:</a:t>
            </a:r>
          </a:p>
          <a:p>
            <a:r>
              <a:rPr lang="en-US" sz="1600">
                <a:latin typeface="Arial"/>
                <a:cs typeface="Arial"/>
              </a:rPr>
              <a:t>Ex.</a:t>
            </a:r>
          </a:p>
          <a:p>
            <a:r>
              <a:rPr lang="en-US" sz="1600">
                <a:latin typeface="Arial"/>
                <a:cs typeface="Arial"/>
              </a:rPr>
              <a:t>{ "</a:t>
            </a:r>
            <a:r>
              <a:rPr lang="en-US" sz="1600" err="1">
                <a:latin typeface="Arial"/>
                <a:cs typeface="Arial"/>
              </a:rPr>
              <a:t>BuildEIEHeader</a:t>
            </a:r>
            <a:r>
              <a:rPr lang="en-US" sz="1600">
                <a:latin typeface="Arial"/>
                <a:cs typeface="Arial"/>
              </a:rPr>
              <a:t>": "Header V3.1.2",</a:t>
            </a:r>
          </a:p>
          <a:p>
            <a:r>
              <a:rPr lang="en-US" sz="1600" err="1">
                <a:latin typeface="Arial"/>
                <a:cs typeface="Arial"/>
              </a:rPr>
              <a:t>SecurityTemplate</a:t>
            </a:r>
            <a:r>
              <a:rPr lang="en-US" sz="1600">
                <a:latin typeface="Arial"/>
                <a:cs typeface="Arial"/>
              </a:rPr>
              <a:t>": "</a:t>
            </a:r>
            <a:r>
              <a:rPr lang="en-US" sz="1600" err="1">
                <a:latin typeface="Arial"/>
                <a:cs typeface="Arial"/>
              </a:rPr>
              <a:t>AppPrivApp</a:t>
            </a:r>
            <a:r>
              <a:rPr lang="en-US" sz="1600">
                <a:latin typeface="Arial"/>
                <a:cs typeface="Arial"/>
              </a:rPr>
              <a:t>“,</a:t>
            </a:r>
          </a:p>
          <a:p>
            <a:r>
              <a:rPr lang="en-US" sz="1600">
                <a:latin typeface="Arial"/>
                <a:cs typeface="Arial"/>
              </a:rPr>
              <a:t>"Backend": "IIB",</a:t>
            </a:r>
          </a:p>
          <a:p>
            <a:r>
              <a:rPr lang="en-US" sz="1600">
                <a:latin typeface="Arial"/>
                <a:cs typeface="Arial"/>
              </a:rPr>
              <a:t>"Error handling policy": </a:t>
            </a:r>
            <a:r>
              <a:rPr lang="en-US" sz="1600">
                <a:latin typeface="+mn-lt"/>
                <a:cs typeface="Arial"/>
              </a:rPr>
              <a:t>“</a:t>
            </a:r>
            <a:r>
              <a:rPr lang="en-US" sz="1600" b="0" i="0">
                <a:solidFill>
                  <a:srgbClr val="444444"/>
                </a:solidFill>
                <a:effectLst/>
                <a:latin typeface="+mn-lt"/>
              </a:rPr>
              <a:t>Transparent</a:t>
            </a:r>
            <a:r>
              <a:rPr lang="en-US" sz="1600">
                <a:latin typeface="Arial"/>
                <a:cs typeface="Arial"/>
              </a:rPr>
              <a:t>",</a:t>
            </a:r>
          </a:p>
          <a:p>
            <a:r>
              <a:rPr lang="en-US" sz="1600">
                <a:latin typeface="Arial"/>
                <a:cs typeface="Arial"/>
              </a:rPr>
              <a:t>"Mutual Authentication Required": "Not Required"}</a:t>
            </a:r>
          </a:p>
          <a:p>
            <a:r>
              <a:rPr lang="en-US" sz="1600">
                <a:latin typeface="Arial"/>
                <a:cs typeface="Arial"/>
                <a:hlinkClick r:id="rId2"/>
              </a:rPr>
              <a:t>Link</a:t>
            </a:r>
            <a:r>
              <a:rPr lang="en-US" sz="1600">
                <a:latin typeface="Arial"/>
                <a:cs typeface="Arial"/>
              </a:rPr>
              <a:t> to APIC Security Definition Template</a:t>
            </a:r>
          </a:p>
          <a:p>
            <a:r>
              <a:rPr lang="en-US" sz="1600">
                <a:latin typeface="Arial"/>
                <a:cs typeface="Arial"/>
              </a:rPr>
              <a:t>Click Save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CB6AE403-8A80-4F5E-98B3-3548EE347204}"/>
              </a:ext>
            </a:extLst>
          </p:cNvPr>
          <p:cNvPicPr>
            <a:picLocks noChangeAspect="1"/>
          </p:cNvPicPr>
          <p:nvPr/>
        </p:nvPicPr>
        <p:blipFill>
          <a:blip r:embed="rId3"/>
          <a:stretch>
            <a:fillRect/>
          </a:stretch>
        </p:blipFill>
        <p:spPr>
          <a:xfrm>
            <a:off x="216568" y="2664484"/>
            <a:ext cx="5334000" cy="1800225"/>
          </a:xfrm>
          <a:prstGeom prst="rect">
            <a:avLst/>
          </a:prstGeom>
        </p:spPr>
      </p:pic>
      <p:pic>
        <p:nvPicPr>
          <p:cNvPr id="10" name="Picture 9">
            <a:extLst>
              <a:ext uri="{FF2B5EF4-FFF2-40B4-BE49-F238E27FC236}">
                <a16:creationId xmlns:a16="http://schemas.microsoft.com/office/drawing/2014/main" id="{2D47E5C5-F595-4D1D-912F-9D3AC3440453}"/>
              </a:ext>
            </a:extLst>
          </p:cNvPr>
          <p:cNvPicPr>
            <a:picLocks noChangeAspect="1"/>
          </p:cNvPicPr>
          <p:nvPr/>
        </p:nvPicPr>
        <p:blipFill>
          <a:blip r:embed="rId4"/>
          <a:stretch>
            <a:fillRect/>
          </a:stretch>
        </p:blipFill>
        <p:spPr>
          <a:xfrm>
            <a:off x="216568" y="4653892"/>
            <a:ext cx="6376737" cy="787715"/>
          </a:xfrm>
          <a:prstGeom prst="rect">
            <a:avLst/>
          </a:prstGeom>
        </p:spPr>
      </p:pic>
      <p:pic>
        <p:nvPicPr>
          <p:cNvPr id="13" name="Picture 12">
            <a:extLst>
              <a:ext uri="{FF2B5EF4-FFF2-40B4-BE49-F238E27FC236}">
                <a16:creationId xmlns:a16="http://schemas.microsoft.com/office/drawing/2014/main" id="{36F47078-E103-49AE-9768-1BC5F12CE8DC}"/>
              </a:ext>
            </a:extLst>
          </p:cNvPr>
          <p:cNvPicPr>
            <a:picLocks noChangeAspect="1"/>
          </p:cNvPicPr>
          <p:nvPr/>
        </p:nvPicPr>
        <p:blipFill>
          <a:blip r:embed="rId5"/>
          <a:stretch>
            <a:fillRect/>
          </a:stretch>
        </p:blipFill>
        <p:spPr>
          <a:xfrm>
            <a:off x="198409" y="1725082"/>
            <a:ext cx="2324100" cy="733425"/>
          </a:xfrm>
          <a:prstGeom prst="rect">
            <a:avLst/>
          </a:prstGeom>
        </p:spPr>
      </p:pic>
    </p:spTree>
    <p:extLst>
      <p:ext uri="{BB962C8B-B14F-4D97-AF65-F5344CB8AC3E}">
        <p14:creationId xmlns:p14="http://schemas.microsoft.com/office/powerpoint/2010/main" val="8118763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2.0 using APIC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Click on Paths</a:t>
            </a:r>
          </a:p>
          <a:p>
            <a:r>
              <a:rPr lang="en-US" sz="1600">
                <a:latin typeface="Arial"/>
                <a:cs typeface="Arial"/>
              </a:rPr>
              <a:t>Click on “/” to open the Path section</a:t>
            </a:r>
          </a:p>
          <a:p>
            <a:r>
              <a:rPr lang="en-US" sz="1600">
                <a:latin typeface="Arial"/>
                <a:cs typeface="Arial"/>
              </a:rPr>
              <a:t>Enter the appropriate Path name</a:t>
            </a:r>
          </a:p>
          <a:p>
            <a:r>
              <a:rPr lang="en-US" sz="1600">
                <a:latin typeface="Arial"/>
                <a:cs typeface="Arial"/>
              </a:rPr>
              <a:t>Click on Add to add path parameters</a:t>
            </a:r>
          </a:p>
          <a:p>
            <a:r>
              <a:rPr lang="en-US" sz="1600">
                <a:latin typeface="Arial"/>
                <a:cs typeface="Arial"/>
              </a:rPr>
              <a:t>Add appropriate path parameters</a:t>
            </a:r>
          </a:p>
          <a:p>
            <a:r>
              <a:rPr lang="en-US" sz="1600">
                <a:latin typeface="Arial"/>
                <a:cs typeface="Arial"/>
              </a:rPr>
              <a:t>Make sure to add a description for each parameter to identify its purpose</a:t>
            </a:r>
          </a:p>
          <a:p>
            <a:r>
              <a:rPr lang="en-US" sz="1600">
                <a:latin typeface="Arial"/>
                <a:cs typeface="Arial"/>
              </a:rPr>
              <a:t>Once completed adding parameters, Click Save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F1C734DF-0F3A-4551-BC38-BF58CB9B24B7}"/>
              </a:ext>
            </a:extLst>
          </p:cNvPr>
          <p:cNvPicPr>
            <a:picLocks noChangeAspect="1"/>
          </p:cNvPicPr>
          <p:nvPr/>
        </p:nvPicPr>
        <p:blipFill>
          <a:blip r:embed="rId2"/>
          <a:stretch>
            <a:fillRect/>
          </a:stretch>
        </p:blipFill>
        <p:spPr>
          <a:xfrm>
            <a:off x="295525" y="1713989"/>
            <a:ext cx="2047875" cy="1228725"/>
          </a:xfrm>
          <a:prstGeom prst="rect">
            <a:avLst/>
          </a:prstGeom>
        </p:spPr>
      </p:pic>
      <p:pic>
        <p:nvPicPr>
          <p:cNvPr id="12" name="Picture 11">
            <a:extLst>
              <a:ext uri="{FF2B5EF4-FFF2-40B4-BE49-F238E27FC236}">
                <a16:creationId xmlns:a16="http://schemas.microsoft.com/office/drawing/2014/main" id="{9713212C-56F3-4554-93A9-BC655231F46F}"/>
              </a:ext>
            </a:extLst>
          </p:cNvPr>
          <p:cNvPicPr>
            <a:picLocks noChangeAspect="1"/>
          </p:cNvPicPr>
          <p:nvPr/>
        </p:nvPicPr>
        <p:blipFill>
          <a:blip r:embed="rId3"/>
          <a:stretch>
            <a:fillRect/>
          </a:stretch>
        </p:blipFill>
        <p:spPr>
          <a:xfrm>
            <a:off x="295526" y="3138685"/>
            <a:ext cx="6249654" cy="1269886"/>
          </a:xfrm>
          <a:prstGeom prst="rect">
            <a:avLst/>
          </a:prstGeom>
        </p:spPr>
      </p:pic>
      <p:pic>
        <p:nvPicPr>
          <p:cNvPr id="14" name="Picture 13">
            <a:extLst>
              <a:ext uri="{FF2B5EF4-FFF2-40B4-BE49-F238E27FC236}">
                <a16:creationId xmlns:a16="http://schemas.microsoft.com/office/drawing/2014/main" id="{6E79EB19-4D6D-40D6-B5E9-1455375AD1C3}"/>
              </a:ext>
            </a:extLst>
          </p:cNvPr>
          <p:cNvPicPr>
            <a:picLocks noChangeAspect="1"/>
          </p:cNvPicPr>
          <p:nvPr/>
        </p:nvPicPr>
        <p:blipFill>
          <a:blip r:embed="rId4"/>
          <a:stretch>
            <a:fillRect/>
          </a:stretch>
        </p:blipFill>
        <p:spPr>
          <a:xfrm>
            <a:off x="295525" y="4604542"/>
            <a:ext cx="6124817" cy="1528969"/>
          </a:xfrm>
          <a:prstGeom prst="rect">
            <a:avLst/>
          </a:prstGeom>
        </p:spPr>
      </p:pic>
    </p:spTree>
    <p:extLst>
      <p:ext uri="{BB962C8B-B14F-4D97-AF65-F5344CB8AC3E}">
        <p14:creationId xmlns:p14="http://schemas.microsoft.com/office/powerpoint/2010/main" val="1267808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2.0 using APIC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Click on Paths</a:t>
            </a:r>
          </a:p>
          <a:p>
            <a:r>
              <a:rPr lang="en-US" sz="1600" b="0" i="0">
                <a:solidFill>
                  <a:srgbClr val="444444"/>
                </a:solidFill>
                <a:effectLst/>
                <a:latin typeface="+mj-lt"/>
              </a:rPr>
              <a:t>Expand the Path by clicking on the path name</a:t>
            </a:r>
            <a:endParaRPr lang="en-US" sz="1600">
              <a:latin typeface="+mj-lt"/>
              <a:cs typeface="Arial"/>
            </a:endParaRPr>
          </a:p>
          <a:p>
            <a:r>
              <a:rPr lang="en-US" sz="1600">
                <a:latin typeface="Arial"/>
                <a:cs typeface="Arial"/>
              </a:rPr>
              <a:t>Scroll to Operations </a:t>
            </a:r>
          </a:p>
          <a:p>
            <a:r>
              <a:rPr lang="en-US" sz="1600">
                <a:latin typeface="Arial"/>
                <a:cs typeface="Arial"/>
              </a:rPr>
              <a:t>Delete all unneeded operations</a:t>
            </a:r>
          </a:p>
          <a:p>
            <a:r>
              <a:rPr lang="en-US" sz="1600">
                <a:latin typeface="Arial"/>
                <a:cs typeface="Arial"/>
              </a:rPr>
              <a:t>Click Save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00448A85-8E12-4E7D-B554-53D0189BB4C7}"/>
              </a:ext>
            </a:extLst>
          </p:cNvPr>
          <p:cNvPicPr>
            <a:picLocks noChangeAspect="1"/>
          </p:cNvPicPr>
          <p:nvPr/>
        </p:nvPicPr>
        <p:blipFill>
          <a:blip r:embed="rId2"/>
          <a:stretch>
            <a:fillRect/>
          </a:stretch>
        </p:blipFill>
        <p:spPr>
          <a:xfrm>
            <a:off x="204286" y="1816767"/>
            <a:ext cx="6416893" cy="2735671"/>
          </a:xfrm>
          <a:prstGeom prst="rect">
            <a:avLst/>
          </a:prstGeom>
        </p:spPr>
      </p:pic>
      <p:pic>
        <p:nvPicPr>
          <p:cNvPr id="9" name="Picture 8">
            <a:extLst>
              <a:ext uri="{FF2B5EF4-FFF2-40B4-BE49-F238E27FC236}">
                <a16:creationId xmlns:a16="http://schemas.microsoft.com/office/drawing/2014/main" id="{7ABD57D9-E049-4ABF-BD15-DB72A3653FC9}"/>
              </a:ext>
            </a:extLst>
          </p:cNvPr>
          <p:cNvPicPr>
            <a:picLocks noChangeAspect="1"/>
          </p:cNvPicPr>
          <p:nvPr/>
        </p:nvPicPr>
        <p:blipFill>
          <a:blip r:embed="rId3"/>
          <a:stretch>
            <a:fillRect/>
          </a:stretch>
        </p:blipFill>
        <p:spPr>
          <a:xfrm>
            <a:off x="182279" y="4743199"/>
            <a:ext cx="6438900" cy="1438275"/>
          </a:xfrm>
          <a:prstGeom prst="rect">
            <a:avLst/>
          </a:prstGeom>
        </p:spPr>
      </p:pic>
    </p:spTree>
    <p:extLst>
      <p:ext uri="{BB962C8B-B14F-4D97-AF65-F5344CB8AC3E}">
        <p14:creationId xmlns:p14="http://schemas.microsoft.com/office/powerpoint/2010/main" val="20526954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2.0 using APIC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b="0" i="0">
                <a:solidFill>
                  <a:srgbClr val="444444"/>
                </a:solidFill>
                <a:effectLst/>
                <a:latin typeface="+mj-lt"/>
              </a:rPr>
              <a:t>Expand the Path by clicking on the path name</a:t>
            </a:r>
            <a:endParaRPr lang="en-US" sz="1600">
              <a:latin typeface="+mj-lt"/>
              <a:cs typeface="Arial"/>
            </a:endParaRPr>
          </a:p>
          <a:p>
            <a:r>
              <a:rPr lang="en-US" sz="1600">
                <a:latin typeface="Arial"/>
                <a:cs typeface="Arial"/>
              </a:rPr>
              <a:t>Select the Operation to modify</a:t>
            </a:r>
          </a:p>
          <a:p>
            <a:r>
              <a:rPr lang="en-US" sz="1600">
                <a:latin typeface="Arial"/>
                <a:cs typeface="Arial"/>
              </a:rPr>
              <a:t>Enter the Summary for the Operation</a:t>
            </a:r>
          </a:p>
          <a:p>
            <a:r>
              <a:rPr lang="en-US" sz="1600">
                <a:latin typeface="Arial"/>
                <a:cs typeface="Arial"/>
              </a:rPr>
              <a:t>Enter the Description for the Operation</a:t>
            </a:r>
          </a:p>
          <a:p>
            <a:r>
              <a:rPr lang="en-US" sz="1600">
                <a:latin typeface="Arial"/>
                <a:cs typeface="Arial"/>
              </a:rPr>
              <a:t>Click Save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A1F31EAD-E74D-49E9-9BEA-B2FFC007DBAF}"/>
              </a:ext>
            </a:extLst>
          </p:cNvPr>
          <p:cNvPicPr>
            <a:picLocks noChangeAspect="1"/>
          </p:cNvPicPr>
          <p:nvPr/>
        </p:nvPicPr>
        <p:blipFill>
          <a:blip r:embed="rId2"/>
          <a:stretch>
            <a:fillRect/>
          </a:stretch>
        </p:blipFill>
        <p:spPr>
          <a:xfrm>
            <a:off x="186267" y="1713989"/>
            <a:ext cx="6238596" cy="4642676"/>
          </a:xfrm>
          <a:prstGeom prst="rect">
            <a:avLst/>
          </a:prstGeom>
        </p:spPr>
      </p:pic>
    </p:spTree>
    <p:extLst>
      <p:ext uri="{BB962C8B-B14F-4D97-AF65-F5344CB8AC3E}">
        <p14:creationId xmlns:p14="http://schemas.microsoft.com/office/powerpoint/2010/main" val="7484368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2.0 using APIC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b="0" i="0">
                <a:solidFill>
                  <a:srgbClr val="444444"/>
                </a:solidFill>
                <a:effectLst/>
                <a:latin typeface="+mn-lt"/>
              </a:rPr>
              <a:t>Expand the Path by clicking on the path name and select the operation</a:t>
            </a:r>
          </a:p>
          <a:p>
            <a:r>
              <a:rPr lang="en-US" sz="1600">
                <a:latin typeface="Arial"/>
                <a:cs typeface="Arial"/>
              </a:rPr>
              <a:t>Add any additional Parameters by clicking Add</a:t>
            </a:r>
          </a:p>
          <a:p>
            <a:r>
              <a:rPr lang="en-US" sz="1600">
                <a:latin typeface="Arial"/>
                <a:cs typeface="Arial"/>
              </a:rPr>
              <a:t>Enter parameter information</a:t>
            </a:r>
          </a:p>
          <a:p>
            <a:endParaRPr lang="en-US" sz="1600">
              <a:latin typeface="Arial"/>
              <a:cs typeface="Arial"/>
            </a:endParaRPr>
          </a:p>
          <a:p>
            <a:r>
              <a:rPr lang="en-US" sz="1600">
                <a:latin typeface="Arial"/>
                <a:cs typeface="Arial"/>
              </a:rPr>
              <a:t>Click Save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F5E82747-87CA-4743-AE37-6E07B3DE581A}"/>
              </a:ext>
            </a:extLst>
          </p:cNvPr>
          <p:cNvPicPr>
            <a:picLocks noChangeAspect="1"/>
          </p:cNvPicPr>
          <p:nvPr/>
        </p:nvPicPr>
        <p:blipFill>
          <a:blip r:embed="rId2"/>
          <a:stretch>
            <a:fillRect/>
          </a:stretch>
        </p:blipFill>
        <p:spPr>
          <a:xfrm>
            <a:off x="300289" y="1713989"/>
            <a:ext cx="5695950" cy="2152650"/>
          </a:xfrm>
          <a:prstGeom prst="rect">
            <a:avLst/>
          </a:prstGeom>
        </p:spPr>
      </p:pic>
      <p:pic>
        <p:nvPicPr>
          <p:cNvPr id="13" name="Picture 12">
            <a:extLst>
              <a:ext uri="{FF2B5EF4-FFF2-40B4-BE49-F238E27FC236}">
                <a16:creationId xmlns:a16="http://schemas.microsoft.com/office/drawing/2014/main" id="{BE61C0A4-B7BD-47F8-A5F1-DECAFF8AFA32}"/>
              </a:ext>
            </a:extLst>
          </p:cNvPr>
          <p:cNvPicPr>
            <a:picLocks noChangeAspect="1"/>
          </p:cNvPicPr>
          <p:nvPr/>
        </p:nvPicPr>
        <p:blipFill>
          <a:blip r:embed="rId3"/>
          <a:stretch>
            <a:fillRect/>
          </a:stretch>
        </p:blipFill>
        <p:spPr>
          <a:xfrm>
            <a:off x="300289" y="4020026"/>
            <a:ext cx="6317079" cy="1123985"/>
          </a:xfrm>
          <a:prstGeom prst="rect">
            <a:avLst/>
          </a:prstGeom>
        </p:spPr>
      </p:pic>
    </p:spTree>
    <p:extLst>
      <p:ext uri="{BB962C8B-B14F-4D97-AF65-F5344CB8AC3E}">
        <p14:creationId xmlns:p14="http://schemas.microsoft.com/office/powerpoint/2010/main" val="11542907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2.0 using APIC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b="0" i="0">
                <a:solidFill>
                  <a:srgbClr val="444444"/>
                </a:solidFill>
                <a:effectLst/>
                <a:latin typeface="+mn-lt"/>
              </a:rPr>
              <a:t>Expand the Path by clicking on the path name and select the operation</a:t>
            </a:r>
          </a:p>
          <a:p>
            <a:r>
              <a:rPr lang="en-US" sz="1600" b="0" i="0">
                <a:solidFill>
                  <a:srgbClr val="444444"/>
                </a:solidFill>
                <a:effectLst/>
                <a:latin typeface="+mn-lt"/>
              </a:rPr>
              <a:t>Scroll down to the Response section</a:t>
            </a:r>
            <a:endParaRPr lang="en-US" sz="1600">
              <a:latin typeface="+mn-lt"/>
              <a:cs typeface="Arial"/>
            </a:endParaRPr>
          </a:p>
          <a:p>
            <a:r>
              <a:rPr lang="en-US" sz="1600">
                <a:latin typeface="Arial"/>
                <a:cs typeface="Arial"/>
              </a:rPr>
              <a:t>Add any Response Parameters by clicking Add</a:t>
            </a:r>
          </a:p>
          <a:p>
            <a:r>
              <a:rPr lang="en-US" sz="1600">
                <a:latin typeface="Arial"/>
                <a:cs typeface="Arial"/>
              </a:rPr>
              <a:t>Enter parameter information</a:t>
            </a:r>
          </a:p>
          <a:p>
            <a:r>
              <a:rPr lang="en-US" sz="1600">
                <a:latin typeface="Arial"/>
                <a:cs typeface="Arial"/>
              </a:rPr>
              <a:t>Reference the Swagger Design document for valid response codes, uses and descriptions</a:t>
            </a:r>
          </a:p>
          <a:p>
            <a:r>
              <a:rPr lang="en-US" sz="1600">
                <a:latin typeface="Arial"/>
                <a:cs typeface="Arial"/>
              </a:rPr>
              <a:t>When a more complex response is required that is not a Swagger primitive, manually create a definition.  </a:t>
            </a:r>
          </a:p>
          <a:p>
            <a:r>
              <a:rPr lang="en-US" sz="1600">
                <a:latin typeface="Arial"/>
                <a:cs typeface="Arial"/>
              </a:rPr>
              <a:t>See the </a:t>
            </a:r>
            <a:r>
              <a:rPr lang="en-US" sz="1600">
                <a:latin typeface="Arial"/>
                <a:cs typeface="Arial"/>
                <a:hlinkClick r:id="rId2" action="ppaction://hlinksldjump"/>
              </a:rPr>
              <a:t>Create complex definition</a:t>
            </a:r>
            <a:r>
              <a:rPr lang="en-US" sz="1600">
                <a:latin typeface="Arial"/>
                <a:cs typeface="Arial"/>
              </a:rPr>
              <a:t> section</a:t>
            </a:r>
          </a:p>
          <a:p>
            <a:r>
              <a:rPr lang="en-US" sz="1600">
                <a:latin typeface="Arial"/>
                <a:cs typeface="Arial"/>
              </a:rPr>
              <a:t>Click Save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1245C314-69E5-4B6D-B271-5640D253824D}"/>
              </a:ext>
            </a:extLst>
          </p:cNvPr>
          <p:cNvPicPr>
            <a:picLocks noChangeAspect="1"/>
          </p:cNvPicPr>
          <p:nvPr/>
        </p:nvPicPr>
        <p:blipFill>
          <a:blip r:embed="rId3"/>
          <a:stretch>
            <a:fillRect/>
          </a:stretch>
        </p:blipFill>
        <p:spPr>
          <a:xfrm>
            <a:off x="148167" y="1713989"/>
            <a:ext cx="6397012" cy="3327925"/>
          </a:xfrm>
          <a:prstGeom prst="rect">
            <a:avLst/>
          </a:prstGeom>
        </p:spPr>
      </p:pic>
    </p:spTree>
    <p:extLst>
      <p:ext uri="{BB962C8B-B14F-4D97-AF65-F5344CB8AC3E}">
        <p14:creationId xmlns:p14="http://schemas.microsoft.com/office/powerpoint/2010/main" val="41496433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2.0 using APIC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Complete the API by:</a:t>
            </a:r>
          </a:p>
          <a:p>
            <a:r>
              <a:rPr lang="en-US" sz="1600">
                <a:latin typeface="Arial"/>
                <a:cs typeface="Arial"/>
              </a:rPr>
              <a:t>Creating any definitions as needed (</a:t>
            </a:r>
            <a:r>
              <a:rPr lang="en-US" sz="1600">
                <a:latin typeface="Arial"/>
                <a:cs typeface="Arial"/>
                <a:hlinkClick r:id="rId2" action="ppaction://hlinksldjump"/>
              </a:rPr>
              <a:t>link</a:t>
            </a:r>
            <a:r>
              <a:rPr lang="en-US" sz="1600">
                <a:latin typeface="Arial"/>
                <a:cs typeface="Arial"/>
              </a:rPr>
              <a:t>)</a:t>
            </a:r>
          </a:p>
          <a:p>
            <a:r>
              <a:rPr lang="en-US" sz="1600">
                <a:latin typeface="Arial"/>
                <a:cs typeface="Arial"/>
              </a:rPr>
              <a:t>Importing any target services and map for XML based services as needed (</a:t>
            </a:r>
            <a:r>
              <a:rPr lang="en-US" sz="1600">
                <a:latin typeface="Arial"/>
                <a:cs typeface="Arial"/>
                <a:hlinkClick r:id="rId3" action="ppaction://hlinksldjump"/>
              </a:rPr>
              <a:t>link</a:t>
            </a:r>
            <a:r>
              <a:rPr lang="en-US" sz="1600">
                <a:latin typeface="Arial"/>
                <a:cs typeface="Arial"/>
              </a:rPr>
              <a:t>)</a:t>
            </a:r>
          </a:p>
          <a:p>
            <a:r>
              <a:rPr lang="en-US" sz="1600">
                <a:latin typeface="Arial"/>
                <a:cs typeface="Arial"/>
              </a:rPr>
              <a:t>Importing any target services and map for Swagger based services as needed (</a:t>
            </a:r>
            <a:r>
              <a:rPr lang="en-US" sz="1600">
                <a:latin typeface="Arial"/>
                <a:cs typeface="Arial"/>
                <a:hlinkClick r:id="rId4" action="ppaction://hlinksldjump"/>
              </a:rPr>
              <a:t>link</a:t>
            </a:r>
            <a:r>
              <a:rPr lang="en-US" sz="1600">
                <a:latin typeface="Arial"/>
                <a:cs typeface="Arial"/>
              </a:rPr>
              <a:t>)</a:t>
            </a:r>
          </a:p>
          <a:p>
            <a:r>
              <a:rPr lang="en-US" sz="1600">
                <a:latin typeface="Arial"/>
                <a:cs typeface="Arial"/>
              </a:rPr>
              <a:t>Completing a Proxy as needed (</a:t>
            </a:r>
            <a:r>
              <a:rPr lang="en-US" sz="1600">
                <a:latin typeface="Arial"/>
                <a:cs typeface="Arial"/>
                <a:hlinkClick r:id="rId5" action="ppaction://hlinksldjump"/>
              </a:rPr>
              <a:t>link</a:t>
            </a:r>
            <a:r>
              <a:rPr lang="en-US" sz="1600">
                <a:latin typeface="Arial"/>
                <a:cs typeface="Arial"/>
              </a:rPr>
              <a: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9" name="Picture 8">
            <a:extLst>
              <a:ext uri="{FF2B5EF4-FFF2-40B4-BE49-F238E27FC236}">
                <a16:creationId xmlns:a16="http://schemas.microsoft.com/office/drawing/2014/main" id="{FF3623FB-7B4D-4BCA-B14D-90D4B62714FE}"/>
              </a:ext>
            </a:extLst>
          </p:cNvPr>
          <p:cNvPicPr>
            <a:picLocks noChangeAspect="1"/>
          </p:cNvPicPr>
          <p:nvPr/>
        </p:nvPicPr>
        <p:blipFill>
          <a:blip r:embed="rId6"/>
          <a:stretch>
            <a:fillRect/>
          </a:stretch>
        </p:blipFill>
        <p:spPr>
          <a:xfrm>
            <a:off x="274220" y="1713989"/>
            <a:ext cx="6229459" cy="2172211"/>
          </a:xfrm>
          <a:prstGeom prst="rect">
            <a:avLst/>
          </a:prstGeom>
        </p:spPr>
      </p:pic>
    </p:spTree>
    <p:extLst>
      <p:ext uri="{BB962C8B-B14F-4D97-AF65-F5344CB8AC3E}">
        <p14:creationId xmlns:p14="http://schemas.microsoft.com/office/powerpoint/2010/main" val="40958950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p:txBody>
          <a:bodyPr/>
          <a:lstStyle/>
          <a:p>
            <a:r>
              <a:rPr lang="en-US" sz="2800">
                <a:latin typeface="Arial"/>
                <a:cs typeface="Arial"/>
              </a:rPr>
              <a:t>Create a complex definition using API Connect V10</a:t>
            </a:r>
            <a:endParaRPr lang="en-US"/>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Introduction</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6902824" cy="4174867"/>
          </a:xfrm>
        </p:spPr>
        <p:txBody>
          <a:bodyPr lIns="91440" tIns="45720" rIns="91440" bIns="45720" anchor="t"/>
          <a:lstStyle/>
          <a:p>
            <a:r>
              <a:rPr lang="en-US" sz="1600">
                <a:latin typeface="Arial"/>
                <a:cs typeface="Arial"/>
              </a:rPr>
              <a:t>This section describes how to define a JSON object with multiple properties and hierarchical structure using the API Connect V10 User Interface for Swagger 2.0.</a:t>
            </a:r>
          </a:p>
          <a:p>
            <a:r>
              <a:rPr lang="en-US" sz="1600">
                <a:latin typeface="Arial"/>
                <a:cs typeface="Arial"/>
              </a:rPr>
              <a:t>When dealing with nested structures it’s best to start from the inner most “bottom” structure and build up to the final schema.</a:t>
            </a:r>
          </a:p>
          <a:p>
            <a:r>
              <a:rPr lang="en-US" sz="1600">
                <a:latin typeface="Arial"/>
                <a:cs typeface="Arial"/>
              </a:rPr>
              <a:t>This example will show a contact object creation:</a:t>
            </a:r>
          </a:p>
          <a:p>
            <a:r>
              <a:rPr lang="en-US" sz="1600">
                <a:latin typeface="Arial"/>
                <a:cs typeface="Arial"/>
              </a:rPr>
              <a:t>Start by building the name and address schemas then create a reference to each from the Contact schema</a:t>
            </a:r>
          </a:p>
          <a:p>
            <a:endParaRPr lang="en-US" sz="1600">
              <a:highlight>
                <a:srgbClr val="FFFF00"/>
              </a:highlight>
              <a:latin typeface="Arial"/>
              <a:cs typeface="Arial"/>
            </a:endParaRPr>
          </a:p>
          <a:p>
            <a:endParaRPr lang="en-US" sz="1600"/>
          </a:p>
          <a:p>
            <a:endParaRPr lang="en-US" sz="1600"/>
          </a:p>
          <a:p>
            <a:endParaRPr lang="en-US" sz="1600"/>
          </a:p>
        </p:txBody>
      </p:sp>
      <p:pic>
        <p:nvPicPr>
          <p:cNvPr id="2" name="Picture 1">
            <a:extLst>
              <a:ext uri="{FF2B5EF4-FFF2-40B4-BE49-F238E27FC236}">
                <a16:creationId xmlns:a16="http://schemas.microsoft.com/office/drawing/2014/main" id="{A3EFF73F-EF73-4B66-81BC-D4766FB232FD}"/>
              </a:ext>
            </a:extLst>
          </p:cNvPr>
          <p:cNvPicPr>
            <a:picLocks noChangeAspect="1"/>
          </p:cNvPicPr>
          <p:nvPr/>
        </p:nvPicPr>
        <p:blipFill>
          <a:blip r:embed="rId2"/>
          <a:stretch>
            <a:fillRect/>
          </a:stretch>
        </p:blipFill>
        <p:spPr>
          <a:xfrm>
            <a:off x="7494494" y="1822982"/>
            <a:ext cx="3365284" cy="4090771"/>
          </a:xfrm>
          <a:prstGeom prst="rect">
            <a:avLst/>
          </a:prstGeom>
        </p:spPr>
      </p:pic>
    </p:spTree>
    <p:extLst>
      <p:ext uri="{BB962C8B-B14F-4D97-AF65-F5344CB8AC3E}">
        <p14:creationId xmlns:p14="http://schemas.microsoft.com/office/powerpoint/2010/main" val="41952759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 complex definition using API Connect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Building complex definitions will be simplified if a bottom-up approach is taken</a:t>
            </a:r>
          </a:p>
          <a:p>
            <a:r>
              <a:rPr lang="en-US" sz="1600">
                <a:latin typeface="Arial"/>
                <a:cs typeface="Arial"/>
              </a:rPr>
              <a:t>Click on Definitions </a:t>
            </a:r>
            <a:r>
              <a:rPr lang="en-US" sz="1600">
                <a:latin typeface="Symbol" panose="05050102010706020507" pitchFamily="18" charset="2"/>
              </a:rPr>
              <a:t>Å</a:t>
            </a:r>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97FF86C7-EB7C-40E7-BB87-5998B5F52B2D}"/>
              </a:ext>
            </a:extLst>
          </p:cNvPr>
          <p:cNvPicPr>
            <a:picLocks noChangeAspect="1"/>
          </p:cNvPicPr>
          <p:nvPr/>
        </p:nvPicPr>
        <p:blipFill>
          <a:blip r:embed="rId2"/>
          <a:stretch>
            <a:fillRect/>
          </a:stretch>
        </p:blipFill>
        <p:spPr>
          <a:xfrm>
            <a:off x="184056" y="1713989"/>
            <a:ext cx="3038475" cy="1143000"/>
          </a:xfrm>
          <a:prstGeom prst="rect">
            <a:avLst/>
          </a:prstGeom>
        </p:spPr>
      </p:pic>
    </p:spTree>
    <p:extLst>
      <p:ext uri="{BB962C8B-B14F-4D97-AF65-F5344CB8AC3E}">
        <p14:creationId xmlns:p14="http://schemas.microsoft.com/office/powerpoint/2010/main" val="28634845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 complex definition using API Connect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Enter a Definition Name</a:t>
            </a:r>
          </a:p>
          <a:p>
            <a:r>
              <a:rPr lang="en-US" sz="1600">
                <a:latin typeface="Arial"/>
                <a:cs typeface="Arial"/>
              </a:rPr>
              <a:t>Enter a Description</a:t>
            </a:r>
          </a:p>
          <a:p>
            <a:r>
              <a:rPr lang="en-US" sz="1600">
                <a:latin typeface="Arial"/>
                <a:cs typeface="Arial"/>
              </a:rPr>
              <a:t>Click Create</a:t>
            </a:r>
          </a:p>
          <a:p>
            <a:r>
              <a:rPr lang="en-US" sz="1600">
                <a:latin typeface="Arial"/>
                <a:cs typeface="Arial"/>
              </a:rPr>
              <a:t>Open the Schema to add Properties</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7224DAA1-2C3D-425E-8FCF-8A39DC2A7F51}"/>
              </a:ext>
            </a:extLst>
          </p:cNvPr>
          <p:cNvPicPr>
            <a:picLocks noChangeAspect="1"/>
          </p:cNvPicPr>
          <p:nvPr/>
        </p:nvPicPr>
        <p:blipFill>
          <a:blip r:embed="rId2"/>
          <a:stretch>
            <a:fillRect/>
          </a:stretch>
        </p:blipFill>
        <p:spPr>
          <a:xfrm>
            <a:off x="163017" y="1713989"/>
            <a:ext cx="3352152" cy="3924811"/>
          </a:xfrm>
          <a:prstGeom prst="rect">
            <a:avLst/>
          </a:prstGeom>
        </p:spPr>
      </p:pic>
      <p:pic>
        <p:nvPicPr>
          <p:cNvPr id="9" name="Picture 8">
            <a:extLst>
              <a:ext uri="{FF2B5EF4-FFF2-40B4-BE49-F238E27FC236}">
                <a16:creationId xmlns:a16="http://schemas.microsoft.com/office/drawing/2014/main" id="{289ED658-781F-4550-819B-6ED836916DBB}"/>
              </a:ext>
            </a:extLst>
          </p:cNvPr>
          <p:cNvPicPr>
            <a:picLocks noChangeAspect="1"/>
          </p:cNvPicPr>
          <p:nvPr/>
        </p:nvPicPr>
        <p:blipFill>
          <a:blip r:embed="rId3"/>
          <a:stretch>
            <a:fillRect/>
          </a:stretch>
        </p:blipFill>
        <p:spPr>
          <a:xfrm>
            <a:off x="3575729" y="2612674"/>
            <a:ext cx="3103178" cy="3695189"/>
          </a:xfrm>
          <a:prstGeom prst="rect">
            <a:avLst/>
          </a:prstGeom>
        </p:spPr>
      </p:pic>
    </p:spTree>
    <p:extLst>
      <p:ext uri="{BB962C8B-B14F-4D97-AF65-F5344CB8AC3E}">
        <p14:creationId xmlns:p14="http://schemas.microsoft.com/office/powerpoint/2010/main" val="14687279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 complex definition using API Connect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In the Properties</a:t>
            </a:r>
          </a:p>
          <a:p>
            <a:r>
              <a:rPr lang="en-US" sz="1600">
                <a:latin typeface="Arial"/>
                <a:cs typeface="Arial"/>
              </a:rPr>
              <a:t>Click Add for each property (Definition or Reference) to add</a:t>
            </a:r>
          </a:p>
          <a:p>
            <a:r>
              <a:rPr lang="en-US" sz="1600">
                <a:latin typeface="Arial"/>
                <a:cs typeface="Arial"/>
              </a:rPr>
              <a:t>Enter property information, if complex structure reference the desired schema</a:t>
            </a:r>
          </a:p>
          <a:p>
            <a:r>
              <a:rPr lang="en-US" sz="1600">
                <a:latin typeface="Arial"/>
                <a:cs typeface="Arial"/>
              </a:rPr>
              <a:t>Click Save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9" name="Picture 8">
            <a:extLst>
              <a:ext uri="{FF2B5EF4-FFF2-40B4-BE49-F238E27FC236}">
                <a16:creationId xmlns:a16="http://schemas.microsoft.com/office/drawing/2014/main" id="{4DB1821F-A72D-45F5-A2C0-EF94B973C87F}"/>
              </a:ext>
            </a:extLst>
          </p:cNvPr>
          <p:cNvPicPr>
            <a:picLocks noChangeAspect="1"/>
          </p:cNvPicPr>
          <p:nvPr/>
        </p:nvPicPr>
        <p:blipFill>
          <a:blip r:embed="rId2"/>
          <a:stretch>
            <a:fillRect/>
          </a:stretch>
        </p:blipFill>
        <p:spPr>
          <a:xfrm>
            <a:off x="890059" y="2301188"/>
            <a:ext cx="4562475" cy="3419475"/>
          </a:xfrm>
          <a:prstGeom prst="rect">
            <a:avLst/>
          </a:prstGeom>
        </p:spPr>
      </p:pic>
    </p:spTree>
    <p:extLst>
      <p:ext uri="{BB962C8B-B14F-4D97-AF65-F5344CB8AC3E}">
        <p14:creationId xmlns:p14="http://schemas.microsoft.com/office/powerpoint/2010/main" val="31164498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 complex definition using API Connect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r>
              <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rPr>
              <a:t>The final result is a Contact Schema with References to Name schema and Address schema and a phone property.</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092297E3-8AA8-41D2-B668-63E89534D072}"/>
              </a:ext>
            </a:extLst>
          </p:cNvPr>
          <p:cNvPicPr>
            <a:picLocks noChangeAspect="1"/>
          </p:cNvPicPr>
          <p:nvPr/>
        </p:nvPicPr>
        <p:blipFill>
          <a:blip r:embed="rId2"/>
          <a:stretch>
            <a:fillRect/>
          </a:stretch>
        </p:blipFill>
        <p:spPr>
          <a:xfrm>
            <a:off x="252663" y="1713989"/>
            <a:ext cx="4562475" cy="4248150"/>
          </a:xfrm>
          <a:prstGeom prst="rect">
            <a:avLst/>
          </a:prstGeom>
        </p:spPr>
      </p:pic>
    </p:spTree>
    <p:extLst>
      <p:ext uri="{BB962C8B-B14F-4D97-AF65-F5344CB8AC3E}">
        <p14:creationId xmlns:p14="http://schemas.microsoft.com/office/powerpoint/2010/main" val="22483229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a:xfrm>
            <a:off x="457200" y="246952"/>
            <a:ext cx="9688623" cy="476805"/>
          </a:xfrm>
        </p:spPr>
        <p:txBody>
          <a:bodyPr/>
          <a:lstStyle/>
          <a:p>
            <a:r>
              <a:rPr lang="en-US" sz="2800">
                <a:latin typeface="Arial"/>
                <a:cs typeface="Arial"/>
              </a:rPr>
              <a:t>Create a new </a:t>
            </a:r>
            <a:r>
              <a:rPr lang="en-US" sz="2800" err="1">
                <a:latin typeface="Arial"/>
                <a:cs typeface="Arial"/>
              </a:rPr>
              <a:t>OpenAPI</a:t>
            </a:r>
            <a:r>
              <a:rPr lang="en-US" sz="2800">
                <a:latin typeface="Arial"/>
                <a:cs typeface="Arial"/>
              </a:rPr>
              <a:t> 3.0 using APIC V10</a:t>
            </a:r>
            <a:endParaRPr lang="en-US"/>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Introduction</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11272838" cy="4174867"/>
          </a:xfrm>
        </p:spPr>
        <p:txBody>
          <a:bodyPr lIns="91440" tIns="45720" rIns="91440" bIns="45720" anchor="t"/>
          <a:lstStyle/>
          <a:p>
            <a:r>
              <a:rPr lang="en-US" sz="1600">
                <a:latin typeface="Arial"/>
                <a:cs typeface="Arial"/>
              </a:rPr>
              <a:t>This section describes how to create an API that exposes a Swagger (</a:t>
            </a:r>
            <a:r>
              <a:rPr lang="en-US" sz="1600" err="1">
                <a:latin typeface="Arial"/>
                <a:cs typeface="Arial"/>
              </a:rPr>
              <a:t>OpenAPI</a:t>
            </a:r>
            <a:r>
              <a:rPr lang="en-US" sz="1600">
                <a:latin typeface="Arial"/>
                <a:cs typeface="Arial"/>
              </a:rPr>
              <a:t> 3.0) using the API Connect V10 user interface.</a:t>
            </a:r>
          </a:p>
        </p:txBody>
      </p:sp>
    </p:spTree>
    <p:extLst>
      <p:ext uri="{BB962C8B-B14F-4D97-AF65-F5344CB8AC3E}">
        <p14:creationId xmlns:p14="http://schemas.microsoft.com/office/powerpoint/2010/main" val="30684882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Create a new </a:t>
            </a:r>
            <a:r>
              <a:rPr lang="en-US" err="1"/>
              <a:t>OpenAPI</a:t>
            </a:r>
            <a:r>
              <a:rPr lang="en-US"/>
              <a:t> 3.0</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From Develop</a:t>
            </a:r>
          </a:p>
          <a:p>
            <a:r>
              <a:rPr lang="en-US" sz="1600">
                <a:latin typeface="Arial"/>
                <a:cs typeface="Arial"/>
              </a:rPr>
              <a:t>Click Add</a:t>
            </a:r>
          </a:p>
          <a:p>
            <a:r>
              <a:rPr lang="en-US" sz="1600">
                <a:latin typeface="Arial"/>
                <a:cs typeface="Arial"/>
              </a:rPr>
              <a:t>Select API (from REST, </a:t>
            </a:r>
            <a:r>
              <a:rPr lang="en-US" sz="1600" err="1">
                <a:latin typeface="Arial"/>
                <a:cs typeface="Arial"/>
              </a:rPr>
              <a:t>GraphQL</a:t>
            </a:r>
            <a:r>
              <a:rPr lang="en-US" sz="1600">
                <a:latin typeface="Arial"/>
                <a:cs typeface="Arial"/>
              </a:rPr>
              <a:t> or SOAP)</a:t>
            </a:r>
          </a:p>
          <a:p>
            <a:r>
              <a:rPr lang="en-US" sz="1600">
                <a:latin typeface="Arial"/>
                <a:cs typeface="Arial"/>
              </a:rPr>
              <a:t>Select </a:t>
            </a:r>
            <a:r>
              <a:rPr lang="en-US" sz="1600" err="1">
                <a:latin typeface="Arial"/>
                <a:cs typeface="Arial"/>
              </a:rPr>
              <a:t>OpenAPI</a:t>
            </a:r>
            <a:r>
              <a:rPr lang="en-US" sz="1600">
                <a:latin typeface="Arial"/>
                <a:cs typeface="Arial"/>
              </a:rPr>
              <a:t> 3.0</a:t>
            </a:r>
          </a:p>
          <a:p>
            <a:r>
              <a:rPr lang="en-US" sz="1600">
                <a:latin typeface="Arial"/>
                <a:cs typeface="Arial"/>
              </a:rPr>
              <a:t>Select New </a:t>
            </a:r>
            <a:r>
              <a:rPr lang="en-US" sz="1600" err="1">
                <a:latin typeface="Arial"/>
                <a:cs typeface="Arial"/>
              </a:rPr>
              <a:t>OpenAPI</a:t>
            </a:r>
            <a:r>
              <a:rPr lang="en-US" sz="1600">
                <a:latin typeface="Arial"/>
                <a:cs typeface="Arial"/>
              </a:rPr>
              <a:t> from the options</a:t>
            </a:r>
          </a:p>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5" name="Picture 14">
            <a:extLst>
              <a:ext uri="{FF2B5EF4-FFF2-40B4-BE49-F238E27FC236}">
                <a16:creationId xmlns:a16="http://schemas.microsoft.com/office/drawing/2014/main" id="{4497A64D-EB81-4349-B677-748EC6C34B9B}"/>
              </a:ext>
            </a:extLst>
          </p:cNvPr>
          <p:cNvPicPr>
            <a:picLocks noChangeAspect="1"/>
          </p:cNvPicPr>
          <p:nvPr/>
        </p:nvPicPr>
        <p:blipFill>
          <a:blip r:embed="rId2"/>
          <a:stretch>
            <a:fillRect/>
          </a:stretch>
        </p:blipFill>
        <p:spPr>
          <a:xfrm>
            <a:off x="155408" y="3977030"/>
            <a:ext cx="3990975" cy="2442819"/>
          </a:xfrm>
          <a:prstGeom prst="rect">
            <a:avLst/>
          </a:prstGeom>
        </p:spPr>
      </p:pic>
      <p:pic>
        <p:nvPicPr>
          <p:cNvPr id="6" name="Picture 5">
            <a:extLst>
              <a:ext uri="{FF2B5EF4-FFF2-40B4-BE49-F238E27FC236}">
                <a16:creationId xmlns:a16="http://schemas.microsoft.com/office/drawing/2014/main" id="{32DDC652-EE8F-4057-BAC7-D83153FAB256}"/>
              </a:ext>
            </a:extLst>
          </p:cNvPr>
          <p:cNvPicPr>
            <a:picLocks noChangeAspect="1"/>
          </p:cNvPicPr>
          <p:nvPr/>
        </p:nvPicPr>
        <p:blipFill>
          <a:blip r:embed="rId3"/>
          <a:stretch>
            <a:fillRect/>
          </a:stretch>
        </p:blipFill>
        <p:spPr>
          <a:xfrm>
            <a:off x="155408" y="1665370"/>
            <a:ext cx="6436778" cy="1046130"/>
          </a:xfrm>
          <a:prstGeom prst="rect">
            <a:avLst/>
          </a:prstGeom>
        </p:spPr>
      </p:pic>
      <p:pic>
        <p:nvPicPr>
          <p:cNvPr id="9" name="Picture 8">
            <a:extLst>
              <a:ext uri="{FF2B5EF4-FFF2-40B4-BE49-F238E27FC236}">
                <a16:creationId xmlns:a16="http://schemas.microsoft.com/office/drawing/2014/main" id="{5A09FEC7-5D2E-40D1-9D3B-2C5E2F6BD6D1}"/>
              </a:ext>
            </a:extLst>
          </p:cNvPr>
          <p:cNvPicPr>
            <a:picLocks noChangeAspect="1"/>
          </p:cNvPicPr>
          <p:nvPr/>
        </p:nvPicPr>
        <p:blipFill>
          <a:blip r:embed="rId4"/>
          <a:stretch>
            <a:fillRect/>
          </a:stretch>
        </p:blipFill>
        <p:spPr>
          <a:xfrm>
            <a:off x="155408" y="2880970"/>
            <a:ext cx="3743325" cy="904875"/>
          </a:xfrm>
          <a:prstGeom prst="rect">
            <a:avLst/>
          </a:prstGeom>
        </p:spPr>
      </p:pic>
    </p:spTree>
    <p:extLst>
      <p:ext uri="{BB962C8B-B14F-4D97-AF65-F5344CB8AC3E}">
        <p14:creationId xmlns:p14="http://schemas.microsoft.com/office/powerpoint/2010/main" val="49313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Enter Title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Enter information pertaining to the API</a:t>
            </a:r>
          </a:p>
          <a:p>
            <a:r>
              <a:rPr lang="en-US" sz="1600">
                <a:latin typeface="Arial"/>
                <a:cs typeface="Arial"/>
              </a:rPr>
              <a:t>Enter a Title based on the submitted and approved  Naming Request from SharePoint</a:t>
            </a:r>
          </a:p>
          <a:p>
            <a:r>
              <a:rPr lang="en-US" sz="1600">
                <a:latin typeface="Arial"/>
                <a:cs typeface="Arial"/>
              </a:rPr>
              <a:t>Make sure to include /IA at the beginning of the name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8" name="Picture 7">
            <a:extLst>
              <a:ext uri="{FF2B5EF4-FFF2-40B4-BE49-F238E27FC236}">
                <a16:creationId xmlns:a16="http://schemas.microsoft.com/office/drawing/2014/main" id="{60A27DF8-EE5F-4CD9-980B-3E146C8FF1F4}"/>
              </a:ext>
            </a:extLst>
          </p:cNvPr>
          <p:cNvPicPr>
            <a:picLocks noChangeAspect="1"/>
          </p:cNvPicPr>
          <p:nvPr/>
        </p:nvPicPr>
        <p:blipFill>
          <a:blip r:embed="rId2"/>
          <a:stretch>
            <a:fillRect/>
          </a:stretch>
        </p:blipFill>
        <p:spPr>
          <a:xfrm>
            <a:off x="194819" y="1713989"/>
            <a:ext cx="4295775" cy="4143375"/>
          </a:xfrm>
          <a:prstGeom prst="rect">
            <a:avLst/>
          </a:prstGeom>
        </p:spPr>
      </p:pic>
    </p:spTree>
    <p:extLst>
      <p:ext uri="{BB962C8B-B14F-4D97-AF65-F5344CB8AC3E}">
        <p14:creationId xmlns:p14="http://schemas.microsoft.com/office/powerpoint/2010/main" val="20654337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API </a:t>
            </a:r>
            <a:r>
              <a:rPr lang="en-US" err="1"/>
              <a:t>Major.Minor.Patch</a:t>
            </a:r>
            <a:r>
              <a:rPr lang="en-US"/>
              <a:t> Version and Description</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Enter the Version</a:t>
            </a:r>
          </a:p>
          <a:p>
            <a:r>
              <a:rPr lang="en-US" sz="1600">
                <a:latin typeface="Arial"/>
                <a:cs typeface="Arial"/>
              </a:rPr>
              <a:t>Enter a Description</a:t>
            </a:r>
          </a:p>
          <a:p>
            <a:r>
              <a:rPr lang="en-US" sz="1600">
                <a:latin typeface="Arial"/>
                <a:cs typeface="Arial"/>
              </a:rPr>
              <a:t>The Base Path will default depending on the Title</a:t>
            </a:r>
          </a:p>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2E116E9C-E52E-4546-B394-642C8677DE3E}"/>
              </a:ext>
            </a:extLst>
          </p:cNvPr>
          <p:cNvPicPr>
            <a:picLocks noChangeAspect="1"/>
          </p:cNvPicPr>
          <p:nvPr/>
        </p:nvPicPr>
        <p:blipFill>
          <a:blip r:embed="rId2"/>
          <a:stretch>
            <a:fillRect/>
          </a:stretch>
        </p:blipFill>
        <p:spPr>
          <a:xfrm>
            <a:off x="139867" y="1713989"/>
            <a:ext cx="6477501" cy="2914021"/>
          </a:xfrm>
          <a:prstGeom prst="rect">
            <a:avLst/>
          </a:prstGeom>
        </p:spPr>
      </p:pic>
    </p:spTree>
    <p:extLst>
      <p:ext uri="{BB962C8B-B14F-4D97-AF65-F5344CB8AC3E}">
        <p14:creationId xmlns:p14="http://schemas.microsoft.com/office/powerpoint/2010/main" val="35982207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Continue with API design</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Unless there are specific instructions to unselect these, leave them selected</a:t>
            </a:r>
          </a:p>
          <a:p>
            <a:r>
              <a:rPr lang="en-US" sz="1600">
                <a:latin typeface="Arial"/>
                <a:cs typeface="Arial"/>
              </a:rPr>
              <a:t>Click Next</a:t>
            </a:r>
          </a:p>
          <a:p>
            <a:r>
              <a:rPr lang="en-US" sz="1600">
                <a:latin typeface="Arial"/>
                <a:cs typeface="Arial"/>
              </a:rPr>
              <a:t>If there are no errors</a:t>
            </a:r>
          </a:p>
          <a:p>
            <a:r>
              <a:rPr lang="en-US" sz="1600">
                <a:latin typeface="Arial"/>
                <a:cs typeface="Arial"/>
              </a:rPr>
              <a:t>Click Edit API</a:t>
            </a:r>
          </a:p>
          <a:p>
            <a:r>
              <a:rPr lang="en-US" sz="1600">
                <a:latin typeface="Arial"/>
                <a:cs typeface="Arial"/>
              </a:rPr>
              <a:t>Otherwise correct any errors to continue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C22340E7-ED4A-4030-92C9-99155A95CC7C}"/>
              </a:ext>
            </a:extLst>
          </p:cNvPr>
          <p:cNvPicPr>
            <a:picLocks noChangeAspect="1"/>
          </p:cNvPicPr>
          <p:nvPr/>
        </p:nvPicPr>
        <p:blipFill>
          <a:blip r:embed="rId2"/>
          <a:stretch>
            <a:fillRect/>
          </a:stretch>
        </p:blipFill>
        <p:spPr>
          <a:xfrm>
            <a:off x="150896" y="1713989"/>
            <a:ext cx="5534492" cy="2534882"/>
          </a:xfrm>
          <a:prstGeom prst="rect">
            <a:avLst/>
          </a:prstGeom>
        </p:spPr>
      </p:pic>
      <p:pic>
        <p:nvPicPr>
          <p:cNvPr id="5" name="Picture 4">
            <a:extLst>
              <a:ext uri="{FF2B5EF4-FFF2-40B4-BE49-F238E27FC236}">
                <a16:creationId xmlns:a16="http://schemas.microsoft.com/office/drawing/2014/main" id="{BA45F87F-F3A0-4786-A886-3CD7D8C24F9A}"/>
              </a:ext>
            </a:extLst>
          </p:cNvPr>
          <p:cNvPicPr>
            <a:picLocks noChangeAspect="1"/>
          </p:cNvPicPr>
          <p:nvPr/>
        </p:nvPicPr>
        <p:blipFill>
          <a:blip r:embed="rId3"/>
          <a:stretch>
            <a:fillRect/>
          </a:stretch>
        </p:blipFill>
        <p:spPr>
          <a:xfrm>
            <a:off x="205038" y="4304508"/>
            <a:ext cx="5247496" cy="2025110"/>
          </a:xfrm>
          <a:prstGeom prst="rect">
            <a:avLst/>
          </a:prstGeom>
        </p:spPr>
      </p:pic>
    </p:spTree>
    <p:extLst>
      <p:ext uri="{BB962C8B-B14F-4D97-AF65-F5344CB8AC3E}">
        <p14:creationId xmlns:p14="http://schemas.microsoft.com/office/powerpoint/2010/main" val="2519831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Contact Information</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When the API opens</a:t>
            </a:r>
          </a:p>
          <a:p>
            <a:r>
              <a:rPr lang="en-US" sz="1600">
                <a:latin typeface="Arial"/>
                <a:cs typeface="Arial"/>
              </a:rPr>
              <a:t>Look at the “Name” field on the Info tab</a:t>
            </a:r>
          </a:p>
          <a:p>
            <a:pPr marL="198438" lvl="2" indent="0">
              <a:buNone/>
            </a:pPr>
            <a:r>
              <a:rPr lang="en-US" sz="1600">
                <a:latin typeface="Arial"/>
                <a:cs typeface="Arial"/>
              </a:rPr>
              <a:t>If there are any “_” (underscore) characters in the name field replace them with “-” (dash)</a:t>
            </a:r>
          </a:p>
          <a:p>
            <a:endParaRPr lang="en-US" sz="1600">
              <a:latin typeface="Arial"/>
              <a:cs typeface="Arial"/>
            </a:endParaRPr>
          </a:p>
          <a:p>
            <a:r>
              <a:rPr lang="en-US" sz="1600">
                <a:latin typeface="Arial"/>
                <a:cs typeface="Arial"/>
              </a:rPr>
              <a:t>Scroll down and enter the following information</a:t>
            </a:r>
          </a:p>
          <a:p>
            <a:r>
              <a:rPr lang="en-US" sz="1600">
                <a:latin typeface="Arial"/>
                <a:cs typeface="Arial"/>
              </a:rPr>
              <a:t>Enter Contact Name and Contact Email</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662B46A0-F7F7-441F-AE2F-6BDA63D51BFB}"/>
              </a:ext>
            </a:extLst>
          </p:cNvPr>
          <p:cNvPicPr>
            <a:picLocks noChangeAspect="1"/>
          </p:cNvPicPr>
          <p:nvPr/>
        </p:nvPicPr>
        <p:blipFill>
          <a:blip r:embed="rId2"/>
          <a:stretch>
            <a:fillRect/>
          </a:stretch>
        </p:blipFill>
        <p:spPr>
          <a:xfrm>
            <a:off x="120832" y="3726532"/>
            <a:ext cx="3332488" cy="2978354"/>
          </a:xfrm>
          <a:prstGeom prst="rect">
            <a:avLst/>
          </a:prstGeom>
        </p:spPr>
      </p:pic>
      <p:pic>
        <p:nvPicPr>
          <p:cNvPr id="6" name="Picture 5">
            <a:extLst>
              <a:ext uri="{FF2B5EF4-FFF2-40B4-BE49-F238E27FC236}">
                <a16:creationId xmlns:a16="http://schemas.microsoft.com/office/drawing/2014/main" id="{2619AEDC-04EE-A6C4-7EB1-742F985609B0}"/>
              </a:ext>
            </a:extLst>
          </p:cNvPr>
          <p:cNvPicPr>
            <a:picLocks noChangeAspect="1"/>
          </p:cNvPicPr>
          <p:nvPr/>
        </p:nvPicPr>
        <p:blipFill>
          <a:blip r:embed="rId3"/>
          <a:stretch>
            <a:fillRect/>
          </a:stretch>
        </p:blipFill>
        <p:spPr>
          <a:xfrm>
            <a:off x="120831" y="1703179"/>
            <a:ext cx="5890864" cy="1873100"/>
          </a:xfrm>
          <a:prstGeom prst="rect">
            <a:avLst/>
          </a:prstGeom>
        </p:spPr>
      </p:pic>
    </p:spTree>
    <p:extLst>
      <p:ext uri="{BB962C8B-B14F-4D97-AF65-F5344CB8AC3E}">
        <p14:creationId xmlns:p14="http://schemas.microsoft.com/office/powerpoint/2010/main" val="27733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Server URL</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a:highlight>
                <a:srgbClr val="FFFF00"/>
              </a:highlight>
              <a:latin typeface="Arial"/>
              <a:cs typeface="Arial"/>
            </a:endParaRPr>
          </a:p>
          <a:p>
            <a:r>
              <a:rPr lang="en-US" sz="1600">
                <a:latin typeface="Arial"/>
                <a:cs typeface="Arial"/>
              </a:rPr>
              <a:t>Click on Servers</a:t>
            </a:r>
          </a:p>
          <a:p>
            <a:r>
              <a:rPr lang="en-US" sz="1600">
                <a:latin typeface="Arial"/>
                <a:cs typeface="Arial"/>
              </a:rPr>
              <a:t>Enter the Server URL (This is the combination of the Host name and the Base Path)</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4E622F59-ECAC-45A1-BE72-09095EAFA74D}"/>
              </a:ext>
            </a:extLst>
          </p:cNvPr>
          <p:cNvPicPr>
            <a:picLocks noChangeAspect="1"/>
          </p:cNvPicPr>
          <p:nvPr/>
        </p:nvPicPr>
        <p:blipFill>
          <a:blip r:embed="rId2"/>
          <a:stretch>
            <a:fillRect/>
          </a:stretch>
        </p:blipFill>
        <p:spPr>
          <a:xfrm>
            <a:off x="215160" y="1763025"/>
            <a:ext cx="6071339" cy="2683213"/>
          </a:xfrm>
          <a:prstGeom prst="rect">
            <a:avLst/>
          </a:prstGeom>
        </p:spPr>
      </p:pic>
    </p:spTree>
    <p:extLst>
      <p:ext uri="{BB962C8B-B14F-4D97-AF65-F5344CB8AC3E}">
        <p14:creationId xmlns:p14="http://schemas.microsoft.com/office/powerpoint/2010/main" val="38049052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External Documentation</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a:highlight>
                <a:srgbClr val="FFFF00"/>
              </a:highlight>
              <a:latin typeface="Arial"/>
              <a:cs typeface="Arial"/>
            </a:endParaRPr>
          </a:p>
          <a:p>
            <a:r>
              <a:rPr lang="en-US" sz="1600">
                <a:latin typeface="Arial"/>
                <a:cs typeface="Arial"/>
              </a:rPr>
              <a:t>Click on External Documentation</a:t>
            </a:r>
          </a:p>
          <a:p>
            <a:r>
              <a:rPr lang="en-US" sz="1600">
                <a:latin typeface="Arial"/>
                <a:cs typeface="Arial"/>
              </a:rPr>
              <a:t>Enter the following</a:t>
            </a:r>
          </a:p>
          <a:p>
            <a:r>
              <a:rPr lang="en-US" sz="1600">
                <a:latin typeface="Arial"/>
                <a:cs typeface="Arial"/>
              </a:rPr>
              <a:t>URL:</a:t>
            </a:r>
          </a:p>
          <a:p>
            <a:r>
              <a:rPr lang="en-US" sz="1600">
                <a:latin typeface="Arial"/>
                <a:cs typeface="Arial"/>
              </a:rPr>
              <a:t>https://eaintegrationgovernance.github.io/APIC-Common-Error-Codes.github.io/</a:t>
            </a:r>
          </a:p>
          <a:p>
            <a:r>
              <a:rPr lang="en-US" sz="1600">
                <a:latin typeface="Arial"/>
                <a:cs typeface="Arial"/>
              </a:rPr>
              <a:t>Description:</a:t>
            </a:r>
          </a:p>
          <a:p>
            <a:r>
              <a:rPr lang="en-US" sz="1600">
                <a:latin typeface="Arial"/>
                <a:cs typeface="Arial"/>
              </a:rPr>
              <a:t>HTTPS Common Error Codes</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41F27FFA-11CD-4830-95E7-341D62A7DA09}"/>
              </a:ext>
            </a:extLst>
          </p:cNvPr>
          <p:cNvPicPr>
            <a:picLocks noChangeAspect="1"/>
          </p:cNvPicPr>
          <p:nvPr/>
        </p:nvPicPr>
        <p:blipFill>
          <a:blip r:embed="rId2"/>
          <a:stretch>
            <a:fillRect/>
          </a:stretch>
        </p:blipFill>
        <p:spPr>
          <a:xfrm>
            <a:off x="169862" y="1713989"/>
            <a:ext cx="6371615" cy="3739668"/>
          </a:xfrm>
          <a:prstGeom prst="rect">
            <a:avLst/>
          </a:prstGeom>
        </p:spPr>
      </p:pic>
    </p:spTree>
    <p:extLst>
      <p:ext uri="{BB962C8B-B14F-4D97-AF65-F5344CB8AC3E}">
        <p14:creationId xmlns:p14="http://schemas.microsoft.com/office/powerpoint/2010/main" val="30442870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Establish Path</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Expand Paths and select the default path “/”</a:t>
            </a:r>
          </a:p>
          <a:p>
            <a:r>
              <a:rPr lang="en-US" sz="1600">
                <a:latin typeface="Arial"/>
                <a:cs typeface="Arial"/>
              </a:rPr>
              <a:t>Click Update</a:t>
            </a:r>
          </a:p>
          <a:p>
            <a:r>
              <a:rPr lang="en-US" sz="1600">
                <a:latin typeface="Arial"/>
                <a:cs typeface="Arial"/>
              </a:rPr>
              <a:t>Enter the Path for the Interface</a:t>
            </a:r>
          </a:p>
          <a:p>
            <a:r>
              <a:rPr lang="en-US" sz="1600">
                <a:latin typeface="Arial"/>
                <a:cs typeface="Arial"/>
              </a:rPr>
              <a:t>Click Save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CA696160-8806-4ACF-8279-D58ED5EA1DC9}"/>
              </a:ext>
            </a:extLst>
          </p:cNvPr>
          <p:cNvPicPr>
            <a:picLocks noChangeAspect="1"/>
          </p:cNvPicPr>
          <p:nvPr/>
        </p:nvPicPr>
        <p:blipFill>
          <a:blip r:embed="rId2"/>
          <a:stretch>
            <a:fillRect/>
          </a:stretch>
        </p:blipFill>
        <p:spPr>
          <a:xfrm>
            <a:off x="109537" y="1713989"/>
            <a:ext cx="2143125" cy="781050"/>
          </a:xfrm>
          <a:prstGeom prst="rect">
            <a:avLst/>
          </a:prstGeom>
        </p:spPr>
      </p:pic>
      <p:pic>
        <p:nvPicPr>
          <p:cNvPr id="13" name="Picture 12">
            <a:extLst>
              <a:ext uri="{FF2B5EF4-FFF2-40B4-BE49-F238E27FC236}">
                <a16:creationId xmlns:a16="http://schemas.microsoft.com/office/drawing/2014/main" id="{9521A744-1910-43F2-81C4-A381C158106A}"/>
              </a:ext>
            </a:extLst>
          </p:cNvPr>
          <p:cNvPicPr>
            <a:picLocks noChangeAspect="1"/>
          </p:cNvPicPr>
          <p:nvPr/>
        </p:nvPicPr>
        <p:blipFill>
          <a:blip r:embed="rId3"/>
          <a:stretch>
            <a:fillRect/>
          </a:stretch>
        </p:blipFill>
        <p:spPr>
          <a:xfrm>
            <a:off x="109537" y="2572261"/>
            <a:ext cx="3971925" cy="2571750"/>
          </a:xfrm>
          <a:prstGeom prst="rect">
            <a:avLst/>
          </a:prstGeom>
        </p:spPr>
      </p:pic>
      <p:pic>
        <p:nvPicPr>
          <p:cNvPr id="15" name="Picture 14">
            <a:extLst>
              <a:ext uri="{FF2B5EF4-FFF2-40B4-BE49-F238E27FC236}">
                <a16:creationId xmlns:a16="http://schemas.microsoft.com/office/drawing/2014/main" id="{52FF767B-34C7-4125-822D-D6E58691487D}"/>
              </a:ext>
            </a:extLst>
          </p:cNvPr>
          <p:cNvPicPr>
            <a:picLocks noChangeAspect="1"/>
          </p:cNvPicPr>
          <p:nvPr/>
        </p:nvPicPr>
        <p:blipFill>
          <a:blip r:embed="rId4"/>
          <a:stretch>
            <a:fillRect/>
          </a:stretch>
        </p:blipFill>
        <p:spPr>
          <a:xfrm>
            <a:off x="109537" y="5269638"/>
            <a:ext cx="3400425" cy="1038225"/>
          </a:xfrm>
          <a:prstGeom prst="rect">
            <a:avLst/>
          </a:prstGeom>
        </p:spPr>
      </p:pic>
    </p:spTree>
    <p:extLst>
      <p:ext uri="{BB962C8B-B14F-4D97-AF65-F5344CB8AC3E}">
        <p14:creationId xmlns:p14="http://schemas.microsoft.com/office/powerpoint/2010/main" val="8252365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07A4AFF-9EAE-4AF4-A8EF-35A204AEA623}"/>
              </a:ext>
            </a:extLst>
          </p:cNvPr>
          <p:cNvPicPr>
            <a:picLocks noChangeAspect="1"/>
          </p:cNvPicPr>
          <p:nvPr/>
        </p:nvPicPr>
        <p:blipFill>
          <a:blip r:embed="rId2"/>
          <a:stretch>
            <a:fillRect/>
          </a:stretch>
        </p:blipFill>
        <p:spPr>
          <a:xfrm>
            <a:off x="206189" y="1640260"/>
            <a:ext cx="4876799" cy="4741332"/>
          </a:xfrm>
          <a:prstGeom prst="rect">
            <a:avLst/>
          </a:prstGeom>
        </p:spPr>
      </p:pic>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Path Input Parameters</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Select the Path to modify</a:t>
            </a:r>
          </a:p>
          <a:p>
            <a:r>
              <a:rPr lang="en-US" sz="1600">
                <a:latin typeface="Arial"/>
                <a:cs typeface="Arial"/>
              </a:rPr>
              <a:t>Add parameters by clicking on the </a:t>
            </a:r>
            <a:r>
              <a:rPr lang="en-US" sz="1800">
                <a:latin typeface="Symbol" panose="05050102010706020507" pitchFamily="18" charset="2"/>
              </a:rPr>
              <a:t>Å</a:t>
            </a:r>
            <a:endParaRPr lang="en-US" sz="1800">
              <a:latin typeface="MS Shell Dlg 2" panose="020B0604030504040204" pitchFamily="34" charset="0"/>
            </a:endParaRPr>
          </a:p>
          <a:p>
            <a:r>
              <a:rPr lang="en-US" sz="1600">
                <a:latin typeface="Arial"/>
                <a:cs typeface="Arial"/>
              </a:rPr>
              <a:t>Enter the Parameter Name and Description</a:t>
            </a:r>
          </a:p>
          <a:p>
            <a:r>
              <a:rPr lang="en-US" sz="1600">
                <a:latin typeface="Arial"/>
                <a:cs typeface="Arial"/>
              </a:rPr>
              <a:t>Select “path” in the Located In drop down</a:t>
            </a:r>
          </a:p>
          <a:p>
            <a:r>
              <a:rPr lang="en-US" sz="1600">
                <a:latin typeface="Arial"/>
                <a:cs typeface="Arial"/>
              </a:rPr>
              <a:t>Select Required </a:t>
            </a:r>
          </a:p>
          <a:p>
            <a:r>
              <a:rPr lang="en-US" sz="1600">
                <a:latin typeface="Arial"/>
                <a:cs typeface="Arial"/>
              </a:rPr>
              <a:t>Click Create</a:t>
            </a:r>
          </a:p>
          <a:p>
            <a:r>
              <a:rPr lang="en-US" sz="1600">
                <a:latin typeface="Arial"/>
                <a:cs typeface="Arial"/>
              </a:rPr>
              <a:t>Note:</a:t>
            </a:r>
          </a:p>
          <a:p>
            <a:r>
              <a:rPr lang="en-US" sz="1600">
                <a:latin typeface="Arial"/>
                <a:cs typeface="Arial"/>
              </a:rPr>
              <a:t>Add any parameters that can be used across </a:t>
            </a:r>
            <a:r>
              <a:rPr lang="en-US" sz="1600" b="1">
                <a:latin typeface="Arial"/>
                <a:cs typeface="Arial"/>
              </a:rPr>
              <a:t>all operations</a:t>
            </a:r>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cxnSp>
        <p:nvCxnSpPr>
          <p:cNvPr id="10" name="Straight Arrow Connector 9">
            <a:extLst>
              <a:ext uri="{FF2B5EF4-FFF2-40B4-BE49-F238E27FC236}">
                <a16:creationId xmlns:a16="http://schemas.microsoft.com/office/drawing/2014/main" id="{C0F701B6-38DA-421F-AB48-ED4156B52D5E}"/>
              </a:ext>
            </a:extLst>
          </p:cNvPr>
          <p:cNvCxnSpPr>
            <a:cxnSpLocks/>
          </p:cNvCxnSpPr>
          <p:nvPr/>
        </p:nvCxnSpPr>
        <p:spPr>
          <a:xfrm flipH="1">
            <a:off x="5082988" y="3056525"/>
            <a:ext cx="1506072" cy="367992"/>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D2446BD-56F0-4555-BC61-DDDC195752AC}"/>
              </a:ext>
            </a:extLst>
          </p:cNvPr>
          <p:cNvCxnSpPr>
            <a:cxnSpLocks/>
          </p:cNvCxnSpPr>
          <p:nvPr/>
        </p:nvCxnSpPr>
        <p:spPr>
          <a:xfrm flipH="1">
            <a:off x="3585882" y="3532094"/>
            <a:ext cx="3003178" cy="2662518"/>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3F83AAC-F7BA-467A-8EE7-EDC809AA3067}"/>
              </a:ext>
            </a:extLst>
          </p:cNvPr>
          <p:cNvCxnSpPr>
            <a:cxnSpLocks/>
          </p:cNvCxnSpPr>
          <p:nvPr/>
        </p:nvCxnSpPr>
        <p:spPr>
          <a:xfrm flipH="1">
            <a:off x="2360520" y="2223247"/>
            <a:ext cx="4228540" cy="2671965"/>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44767176-A304-49B8-96D0-4D46E7AC81C6}"/>
              </a:ext>
            </a:extLst>
          </p:cNvPr>
          <p:cNvPicPr>
            <a:picLocks noChangeAspect="1"/>
          </p:cNvPicPr>
          <p:nvPr/>
        </p:nvPicPr>
        <p:blipFill>
          <a:blip r:embed="rId3"/>
          <a:stretch>
            <a:fillRect/>
          </a:stretch>
        </p:blipFill>
        <p:spPr>
          <a:xfrm>
            <a:off x="206189" y="4629990"/>
            <a:ext cx="2085975" cy="466725"/>
          </a:xfrm>
          <a:prstGeom prst="rect">
            <a:avLst/>
          </a:prstGeom>
        </p:spPr>
      </p:pic>
    </p:spTree>
    <p:extLst>
      <p:ext uri="{BB962C8B-B14F-4D97-AF65-F5344CB8AC3E}">
        <p14:creationId xmlns:p14="http://schemas.microsoft.com/office/powerpoint/2010/main" val="11855214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Schema and Type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highlight>
                  <a:srgbClr val="F7F7F7"/>
                </a:highlight>
                <a:latin typeface="Arial"/>
                <a:cs typeface="Arial"/>
              </a:rPr>
              <a:t>Scroll down in the Parameters to Schema and click on Create</a:t>
            </a:r>
          </a:p>
          <a:p>
            <a:r>
              <a:rPr lang="en-US" sz="1600">
                <a:highlight>
                  <a:srgbClr val="F7F7F7"/>
                </a:highlight>
                <a:latin typeface="Arial"/>
                <a:cs typeface="Arial"/>
              </a:rPr>
              <a:t>Select a Type from the drop down</a:t>
            </a:r>
          </a:p>
          <a:p>
            <a:r>
              <a:rPr lang="en-US" sz="1600">
                <a:highlight>
                  <a:srgbClr val="F7F7F7"/>
                </a:highlight>
                <a:latin typeface="Arial"/>
                <a:cs typeface="Arial"/>
              </a:rPr>
              <a:t>Click Create</a:t>
            </a:r>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C7DE7763-7B17-4F13-AC09-25E622522216}"/>
              </a:ext>
            </a:extLst>
          </p:cNvPr>
          <p:cNvPicPr>
            <a:picLocks noChangeAspect="1"/>
          </p:cNvPicPr>
          <p:nvPr/>
        </p:nvPicPr>
        <p:blipFill>
          <a:blip r:embed="rId2"/>
          <a:stretch>
            <a:fillRect/>
          </a:stretch>
        </p:blipFill>
        <p:spPr>
          <a:xfrm>
            <a:off x="259976" y="1713990"/>
            <a:ext cx="5836024" cy="2265668"/>
          </a:xfrm>
          <a:prstGeom prst="rect">
            <a:avLst/>
          </a:prstGeom>
        </p:spPr>
      </p:pic>
      <p:pic>
        <p:nvPicPr>
          <p:cNvPr id="9" name="Picture 8">
            <a:extLst>
              <a:ext uri="{FF2B5EF4-FFF2-40B4-BE49-F238E27FC236}">
                <a16:creationId xmlns:a16="http://schemas.microsoft.com/office/drawing/2014/main" id="{AE5F2C30-E6DF-4ACB-9860-3189A0321423}"/>
              </a:ext>
            </a:extLst>
          </p:cNvPr>
          <p:cNvPicPr>
            <a:picLocks noChangeAspect="1"/>
          </p:cNvPicPr>
          <p:nvPr/>
        </p:nvPicPr>
        <p:blipFill>
          <a:blip r:embed="rId3"/>
          <a:stretch>
            <a:fillRect/>
          </a:stretch>
        </p:blipFill>
        <p:spPr>
          <a:xfrm>
            <a:off x="259976" y="4129597"/>
            <a:ext cx="5836024" cy="2103339"/>
          </a:xfrm>
          <a:prstGeom prst="rect">
            <a:avLst/>
          </a:prstGeom>
        </p:spPr>
      </p:pic>
    </p:spTree>
    <p:extLst>
      <p:ext uri="{BB962C8B-B14F-4D97-AF65-F5344CB8AC3E}">
        <p14:creationId xmlns:p14="http://schemas.microsoft.com/office/powerpoint/2010/main" val="5524890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Remove </a:t>
            </a:r>
            <a:r>
              <a:rPr lang="en-US" err="1"/>
              <a:t>uneeded</a:t>
            </a:r>
            <a:r>
              <a:rPr lang="en-US"/>
              <a:t> Operations</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Expand Paths</a:t>
            </a:r>
          </a:p>
          <a:p>
            <a:r>
              <a:rPr lang="en-US" sz="1600" b="0" i="0">
                <a:solidFill>
                  <a:srgbClr val="444444"/>
                </a:solidFill>
                <a:effectLst/>
                <a:latin typeface="+mj-lt"/>
              </a:rPr>
              <a:t>Expand the Path by clicking on the path name</a:t>
            </a:r>
            <a:endParaRPr lang="en-US" sz="1600">
              <a:latin typeface="+mj-lt"/>
              <a:cs typeface="Arial"/>
            </a:endParaRPr>
          </a:p>
          <a:p>
            <a:r>
              <a:rPr lang="en-US" sz="1600">
                <a:latin typeface="Arial"/>
                <a:cs typeface="Arial"/>
              </a:rPr>
              <a:t>Expand Operations </a:t>
            </a:r>
          </a:p>
          <a:p>
            <a:r>
              <a:rPr lang="en-US" sz="1600">
                <a:latin typeface="Arial"/>
                <a:cs typeface="Arial"/>
              </a:rPr>
              <a:t>Delete all unneeded operations</a:t>
            </a:r>
          </a:p>
          <a:p>
            <a:r>
              <a:rPr lang="en-US" sz="1600">
                <a:latin typeface="Arial"/>
                <a:cs typeface="Arial"/>
              </a:rPr>
              <a:t>Click Save (Top of the page)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84649655-E3C7-4F35-B147-8C3089C9F938}"/>
              </a:ext>
            </a:extLst>
          </p:cNvPr>
          <p:cNvPicPr>
            <a:picLocks noChangeAspect="1"/>
          </p:cNvPicPr>
          <p:nvPr/>
        </p:nvPicPr>
        <p:blipFill>
          <a:blip r:embed="rId2"/>
          <a:stretch>
            <a:fillRect/>
          </a:stretch>
        </p:blipFill>
        <p:spPr>
          <a:xfrm>
            <a:off x="180974" y="1713989"/>
            <a:ext cx="4471707" cy="4602586"/>
          </a:xfrm>
          <a:prstGeom prst="rect">
            <a:avLst/>
          </a:prstGeom>
        </p:spPr>
      </p:pic>
    </p:spTree>
    <p:extLst>
      <p:ext uri="{BB962C8B-B14F-4D97-AF65-F5344CB8AC3E}">
        <p14:creationId xmlns:p14="http://schemas.microsoft.com/office/powerpoint/2010/main" val="15978890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Operation documentation</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b="0" i="0">
                <a:solidFill>
                  <a:srgbClr val="444444"/>
                </a:solidFill>
                <a:effectLst/>
                <a:latin typeface="+mj-lt"/>
              </a:rPr>
              <a:t>Expand the Path by clicking on the path name</a:t>
            </a:r>
            <a:endParaRPr lang="en-US" sz="1600">
              <a:latin typeface="+mj-lt"/>
              <a:cs typeface="Arial"/>
            </a:endParaRPr>
          </a:p>
          <a:p>
            <a:r>
              <a:rPr lang="en-US" sz="1600">
                <a:latin typeface="Arial"/>
                <a:cs typeface="Arial"/>
              </a:rPr>
              <a:t>Select the Operation to modify</a:t>
            </a:r>
          </a:p>
          <a:p>
            <a:r>
              <a:rPr lang="en-US" sz="1600">
                <a:latin typeface="Arial"/>
                <a:cs typeface="Arial"/>
              </a:rPr>
              <a:t>Enter the Summary for the Operation</a:t>
            </a:r>
          </a:p>
          <a:p>
            <a:r>
              <a:rPr lang="en-US" sz="1600">
                <a:latin typeface="Arial"/>
                <a:cs typeface="Arial"/>
              </a:rPr>
              <a:t>Enter the Description for the Operation</a:t>
            </a:r>
          </a:p>
          <a:p>
            <a:r>
              <a:rPr lang="en-US" sz="1600">
                <a:latin typeface="Arial"/>
                <a:cs typeface="Arial"/>
              </a:rPr>
              <a:t>Click Save (Top of the page)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9" name="Picture 8">
            <a:extLst>
              <a:ext uri="{FF2B5EF4-FFF2-40B4-BE49-F238E27FC236}">
                <a16:creationId xmlns:a16="http://schemas.microsoft.com/office/drawing/2014/main" id="{092969D1-0B62-4186-B0F6-C21152AA97C5}"/>
              </a:ext>
            </a:extLst>
          </p:cNvPr>
          <p:cNvPicPr>
            <a:picLocks noChangeAspect="1"/>
          </p:cNvPicPr>
          <p:nvPr/>
        </p:nvPicPr>
        <p:blipFill>
          <a:blip r:embed="rId2"/>
          <a:stretch>
            <a:fillRect/>
          </a:stretch>
        </p:blipFill>
        <p:spPr>
          <a:xfrm>
            <a:off x="141755" y="1713990"/>
            <a:ext cx="6440986" cy="3252458"/>
          </a:xfrm>
          <a:prstGeom prst="rect">
            <a:avLst/>
          </a:prstGeom>
        </p:spPr>
      </p:pic>
    </p:spTree>
    <p:extLst>
      <p:ext uri="{BB962C8B-B14F-4D97-AF65-F5344CB8AC3E}">
        <p14:creationId xmlns:p14="http://schemas.microsoft.com/office/powerpoint/2010/main" val="21761969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BC02169D-CF06-46FF-BF9F-D42B0C86C308}"/>
              </a:ext>
            </a:extLst>
          </p:cNvPr>
          <p:cNvPicPr>
            <a:picLocks noChangeAspect="1"/>
          </p:cNvPicPr>
          <p:nvPr/>
        </p:nvPicPr>
        <p:blipFill>
          <a:blip r:embed="rId2"/>
          <a:stretch>
            <a:fillRect/>
          </a:stretch>
        </p:blipFill>
        <p:spPr>
          <a:xfrm>
            <a:off x="3263125" y="2448364"/>
            <a:ext cx="3299038" cy="3334134"/>
          </a:xfrm>
          <a:prstGeom prst="rect">
            <a:avLst/>
          </a:prstGeom>
        </p:spPr>
      </p:pic>
      <p:pic>
        <p:nvPicPr>
          <p:cNvPr id="12" name="Picture 11">
            <a:extLst>
              <a:ext uri="{FF2B5EF4-FFF2-40B4-BE49-F238E27FC236}">
                <a16:creationId xmlns:a16="http://schemas.microsoft.com/office/drawing/2014/main" id="{05F7F622-C368-4B6A-A92D-C0726B0D88D6}"/>
              </a:ext>
            </a:extLst>
          </p:cNvPr>
          <p:cNvPicPr>
            <a:picLocks noChangeAspect="1"/>
          </p:cNvPicPr>
          <p:nvPr/>
        </p:nvPicPr>
        <p:blipFill>
          <a:blip r:embed="rId3"/>
          <a:stretch>
            <a:fillRect/>
          </a:stretch>
        </p:blipFill>
        <p:spPr>
          <a:xfrm>
            <a:off x="214032" y="1687606"/>
            <a:ext cx="2476500" cy="3581400"/>
          </a:xfrm>
          <a:prstGeom prst="rect">
            <a:avLst/>
          </a:prstGeom>
        </p:spPr>
      </p:pic>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Operation Input Parameters</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Expand the Operation to modify</a:t>
            </a:r>
          </a:p>
          <a:p>
            <a:r>
              <a:rPr lang="en-US" sz="1600">
                <a:latin typeface="Arial"/>
                <a:cs typeface="Arial"/>
              </a:rPr>
              <a:t>Add parameters by clicking on the </a:t>
            </a:r>
            <a:r>
              <a:rPr lang="en-US" sz="1600">
                <a:latin typeface="Symbol" panose="05050102010706020507" pitchFamily="18" charset="2"/>
              </a:rPr>
              <a:t>Å </a:t>
            </a:r>
          </a:p>
          <a:p>
            <a:r>
              <a:rPr lang="en-US" sz="1600">
                <a:latin typeface="Arial"/>
                <a:cs typeface="Arial"/>
              </a:rPr>
              <a:t>Enter the Parameter Name and Description</a:t>
            </a:r>
          </a:p>
          <a:p>
            <a:r>
              <a:rPr lang="en-US" sz="1600">
                <a:latin typeface="Arial"/>
                <a:cs typeface="Arial"/>
              </a:rPr>
              <a:t>Select “query” or other as appropriate</a:t>
            </a:r>
          </a:p>
          <a:p>
            <a:r>
              <a:rPr lang="en-US" sz="1600">
                <a:latin typeface="Arial"/>
                <a:cs typeface="Arial"/>
              </a:rPr>
              <a:t>Scroll down and select other parameter options as needed.  Ex.  “Required”</a:t>
            </a:r>
          </a:p>
          <a:p>
            <a:r>
              <a:rPr lang="en-US" sz="1600">
                <a:latin typeface="Arial"/>
                <a:cs typeface="Arial"/>
              </a:rPr>
              <a:t>Click Create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cxnSp>
        <p:nvCxnSpPr>
          <p:cNvPr id="8" name="Straight Arrow Connector 7">
            <a:extLst>
              <a:ext uri="{FF2B5EF4-FFF2-40B4-BE49-F238E27FC236}">
                <a16:creationId xmlns:a16="http://schemas.microsoft.com/office/drawing/2014/main" id="{53F83AAC-F7BA-467A-8EE7-EDC809AA3067}"/>
              </a:ext>
            </a:extLst>
          </p:cNvPr>
          <p:cNvCxnSpPr>
            <a:cxnSpLocks/>
          </p:cNvCxnSpPr>
          <p:nvPr/>
        </p:nvCxnSpPr>
        <p:spPr>
          <a:xfrm rot="10800000" flipV="1">
            <a:off x="1788242" y="2268070"/>
            <a:ext cx="4840162" cy="2321859"/>
          </a:xfrm>
          <a:prstGeom prst="bentConnector3">
            <a:avLst>
              <a:gd name="adj1" fmla="val 73522"/>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95300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Update Parameter Schema and Type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highlight>
                  <a:srgbClr val="F7F7F7"/>
                </a:highlight>
                <a:latin typeface="Arial"/>
                <a:cs typeface="Arial"/>
              </a:rPr>
              <a:t>Scroll down in the Parameter to Schemas and click on Create</a:t>
            </a:r>
          </a:p>
          <a:p>
            <a:r>
              <a:rPr lang="en-US" sz="1600">
                <a:highlight>
                  <a:srgbClr val="F7F7F7"/>
                </a:highlight>
                <a:latin typeface="Arial"/>
                <a:cs typeface="Arial"/>
              </a:rPr>
              <a:t>Select a Type from the drop down</a:t>
            </a:r>
          </a:p>
          <a:p>
            <a:r>
              <a:rPr lang="en-US" sz="1600">
                <a:highlight>
                  <a:srgbClr val="F7F7F7"/>
                </a:highlight>
                <a:latin typeface="Arial"/>
                <a:cs typeface="Arial"/>
              </a:rPr>
              <a:t>Click Create</a:t>
            </a:r>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C7DE7763-7B17-4F13-AC09-25E622522216}"/>
              </a:ext>
            </a:extLst>
          </p:cNvPr>
          <p:cNvPicPr>
            <a:picLocks noChangeAspect="1"/>
          </p:cNvPicPr>
          <p:nvPr/>
        </p:nvPicPr>
        <p:blipFill>
          <a:blip r:embed="rId2"/>
          <a:stretch>
            <a:fillRect/>
          </a:stretch>
        </p:blipFill>
        <p:spPr>
          <a:xfrm>
            <a:off x="259976" y="1713990"/>
            <a:ext cx="5836024" cy="2265668"/>
          </a:xfrm>
          <a:prstGeom prst="rect">
            <a:avLst/>
          </a:prstGeom>
        </p:spPr>
      </p:pic>
      <p:pic>
        <p:nvPicPr>
          <p:cNvPr id="9" name="Picture 8">
            <a:extLst>
              <a:ext uri="{FF2B5EF4-FFF2-40B4-BE49-F238E27FC236}">
                <a16:creationId xmlns:a16="http://schemas.microsoft.com/office/drawing/2014/main" id="{AE5F2C30-E6DF-4ACB-9860-3189A0321423}"/>
              </a:ext>
            </a:extLst>
          </p:cNvPr>
          <p:cNvPicPr>
            <a:picLocks noChangeAspect="1"/>
          </p:cNvPicPr>
          <p:nvPr/>
        </p:nvPicPr>
        <p:blipFill>
          <a:blip r:embed="rId3"/>
          <a:stretch>
            <a:fillRect/>
          </a:stretch>
        </p:blipFill>
        <p:spPr>
          <a:xfrm>
            <a:off x="259976" y="4129597"/>
            <a:ext cx="5836024" cy="2103339"/>
          </a:xfrm>
          <a:prstGeom prst="rect">
            <a:avLst/>
          </a:prstGeom>
        </p:spPr>
      </p:pic>
    </p:spTree>
    <p:extLst>
      <p:ext uri="{BB962C8B-B14F-4D97-AF65-F5344CB8AC3E}">
        <p14:creationId xmlns:p14="http://schemas.microsoft.com/office/powerpoint/2010/main" val="21013466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Operation Response Parameters</a:t>
            </a:r>
          </a:p>
        </p:txBody>
      </p:sp>
      <p:sp>
        <p:nvSpPr>
          <p:cNvPr id="16" name="Text Placeholder 15">
            <a:extLst>
              <a:ext uri="{FF2B5EF4-FFF2-40B4-BE49-F238E27FC236}">
                <a16:creationId xmlns:a16="http://schemas.microsoft.com/office/drawing/2014/main" id="{F4FC762E-3927-492A-9857-13FE14600513}"/>
              </a:ext>
            </a:extLst>
          </p:cNvPr>
          <p:cNvSpPr>
            <a:spLocks noGrp="1"/>
          </p:cNvSpPr>
          <p:nvPr>
            <p:ph type="body" sz="quarter" idx="12"/>
          </p:nvPr>
        </p:nvSpPr>
        <p:spPr/>
        <p:txBody>
          <a:bodyPr/>
          <a:lstStyle/>
          <a:p>
            <a:r>
              <a:rPr lang="en-US" sz="1800" b="1">
                <a:latin typeface="Arial"/>
                <a:cs typeface="Arial"/>
              </a:rPr>
              <a:t>New In </a:t>
            </a:r>
            <a:r>
              <a:rPr lang="en-US" sz="1800" b="1" err="1">
                <a:latin typeface="Arial"/>
                <a:cs typeface="Arial"/>
              </a:rPr>
              <a:t>OpenAPI</a:t>
            </a:r>
            <a:r>
              <a:rPr lang="en-US" sz="1800" b="1">
                <a:latin typeface="Arial"/>
                <a:cs typeface="Arial"/>
              </a:rPr>
              <a:t> 3.</a:t>
            </a:r>
          </a:p>
          <a:p>
            <a:r>
              <a:rPr lang="en-US" sz="1800">
                <a:latin typeface="Arial"/>
                <a:cs typeface="Arial"/>
              </a:rPr>
              <a:t>Operation Responses are now defined by media type, e.g., application/json. Within the Content section of each Response, define, or provide a reference to, JSON Schema that describes the Response. </a:t>
            </a:r>
          </a:p>
          <a:p>
            <a:r>
              <a:rPr lang="en-US">
                <a:latin typeface="Arial"/>
                <a:cs typeface="Arial"/>
              </a:rPr>
              <a:t>200 response is default and will just need to be updated with the correct schema</a:t>
            </a:r>
          </a:p>
          <a:p>
            <a:r>
              <a:rPr lang="en-US" sz="1800">
                <a:latin typeface="Arial"/>
                <a:cs typeface="Arial"/>
              </a:rPr>
              <a:t>Other response </a:t>
            </a:r>
            <a:r>
              <a:rPr lang="en-US">
                <a:latin typeface="Arial"/>
                <a:cs typeface="Arial"/>
              </a:rPr>
              <a:t>require the addition of the application\json content type and then the correct schema</a:t>
            </a:r>
            <a:endParaRPr lang="en-US" sz="1800">
              <a:latin typeface="Arial"/>
              <a:cs typeface="Arial"/>
            </a:endParaRPr>
          </a:p>
          <a:p>
            <a:r>
              <a:rPr lang="en-US" sz="1800">
                <a:latin typeface="Arial"/>
                <a:cs typeface="Arial"/>
              </a:rPr>
              <a:t>Follow these steps for each Operation Response</a:t>
            </a:r>
          </a:p>
          <a:p>
            <a:endParaRPr lang="en-US"/>
          </a:p>
        </p:txBody>
      </p:sp>
    </p:spTree>
    <p:extLst>
      <p:ext uri="{BB962C8B-B14F-4D97-AF65-F5344CB8AC3E}">
        <p14:creationId xmlns:p14="http://schemas.microsoft.com/office/powerpoint/2010/main" val="36858568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9502452-BAE4-45A5-BD4B-7563FEED5FA6}"/>
              </a:ext>
            </a:extLst>
          </p:cNvPr>
          <p:cNvPicPr>
            <a:picLocks noChangeAspect="1"/>
          </p:cNvPicPr>
          <p:nvPr/>
        </p:nvPicPr>
        <p:blipFill>
          <a:blip r:embed="rId2"/>
          <a:stretch>
            <a:fillRect/>
          </a:stretch>
        </p:blipFill>
        <p:spPr>
          <a:xfrm>
            <a:off x="217954" y="1758009"/>
            <a:ext cx="2647950" cy="2085975"/>
          </a:xfrm>
          <a:prstGeom prst="rect">
            <a:avLst/>
          </a:prstGeom>
        </p:spPr>
      </p:pic>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Operation Response Parameters</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Expand the Operation to modify</a:t>
            </a:r>
          </a:p>
          <a:p>
            <a:r>
              <a:rPr lang="en-US" sz="1600">
                <a:latin typeface="Arial"/>
                <a:cs typeface="Arial"/>
              </a:rPr>
              <a:t>200 is added by default</a:t>
            </a:r>
          </a:p>
          <a:p>
            <a:endParaRPr lang="en-US" sz="1600">
              <a:latin typeface="Arial"/>
              <a:cs typeface="Arial"/>
            </a:endParaRPr>
          </a:p>
          <a:p>
            <a:r>
              <a:rPr lang="en-US" sz="1600">
                <a:latin typeface="Arial"/>
                <a:cs typeface="Arial"/>
              </a:rPr>
              <a:t>Add additional responses by clicking on the </a:t>
            </a:r>
            <a:r>
              <a:rPr lang="en-US" sz="1600">
                <a:latin typeface="Symbol" panose="05050102010706020507" pitchFamily="18" charset="2"/>
              </a:rPr>
              <a:t>Å</a:t>
            </a:r>
            <a:endParaRPr lang="en-US" sz="1600">
              <a:latin typeface="Arial"/>
              <a:cs typeface="Arial"/>
            </a:endParaRPr>
          </a:p>
          <a:p>
            <a:r>
              <a:rPr lang="en-US" sz="1600">
                <a:latin typeface="Arial"/>
                <a:cs typeface="Arial"/>
              </a:rPr>
              <a:t>Enter the response Name and Description</a:t>
            </a:r>
          </a:p>
          <a:p>
            <a:r>
              <a:rPr lang="en-US" sz="1600">
                <a:latin typeface="Arial"/>
                <a:cs typeface="Arial"/>
              </a:rPr>
              <a:t>Click Create</a:t>
            </a:r>
          </a:p>
          <a:p>
            <a:r>
              <a:rPr lang="en-US" sz="1600">
                <a:latin typeface="Arial"/>
                <a:cs typeface="Arial"/>
              </a:rPr>
              <a:t>Add additional responses as needed (404, 500…)</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cxnSp>
        <p:nvCxnSpPr>
          <p:cNvPr id="8" name="Straight Arrow Connector 7">
            <a:extLst>
              <a:ext uri="{FF2B5EF4-FFF2-40B4-BE49-F238E27FC236}">
                <a16:creationId xmlns:a16="http://schemas.microsoft.com/office/drawing/2014/main" id="{53F83AAC-F7BA-467A-8EE7-EDC809AA3067}"/>
              </a:ext>
            </a:extLst>
          </p:cNvPr>
          <p:cNvCxnSpPr>
            <a:cxnSpLocks/>
          </p:cNvCxnSpPr>
          <p:nvPr/>
        </p:nvCxnSpPr>
        <p:spPr>
          <a:xfrm rot="10800000" flipV="1">
            <a:off x="1712260" y="2268069"/>
            <a:ext cx="4916145" cy="1353671"/>
          </a:xfrm>
          <a:prstGeom prst="bentConnector3">
            <a:avLst>
              <a:gd name="adj1" fmla="val 72065"/>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D125B65B-DDB2-4B2C-BF8A-14F337834CBA}"/>
              </a:ext>
            </a:extLst>
          </p:cNvPr>
          <p:cNvPicPr>
            <a:picLocks noChangeAspect="1"/>
          </p:cNvPicPr>
          <p:nvPr/>
        </p:nvPicPr>
        <p:blipFill>
          <a:blip r:embed="rId3"/>
          <a:stretch>
            <a:fillRect/>
          </a:stretch>
        </p:blipFill>
        <p:spPr>
          <a:xfrm>
            <a:off x="3199405" y="2486585"/>
            <a:ext cx="3429000" cy="4000500"/>
          </a:xfrm>
          <a:prstGeom prst="rect">
            <a:avLst/>
          </a:prstGeom>
        </p:spPr>
      </p:pic>
    </p:spTree>
    <p:extLst>
      <p:ext uri="{BB962C8B-B14F-4D97-AF65-F5344CB8AC3E}">
        <p14:creationId xmlns:p14="http://schemas.microsoft.com/office/powerpoint/2010/main" val="35278341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Response Content</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882903" y="1810698"/>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Open the Response to add content</a:t>
            </a:r>
          </a:p>
          <a:p>
            <a:pPr marL="198438" lvl="2" indent="0">
              <a:buNone/>
            </a:pPr>
            <a:r>
              <a:rPr lang="en-US" sz="1600">
                <a:latin typeface="Arial"/>
                <a:cs typeface="Arial"/>
              </a:rPr>
              <a:t>200 Response already has application/json Content defined. Edit that Content to define the Schema.</a:t>
            </a:r>
          </a:p>
          <a:p>
            <a:r>
              <a:rPr lang="en-US" sz="1600">
                <a:latin typeface="Arial"/>
                <a:cs typeface="Arial"/>
              </a:rPr>
              <a:t>For other Responses …</a:t>
            </a:r>
          </a:p>
          <a:p>
            <a:r>
              <a:rPr lang="en-US" sz="1600">
                <a:latin typeface="Arial"/>
                <a:cs typeface="Arial"/>
              </a:rPr>
              <a:t>Scroll down to enter Content</a:t>
            </a:r>
          </a:p>
          <a:p>
            <a:r>
              <a:rPr lang="en-US" sz="1600">
                <a:latin typeface="Arial"/>
                <a:cs typeface="Arial"/>
              </a:rPr>
              <a:t>Click Add </a:t>
            </a:r>
          </a:p>
          <a:p>
            <a:r>
              <a:rPr lang="en-US" sz="1600">
                <a:latin typeface="Arial"/>
                <a:cs typeface="Arial"/>
              </a:rPr>
              <a:t>Select application/json</a:t>
            </a:r>
          </a:p>
          <a:p>
            <a:r>
              <a:rPr lang="en-US" sz="1600">
                <a:latin typeface="Arial"/>
                <a:cs typeface="Arial"/>
              </a:rPr>
              <a:t>Click Create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9" name="Picture 18">
            <a:extLst>
              <a:ext uri="{FF2B5EF4-FFF2-40B4-BE49-F238E27FC236}">
                <a16:creationId xmlns:a16="http://schemas.microsoft.com/office/drawing/2014/main" id="{B2B5917D-01E4-4966-BA3E-07C37D84AD28}"/>
              </a:ext>
            </a:extLst>
          </p:cNvPr>
          <p:cNvPicPr>
            <a:picLocks noChangeAspect="1"/>
          </p:cNvPicPr>
          <p:nvPr/>
        </p:nvPicPr>
        <p:blipFill>
          <a:blip r:embed="rId2"/>
          <a:stretch>
            <a:fillRect/>
          </a:stretch>
        </p:blipFill>
        <p:spPr>
          <a:xfrm>
            <a:off x="136151" y="3148365"/>
            <a:ext cx="5762625" cy="1028810"/>
          </a:xfrm>
          <a:prstGeom prst="rect">
            <a:avLst/>
          </a:prstGeom>
        </p:spPr>
      </p:pic>
      <p:pic>
        <p:nvPicPr>
          <p:cNvPr id="21" name="Picture 20">
            <a:extLst>
              <a:ext uri="{FF2B5EF4-FFF2-40B4-BE49-F238E27FC236}">
                <a16:creationId xmlns:a16="http://schemas.microsoft.com/office/drawing/2014/main" id="{91A6934F-5F3D-433B-B758-DFEA372793BC}"/>
              </a:ext>
            </a:extLst>
          </p:cNvPr>
          <p:cNvPicPr>
            <a:picLocks noChangeAspect="1"/>
          </p:cNvPicPr>
          <p:nvPr/>
        </p:nvPicPr>
        <p:blipFill>
          <a:blip r:embed="rId3"/>
          <a:stretch>
            <a:fillRect/>
          </a:stretch>
        </p:blipFill>
        <p:spPr>
          <a:xfrm>
            <a:off x="136150" y="4262008"/>
            <a:ext cx="4794437" cy="2156721"/>
          </a:xfrm>
          <a:prstGeom prst="rect">
            <a:avLst/>
          </a:prstGeom>
        </p:spPr>
      </p:pic>
      <p:pic>
        <p:nvPicPr>
          <p:cNvPr id="23" name="Picture 22">
            <a:extLst>
              <a:ext uri="{FF2B5EF4-FFF2-40B4-BE49-F238E27FC236}">
                <a16:creationId xmlns:a16="http://schemas.microsoft.com/office/drawing/2014/main" id="{A3A43296-9144-4D10-B107-2D71031A0D03}"/>
              </a:ext>
            </a:extLst>
          </p:cNvPr>
          <p:cNvPicPr>
            <a:picLocks noChangeAspect="1"/>
          </p:cNvPicPr>
          <p:nvPr/>
        </p:nvPicPr>
        <p:blipFill>
          <a:blip r:embed="rId4"/>
          <a:stretch>
            <a:fillRect/>
          </a:stretch>
        </p:blipFill>
        <p:spPr>
          <a:xfrm>
            <a:off x="136150" y="1654050"/>
            <a:ext cx="1495426" cy="1409482"/>
          </a:xfrm>
          <a:prstGeom prst="rect">
            <a:avLst/>
          </a:prstGeom>
        </p:spPr>
      </p:pic>
    </p:spTree>
    <p:extLst>
      <p:ext uri="{BB962C8B-B14F-4D97-AF65-F5344CB8AC3E}">
        <p14:creationId xmlns:p14="http://schemas.microsoft.com/office/powerpoint/2010/main" val="6923207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Response Content Type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Open the response to add content</a:t>
            </a:r>
          </a:p>
          <a:p>
            <a:r>
              <a:rPr lang="en-US" sz="1600">
                <a:latin typeface="Arial"/>
                <a:cs typeface="Arial"/>
              </a:rPr>
              <a:t>Scroll down to enter Content Type (application\json)</a:t>
            </a:r>
          </a:p>
          <a:p>
            <a:r>
              <a:rPr lang="en-US" sz="1600">
                <a:latin typeface="Arial"/>
                <a:cs typeface="Arial"/>
              </a:rPr>
              <a:t>Click on the type (application\json) to enter Schema criteria</a:t>
            </a:r>
          </a:p>
          <a:p>
            <a:r>
              <a:rPr lang="en-US" sz="1600">
                <a:latin typeface="Arial"/>
                <a:cs typeface="Arial"/>
              </a:rPr>
              <a:t>In the Schema Click View to update</a:t>
            </a:r>
          </a:p>
          <a:p>
            <a:r>
              <a:rPr lang="en-US" sz="1600">
                <a:latin typeface="Arial"/>
                <a:cs typeface="Arial"/>
              </a:rPr>
              <a:t>In the Schema Click Create to add</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B7D86811-D747-482A-97B5-9CCA9CBEB839}"/>
              </a:ext>
            </a:extLst>
          </p:cNvPr>
          <p:cNvPicPr>
            <a:picLocks noChangeAspect="1"/>
          </p:cNvPicPr>
          <p:nvPr/>
        </p:nvPicPr>
        <p:blipFill>
          <a:blip r:embed="rId2"/>
          <a:stretch>
            <a:fillRect/>
          </a:stretch>
        </p:blipFill>
        <p:spPr>
          <a:xfrm>
            <a:off x="136151" y="1713989"/>
            <a:ext cx="2076450" cy="1571625"/>
          </a:xfrm>
          <a:prstGeom prst="rect">
            <a:avLst/>
          </a:prstGeom>
        </p:spPr>
      </p:pic>
      <p:pic>
        <p:nvPicPr>
          <p:cNvPr id="10" name="Picture 9">
            <a:extLst>
              <a:ext uri="{FF2B5EF4-FFF2-40B4-BE49-F238E27FC236}">
                <a16:creationId xmlns:a16="http://schemas.microsoft.com/office/drawing/2014/main" id="{0679FDFE-493F-41D2-A00D-97789C3E11EA}"/>
              </a:ext>
            </a:extLst>
          </p:cNvPr>
          <p:cNvPicPr>
            <a:picLocks noChangeAspect="1"/>
          </p:cNvPicPr>
          <p:nvPr/>
        </p:nvPicPr>
        <p:blipFill>
          <a:blip r:embed="rId3"/>
          <a:stretch>
            <a:fillRect/>
          </a:stretch>
        </p:blipFill>
        <p:spPr>
          <a:xfrm>
            <a:off x="136151" y="3320747"/>
            <a:ext cx="3352800" cy="1657350"/>
          </a:xfrm>
          <a:prstGeom prst="rect">
            <a:avLst/>
          </a:prstGeom>
        </p:spPr>
      </p:pic>
      <p:pic>
        <p:nvPicPr>
          <p:cNvPr id="15" name="Picture 14">
            <a:extLst>
              <a:ext uri="{FF2B5EF4-FFF2-40B4-BE49-F238E27FC236}">
                <a16:creationId xmlns:a16="http://schemas.microsoft.com/office/drawing/2014/main" id="{A43E9999-D4B9-4B8F-A681-04F25EC4234F}"/>
              </a:ext>
            </a:extLst>
          </p:cNvPr>
          <p:cNvPicPr>
            <a:picLocks noChangeAspect="1"/>
          </p:cNvPicPr>
          <p:nvPr/>
        </p:nvPicPr>
        <p:blipFill>
          <a:blip r:embed="rId4"/>
          <a:stretch>
            <a:fillRect/>
          </a:stretch>
        </p:blipFill>
        <p:spPr>
          <a:xfrm>
            <a:off x="136151" y="5013231"/>
            <a:ext cx="6534150" cy="1457325"/>
          </a:xfrm>
          <a:prstGeom prst="rect">
            <a:avLst/>
          </a:prstGeom>
        </p:spPr>
      </p:pic>
    </p:spTree>
    <p:extLst>
      <p:ext uri="{BB962C8B-B14F-4D97-AF65-F5344CB8AC3E}">
        <p14:creationId xmlns:p14="http://schemas.microsoft.com/office/powerpoint/2010/main" val="820760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Response Content Schema</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The Title and the Description are optional.</a:t>
            </a:r>
          </a:p>
          <a:p>
            <a:endParaRPr lang="en-US" sz="1600">
              <a:latin typeface="Arial"/>
              <a:cs typeface="Arial"/>
            </a:endParaRPr>
          </a:p>
          <a:p>
            <a:r>
              <a:rPr lang="en-US" sz="1600">
                <a:latin typeface="Arial"/>
                <a:cs typeface="Arial"/>
              </a:rPr>
              <a:t>Select “string” in the Type or other schemas created in section.</a:t>
            </a:r>
          </a:p>
          <a:p>
            <a:endParaRPr lang="en-US" sz="1600">
              <a:latin typeface="Arial"/>
              <a:cs typeface="Arial"/>
            </a:endParaRPr>
          </a:p>
          <a:p>
            <a:r>
              <a:rPr lang="en-US" sz="1600">
                <a:highlight>
                  <a:srgbClr val="F7F7F7"/>
                </a:highlight>
                <a:latin typeface="Arial"/>
                <a:cs typeface="Arial"/>
              </a:rPr>
              <a:t>See the </a:t>
            </a:r>
            <a:r>
              <a:rPr lang="en-US" sz="1600">
                <a:highlight>
                  <a:srgbClr val="F7F7F7"/>
                </a:highlight>
                <a:latin typeface="Arial"/>
                <a:cs typeface="Arial"/>
                <a:hlinkClick r:id="rId2" action="ppaction://hlinksldjump"/>
              </a:rPr>
              <a:t>Create complex schema</a:t>
            </a:r>
            <a:r>
              <a:rPr lang="en-US" sz="1600">
                <a:highlight>
                  <a:srgbClr val="F7F7F7"/>
                </a:highlight>
                <a:latin typeface="Arial"/>
                <a:cs typeface="Arial"/>
              </a:rPr>
              <a:t> section</a:t>
            </a:r>
          </a:p>
          <a:p>
            <a:endParaRPr lang="en-US" sz="1600">
              <a:highlight>
                <a:srgbClr val="FFFF00"/>
              </a:highlight>
              <a:latin typeface="Arial"/>
              <a:cs typeface="Arial"/>
            </a:endParaRPr>
          </a:p>
          <a:p>
            <a:r>
              <a:rPr lang="en-US" sz="1600">
                <a:latin typeface="Arial"/>
                <a:cs typeface="Arial"/>
              </a:rPr>
              <a:t>Return </a:t>
            </a:r>
            <a:r>
              <a:rPr lang="en-US" sz="1600">
                <a:latin typeface="Arial"/>
                <a:cs typeface="Arial"/>
                <a:hlinkClick r:id="rId3" action="ppaction://hlinksldjump"/>
              </a:rPr>
              <a:t>here</a:t>
            </a:r>
            <a:r>
              <a:rPr lang="en-US" sz="1600">
                <a:latin typeface="Arial"/>
                <a:cs typeface="Arial"/>
              </a:rPr>
              <a:t> for additional responses</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9" name="Picture 8">
            <a:extLst>
              <a:ext uri="{FF2B5EF4-FFF2-40B4-BE49-F238E27FC236}">
                <a16:creationId xmlns:a16="http://schemas.microsoft.com/office/drawing/2014/main" id="{44310FAB-9201-4A3A-A2C2-3089CB4E3ABC}"/>
              </a:ext>
            </a:extLst>
          </p:cNvPr>
          <p:cNvPicPr>
            <a:picLocks noChangeAspect="1"/>
          </p:cNvPicPr>
          <p:nvPr/>
        </p:nvPicPr>
        <p:blipFill>
          <a:blip r:embed="rId4"/>
          <a:stretch>
            <a:fillRect/>
          </a:stretch>
        </p:blipFill>
        <p:spPr>
          <a:xfrm>
            <a:off x="151840" y="1713989"/>
            <a:ext cx="3067050" cy="2362200"/>
          </a:xfrm>
          <a:prstGeom prst="rect">
            <a:avLst/>
          </a:prstGeom>
        </p:spPr>
      </p:pic>
    </p:spTree>
    <p:extLst>
      <p:ext uri="{BB962C8B-B14F-4D97-AF65-F5344CB8AC3E}">
        <p14:creationId xmlns:p14="http://schemas.microsoft.com/office/powerpoint/2010/main" val="11109956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Adding Security Schemes</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highlight>
                  <a:srgbClr val="F7F7F7"/>
                </a:highlight>
                <a:latin typeface="Arial"/>
                <a:cs typeface="Arial"/>
              </a:rPr>
              <a:t>Expand Components</a:t>
            </a:r>
          </a:p>
          <a:p>
            <a:r>
              <a:rPr lang="en-US" sz="1600">
                <a:latin typeface="Arial"/>
                <a:cs typeface="Arial"/>
              </a:rPr>
              <a:t>Add new security by clicking on the </a:t>
            </a:r>
            <a:r>
              <a:rPr lang="en-US" sz="1600">
                <a:latin typeface="Symbol" panose="05050102010706020507" pitchFamily="18" charset="2"/>
              </a:rPr>
              <a:t>Å</a:t>
            </a:r>
            <a:endParaRPr lang="en-US" sz="1600">
              <a:latin typeface="Arial"/>
              <a:cs typeface="Arial"/>
            </a:endParaRPr>
          </a:p>
          <a:p>
            <a:r>
              <a:rPr lang="en-US" sz="1600">
                <a:latin typeface="Arial"/>
                <a:cs typeface="Arial"/>
              </a:rPr>
              <a:t>Name OAuth</a:t>
            </a:r>
          </a:p>
          <a:p>
            <a:r>
              <a:rPr lang="en-US" sz="1600">
                <a:latin typeface="Arial"/>
                <a:cs typeface="Arial"/>
              </a:rPr>
              <a:t>Select oauth2 as the type</a:t>
            </a:r>
          </a:p>
          <a:p>
            <a:r>
              <a:rPr lang="en-US" sz="1600">
                <a:latin typeface="Arial"/>
                <a:cs typeface="Arial"/>
              </a:rPr>
              <a:t>Verify that placeholder-</a:t>
            </a:r>
            <a:r>
              <a:rPr lang="en-US" sz="1600" err="1">
                <a:latin typeface="Arial"/>
                <a:cs typeface="Arial"/>
              </a:rPr>
              <a:t>apigw</a:t>
            </a:r>
            <a:r>
              <a:rPr lang="en-US" sz="1600">
                <a:latin typeface="Arial"/>
                <a:cs typeface="Arial"/>
              </a:rPr>
              <a:t> is recorded in the OAuth Provider.</a:t>
            </a:r>
          </a:p>
          <a:p>
            <a:r>
              <a:rPr lang="en-US" sz="1600">
                <a:highlight>
                  <a:srgbClr val="F7F7F7"/>
                </a:highlight>
                <a:latin typeface="Arial"/>
                <a:cs typeface="Arial"/>
              </a:rPr>
              <a:t>Select Implicit within the Flows dropdown</a:t>
            </a:r>
          </a:p>
          <a:p>
            <a:r>
              <a:rPr lang="en-US" sz="1600">
                <a:highlight>
                  <a:srgbClr val="F7F7F7"/>
                </a:highlight>
                <a:latin typeface="Arial"/>
                <a:cs typeface="Arial"/>
              </a:rPr>
              <a:t>Click Create</a:t>
            </a:r>
          </a:p>
          <a:p>
            <a:endParaRPr lang="en-US" sz="1600">
              <a:highlight>
                <a:srgbClr val="F7F7F7"/>
              </a:highlight>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E69686E3-3326-0D52-303D-6CD331CCCE67}"/>
              </a:ext>
            </a:extLst>
          </p:cNvPr>
          <p:cNvPicPr>
            <a:picLocks noChangeAspect="1"/>
          </p:cNvPicPr>
          <p:nvPr/>
        </p:nvPicPr>
        <p:blipFill>
          <a:blip r:embed="rId2"/>
          <a:stretch>
            <a:fillRect/>
          </a:stretch>
        </p:blipFill>
        <p:spPr>
          <a:xfrm>
            <a:off x="64942" y="1713989"/>
            <a:ext cx="4590185" cy="3023425"/>
          </a:xfrm>
          <a:prstGeom prst="rect">
            <a:avLst/>
          </a:prstGeom>
        </p:spPr>
      </p:pic>
      <p:pic>
        <p:nvPicPr>
          <p:cNvPr id="12" name="Picture 11">
            <a:extLst>
              <a:ext uri="{FF2B5EF4-FFF2-40B4-BE49-F238E27FC236}">
                <a16:creationId xmlns:a16="http://schemas.microsoft.com/office/drawing/2014/main" id="{49BE1949-2C4F-71F5-C9F6-44D136F10A82}"/>
              </a:ext>
            </a:extLst>
          </p:cNvPr>
          <p:cNvPicPr>
            <a:picLocks noChangeAspect="1"/>
          </p:cNvPicPr>
          <p:nvPr/>
        </p:nvPicPr>
        <p:blipFill>
          <a:blip r:embed="rId3"/>
          <a:stretch>
            <a:fillRect/>
          </a:stretch>
        </p:blipFill>
        <p:spPr>
          <a:xfrm>
            <a:off x="64942" y="4899418"/>
            <a:ext cx="3415232" cy="1557601"/>
          </a:xfrm>
          <a:prstGeom prst="rect">
            <a:avLst/>
          </a:prstGeom>
        </p:spPr>
      </p:pic>
    </p:spTree>
    <p:extLst>
      <p:ext uri="{BB962C8B-B14F-4D97-AF65-F5344CB8AC3E}">
        <p14:creationId xmlns:p14="http://schemas.microsoft.com/office/powerpoint/2010/main" val="33067000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OpenAPI 3.0 using APIC V10</a:t>
            </a:r>
          </a:p>
        </p:txBody>
      </p:sp>
      <p:sp>
        <p:nvSpPr>
          <p:cNvPr id="3" name="Text Placeholder 2"/>
          <p:cNvSpPr>
            <a:spLocks noGrp="1"/>
          </p:cNvSpPr>
          <p:nvPr>
            <p:ph type="body" sz="quarter" idx="11"/>
          </p:nvPr>
        </p:nvSpPr>
        <p:spPr/>
        <p:txBody>
          <a:bodyPr/>
          <a:lstStyle/>
          <a:p>
            <a:r>
              <a:rPr lang="en-US"/>
              <a:t>Adding Security Schemes (</a:t>
            </a:r>
            <a:r>
              <a:rPr lang="en-US" err="1"/>
              <a:t>oAuth</a:t>
            </a:r>
            <a:r>
              <a:rPr lang="en-US"/>
              <a:t>)</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highlight>
                  <a:srgbClr val="F7F7F7"/>
                </a:highlight>
                <a:latin typeface="Arial"/>
                <a:cs typeface="Arial"/>
              </a:rPr>
              <a:t>Return to the Operations</a:t>
            </a:r>
          </a:p>
          <a:p>
            <a:r>
              <a:rPr lang="en-US" sz="1600">
                <a:highlight>
                  <a:srgbClr val="F7F7F7"/>
                </a:highlight>
                <a:latin typeface="Arial"/>
                <a:cs typeface="Arial"/>
              </a:rPr>
              <a:t>Expand the Operation</a:t>
            </a:r>
          </a:p>
          <a:p>
            <a:r>
              <a:rPr lang="en-US" sz="1600">
                <a:latin typeface="Arial"/>
                <a:cs typeface="Arial"/>
              </a:rPr>
              <a:t>Add new Security Requirements by clicking on the </a:t>
            </a:r>
            <a:r>
              <a:rPr lang="en-US" sz="1600">
                <a:latin typeface="Symbol" panose="05050102010706020507" pitchFamily="18" charset="2"/>
              </a:rPr>
              <a:t>Å</a:t>
            </a:r>
            <a:endParaRPr lang="en-US" sz="1600">
              <a:latin typeface="Arial"/>
              <a:cs typeface="Arial"/>
            </a:endParaRPr>
          </a:p>
          <a:p>
            <a:r>
              <a:rPr lang="en-US" sz="1600">
                <a:latin typeface="Arial"/>
                <a:cs typeface="Arial"/>
              </a:rPr>
              <a:t>Select oAuth2</a:t>
            </a:r>
          </a:p>
          <a:p>
            <a:r>
              <a:rPr lang="en-US" sz="1600">
                <a:latin typeface="Arial"/>
                <a:cs typeface="Arial"/>
              </a:rPr>
              <a:t>Select appropriate scope</a:t>
            </a:r>
          </a:p>
          <a:p>
            <a:r>
              <a:rPr lang="en-US" sz="1600">
                <a:latin typeface="Arial"/>
                <a:cs typeface="Arial"/>
              </a:rPr>
              <a:t>Click Create</a:t>
            </a:r>
          </a:p>
          <a:p>
            <a:r>
              <a:rPr lang="en-US" sz="1600">
                <a:latin typeface="Arial"/>
                <a:cs typeface="Arial"/>
              </a:rPr>
              <a:t>Click Save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0" name="Picture 9">
            <a:extLst>
              <a:ext uri="{FF2B5EF4-FFF2-40B4-BE49-F238E27FC236}">
                <a16:creationId xmlns:a16="http://schemas.microsoft.com/office/drawing/2014/main" id="{5327CC68-DE51-43CB-8610-C5C26CA88A3A}"/>
              </a:ext>
            </a:extLst>
          </p:cNvPr>
          <p:cNvPicPr>
            <a:picLocks noChangeAspect="1"/>
          </p:cNvPicPr>
          <p:nvPr/>
        </p:nvPicPr>
        <p:blipFill>
          <a:blip r:embed="rId2"/>
          <a:stretch>
            <a:fillRect/>
          </a:stretch>
        </p:blipFill>
        <p:spPr>
          <a:xfrm>
            <a:off x="226638" y="1713989"/>
            <a:ext cx="2505075" cy="2971800"/>
          </a:xfrm>
          <a:prstGeom prst="rect">
            <a:avLst/>
          </a:prstGeom>
        </p:spPr>
      </p:pic>
      <p:pic>
        <p:nvPicPr>
          <p:cNvPr id="14" name="Picture 13">
            <a:extLst>
              <a:ext uri="{FF2B5EF4-FFF2-40B4-BE49-F238E27FC236}">
                <a16:creationId xmlns:a16="http://schemas.microsoft.com/office/drawing/2014/main" id="{23F5F741-48EC-4666-BBC7-E30D9167CECA}"/>
              </a:ext>
            </a:extLst>
          </p:cNvPr>
          <p:cNvPicPr>
            <a:picLocks noChangeAspect="1"/>
          </p:cNvPicPr>
          <p:nvPr/>
        </p:nvPicPr>
        <p:blipFill>
          <a:blip r:embed="rId3"/>
          <a:stretch>
            <a:fillRect/>
          </a:stretch>
        </p:blipFill>
        <p:spPr>
          <a:xfrm>
            <a:off x="2863134" y="1713989"/>
            <a:ext cx="3744912" cy="2300539"/>
          </a:xfrm>
          <a:prstGeom prst="rect">
            <a:avLst/>
          </a:prstGeom>
        </p:spPr>
      </p:pic>
      <p:pic>
        <p:nvPicPr>
          <p:cNvPr id="8" name="Picture 7">
            <a:extLst>
              <a:ext uri="{FF2B5EF4-FFF2-40B4-BE49-F238E27FC236}">
                <a16:creationId xmlns:a16="http://schemas.microsoft.com/office/drawing/2014/main" id="{9717B7E9-72D3-F1E7-4821-5AE35DFEFF40}"/>
              </a:ext>
            </a:extLst>
          </p:cNvPr>
          <p:cNvPicPr>
            <a:picLocks noChangeAspect="1"/>
          </p:cNvPicPr>
          <p:nvPr/>
        </p:nvPicPr>
        <p:blipFill>
          <a:blip r:embed="rId4"/>
          <a:stretch>
            <a:fillRect/>
          </a:stretch>
        </p:blipFill>
        <p:spPr>
          <a:xfrm>
            <a:off x="2863134" y="4168619"/>
            <a:ext cx="3744912" cy="2042679"/>
          </a:xfrm>
          <a:prstGeom prst="rect">
            <a:avLst/>
          </a:prstGeom>
        </p:spPr>
      </p:pic>
    </p:spTree>
    <p:extLst>
      <p:ext uri="{BB962C8B-B14F-4D97-AF65-F5344CB8AC3E}">
        <p14:creationId xmlns:p14="http://schemas.microsoft.com/office/powerpoint/2010/main" val="21866249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379"/>
            <a:ext cx="9877926" cy="476805"/>
          </a:xfrm>
        </p:spPr>
        <p:txBody>
          <a:bodyPr/>
          <a:lstStyle/>
          <a:p>
            <a:r>
              <a:rPr lang="en-US" sz="3200">
                <a:latin typeface="Arial"/>
                <a:cs typeface="Arial"/>
              </a:rPr>
              <a:t>Create a new </a:t>
            </a:r>
            <a:r>
              <a:rPr lang="en-US" sz="3200" err="1">
                <a:latin typeface="Arial"/>
                <a:cs typeface="Arial"/>
              </a:rPr>
              <a:t>OpenAPI</a:t>
            </a:r>
            <a:r>
              <a:rPr lang="en-US" sz="3200">
                <a:latin typeface="Arial"/>
                <a:cs typeface="Arial"/>
              </a:rPr>
              <a:t> 3.0 using APIC V10</a:t>
            </a:r>
          </a:p>
        </p:txBody>
      </p:sp>
      <p:sp>
        <p:nvSpPr>
          <p:cNvPr id="3" name="Text Placeholder 2"/>
          <p:cNvSpPr>
            <a:spLocks noGrp="1"/>
          </p:cNvSpPr>
          <p:nvPr>
            <p:ph type="body" sz="quarter" idx="11"/>
          </p:nvPr>
        </p:nvSpPr>
        <p:spPr/>
        <p:txBody>
          <a:bodyPr/>
          <a:lstStyle/>
          <a:p>
            <a:r>
              <a:rPr lang="en-US"/>
              <a:t>Completing the API</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Complete the API by:</a:t>
            </a:r>
          </a:p>
          <a:p>
            <a:r>
              <a:rPr lang="en-US" sz="1600">
                <a:latin typeface="Arial"/>
                <a:cs typeface="Arial"/>
              </a:rPr>
              <a:t>Creating any definitions as needed (</a:t>
            </a:r>
            <a:r>
              <a:rPr lang="en-US" sz="1600">
                <a:latin typeface="Arial"/>
                <a:cs typeface="Arial"/>
                <a:hlinkClick r:id="rId2" action="ppaction://hlinksldjump"/>
              </a:rPr>
              <a:t>link</a:t>
            </a:r>
            <a:r>
              <a:rPr lang="en-US" sz="1600">
                <a:latin typeface="Arial"/>
                <a:cs typeface="Arial"/>
              </a:rPr>
              <a:t>)</a:t>
            </a:r>
          </a:p>
          <a:p>
            <a:r>
              <a:rPr lang="en-US" sz="1600">
                <a:latin typeface="Arial"/>
                <a:cs typeface="Arial"/>
              </a:rPr>
              <a:t>Importing any target services and map for XML based services as needed (</a:t>
            </a:r>
            <a:r>
              <a:rPr lang="en-US" sz="1600">
                <a:latin typeface="Arial"/>
                <a:cs typeface="Arial"/>
                <a:hlinkClick r:id="rId3" action="ppaction://hlinksldjump"/>
              </a:rPr>
              <a:t>link</a:t>
            </a:r>
            <a:r>
              <a:rPr lang="en-US" sz="1600">
                <a:latin typeface="Arial"/>
                <a:cs typeface="Arial"/>
              </a:rPr>
              <a:t>)</a:t>
            </a:r>
          </a:p>
          <a:p>
            <a:r>
              <a:rPr lang="en-US" sz="1600">
                <a:latin typeface="Arial"/>
                <a:cs typeface="Arial"/>
              </a:rPr>
              <a:t>Importing any target services and map for Swagger based services as needed (</a:t>
            </a:r>
            <a:r>
              <a:rPr lang="en-US" sz="1600">
                <a:latin typeface="Arial"/>
                <a:cs typeface="Arial"/>
                <a:hlinkClick r:id="rId4" action="ppaction://hlinksldjump"/>
              </a:rPr>
              <a:t>link</a:t>
            </a:r>
            <a:r>
              <a:rPr lang="en-US" sz="1600">
                <a:latin typeface="Arial"/>
                <a:cs typeface="Arial"/>
              </a:rPr>
              <a:t>)</a:t>
            </a:r>
          </a:p>
          <a:p>
            <a:r>
              <a:rPr lang="en-US" sz="1600">
                <a:latin typeface="Arial"/>
                <a:cs typeface="Arial"/>
              </a:rPr>
              <a:t>Completing a Proxy as needed (</a:t>
            </a:r>
            <a:r>
              <a:rPr lang="en-US" sz="1600">
                <a:latin typeface="Arial"/>
                <a:cs typeface="Arial"/>
                <a:hlinkClick r:id="rId5" action="ppaction://hlinksldjump"/>
              </a:rPr>
              <a:t>link</a:t>
            </a:r>
            <a:r>
              <a:rPr lang="en-US" sz="1600">
                <a:latin typeface="Arial"/>
                <a:cs typeface="Arial"/>
              </a:rPr>
              <a: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9" name="Picture 8">
            <a:extLst>
              <a:ext uri="{FF2B5EF4-FFF2-40B4-BE49-F238E27FC236}">
                <a16:creationId xmlns:a16="http://schemas.microsoft.com/office/drawing/2014/main" id="{FF3623FB-7B4D-4BCA-B14D-90D4B62714FE}"/>
              </a:ext>
            </a:extLst>
          </p:cNvPr>
          <p:cNvPicPr>
            <a:picLocks noChangeAspect="1"/>
          </p:cNvPicPr>
          <p:nvPr/>
        </p:nvPicPr>
        <p:blipFill>
          <a:blip r:embed="rId6"/>
          <a:stretch>
            <a:fillRect/>
          </a:stretch>
        </p:blipFill>
        <p:spPr>
          <a:xfrm>
            <a:off x="274220" y="1713989"/>
            <a:ext cx="6229459" cy="2172211"/>
          </a:xfrm>
          <a:prstGeom prst="rect">
            <a:avLst/>
          </a:prstGeom>
        </p:spPr>
      </p:pic>
    </p:spTree>
    <p:extLst>
      <p:ext uri="{BB962C8B-B14F-4D97-AF65-F5344CB8AC3E}">
        <p14:creationId xmlns:p14="http://schemas.microsoft.com/office/powerpoint/2010/main" val="11905423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p:txBody>
          <a:bodyPr/>
          <a:lstStyle/>
          <a:p>
            <a:r>
              <a:rPr lang="en-US" sz="2800">
                <a:latin typeface="Arial"/>
                <a:cs typeface="Arial"/>
              </a:rPr>
              <a:t>Create a complex schema using API Connect V10</a:t>
            </a:r>
            <a:endParaRPr lang="en-US"/>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Introduction</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6956612" cy="4174867"/>
          </a:xfrm>
        </p:spPr>
        <p:txBody>
          <a:bodyPr lIns="91440" tIns="45720" rIns="91440" bIns="45720" anchor="t"/>
          <a:lstStyle/>
          <a:p>
            <a:r>
              <a:rPr lang="en-US" sz="1600">
                <a:latin typeface="Arial"/>
                <a:cs typeface="Arial"/>
              </a:rPr>
              <a:t>This section describes how to define a JSON object with multiple properties and hierarchical structure using the API Connect V10 User Interface for </a:t>
            </a:r>
            <a:r>
              <a:rPr lang="en-US" sz="1600" err="1">
                <a:latin typeface="Arial"/>
                <a:cs typeface="Arial"/>
              </a:rPr>
              <a:t>OpenAPI</a:t>
            </a:r>
            <a:r>
              <a:rPr lang="en-US" sz="1600">
                <a:latin typeface="Arial"/>
                <a:cs typeface="Arial"/>
              </a:rPr>
              <a:t> 3.0</a:t>
            </a:r>
          </a:p>
          <a:p>
            <a:r>
              <a:rPr lang="en-US" sz="1600">
                <a:latin typeface="Arial"/>
                <a:cs typeface="Arial"/>
              </a:rPr>
              <a:t>When dealing with nested structures it’s best to start from the inner most “bottom” structure and build up to the final schema.</a:t>
            </a:r>
          </a:p>
          <a:p>
            <a:r>
              <a:rPr lang="en-US" sz="1600">
                <a:latin typeface="Arial"/>
                <a:cs typeface="Arial"/>
              </a:rPr>
              <a:t>This example will show a contact object creation:</a:t>
            </a:r>
          </a:p>
          <a:p>
            <a:r>
              <a:rPr lang="en-US" sz="1600">
                <a:latin typeface="Arial"/>
                <a:cs typeface="Arial"/>
              </a:rPr>
              <a:t>Start by building the name and address schemas then create a reference to each from the Contact schema</a:t>
            </a:r>
          </a:p>
          <a:p>
            <a:endParaRPr lang="en-US" sz="1600">
              <a:latin typeface="Arial"/>
              <a:cs typeface="Arial"/>
            </a:endParaRPr>
          </a:p>
          <a:p>
            <a:endParaRPr lang="en-US" sz="1600"/>
          </a:p>
          <a:p>
            <a:endParaRPr lang="en-US" sz="1600"/>
          </a:p>
          <a:p>
            <a:endParaRPr lang="en-US" sz="1600"/>
          </a:p>
        </p:txBody>
      </p:sp>
      <p:sp>
        <p:nvSpPr>
          <p:cNvPr id="9" name="TextBox 8">
            <a:extLst>
              <a:ext uri="{FF2B5EF4-FFF2-40B4-BE49-F238E27FC236}">
                <a16:creationId xmlns:a16="http://schemas.microsoft.com/office/drawing/2014/main" id="{6CB82F9A-4DC2-4622-A052-A847C2C7D970}"/>
              </a:ext>
            </a:extLst>
          </p:cNvPr>
          <p:cNvSpPr txBox="1"/>
          <p:nvPr/>
        </p:nvSpPr>
        <p:spPr>
          <a:xfrm>
            <a:off x="7413812" y="2114421"/>
            <a:ext cx="3334868" cy="4031873"/>
          </a:xfrm>
          <a:prstGeom prst="rect">
            <a:avLst/>
          </a:prstGeom>
          <a:noFill/>
        </p:spPr>
        <p:txBody>
          <a:bodyPr wrap="square">
            <a:spAutoFit/>
          </a:bodyPr>
          <a:lstStyle/>
          <a:p>
            <a:r>
              <a:rPr lang="en-US" sz="1600"/>
              <a:t>{</a:t>
            </a:r>
          </a:p>
          <a:p>
            <a:r>
              <a:rPr lang="en-US" sz="1600"/>
              <a:t>“Contact":</a:t>
            </a:r>
          </a:p>
          <a:p>
            <a:pPr lvl="1"/>
            <a:r>
              <a:rPr lang="en-US" sz="1600"/>
              <a:t>{</a:t>
            </a:r>
          </a:p>
          <a:p>
            <a:pPr lvl="1"/>
            <a:r>
              <a:rPr lang="en-US" sz="1600"/>
              <a:t>  "name":</a:t>
            </a:r>
          </a:p>
          <a:p>
            <a:pPr lvl="1"/>
            <a:r>
              <a:rPr lang="en-US" sz="1600"/>
              <a:t>  {</a:t>
            </a:r>
          </a:p>
          <a:p>
            <a:pPr lvl="1"/>
            <a:r>
              <a:rPr lang="en-US" sz="1600"/>
              <a:t>    "given": Frank,</a:t>
            </a:r>
          </a:p>
          <a:p>
            <a:pPr lvl="1"/>
            <a:r>
              <a:rPr lang="en-US" sz="1600"/>
              <a:t>    "family": </a:t>
            </a:r>
            <a:r>
              <a:rPr lang="en-US" sz="1600" err="1"/>
              <a:t>Enstein</a:t>
            </a:r>
            <a:endParaRPr lang="en-US" sz="1600"/>
          </a:p>
          <a:p>
            <a:pPr lvl="1"/>
            <a:r>
              <a:rPr lang="en-US" sz="1600"/>
              <a:t>  },</a:t>
            </a:r>
          </a:p>
          <a:p>
            <a:pPr lvl="1"/>
            <a:r>
              <a:rPr lang="en-US" sz="1600"/>
              <a:t>  "phone": "800.555.1212",</a:t>
            </a:r>
          </a:p>
          <a:p>
            <a:pPr lvl="1"/>
            <a:r>
              <a:rPr lang="en-US" sz="1600"/>
              <a:t>  "address":</a:t>
            </a:r>
          </a:p>
          <a:p>
            <a:pPr lvl="1"/>
            <a:r>
              <a:rPr lang="en-US" sz="1600"/>
              <a:t>  {</a:t>
            </a:r>
          </a:p>
          <a:p>
            <a:pPr lvl="1"/>
            <a:r>
              <a:rPr lang="en-US" sz="1600"/>
              <a:t>    "street": "Main St",</a:t>
            </a:r>
          </a:p>
          <a:p>
            <a:pPr lvl="1"/>
            <a:r>
              <a:rPr lang="en-US" sz="1600"/>
              <a:t>    "city" : "Anytown"</a:t>
            </a:r>
          </a:p>
          <a:p>
            <a:pPr lvl="1"/>
            <a:r>
              <a:rPr lang="en-US" sz="1600"/>
              <a:t>  }</a:t>
            </a:r>
          </a:p>
          <a:p>
            <a:pPr lvl="1"/>
            <a:r>
              <a:rPr lang="en-US" sz="1600"/>
              <a:t>}</a:t>
            </a:r>
          </a:p>
          <a:p>
            <a:r>
              <a:rPr lang="en-US" sz="1600"/>
              <a:t>}</a:t>
            </a:r>
          </a:p>
        </p:txBody>
      </p:sp>
    </p:spTree>
    <p:extLst>
      <p:ext uri="{BB962C8B-B14F-4D97-AF65-F5344CB8AC3E}">
        <p14:creationId xmlns:p14="http://schemas.microsoft.com/office/powerpoint/2010/main" val="15781566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 complex definition using API Connect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r>
              <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rPr>
              <a:t>Expand Components</a:t>
            </a: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r>
              <a:rPr lang="en-US" sz="1600">
                <a:solidFill>
                  <a:srgbClr val="414141"/>
                </a:solidFill>
                <a:latin typeface="Arial"/>
                <a:cs typeface="Arial"/>
              </a:rPr>
              <a:t>Create a new schema by clicking on the </a:t>
            </a:r>
            <a:r>
              <a:rPr lang="en-US" sz="1600">
                <a:latin typeface="Symbol" panose="05050102010706020507" pitchFamily="18" charset="2"/>
              </a:rPr>
              <a:t>Å</a:t>
            </a:r>
            <a:endParaRPr lang="en-US" sz="1600">
              <a:solidFill>
                <a:srgbClr val="414141"/>
              </a:solidFill>
              <a:latin typeface="Arial"/>
              <a:cs typeface="Arial"/>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8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8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p:txBody>
      </p:sp>
      <p:pic>
        <p:nvPicPr>
          <p:cNvPr id="5" name="Picture 4">
            <a:extLst>
              <a:ext uri="{FF2B5EF4-FFF2-40B4-BE49-F238E27FC236}">
                <a16:creationId xmlns:a16="http://schemas.microsoft.com/office/drawing/2014/main" id="{F7F3A03A-50E1-44CE-AA74-93B569294BFE}"/>
              </a:ext>
            </a:extLst>
          </p:cNvPr>
          <p:cNvPicPr>
            <a:picLocks noChangeAspect="1"/>
          </p:cNvPicPr>
          <p:nvPr/>
        </p:nvPicPr>
        <p:blipFill>
          <a:blip r:embed="rId2"/>
          <a:stretch>
            <a:fillRect/>
          </a:stretch>
        </p:blipFill>
        <p:spPr>
          <a:xfrm>
            <a:off x="191903" y="1713989"/>
            <a:ext cx="2609850" cy="1314450"/>
          </a:xfrm>
          <a:prstGeom prst="rect">
            <a:avLst/>
          </a:prstGeom>
        </p:spPr>
      </p:pic>
    </p:spTree>
    <p:extLst>
      <p:ext uri="{BB962C8B-B14F-4D97-AF65-F5344CB8AC3E}">
        <p14:creationId xmlns:p14="http://schemas.microsoft.com/office/powerpoint/2010/main" val="29895572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 complex definition using API Connect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r>
              <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rPr>
              <a:t>Enter a Schema Name</a:t>
            </a: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r>
              <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rPr>
              <a:t>Select “object” as Type</a:t>
            </a: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r>
              <a:rPr lang="en-US" sz="1600">
                <a:solidFill>
                  <a:srgbClr val="414141"/>
                </a:solidFill>
                <a:latin typeface="Arial"/>
                <a:cs typeface="Arial"/>
              </a:rPr>
              <a:t>Enter a Description</a:t>
            </a: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r>
              <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rPr>
              <a:t>Click Create</a:t>
            </a: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8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8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p:txBody>
      </p:sp>
      <p:pic>
        <p:nvPicPr>
          <p:cNvPr id="5" name="Picture 4">
            <a:extLst>
              <a:ext uri="{FF2B5EF4-FFF2-40B4-BE49-F238E27FC236}">
                <a16:creationId xmlns:a16="http://schemas.microsoft.com/office/drawing/2014/main" id="{7D929D01-E8A8-478B-A684-FD8B4919E87B}"/>
              </a:ext>
            </a:extLst>
          </p:cNvPr>
          <p:cNvPicPr>
            <a:picLocks noChangeAspect="1"/>
          </p:cNvPicPr>
          <p:nvPr/>
        </p:nvPicPr>
        <p:blipFill>
          <a:blip r:embed="rId2"/>
          <a:stretch>
            <a:fillRect/>
          </a:stretch>
        </p:blipFill>
        <p:spPr>
          <a:xfrm>
            <a:off x="143996" y="1676353"/>
            <a:ext cx="3979770" cy="4631510"/>
          </a:xfrm>
          <a:prstGeom prst="rect">
            <a:avLst/>
          </a:prstGeom>
        </p:spPr>
      </p:pic>
    </p:spTree>
    <p:extLst>
      <p:ext uri="{BB962C8B-B14F-4D97-AF65-F5344CB8AC3E}">
        <p14:creationId xmlns:p14="http://schemas.microsoft.com/office/powerpoint/2010/main" val="31553115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 complex definition using API Connect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r>
              <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rPr>
              <a:t>In the Properties</a:t>
            </a: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r>
              <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rPr>
              <a:t>Click Add for each property to add</a:t>
            </a: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8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8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p:txBody>
      </p:sp>
      <p:pic>
        <p:nvPicPr>
          <p:cNvPr id="9" name="Picture 8">
            <a:extLst>
              <a:ext uri="{FF2B5EF4-FFF2-40B4-BE49-F238E27FC236}">
                <a16:creationId xmlns:a16="http://schemas.microsoft.com/office/drawing/2014/main" id="{D601DD8B-4E35-4E75-9D8C-D0C11F438E34}"/>
              </a:ext>
            </a:extLst>
          </p:cNvPr>
          <p:cNvPicPr>
            <a:picLocks noChangeAspect="1"/>
          </p:cNvPicPr>
          <p:nvPr/>
        </p:nvPicPr>
        <p:blipFill>
          <a:blip r:embed="rId2"/>
          <a:stretch>
            <a:fillRect/>
          </a:stretch>
        </p:blipFill>
        <p:spPr>
          <a:xfrm>
            <a:off x="99732" y="1670588"/>
            <a:ext cx="6424085" cy="1574987"/>
          </a:xfrm>
          <a:prstGeom prst="rect">
            <a:avLst/>
          </a:prstGeom>
        </p:spPr>
      </p:pic>
    </p:spTree>
    <p:extLst>
      <p:ext uri="{BB962C8B-B14F-4D97-AF65-F5344CB8AC3E}">
        <p14:creationId xmlns:p14="http://schemas.microsoft.com/office/powerpoint/2010/main" val="24318615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 complex definition using API Connect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r>
              <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rPr>
              <a:t>Enter property information</a:t>
            </a: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r>
              <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rPr>
              <a:t>Click </a:t>
            </a:r>
            <a:r>
              <a:rPr lang="en-US" sz="1600">
                <a:solidFill>
                  <a:srgbClr val="414141"/>
                </a:solidFill>
                <a:latin typeface="Arial"/>
                <a:cs typeface="Arial"/>
              </a:rPr>
              <a:t>Create</a:t>
            </a: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r>
              <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rPr>
              <a:t>After Creating a </a:t>
            </a:r>
            <a:r>
              <a:rPr lang="en-US" sz="1600">
                <a:solidFill>
                  <a:srgbClr val="414141"/>
                </a:solidFill>
                <a:latin typeface="Arial"/>
                <a:cs typeface="Arial"/>
              </a:rPr>
              <a:t>property, scroll down to enter sample data</a:t>
            </a: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8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8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p:txBody>
      </p:sp>
      <p:pic>
        <p:nvPicPr>
          <p:cNvPr id="5" name="Picture 4">
            <a:extLst>
              <a:ext uri="{FF2B5EF4-FFF2-40B4-BE49-F238E27FC236}">
                <a16:creationId xmlns:a16="http://schemas.microsoft.com/office/drawing/2014/main" id="{14D30269-6ABD-4920-BEEB-4043435C6029}"/>
              </a:ext>
            </a:extLst>
          </p:cNvPr>
          <p:cNvPicPr>
            <a:picLocks noChangeAspect="1"/>
          </p:cNvPicPr>
          <p:nvPr/>
        </p:nvPicPr>
        <p:blipFill>
          <a:blip r:embed="rId2"/>
          <a:stretch>
            <a:fillRect/>
          </a:stretch>
        </p:blipFill>
        <p:spPr>
          <a:xfrm>
            <a:off x="252663" y="1769529"/>
            <a:ext cx="2947789" cy="4493657"/>
          </a:xfrm>
          <a:prstGeom prst="rect">
            <a:avLst/>
          </a:prstGeom>
        </p:spPr>
      </p:pic>
      <p:pic>
        <p:nvPicPr>
          <p:cNvPr id="8" name="Picture 7">
            <a:extLst>
              <a:ext uri="{FF2B5EF4-FFF2-40B4-BE49-F238E27FC236}">
                <a16:creationId xmlns:a16="http://schemas.microsoft.com/office/drawing/2014/main" id="{7BA57ACC-31E8-4F2B-B79B-DA4D06F44EBC}"/>
              </a:ext>
            </a:extLst>
          </p:cNvPr>
          <p:cNvPicPr>
            <a:picLocks noChangeAspect="1"/>
          </p:cNvPicPr>
          <p:nvPr/>
        </p:nvPicPr>
        <p:blipFill>
          <a:blip r:embed="rId3"/>
          <a:stretch>
            <a:fillRect/>
          </a:stretch>
        </p:blipFill>
        <p:spPr>
          <a:xfrm>
            <a:off x="3345236" y="4990293"/>
            <a:ext cx="3243823" cy="1272893"/>
          </a:xfrm>
          <a:prstGeom prst="rect">
            <a:avLst/>
          </a:prstGeom>
        </p:spPr>
      </p:pic>
    </p:spTree>
    <p:extLst>
      <p:ext uri="{BB962C8B-B14F-4D97-AF65-F5344CB8AC3E}">
        <p14:creationId xmlns:p14="http://schemas.microsoft.com/office/powerpoint/2010/main" val="38763196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F8B869F-9463-4FFD-96B2-1C013F65E3CC}"/>
              </a:ext>
            </a:extLst>
          </p:cNvPr>
          <p:cNvPicPr>
            <a:picLocks noChangeAspect="1"/>
          </p:cNvPicPr>
          <p:nvPr/>
        </p:nvPicPr>
        <p:blipFill>
          <a:blip r:embed="rId2"/>
          <a:stretch>
            <a:fillRect/>
          </a:stretch>
        </p:blipFill>
        <p:spPr>
          <a:xfrm>
            <a:off x="252664" y="3908612"/>
            <a:ext cx="6272558" cy="2539764"/>
          </a:xfrm>
          <a:prstGeom prst="rect">
            <a:avLst/>
          </a:prstGeom>
        </p:spPr>
      </p:pic>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 complex definition using API Connect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r>
              <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rPr>
              <a:t>Creating object from the bottom</a:t>
            </a:r>
            <a:r>
              <a:rPr lang="en-US" sz="1600">
                <a:solidFill>
                  <a:srgbClr val="414141"/>
                </a:solidFill>
                <a:latin typeface="Arial"/>
                <a:cs typeface="Arial"/>
              </a:rPr>
              <a:t> up will simplify the effort.</a:t>
            </a: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lang="en-US" sz="1600">
              <a:solidFill>
                <a:srgbClr val="414141"/>
              </a:solidFill>
              <a:latin typeface="Arial"/>
              <a:cs typeface="Arial"/>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r>
              <a:rPr lang="en-US" sz="1600">
                <a:solidFill>
                  <a:srgbClr val="414141"/>
                </a:solidFill>
                <a:latin typeface="Arial"/>
                <a:cs typeface="Arial"/>
              </a:rPr>
              <a:t>In this example…Phone is a Property (object) that must be created within the Schema to be selected as a property type</a:t>
            </a: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br>
              <a:rPr lang="en-US" sz="1600">
                <a:solidFill>
                  <a:srgbClr val="414141"/>
                </a:solidFill>
                <a:latin typeface="Arial"/>
                <a:cs typeface="Arial"/>
              </a:rPr>
            </a:br>
            <a:br>
              <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rPr>
            </a:br>
            <a:r>
              <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rPr>
              <a:t>Click Save</a:t>
            </a: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8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8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p:txBody>
      </p:sp>
      <p:pic>
        <p:nvPicPr>
          <p:cNvPr id="6" name="Picture 5">
            <a:extLst>
              <a:ext uri="{FF2B5EF4-FFF2-40B4-BE49-F238E27FC236}">
                <a16:creationId xmlns:a16="http://schemas.microsoft.com/office/drawing/2014/main" id="{55AA819B-262C-434B-A943-9EFAE6880886}"/>
              </a:ext>
            </a:extLst>
          </p:cNvPr>
          <p:cNvPicPr>
            <a:picLocks noChangeAspect="1"/>
          </p:cNvPicPr>
          <p:nvPr/>
        </p:nvPicPr>
        <p:blipFill>
          <a:blip r:embed="rId3"/>
          <a:stretch>
            <a:fillRect/>
          </a:stretch>
        </p:blipFill>
        <p:spPr>
          <a:xfrm>
            <a:off x="252663" y="1621631"/>
            <a:ext cx="3593196" cy="2200301"/>
          </a:xfrm>
          <a:prstGeom prst="rect">
            <a:avLst/>
          </a:prstGeom>
        </p:spPr>
      </p:pic>
      <p:cxnSp>
        <p:nvCxnSpPr>
          <p:cNvPr id="10" name="Straight Arrow Connector 9">
            <a:extLst>
              <a:ext uri="{FF2B5EF4-FFF2-40B4-BE49-F238E27FC236}">
                <a16:creationId xmlns:a16="http://schemas.microsoft.com/office/drawing/2014/main" id="{2C66C373-A807-4CE1-A90D-DC1901A15368}"/>
              </a:ext>
            </a:extLst>
          </p:cNvPr>
          <p:cNvCxnSpPr>
            <a:cxnSpLocks/>
          </p:cNvCxnSpPr>
          <p:nvPr/>
        </p:nvCxnSpPr>
        <p:spPr>
          <a:xfrm flipH="1">
            <a:off x="3487271" y="2958353"/>
            <a:ext cx="3252196" cy="2653553"/>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02339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 complex definition using API Connect V10</a:t>
            </a:r>
          </a:p>
        </p:txBody>
      </p:sp>
      <p:sp>
        <p:nvSpPr>
          <p:cNvPr id="3" name="Text Placeholder 2"/>
          <p:cNvSpPr>
            <a:spLocks noGrp="1"/>
          </p:cNvSpPr>
          <p:nvPr>
            <p:ph type="body" sz="quarter" idx="11"/>
          </p:nvPr>
        </p:nvSpPr>
        <p:spPr/>
        <p:txBody>
          <a:bodyPr/>
          <a:lstStyle/>
          <a:p>
            <a:r>
              <a:rPr lang="en-US"/>
              <a:t>APIC User Interface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r>
              <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rPr>
              <a:t>The final result is a Contact Schema with References to Name schema and Address schema and a phone property.</a:t>
            </a: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a:ea typeface="Open Sans" panose="020B0606030504020204" pitchFamily="34" charset="0"/>
              <a:cs typeface="Arial"/>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8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6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1200"/>
              </a:spcBef>
              <a:spcAft>
                <a:spcPts val="0"/>
              </a:spcAft>
              <a:buClrTx/>
              <a:buSzTx/>
              <a:buFontTx/>
              <a:buNone/>
              <a:tabLst>
                <a:tab pos="1201738" algn="l"/>
              </a:tabLst>
              <a:defRPr/>
            </a:pPr>
            <a:endParaRPr kumimoji="0" lang="en-US" sz="1800" b="0" i="0" u="none" strike="noStrike" kern="1200" cap="none" spc="0" normalizeH="0" baseline="0" noProof="0">
              <a:ln>
                <a:noFill/>
              </a:ln>
              <a:solidFill>
                <a:srgbClr val="414141"/>
              </a:solidFill>
              <a:effectLst/>
              <a:uLnTx/>
              <a:uFillTx/>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endParaRPr>
          </a:p>
        </p:txBody>
      </p:sp>
      <p:pic>
        <p:nvPicPr>
          <p:cNvPr id="9" name="Picture 8">
            <a:extLst>
              <a:ext uri="{FF2B5EF4-FFF2-40B4-BE49-F238E27FC236}">
                <a16:creationId xmlns:a16="http://schemas.microsoft.com/office/drawing/2014/main" id="{9B975974-2D1F-4AC1-B705-28060E5CA364}"/>
              </a:ext>
            </a:extLst>
          </p:cNvPr>
          <p:cNvPicPr>
            <a:picLocks noChangeAspect="1"/>
          </p:cNvPicPr>
          <p:nvPr/>
        </p:nvPicPr>
        <p:blipFill>
          <a:blip r:embed="rId2"/>
          <a:stretch>
            <a:fillRect/>
          </a:stretch>
        </p:blipFill>
        <p:spPr>
          <a:xfrm>
            <a:off x="252663" y="1730649"/>
            <a:ext cx="6238875" cy="4267200"/>
          </a:xfrm>
          <a:prstGeom prst="rect">
            <a:avLst/>
          </a:prstGeom>
        </p:spPr>
      </p:pic>
    </p:spTree>
    <p:extLst>
      <p:ext uri="{BB962C8B-B14F-4D97-AF65-F5344CB8AC3E}">
        <p14:creationId xmlns:p14="http://schemas.microsoft.com/office/powerpoint/2010/main" val="34168292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p:txBody>
          <a:bodyPr/>
          <a:lstStyle/>
          <a:p>
            <a:r>
              <a:rPr lang="en-US" sz="2800">
                <a:latin typeface="Arial"/>
                <a:cs typeface="Arial"/>
              </a:rPr>
              <a:t>Create an API Product</a:t>
            </a:r>
            <a:endParaRPr lang="en-US"/>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Introduction</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11272838" cy="4174867"/>
          </a:xfrm>
        </p:spPr>
        <p:txBody>
          <a:bodyPr lIns="91440" tIns="45720" rIns="91440" bIns="45720" anchor="t"/>
          <a:lstStyle/>
          <a:p>
            <a:r>
              <a:rPr lang="en-US" sz="1600">
                <a:latin typeface="Arial"/>
                <a:cs typeface="Arial"/>
              </a:rPr>
              <a:t>This section describes how to create API Products to which Applications subscribe. </a:t>
            </a:r>
          </a:p>
          <a:p>
            <a:r>
              <a:rPr lang="en-US" sz="1600">
                <a:latin typeface="Arial"/>
                <a:cs typeface="Arial"/>
              </a:rPr>
              <a:t>Products provide access to APIs, their paths and operations.  </a:t>
            </a:r>
          </a:p>
          <a:p>
            <a:r>
              <a:rPr lang="en-US" sz="1600">
                <a:latin typeface="Arial"/>
                <a:cs typeface="Arial"/>
              </a:rPr>
              <a:t>Products also control service loads via Rate Limits.</a:t>
            </a:r>
          </a:p>
          <a:p>
            <a:endParaRPr lang="en-US" sz="1600"/>
          </a:p>
          <a:p>
            <a:endParaRPr lang="en-US" sz="1600"/>
          </a:p>
          <a:p>
            <a:endParaRPr lang="en-US" sz="1600"/>
          </a:p>
        </p:txBody>
      </p:sp>
    </p:spTree>
    <p:extLst>
      <p:ext uri="{BB962C8B-B14F-4D97-AF65-F5344CB8AC3E}">
        <p14:creationId xmlns:p14="http://schemas.microsoft.com/office/powerpoint/2010/main" val="10929677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an API Product</a:t>
            </a:r>
          </a:p>
        </p:txBody>
      </p:sp>
      <p:sp>
        <p:nvSpPr>
          <p:cNvPr id="3" name="Text Placeholder 2"/>
          <p:cNvSpPr>
            <a:spLocks noGrp="1"/>
          </p:cNvSpPr>
          <p:nvPr>
            <p:ph type="body" sz="quarter" idx="11"/>
          </p:nvPr>
        </p:nvSpPr>
        <p:spPr/>
        <p:txBody>
          <a:bodyPr/>
          <a:lstStyle/>
          <a:p>
            <a:r>
              <a:rPr lang="en-US"/>
              <a:t>APIC Product</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From Develop </a:t>
            </a:r>
          </a:p>
          <a:p>
            <a:r>
              <a:rPr lang="en-US" sz="1600">
                <a:latin typeface="Arial"/>
                <a:cs typeface="Arial"/>
              </a:rPr>
              <a:t>Click Add and select Product</a:t>
            </a:r>
          </a:p>
          <a:p>
            <a:r>
              <a:rPr lang="en-US" sz="1600">
                <a:latin typeface="Arial"/>
                <a:cs typeface="Arial"/>
              </a:rPr>
              <a:t>Select New Product</a:t>
            </a:r>
          </a:p>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9" name="Picture 8">
            <a:extLst>
              <a:ext uri="{FF2B5EF4-FFF2-40B4-BE49-F238E27FC236}">
                <a16:creationId xmlns:a16="http://schemas.microsoft.com/office/drawing/2014/main" id="{3BC1DBE1-FF15-46F4-A00E-B28FE5C8A874}"/>
              </a:ext>
            </a:extLst>
          </p:cNvPr>
          <p:cNvPicPr>
            <a:picLocks noChangeAspect="1"/>
          </p:cNvPicPr>
          <p:nvPr/>
        </p:nvPicPr>
        <p:blipFill>
          <a:blip r:embed="rId2"/>
          <a:stretch>
            <a:fillRect/>
          </a:stretch>
        </p:blipFill>
        <p:spPr>
          <a:xfrm>
            <a:off x="252663" y="1813259"/>
            <a:ext cx="5334000" cy="1162050"/>
          </a:xfrm>
          <a:prstGeom prst="rect">
            <a:avLst/>
          </a:prstGeom>
        </p:spPr>
      </p:pic>
      <p:pic>
        <p:nvPicPr>
          <p:cNvPr id="11" name="Picture 10">
            <a:extLst>
              <a:ext uri="{FF2B5EF4-FFF2-40B4-BE49-F238E27FC236}">
                <a16:creationId xmlns:a16="http://schemas.microsoft.com/office/drawing/2014/main" id="{7D86E05A-E9F3-452E-A087-E1F8C4A0A3C6}"/>
              </a:ext>
            </a:extLst>
          </p:cNvPr>
          <p:cNvPicPr>
            <a:picLocks noChangeAspect="1"/>
          </p:cNvPicPr>
          <p:nvPr/>
        </p:nvPicPr>
        <p:blipFill>
          <a:blip r:embed="rId3"/>
          <a:stretch>
            <a:fillRect/>
          </a:stretch>
        </p:blipFill>
        <p:spPr>
          <a:xfrm>
            <a:off x="252663" y="3200902"/>
            <a:ext cx="4171950" cy="1924050"/>
          </a:xfrm>
          <a:prstGeom prst="rect">
            <a:avLst/>
          </a:prstGeom>
        </p:spPr>
      </p:pic>
    </p:spTree>
    <p:extLst>
      <p:ext uri="{BB962C8B-B14F-4D97-AF65-F5344CB8AC3E}">
        <p14:creationId xmlns:p14="http://schemas.microsoft.com/office/powerpoint/2010/main" val="41524442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an API Product</a:t>
            </a:r>
          </a:p>
        </p:txBody>
      </p:sp>
      <p:sp>
        <p:nvSpPr>
          <p:cNvPr id="3" name="Text Placeholder 2"/>
          <p:cNvSpPr>
            <a:spLocks noGrp="1"/>
          </p:cNvSpPr>
          <p:nvPr>
            <p:ph type="body" sz="quarter" idx="11"/>
          </p:nvPr>
        </p:nvSpPr>
        <p:spPr/>
        <p:txBody>
          <a:bodyPr/>
          <a:lstStyle/>
          <a:p>
            <a:r>
              <a:rPr lang="en-US"/>
              <a:t>APIC Product</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Enter Title, Version </a:t>
            </a:r>
          </a:p>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3C8ED2CD-D08B-40B2-BE8D-8D357D4325B8}"/>
              </a:ext>
            </a:extLst>
          </p:cNvPr>
          <p:cNvPicPr>
            <a:picLocks noChangeAspect="1"/>
          </p:cNvPicPr>
          <p:nvPr/>
        </p:nvPicPr>
        <p:blipFill>
          <a:blip r:embed="rId2"/>
          <a:stretch>
            <a:fillRect/>
          </a:stretch>
        </p:blipFill>
        <p:spPr>
          <a:xfrm>
            <a:off x="252663" y="1713989"/>
            <a:ext cx="3362325" cy="4000500"/>
          </a:xfrm>
          <a:prstGeom prst="rect">
            <a:avLst/>
          </a:prstGeom>
        </p:spPr>
      </p:pic>
    </p:spTree>
    <p:extLst>
      <p:ext uri="{BB962C8B-B14F-4D97-AF65-F5344CB8AC3E}">
        <p14:creationId xmlns:p14="http://schemas.microsoft.com/office/powerpoint/2010/main" val="31132231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an API Product</a:t>
            </a:r>
          </a:p>
        </p:txBody>
      </p:sp>
      <p:sp>
        <p:nvSpPr>
          <p:cNvPr id="3" name="Text Placeholder 2"/>
          <p:cNvSpPr>
            <a:spLocks noGrp="1"/>
          </p:cNvSpPr>
          <p:nvPr>
            <p:ph type="body" sz="quarter" idx="11"/>
          </p:nvPr>
        </p:nvSpPr>
        <p:spPr/>
        <p:txBody>
          <a:bodyPr/>
          <a:lstStyle/>
          <a:p>
            <a:r>
              <a:rPr lang="en-US"/>
              <a:t>APIC Product</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Select APIs to be included within the product</a:t>
            </a:r>
          </a:p>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2E9EA117-B879-4138-A81D-044DAB3B784B}"/>
              </a:ext>
            </a:extLst>
          </p:cNvPr>
          <p:cNvPicPr>
            <a:picLocks noChangeAspect="1"/>
          </p:cNvPicPr>
          <p:nvPr/>
        </p:nvPicPr>
        <p:blipFill>
          <a:blip r:embed="rId2"/>
          <a:stretch>
            <a:fillRect/>
          </a:stretch>
        </p:blipFill>
        <p:spPr>
          <a:xfrm>
            <a:off x="109538" y="1713989"/>
            <a:ext cx="6414582" cy="2662237"/>
          </a:xfrm>
          <a:prstGeom prst="rect">
            <a:avLst/>
          </a:prstGeom>
        </p:spPr>
      </p:pic>
    </p:spTree>
    <p:extLst>
      <p:ext uri="{BB962C8B-B14F-4D97-AF65-F5344CB8AC3E}">
        <p14:creationId xmlns:p14="http://schemas.microsoft.com/office/powerpoint/2010/main" val="7171823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an API Product</a:t>
            </a:r>
          </a:p>
        </p:txBody>
      </p:sp>
      <p:sp>
        <p:nvSpPr>
          <p:cNvPr id="3" name="Text Placeholder 2"/>
          <p:cNvSpPr>
            <a:spLocks noGrp="1"/>
          </p:cNvSpPr>
          <p:nvPr>
            <p:ph type="body" sz="quarter" idx="11"/>
          </p:nvPr>
        </p:nvSpPr>
        <p:spPr/>
        <p:txBody>
          <a:bodyPr/>
          <a:lstStyle/>
          <a:p>
            <a:r>
              <a:rPr lang="en-US"/>
              <a:t>APIC Product</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Set the Default Plan to one per week</a:t>
            </a:r>
          </a:p>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E795A5DF-E766-4ED9-B1D4-4FD3AE7FB91E}"/>
              </a:ext>
            </a:extLst>
          </p:cNvPr>
          <p:cNvPicPr>
            <a:picLocks noChangeAspect="1"/>
          </p:cNvPicPr>
          <p:nvPr/>
        </p:nvPicPr>
        <p:blipFill>
          <a:blip r:embed="rId2"/>
          <a:stretch>
            <a:fillRect/>
          </a:stretch>
        </p:blipFill>
        <p:spPr>
          <a:xfrm>
            <a:off x="161424" y="1713989"/>
            <a:ext cx="6286500" cy="4486275"/>
          </a:xfrm>
          <a:prstGeom prst="rect">
            <a:avLst/>
          </a:prstGeom>
        </p:spPr>
      </p:pic>
    </p:spTree>
    <p:extLst>
      <p:ext uri="{BB962C8B-B14F-4D97-AF65-F5344CB8AC3E}">
        <p14:creationId xmlns:p14="http://schemas.microsoft.com/office/powerpoint/2010/main" val="2524256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an API Product</a:t>
            </a:r>
          </a:p>
        </p:txBody>
      </p:sp>
      <p:sp>
        <p:nvSpPr>
          <p:cNvPr id="3" name="Text Placeholder 2"/>
          <p:cNvSpPr>
            <a:spLocks noGrp="1"/>
          </p:cNvSpPr>
          <p:nvPr>
            <p:ph type="body" sz="quarter" idx="11"/>
          </p:nvPr>
        </p:nvSpPr>
        <p:spPr/>
        <p:txBody>
          <a:bodyPr/>
          <a:lstStyle/>
          <a:p>
            <a:r>
              <a:rPr lang="en-US"/>
              <a:t>APIC Product</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Set Visibility to Authenticated</a:t>
            </a:r>
          </a:p>
          <a:p>
            <a:r>
              <a:rPr lang="en-US" sz="1600">
                <a:latin typeface="Arial"/>
                <a:cs typeface="Arial"/>
              </a:rPr>
              <a:t>Set </a:t>
            </a:r>
            <a:r>
              <a:rPr lang="en-US" sz="1600" err="1">
                <a:latin typeface="Arial"/>
                <a:cs typeface="Arial"/>
              </a:rPr>
              <a:t>Subscribability</a:t>
            </a:r>
            <a:r>
              <a:rPr lang="en-US" sz="1600">
                <a:latin typeface="Arial"/>
                <a:cs typeface="Arial"/>
              </a:rPr>
              <a:t> to Authenticated</a:t>
            </a:r>
          </a:p>
          <a:p>
            <a:r>
              <a:rPr lang="en-US" sz="1600">
                <a:latin typeface="Arial"/>
                <a:cs typeface="Arial"/>
              </a:rPr>
              <a:t>Click Next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9" name="Picture 8">
            <a:extLst>
              <a:ext uri="{FF2B5EF4-FFF2-40B4-BE49-F238E27FC236}">
                <a16:creationId xmlns:a16="http://schemas.microsoft.com/office/drawing/2014/main" id="{5CE951CE-BC08-497D-BA9A-BF0662BF02E5}"/>
              </a:ext>
            </a:extLst>
          </p:cNvPr>
          <p:cNvPicPr>
            <a:picLocks noChangeAspect="1"/>
          </p:cNvPicPr>
          <p:nvPr/>
        </p:nvPicPr>
        <p:blipFill>
          <a:blip r:embed="rId2"/>
          <a:stretch>
            <a:fillRect/>
          </a:stretch>
        </p:blipFill>
        <p:spPr>
          <a:xfrm>
            <a:off x="132347" y="1713989"/>
            <a:ext cx="6063916" cy="4658862"/>
          </a:xfrm>
          <a:prstGeom prst="rect">
            <a:avLst/>
          </a:prstGeom>
        </p:spPr>
      </p:pic>
    </p:spTree>
    <p:extLst>
      <p:ext uri="{BB962C8B-B14F-4D97-AF65-F5344CB8AC3E}">
        <p14:creationId xmlns:p14="http://schemas.microsoft.com/office/powerpoint/2010/main" val="3020088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an API Product</a:t>
            </a:r>
          </a:p>
        </p:txBody>
      </p:sp>
      <p:sp>
        <p:nvSpPr>
          <p:cNvPr id="3" name="Text Placeholder 2"/>
          <p:cNvSpPr>
            <a:spLocks noGrp="1"/>
          </p:cNvSpPr>
          <p:nvPr>
            <p:ph type="body" sz="quarter" idx="11"/>
          </p:nvPr>
        </p:nvSpPr>
        <p:spPr/>
        <p:txBody>
          <a:bodyPr/>
          <a:lstStyle/>
          <a:p>
            <a:r>
              <a:rPr lang="en-US"/>
              <a:t>APIC Product</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Click Edit Product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6A512AD9-2AF3-4945-B52B-0CC939E163CC}"/>
              </a:ext>
            </a:extLst>
          </p:cNvPr>
          <p:cNvPicPr>
            <a:picLocks noChangeAspect="1"/>
          </p:cNvPicPr>
          <p:nvPr/>
        </p:nvPicPr>
        <p:blipFill>
          <a:blip r:embed="rId2"/>
          <a:stretch>
            <a:fillRect/>
          </a:stretch>
        </p:blipFill>
        <p:spPr>
          <a:xfrm>
            <a:off x="252663" y="1762115"/>
            <a:ext cx="6400800" cy="2514600"/>
          </a:xfrm>
          <a:prstGeom prst="rect">
            <a:avLst/>
          </a:prstGeom>
        </p:spPr>
      </p:pic>
    </p:spTree>
    <p:extLst>
      <p:ext uri="{BB962C8B-B14F-4D97-AF65-F5344CB8AC3E}">
        <p14:creationId xmlns:p14="http://schemas.microsoft.com/office/powerpoint/2010/main" val="17866017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an API Product</a:t>
            </a:r>
          </a:p>
        </p:txBody>
      </p:sp>
      <p:sp>
        <p:nvSpPr>
          <p:cNvPr id="3" name="Text Placeholder 2"/>
          <p:cNvSpPr>
            <a:spLocks noGrp="1"/>
          </p:cNvSpPr>
          <p:nvPr>
            <p:ph type="body" sz="quarter" idx="11"/>
          </p:nvPr>
        </p:nvSpPr>
        <p:spPr/>
        <p:txBody>
          <a:bodyPr/>
          <a:lstStyle/>
          <a:p>
            <a:r>
              <a:rPr lang="en-US"/>
              <a:t>Setting Default Plan Hard Limit</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b="0" i="0">
                <a:solidFill>
                  <a:srgbClr val="444444"/>
                </a:solidFill>
                <a:effectLst/>
                <a:latin typeface="+mn-lt"/>
              </a:rPr>
              <a:t>Open the Plan</a:t>
            </a:r>
          </a:p>
          <a:p>
            <a:r>
              <a:rPr lang="en-US" sz="1600" b="0" i="0">
                <a:solidFill>
                  <a:srgbClr val="444444"/>
                </a:solidFill>
                <a:effectLst/>
                <a:latin typeface="+mn-lt"/>
              </a:rPr>
              <a:t>Select Plans on the left side of screen.</a:t>
            </a:r>
          </a:p>
          <a:p>
            <a:r>
              <a:rPr lang="en-US" sz="1600" b="0" i="0">
                <a:solidFill>
                  <a:srgbClr val="444444"/>
                </a:solidFill>
                <a:effectLst/>
                <a:latin typeface="+mn-lt"/>
              </a:rPr>
              <a:t>To the right of Default Plans, click on the ellipses (3 vertical dots). </a:t>
            </a:r>
          </a:p>
          <a:p>
            <a:r>
              <a:rPr lang="en-US" sz="1600" b="0" i="0">
                <a:solidFill>
                  <a:srgbClr val="444444"/>
                </a:solidFill>
                <a:effectLst/>
                <a:latin typeface="+mn-lt"/>
              </a:rPr>
              <a:t>Select Edit. </a:t>
            </a:r>
          </a:p>
          <a:p>
            <a:r>
              <a:rPr lang="en-US" sz="1600" b="0" i="0">
                <a:solidFill>
                  <a:srgbClr val="444444"/>
                </a:solidFill>
                <a:effectLst/>
                <a:latin typeface="+mn-lt"/>
              </a:rPr>
              <a:t>Scroll down to Rate limits. </a:t>
            </a:r>
          </a:p>
          <a:p>
            <a:r>
              <a:rPr lang="en-US" sz="1600">
                <a:solidFill>
                  <a:srgbClr val="444444"/>
                </a:solidFill>
                <a:latin typeface="+mn-lt"/>
              </a:rPr>
              <a:t>Set the Default to 1 Call per 1 Week</a:t>
            </a:r>
            <a:endParaRPr lang="en-US" sz="1600" b="0" i="0">
              <a:solidFill>
                <a:srgbClr val="444444"/>
              </a:solidFill>
              <a:effectLst/>
              <a:latin typeface="+mn-lt"/>
            </a:endParaRPr>
          </a:p>
          <a:p>
            <a:r>
              <a:rPr lang="en-US" sz="1600" b="0" i="0">
                <a:solidFill>
                  <a:srgbClr val="444444"/>
                </a:solidFill>
                <a:effectLst/>
                <a:latin typeface="+mn-lt"/>
              </a:rPr>
              <a:t>Check Hard limit. </a:t>
            </a:r>
          </a:p>
          <a:p>
            <a:r>
              <a:rPr lang="en-US" sz="1600" b="0" i="0">
                <a:solidFill>
                  <a:srgbClr val="444444"/>
                </a:solidFill>
                <a:effectLst/>
                <a:latin typeface="+mn-lt"/>
              </a:rPr>
              <a:t>Click on Save at the top of the screen.</a:t>
            </a:r>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3" name="Picture 12">
            <a:extLst>
              <a:ext uri="{FF2B5EF4-FFF2-40B4-BE49-F238E27FC236}">
                <a16:creationId xmlns:a16="http://schemas.microsoft.com/office/drawing/2014/main" id="{61878CC7-7F54-486C-BD73-6DBC79051AD2}"/>
              </a:ext>
            </a:extLst>
          </p:cNvPr>
          <p:cNvPicPr>
            <a:picLocks noChangeAspect="1"/>
          </p:cNvPicPr>
          <p:nvPr/>
        </p:nvPicPr>
        <p:blipFill>
          <a:blip r:embed="rId2"/>
          <a:stretch>
            <a:fillRect/>
          </a:stretch>
        </p:blipFill>
        <p:spPr>
          <a:xfrm>
            <a:off x="127584" y="1713989"/>
            <a:ext cx="5800725" cy="2009775"/>
          </a:xfrm>
          <a:prstGeom prst="rect">
            <a:avLst/>
          </a:prstGeom>
        </p:spPr>
      </p:pic>
    </p:spTree>
    <p:extLst>
      <p:ext uri="{BB962C8B-B14F-4D97-AF65-F5344CB8AC3E}">
        <p14:creationId xmlns:p14="http://schemas.microsoft.com/office/powerpoint/2010/main" val="6290239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an API Product</a:t>
            </a:r>
          </a:p>
        </p:txBody>
      </p:sp>
      <p:sp>
        <p:nvSpPr>
          <p:cNvPr id="3" name="Text Placeholder 2"/>
          <p:cNvSpPr>
            <a:spLocks noGrp="1"/>
          </p:cNvSpPr>
          <p:nvPr>
            <p:ph type="body" sz="quarter" idx="11"/>
          </p:nvPr>
        </p:nvSpPr>
        <p:spPr/>
        <p:txBody>
          <a:bodyPr/>
          <a:lstStyle/>
          <a:p>
            <a:r>
              <a:rPr lang="en-US"/>
              <a:t>APIC Product</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b="0" i="0">
                <a:solidFill>
                  <a:srgbClr val="444444"/>
                </a:solidFill>
                <a:effectLst/>
                <a:latin typeface="+mn-lt"/>
              </a:rPr>
              <a:t>Click on the ellipses, </a:t>
            </a:r>
          </a:p>
          <a:p>
            <a:r>
              <a:rPr lang="en-US" sz="1600" b="0" i="0">
                <a:solidFill>
                  <a:srgbClr val="444444"/>
                </a:solidFill>
                <a:effectLst/>
                <a:latin typeface="+mn-lt"/>
              </a:rPr>
              <a:t>Select Edit, </a:t>
            </a:r>
          </a:p>
          <a:p>
            <a:r>
              <a:rPr lang="en-US" sz="1600" b="0" i="0">
                <a:solidFill>
                  <a:srgbClr val="444444"/>
                </a:solidFill>
                <a:effectLst/>
                <a:latin typeface="+mn-lt"/>
              </a:rPr>
              <a:t>Scroll down to Plan APIs. </a:t>
            </a:r>
          </a:p>
          <a:p>
            <a:r>
              <a:rPr lang="en-US" sz="1600">
                <a:latin typeface="+mn-lt"/>
                <a:cs typeface="Arial"/>
              </a:rPr>
              <a:t>Select Customize the plan API list</a:t>
            </a:r>
          </a:p>
          <a:p>
            <a:r>
              <a:rPr lang="en-US" sz="1600">
                <a:latin typeface="+mn-lt"/>
                <a:cs typeface="Arial"/>
              </a:rPr>
              <a:t>Click the Edit button</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948212F9-B321-43E7-A50B-F068DA6A2F1F}"/>
              </a:ext>
            </a:extLst>
          </p:cNvPr>
          <p:cNvPicPr>
            <a:picLocks noChangeAspect="1"/>
          </p:cNvPicPr>
          <p:nvPr/>
        </p:nvPicPr>
        <p:blipFill>
          <a:blip r:embed="rId2"/>
          <a:stretch>
            <a:fillRect/>
          </a:stretch>
        </p:blipFill>
        <p:spPr>
          <a:xfrm>
            <a:off x="252663" y="1815265"/>
            <a:ext cx="6191250" cy="3829050"/>
          </a:xfrm>
          <a:prstGeom prst="rect">
            <a:avLst/>
          </a:prstGeom>
        </p:spPr>
      </p:pic>
    </p:spTree>
    <p:extLst>
      <p:ext uri="{BB962C8B-B14F-4D97-AF65-F5344CB8AC3E}">
        <p14:creationId xmlns:p14="http://schemas.microsoft.com/office/powerpoint/2010/main" val="32050920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an API Product</a:t>
            </a:r>
          </a:p>
        </p:txBody>
      </p:sp>
      <p:sp>
        <p:nvSpPr>
          <p:cNvPr id="3" name="Text Placeholder 2"/>
          <p:cNvSpPr>
            <a:spLocks noGrp="1"/>
          </p:cNvSpPr>
          <p:nvPr>
            <p:ph type="body" sz="quarter" idx="11"/>
          </p:nvPr>
        </p:nvSpPr>
        <p:spPr/>
        <p:txBody>
          <a:bodyPr/>
          <a:lstStyle/>
          <a:p>
            <a:r>
              <a:rPr lang="en-US"/>
              <a:t>APIC Product</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Select the API to add to the Plan</a:t>
            </a:r>
          </a:p>
          <a:p>
            <a:r>
              <a:rPr lang="en-US" sz="1600">
                <a:latin typeface="Arial"/>
                <a:cs typeface="Arial"/>
              </a:rPr>
              <a:t>Click Save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4C7CF8CF-A7C4-4CE6-8CB5-E765F836212D}"/>
              </a:ext>
            </a:extLst>
          </p:cNvPr>
          <p:cNvPicPr>
            <a:picLocks noChangeAspect="1"/>
          </p:cNvPicPr>
          <p:nvPr/>
        </p:nvPicPr>
        <p:blipFill>
          <a:blip r:embed="rId2"/>
          <a:stretch>
            <a:fillRect/>
          </a:stretch>
        </p:blipFill>
        <p:spPr>
          <a:xfrm>
            <a:off x="252663" y="1803233"/>
            <a:ext cx="6248400" cy="2457450"/>
          </a:xfrm>
          <a:prstGeom prst="rect">
            <a:avLst/>
          </a:prstGeom>
        </p:spPr>
      </p:pic>
    </p:spTree>
    <p:extLst>
      <p:ext uri="{BB962C8B-B14F-4D97-AF65-F5344CB8AC3E}">
        <p14:creationId xmlns:p14="http://schemas.microsoft.com/office/powerpoint/2010/main" val="13998275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an API Product</a:t>
            </a:r>
          </a:p>
        </p:txBody>
      </p:sp>
      <p:sp>
        <p:nvSpPr>
          <p:cNvPr id="3" name="Text Placeholder 2"/>
          <p:cNvSpPr>
            <a:spLocks noGrp="1"/>
          </p:cNvSpPr>
          <p:nvPr>
            <p:ph type="body" sz="quarter" idx="11"/>
          </p:nvPr>
        </p:nvSpPr>
        <p:spPr/>
        <p:txBody>
          <a:bodyPr/>
          <a:lstStyle/>
          <a:p>
            <a:r>
              <a:rPr lang="en-US"/>
              <a:t>APIC Product</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Select Override plan rate limits for individual operation</a:t>
            </a:r>
          </a:p>
          <a:p>
            <a:r>
              <a:rPr lang="en-US" sz="1600">
                <a:latin typeface="Arial"/>
                <a:cs typeface="Arial"/>
              </a:rPr>
              <a:t>Click Add</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1485EB87-B88E-4BFE-B1EC-F90BB1B292C4}"/>
              </a:ext>
            </a:extLst>
          </p:cNvPr>
          <p:cNvPicPr>
            <a:picLocks noChangeAspect="1"/>
          </p:cNvPicPr>
          <p:nvPr/>
        </p:nvPicPr>
        <p:blipFill>
          <a:blip r:embed="rId2"/>
          <a:stretch>
            <a:fillRect/>
          </a:stretch>
        </p:blipFill>
        <p:spPr>
          <a:xfrm>
            <a:off x="252663" y="1713989"/>
            <a:ext cx="6210300" cy="2971800"/>
          </a:xfrm>
          <a:prstGeom prst="rect">
            <a:avLst/>
          </a:prstGeom>
        </p:spPr>
      </p:pic>
    </p:spTree>
    <p:extLst>
      <p:ext uri="{BB962C8B-B14F-4D97-AF65-F5344CB8AC3E}">
        <p14:creationId xmlns:p14="http://schemas.microsoft.com/office/powerpoint/2010/main" val="41140027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an API Product</a:t>
            </a:r>
          </a:p>
        </p:txBody>
      </p:sp>
      <p:sp>
        <p:nvSpPr>
          <p:cNvPr id="3" name="Text Placeholder 2"/>
          <p:cNvSpPr>
            <a:spLocks noGrp="1"/>
          </p:cNvSpPr>
          <p:nvPr>
            <p:ph type="body" sz="quarter" idx="11"/>
          </p:nvPr>
        </p:nvSpPr>
        <p:spPr/>
        <p:txBody>
          <a:bodyPr/>
          <a:lstStyle/>
          <a:p>
            <a:r>
              <a:rPr lang="en-US"/>
              <a:t>APIC Product</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Select the API</a:t>
            </a:r>
          </a:p>
          <a:p>
            <a:r>
              <a:rPr lang="en-US" sz="1600">
                <a:latin typeface="Arial"/>
                <a:cs typeface="Arial"/>
              </a:rPr>
              <a:t>Select the Operation</a:t>
            </a:r>
          </a:p>
          <a:p>
            <a:r>
              <a:rPr lang="en-US" sz="1600">
                <a:latin typeface="Arial"/>
                <a:cs typeface="Arial"/>
              </a:rPr>
              <a:t>Select Rate Limits</a:t>
            </a:r>
          </a:p>
          <a:p>
            <a:r>
              <a:rPr lang="en-US" sz="1600">
                <a:latin typeface="Arial"/>
                <a:cs typeface="Arial"/>
              </a:rPr>
              <a:t>Click Add</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7A3E7B0C-FEA4-42DB-92D6-224910E5623E}"/>
              </a:ext>
            </a:extLst>
          </p:cNvPr>
          <p:cNvPicPr>
            <a:picLocks noChangeAspect="1"/>
          </p:cNvPicPr>
          <p:nvPr/>
        </p:nvPicPr>
        <p:blipFill>
          <a:blip r:embed="rId2"/>
          <a:stretch>
            <a:fillRect/>
          </a:stretch>
        </p:blipFill>
        <p:spPr>
          <a:xfrm>
            <a:off x="124157" y="1831695"/>
            <a:ext cx="6499927" cy="3774638"/>
          </a:xfrm>
          <a:prstGeom prst="rect">
            <a:avLst/>
          </a:prstGeom>
        </p:spPr>
      </p:pic>
    </p:spTree>
    <p:extLst>
      <p:ext uri="{BB962C8B-B14F-4D97-AF65-F5344CB8AC3E}">
        <p14:creationId xmlns:p14="http://schemas.microsoft.com/office/powerpoint/2010/main" val="1312843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Create an API Product</a:t>
            </a:r>
          </a:p>
        </p:txBody>
      </p:sp>
      <p:sp>
        <p:nvSpPr>
          <p:cNvPr id="3" name="Text Placeholder 2"/>
          <p:cNvSpPr>
            <a:spLocks noGrp="1"/>
          </p:cNvSpPr>
          <p:nvPr>
            <p:ph type="body" sz="quarter" idx="11"/>
          </p:nvPr>
        </p:nvSpPr>
        <p:spPr/>
        <p:txBody>
          <a:bodyPr/>
          <a:lstStyle/>
          <a:p>
            <a:r>
              <a:rPr lang="en-US"/>
              <a:t>APIC Product</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sp>
        <p:nvSpPr>
          <p:cNvPr id="8" name="Text Placeholder 3">
            <a:extLst>
              <a:ext uri="{FF2B5EF4-FFF2-40B4-BE49-F238E27FC236}">
                <a16:creationId xmlns:a16="http://schemas.microsoft.com/office/drawing/2014/main" id="{A9F76AAE-5F57-48DD-A7CF-C544F5A24F85}"/>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Name the rate limit “rate-limit-1”</a:t>
            </a:r>
          </a:p>
          <a:p>
            <a:r>
              <a:rPr lang="en-US" sz="1600">
                <a:latin typeface="Arial"/>
                <a:cs typeface="Arial"/>
              </a:rPr>
              <a:t>Set the Rate Limit for the API Operation</a:t>
            </a:r>
          </a:p>
          <a:p>
            <a:r>
              <a:rPr lang="en-US" sz="1600">
                <a:latin typeface="Arial"/>
                <a:cs typeface="Arial"/>
              </a:rPr>
              <a:t>Check the Hard Limit … then Save</a:t>
            </a:r>
          </a:p>
          <a:p>
            <a:r>
              <a:rPr lang="en-US" sz="1600">
                <a:latin typeface="Arial"/>
                <a:cs typeface="Arial"/>
              </a:rPr>
              <a:t>We should strive for setting the rate limits to a 2-year projected volume when possible. Use:</a:t>
            </a:r>
          </a:p>
          <a:p>
            <a:r>
              <a:rPr lang="en-US" sz="1600">
                <a:latin typeface="Arial"/>
                <a:cs typeface="Arial"/>
              </a:rPr>
              <a:t>100% buffer for very low volume APIs (&lt; 500/hr.), </a:t>
            </a:r>
          </a:p>
          <a:p>
            <a:r>
              <a:rPr lang="en-US" sz="1600">
                <a:latin typeface="Arial"/>
                <a:cs typeface="Arial"/>
              </a:rPr>
              <a:t>75% buffer for low volume APIs (&lt;5000/hr.) </a:t>
            </a:r>
          </a:p>
          <a:p>
            <a:r>
              <a:rPr lang="en-US" sz="1600">
                <a:latin typeface="Arial"/>
                <a:cs typeface="Arial"/>
              </a:rPr>
              <a:t>25-40% buffer for remaining APIs</a:t>
            </a:r>
          </a:p>
          <a:p>
            <a:r>
              <a:rPr lang="en-US" sz="1600">
                <a:latin typeface="Arial"/>
                <a:cs typeface="Arial"/>
              </a:rPr>
              <a:t>For more details see </a:t>
            </a:r>
            <a:r>
              <a:rPr lang="en-US" sz="1600">
                <a:hlinkClick r:id="rId2"/>
              </a:rPr>
              <a:t>APIC Products, Plans and rate-limits Guidance.pptx</a:t>
            </a:r>
            <a:endParaRPr lang="en-US" sz="1600">
              <a:latin typeface="Arial"/>
              <a:cs typeface="Arial"/>
            </a:endParaRPr>
          </a:p>
          <a:p>
            <a:r>
              <a:rPr lang="en-US" sz="1600">
                <a:latin typeface="Arial"/>
                <a:cs typeface="Arial"/>
              </a:rPr>
              <a:t>Repeat for each operation</a:t>
            </a:r>
          </a:p>
          <a:p>
            <a:r>
              <a:rPr lang="en-US" sz="1600">
                <a:latin typeface="Arial"/>
                <a:cs typeface="Arial"/>
              </a:rPr>
              <a:t>When complete Click Save at the Top of the screen</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AAA468FA-2C88-5FBC-1945-9350CBEA749A}"/>
              </a:ext>
            </a:extLst>
          </p:cNvPr>
          <p:cNvPicPr>
            <a:picLocks noChangeAspect="1"/>
          </p:cNvPicPr>
          <p:nvPr/>
        </p:nvPicPr>
        <p:blipFill>
          <a:blip r:embed="rId3"/>
          <a:stretch>
            <a:fillRect/>
          </a:stretch>
        </p:blipFill>
        <p:spPr>
          <a:xfrm>
            <a:off x="103286" y="1742839"/>
            <a:ext cx="6491218" cy="2847449"/>
          </a:xfrm>
          <a:prstGeom prst="rect">
            <a:avLst/>
          </a:prstGeom>
        </p:spPr>
      </p:pic>
      <p:cxnSp>
        <p:nvCxnSpPr>
          <p:cNvPr id="4" name="Straight Arrow Connector 3">
            <a:extLst>
              <a:ext uri="{FF2B5EF4-FFF2-40B4-BE49-F238E27FC236}">
                <a16:creationId xmlns:a16="http://schemas.microsoft.com/office/drawing/2014/main" id="{A246E93B-3D73-C690-4C4D-476421A659A2}"/>
              </a:ext>
            </a:extLst>
          </p:cNvPr>
          <p:cNvCxnSpPr>
            <a:cxnSpLocks/>
          </p:cNvCxnSpPr>
          <p:nvPr/>
        </p:nvCxnSpPr>
        <p:spPr>
          <a:xfrm flipH="1">
            <a:off x="1115568" y="1920240"/>
            <a:ext cx="5623899" cy="1124712"/>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343B58B-0C38-1AE8-99C1-0D389139A1C5}"/>
              </a:ext>
            </a:extLst>
          </p:cNvPr>
          <p:cNvCxnSpPr>
            <a:cxnSpLocks/>
          </p:cNvCxnSpPr>
          <p:nvPr/>
        </p:nvCxnSpPr>
        <p:spPr>
          <a:xfrm flipH="1">
            <a:off x="5266944" y="2715768"/>
            <a:ext cx="1472523" cy="438912"/>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62222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p:txBody>
          <a:bodyPr/>
          <a:lstStyle/>
          <a:p>
            <a:r>
              <a:rPr lang="en-US" sz="2800">
                <a:latin typeface="Arial"/>
                <a:cs typeface="Arial"/>
              </a:rPr>
              <a:t>Publish an API Product to the Portal</a:t>
            </a:r>
            <a:endParaRPr lang="en-US"/>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Introduction</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11272838" cy="4174867"/>
          </a:xfrm>
        </p:spPr>
        <p:txBody>
          <a:bodyPr lIns="91440" tIns="45720" rIns="91440" bIns="45720" anchor="t"/>
          <a:lstStyle/>
          <a:p>
            <a:r>
              <a:rPr lang="en-US" sz="1600">
                <a:latin typeface="Arial"/>
                <a:cs typeface="Arial"/>
              </a:rPr>
              <a:t>This section describes how to publish an API Product to a Development Provider Organization Portal.</a:t>
            </a:r>
          </a:p>
          <a:p>
            <a:endParaRPr lang="en-US" sz="1600"/>
          </a:p>
          <a:p>
            <a:endParaRPr lang="en-US" sz="1600"/>
          </a:p>
          <a:p>
            <a:endParaRPr lang="en-US" sz="1600"/>
          </a:p>
        </p:txBody>
      </p:sp>
    </p:spTree>
    <p:extLst>
      <p:ext uri="{BB962C8B-B14F-4D97-AF65-F5344CB8AC3E}">
        <p14:creationId xmlns:p14="http://schemas.microsoft.com/office/powerpoint/2010/main" val="33877126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Publish an API Product to the Portal</a:t>
            </a:r>
          </a:p>
        </p:txBody>
      </p:sp>
      <p:sp>
        <p:nvSpPr>
          <p:cNvPr id="3" name="Text Placeholder 2"/>
          <p:cNvSpPr>
            <a:spLocks noGrp="1"/>
          </p:cNvSpPr>
          <p:nvPr>
            <p:ph type="body" sz="quarter" idx="11"/>
          </p:nvPr>
        </p:nvSpPr>
        <p:spPr/>
        <p:txBody>
          <a:bodyPr/>
          <a:lstStyle/>
          <a:p>
            <a:r>
              <a:rPr lang="en-US"/>
              <a:t>APIC Product Publish</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From Develop </a:t>
            </a:r>
          </a:p>
          <a:p>
            <a:r>
              <a:rPr lang="en-US" sz="1600">
                <a:latin typeface="Arial"/>
                <a:cs typeface="Arial"/>
              </a:rPr>
              <a:t>Select the ellipses next to the product </a:t>
            </a:r>
          </a:p>
          <a:p>
            <a:r>
              <a:rPr lang="en-US" sz="1600">
                <a:latin typeface="Arial"/>
                <a:cs typeface="Arial"/>
              </a:rPr>
              <a:t>From the list select Publish</a:t>
            </a:r>
          </a:p>
          <a:p>
            <a:r>
              <a:rPr lang="en-US" sz="1600">
                <a:latin typeface="Arial"/>
                <a:cs typeface="Arial"/>
              </a:rPr>
              <a:t>Note: Staging from Development Provider Organizations is no longer necessary.</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0049CA87-B644-4567-9C69-DF7E345CB009}"/>
              </a:ext>
            </a:extLst>
          </p:cNvPr>
          <p:cNvPicPr>
            <a:picLocks noChangeAspect="1"/>
          </p:cNvPicPr>
          <p:nvPr/>
        </p:nvPicPr>
        <p:blipFill>
          <a:blip r:embed="rId2"/>
          <a:stretch>
            <a:fillRect/>
          </a:stretch>
        </p:blipFill>
        <p:spPr>
          <a:xfrm>
            <a:off x="252663" y="1713989"/>
            <a:ext cx="6010275" cy="4467225"/>
          </a:xfrm>
          <a:prstGeom prst="rect">
            <a:avLst/>
          </a:prstGeom>
        </p:spPr>
      </p:pic>
    </p:spTree>
    <p:extLst>
      <p:ext uri="{BB962C8B-B14F-4D97-AF65-F5344CB8AC3E}">
        <p14:creationId xmlns:p14="http://schemas.microsoft.com/office/powerpoint/2010/main" val="18028644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Publish an API Product to the Portal</a:t>
            </a:r>
          </a:p>
        </p:txBody>
      </p:sp>
      <p:sp>
        <p:nvSpPr>
          <p:cNvPr id="3" name="Text Placeholder 2"/>
          <p:cNvSpPr>
            <a:spLocks noGrp="1"/>
          </p:cNvSpPr>
          <p:nvPr>
            <p:ph type="body" sz="quarter" idx="11"/>
          </p:nvPr>
        </p:nvSpPr>
        <p:spPr/>
        <p:txBody>
          <a:bodyPr/>
          <a:lstStyle/>
          <a:p>
            <a:r>
              <a:rPr lang="en-US"/>
              <a:t>APIC Product Publish</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Select “Sandbox” from the list of Catalog options</a:t>
            </a:r>
          </a:p>
          <a:p>
            <a:r>
              <a:rPr lang="en-US" sz="1600">
                <a:latin typeface="Arial"/>
                <a:cs typeface="Arial"/>
              </a:rPr>
              <a:t>Click Publish</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9" name="Picture 8">
            <a:extLst>
              <a:ext uri="{FF2B5EF4-FFF2-40B4-BE49-F238E27FC236}">
                <a16:creationId xmlns:a16="http://schemas.microsoft.com/office/drawing/2014/main" id="{1071BF04-7BBC-4724-B604-7F25CF8E3C94}"/>
              </a:ext>
            </a:extLst>
          </p:cNvPr>
          <p:cNvPicPr>
            <a:picLocks noChangeAspect="1"/>
          </p:cNvPicPr>
          <p:nvPr/>
        </p:nvPicPr>
        <p:blipFill>
          <a:blip r:embed="rId2"/>
          <a:stretch>
            <a:fillRect/>
          </a:stretch>
        </p:blipFill>
        <p:spPr>
          <a:xfrm>
            <a:off x="252663" y="1713989"/>
            <a:ext cx="4610100" cy="3324225"/>
          </a:xfrm>
          <a:prstGeom prst="rect">
            <a:avLst/>
          </a:prstGeom>
        </p:spPr>
      </p:pic>
    </p:spTree>
    <p:extLst>
      <p:ext uri="{BB962C8B-B14F-4D97-AF65-F5344CB8AC3E}">
        <p14:creationId xmlns:p14="http://schemas.microsoft.com/office/powerpoint/2010/main" val="20506516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Publish an API Product to the Portal</a:t>
            </a:r>
          </a:p>
        </p:txBody>
      </p:sp>
      <p:sp>
        <p:nvSpPr>
          <p:cNvPr id="3" name="Text Placeholder 2"/>
          <p:cNvSpPr>
            <a:spLocks noGrp="1"/>
          </p:cNvSpPr>
          <p:nvPr>
            <p:ph type="body" sz="quarter" idx="11"/>
          </p:nvPr>
        </p:nvSpPr>
        <p:spPr/>
        <p:txBody>
          <a:bodyPr/>
          <a:lstStyle/>
          <a:p>
            <a:r>
              <a:rPr lang="en-US"/>
              <a:t>APIC Product Publish - Issue</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If the development provider organizations (or test environments) are not set up completely this error will be displayed</a:t>
            </a:r>
          </a:p>
          <a:p>
            <a:r>
              <a:rPr lang="en-US" sz="1600">
                <a:latin typeface="Arial"/>
                <a:cs typeface="Arial"/>
              </a:rPr>
              <a:t>In this case, return to the API included within the product to adjust</a:t>
            </a:r>
          </a:p>
          <a:p>
            <a:endParaRPr lang="en-US" sz="1600">
              <a:latin typeface="Arial"/>
              <a:cs typeface="Arial"/>
            </a:endParaRPr>
          </a:p>
          <a:p>
            <a:r>
              <a:rPr lang="en-US" sz="1600">
                <a:latin typeface="Arial"/>
                <a:cs typeface="Arial"/>
              </a:rPr>
              <a:t>The API Name that needs adjustment is found here.</a:t>
            </a:r>
          </a:p>
          <a:p>
            <a:r>
              <a:rPr lang="en-US" sz="1600">
                <a:latin typeface="Arial"/>
                <a:cs typeface="Arial"/>
              </a:rPr>
              <a:t>This may need to be repeated for multiple API’s in an existing product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735F0A68-A5EB-4A3F-BA20-4DE9B4B9DEBE}"/>
              </a:ext>
            </a:extLst>
          </p:cNvPr>
          <p:cNvPicPr>
            <a:picLocks noChangeAspect="1"/>
          </p:cNvPicPr>
          <p:nvPr/>
        </p:nvPicPr>
        <p:blipFill>
          <a:blip r:embed="rId2"/>
          <a:stretch>
            <a:fillRect/>
          </a:stretch>
        </p:blipFill>
        <p:spPr>
          <a:xfrm>
            <a:off x="147386" y="1713989"/>
            <a:ext cx="3162300" cy="2895600"/>
          </a:xfrm>
          <a:prstGeom prst="rect">
            <a:avLst/>
          </a:prstGeom>
        </p:spPr>
      </p:pic>
      <p:cxnSp>
        <p:nvCxnSpPr>
          <p:cNvPr id="4" name="Straight Arrow Connector 3">
            <a:extLst>
              <a:ext uri="{FF2B5EF4-FFF2-40B4-BE49-F238E27FC236}">
                <a16:creationId xmlns:a16="http://schemas.microsoft.com/office/drawing/2014/main" id="{0E2BDB64-E08A-1691-E953-3A4C696BB55A}"/>
              </a:ext>
            </a:extLst>
          </p:cNvPr>
          <p:cNvCxnSpPr>
            <a:cxnSpLocks/>
          </p:cNvCxnSpPr>
          <p:nvPr/>
        </p:nvCxnSpPr>
        <p:spPr>
          <a:xfrm flipH="1" flipV="1">
            <a:off x="2502131" y="2186247"/>
            <a:ext cx="4164676" cy="1571106"/>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35191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Publish an API Product to the Portal</a:t>
            </a:r>
          </a:p>
        </p:txBody>
      </p:sp>
      <p:sp>
        <p:nvSpPr>
          <p:cNvPr id="3" name="Text Placeholder 2"/>
          <p:cNvSpPr>
            <a:spLocks noGrp="1"/>
          </p:cNvSpPr>
          <p:nvPr>
            <p:ph type="body" sz="quarter" idx="11"/>
          </p:nvPr>
        </p:nvSpPr>
        <p:spPr/>
        <p:txBody>
          <a:bodyPr/>
          <a:lstStyle/>
          <a:p>
            <a:r>
              <a:rPr lang="en-US"/>
              <a:t>APIC Product Publish – Issue resolution</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Open the problem API</a:t>
            </a:r>
          </a:p>
          <a:p>
            <a:r>
              <a:rPr lang="en-US" sz="1600">
                <a:latin typeface="Arial"/>
                <a:cs typeface="Arial"/>
              </a:rPr>
              <a:t>Expand Security Schemas</a:t>
            </a:r>
          </a:p>
          <a:p>
            <a:r>
              <a:rPr lang="en-US" sz="1600">
                <a:latin typeface="Arial"/>
                <a:cs typeface="Arial"/>
              </a:rPr>
              <a:t>Click OAuth2</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8" name="Picture 7">
            <a:extLst>
              <a:ext uri="{FF2B5EF4-FFF2-40B4-BE49-F238E27FC236}">
                <a16:creationId xmlns:a16="http://schemas.microsoft.com/office/drawing/2014/main" id="{AEADFB1C-6053-4D67-BB44-F8215AF51943}"/>
              </a:ext>
            </a:extLst>
          </p:cNvPr>
          <p:cNvPicPr>
            <a:picLocks noChangeAspect="1"/>
          </p:cNvPicPr>
          <p:nvPr/>
        </p:nvPicPr>
        <p:blipFill>
          <a:blip r:embed="rId2"/>
          <a:stretch>
            <a:fillRect/>
          </a:stretch>
        </p:blipFill>
        <p:spPr>
          <a:xfrm>
            <a:off x="252663" y="1713989"/>
            <a:ext cx="4200525" cy="3562350"/>
          </a:xfrm>
          <a:prstGeom prst="rect">
            <a:avLst/>
          </a:prstGeom>
        </p:spPr>
      </p:pic>
    </p:spTree>
    <p:extLst>
      <p:ext uri="{BB962C8B-B14F-4D97-AF65-F5344CB8AC3E}">
        <p14:creationId xmlns:p14="http://schemas.microsoft.com/office/powerpoint/2010/main" val="12481233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Publish an API Product to the Portal</a:t>
            </a:r>
          </a:p>
        </p:txBody>
      </p:sp>
      <p:sp>
        <p:nvSpPr>
          <p:cNvPr id="3" name="Text Placeholder 2"/>
          <p:cNvSpPr>
            <a:spLocks noGrp="1"/>
          </p:cNvSpPr>
          <p:nvPr>
            <p:ph type="body" sz="quarter" idx="11"/>
          </p:nvPr>
        </p:nvSpPr>
        <p:spPr/>
        <p:txBody>
          <a:bodyPr/>
          <a:lstStyle/>
          <a:p>
            <a:r>
              <a:rPr lang="en-US"/>
              <a:t>APIC Product Publish – Issue resolution</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Edit the OAuth Provider, Select placeholder-</a:t>
            </a:r>
            <a:r>
              <a:rPr lang="en-US" sz="1600" err="1">
                <a:latin typeface="Arial"/>
                <a:cs typeface="Arial"/>
              </a:rPr>
              <a:t>apigw</a:t>
            </a:r>
            <a:r>
              <a:rPr lang="en-US" sz="1600">
                <a:latin typeface="Arial"/>
                <a:cs typeface="Arial"/>
              </a:rPr>
              <a:t> from the dropdown</a:t>
            </a:r>
          </a:p>
          <a:p>
            <a:r>
              <a:rPr lang="en-US" sz="1600">
                <a:latin typeface="Arial"/>
                <a:cs typeface="Arial"/>
              </a:rPr>
              <a:t>Edit the Flow, Select Implicit </a:t>
            </a:r>
          </a:p>
          <a:p>
            <a:r>
              <a:rPr lang="en-US" sz="1600">
                <a:latin typeface="Arial"/>
                <a:cs typeface="Arial"/>
              </a:rPr>
              <a:t>Place https:/</a:t>
            </a:r>
            <a:r>
              <a:rPr lang="en-US" sz="1600"/>
              <a:t>/placeholder-apigw/oauth2/authorize</a:t>
            </a:r>
            <a:r>
              <a:rPr lang="en-US" sz="1600">
                <a:latin typeface="Arial"/>
                <a:cs typeface="Arial"/>
              </a:rPr>
              <a:t> into the Authorization URL</a:t>
            </a:r>
          </a:p>
          <a:p>
            <a:r>
              <a:rPr lang="en-US" sz="1600">
                <a:latin typeface="Arial"/>
                <a:cs typeface="Arial"/>
              </a:rPr>
              <a:t>You might need to use: </a:t>
            </a:r>
            <a:r>
              <a:rPr lang="en-US" sz="1600">
                <a:latin typeface="Arial"/>
                <a:cs typeface="Arial"/>
                <a:hlinkClick r:id="rId2"/>
              </a:rPr>
              <a:t>https://placeholder-apigw/v3/internal/auth/oauth2/authorize</a:t>
            </a:r>
            <a:r>
              <a:rPr lang="en-US" sz="1600">
                <a:latin typeface="Arial"/>
                <a:cs typeface="Arial"/>
              </a:rPr>
              <a:t> in some provider orgs</a:t>
            </a:r>
          </a:p>
          <a:p>
            <a:r>
              <a:rPr lang="en-US" sz="1600">
                <a:latin typeface="Arial"/>
                <a:cs typeface="Arial"/>
              </a:rPr>
              <a:t>Scopes should be set to PII or Public based on the API content. </a:t>
            </a:r>
          </a:p>
          <a:p>
            <a:r>
              <a:rPr lang="en-US" sz="1600">
                <a:latin typeface="Arial"/>
                <a:cs typeface="Arial"/>
              </a:rPr>
              <a:t>Click Save at Top of Page</a:t>
            </a:r>
          </a:p>
          <a:p>
            <a:r>
              <a:rPr lang="en-US" sz="1600">
                <a:latin typeface="Arial"/>
                <a:cs typeface="Arial"/>
              </a:rPr>
              <a:t>Follow steps to Publish the Product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cxnSp>
        <p:nvCxnSpPr>
          <p:cNvPr id="8" name="Straight Arrow Connector 7">
            <a:extLst>
              <a:ext uri="{FF2B5EF4-FFF2-40B4-BE49-F238E27FC236}">
                <a16:creationId xmlns:a16="http://schemas.microsoft.com/office/drawing/2014/main" id="{19BEE871-BE02-E5C9-495B-D450E6815F2D}"/>
              </a:ext>
            </a:extLst>
          </p:cNvPr>
          <p:cNvCxnSpPr/>
          <p:nvPr/>
        </p:nvCxnSpPr>
        <p:spPr>
          <a:xfrm flipH="1">
            <a:off x="4774910" y="2150609"/>
            <a:ext cx="1927412" cy="1479176"/>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82E6A6B-98AF-165F-7D46-69DEC7433E5C}"/>
              </a:ext>
            </a:extLst>
          </p:cNvPr>
          <p:cNvCxnSpPr>
            <a:cxnSpLocks/>
          </p:cNvCxnSpPr>
          <p:nvPr/>
        </p:nvCxnSpPr>
        <p:spPr>
          <a:xfrm flipH="1">
            <a:off x="4774907" y="2521527"/>
            <a:ext cx="1927412" cy="1625600"/>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06127B1-F997-6831-5C6C-B4BA9B354B55}"/>
              </a:ext>
            </a:extLst>
          </p:cNvPr>
          <p:cNvCxnSpPr>
            <a:cxnSpLocks/>
          </p:cNvCxnSpPr>
          <p:nvPr/>
        </p:nvCxnSpPr>
        <p:spPr>
          <a:xfrm flipH="1">
            <a:off x="4774911" y="3151849"/>
            <a:ext cx="1964555" cy="1533608"/>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BE4B341-9D8B-60F7-45A2-BB9CD18CD22D}"/>
              </a:ext>
            </a:extLst>
          </p:cNvPr>
          <p:cNvCxnSpPr>
            <a:cxnSpLocks/>
          </p:cNvCxnSpPr>
          <p:nvPr/>
        </p:nvCxnSpPr>
        <p:spPr>
          <a:xfrm flipH="1">
            <a:off x="4792894" y="3602569"/>
            <a:ext cx="1946570" cy="2234813"/>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2C0053C8-695B-F7CC-796D-A414E41A1E58}"/>
              </a:ext>
            </a:extLst>
          </p:cNvPr>
          <p:cNvPicPr>
            <a:picLocks noChangeAspect="1"/>
          </p:cNvPicPr>
          <p:nvPr/>
        </p:nvPicPr>
        <p:blipFill>
          <a:blip r:embed="rId3"/>
          <a:stretch>
            <a:fillRect/>
          </a:stretch>
        </p:blipFill>
        <p:spPr>
          <a:xfrm>
            <a:off x="1131953" y="1564127"/>
            <a:ext cx="3605809" cy="4893598"/>
          </a:xfrm>
          <a:prstGeom prst="rect">
            <a:avLst/>
          </a:prstGeom>
        </p:spPr>
      </p:pic>
    </p:spTree>
    <p:extLst>
      <p:ext uri="{BB962C8B-B14F-4D97-AF65-F5344CB8AC3E}">
        <p14:creationId xmlns:p14="http://schemas.microsoft.com/office/powerpoint/2010/main" val="5224613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Publish an API Product to the Portal</a:t>
            </a:r>
          </a:p>
        </p:txBody>
      </p:sp>
      <p:sp>
        <p:nvSpPr>
          <p:cNvPr id="3" name="Text Placeholder 2"/>
          <p:cNvSpPr>
            <a:spLocks noGrp="1"/>
          </p:cNvSpPr>
          <p:nvPr>
            <p:ph type="body" sz="quarter" idx="11"/>
          </p:nvPr>
        </p:nvSpPr>
        <p:spPr/>
        <p:txBody>
          <a:bodyPr/>
          <a:lstStyle/>
          <a:p>
            <a:r>
              <a:rPr lang="en-US"/>
              <a:t>APIC Product Publish – Issue resolution</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If this error is displayed when publishing the Product\API</a:t>
            </a:r>
          </a:p>
          <a:p>
            <a:r>
              <a:rPr lang="en-US" sz="1600">
                <a:latin typeface="Arial"/>
                <a:cs typeface="Arial"/>
              </a:rPr>
              <a:t>Replace</a:t>
            </a:r>
          </a:p>
          <a:p>
            <a:r>
              <a:rPr lang="en-US" sz="1600">
                <a:latin typeface="Arial"/>
                <a:cs typeface="Arial"/>
              </a:rPr>
              <a:t>Authorization URL: https:/</a:t>
            </a:r>
            <a:r>
              <a:rPr lang="en-US" sz="1600"/>
              <a:t>/placeholder-apigw/oauth2/authorize</a:t>
            </a:r>
          </a:p>
          <a:p>
            <a:r>
              <a:rPr lang="en-US" sz="1600">
                <a:latin typeface="Arial"/>
                <a:cs typeface="Arial"/>
              </a:rPr>
              <a:t>With the value displayed</a:t>
            </a:r>
          </a:p>
          <a:p>
            <a:endParaRPr lang="en-US" sz="1600">
              <a:latin typeface="Arial"/>
              <a:cs typeface="Arial"/>
            </a:endParaRPr>
          </a:p>
          <a:p>
            <a:r>
              <a:rPr lang="en-US" sz="1600">
                <a:latin typeface="Arial"/>
                <a:cs typeface="Arial"/>
              </a:rPr>
              <a:t>Republish</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A0F10656-25B4-F15E-7C22-09D3994E1EB3}"/>
              </a:ext>
            </a:extLst>
          </p:cNvPr>
          <p:cNvPicPr>
            <a:picLocks noChangeAspect="1"/>
          </p:cNvPicPr>
          <p:nvPr/>
        </p:nvPicPr>
        <p:blipFill>
          <a:blip r:embed="rId2"/>
          <a:stretch>
            <a:fillRect/>
          </a:stretch>
        </p:blipFill>
        <p:spPr>
          <a:xfrm>
            <a:off x="252663" y="1758322"/>
            <a:ext cx="3096494" cy="3320753"/>
          </a:xfrm>
          <a:prstGeom prst="rect">
            <a:avLst/>
          </a:prstGeom>
        </p:spPr>
      </p:pic>
      <p:cxnSp>
        <p:nvCxnSpPr>
          <p:cNvPr id="6" name="Straight Arrow Connector 5">
            <a:extLst>
              <a:ext uri="{FF2B5EF4-FFF2-40B4-BE49-F238E27FC236}">
                <a16:creationId xmlns:a16="http://schemas.microsoft.com/office/drawing/2014/main" id="{7AE7F580-6EE4-54DF-F619-87F4EFCAE95A}"/>
              </a:ext>
            </a:extLst>
          </p:cNvPr>
          <p:cNvCxnSpPr>
            <a:cxnSpLocks/>
          </p:cNvCxnSpPr>
          <p:nvPr/>
        </p:nvCxnSpPr>
        <p:spPr>
          <a:xfrm flipH="1">
            <a:off x="2776451" y="3599899"/>
            <a:ext cx="3963016" cy="257206"/>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94044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Publish an API Product to the Portal</a:t>
            </a:r>
          </a:p>
        </p:txBody>
      </p:sp>
      <p:sp>
        <p:nvSpPr>
          <p:cNvPr id="3" name="Text Placeholder 2"/>
          <p:cNvSpPr>
            <a:spLocks noGrp="1"/>
          </p:cNvSpPr>
          <p:nvPr>
            <p:ph type="body" sz="quarter" idx="11"/>
          </p:nvPr>
        </p:nvSpPr>
        <p:spPr/>
        <p:txBody>
          <a:bodyPr/>
          <a:lstStyle/>
          <a:p>
            <a:r>
              <a:rPr lang="en-US"/>
              <a:t>APIC Product Publish – Issue resolution</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If the Product will still not publish check this setting on the Gateway tab</a:t>
            </a:r>
          </a:p>
          <a:p>
            <a:r>
              <a:rPr lang="en-US" sz="1600">
                <a:latin typeface="Arial"/>
                <a:cs typeface="Arial"/>
              </a:rPr>
              <a:t>Uncheck Enforced</a:t>
            </a:r>
          </a:p>
          <a:p>
            <a:r>
              <a:rPr lang="en-US" sz="1600">
                <a:latin typeface="Arial"/>
                <a:cs typeface="Arial"/>
              </a:rPr>
              <a:t>Click Save at Top of Page</a:t>
            </a:r>
          </a:p>
          <a:p>
            <a:r>
              <a:rPr lang="en-US" sz="1600">
                <a:latin typeface="Arial"/>
                <a:cs typeface="Arial"/>
              </a:rPr>
              <a:t>Follow steps to Publish the Product</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10" name="Picture 9">
            <a:extLst>
              <a:ext uri="{FF2B5EF4-FFF2-40B4-BE49-F238E27FC236}">
                <a16:creationId xmlns:a16="http://schemas.microsoft.com/office/drawing/2014/main" id="{7037CCBF-A32D-6513-227C-CAE2A3210F6A}"/>
              </a:ext>
            </a:extLst>
          </p:cNvPr>
          <p:cNvPicPr>
            <a:picLocks noChangeAspect="1"/>
          </p:cNvPicPr>
          <p:nvPr/>
        </p:nvPicPr>
        <p:blipFill>
          <a:blip r:embed="rId2"/>
          <a:stretch>
            <a:fillRect/>
          </a:stretch>
        </p:blipFill>
        <p:spPr>
          <a:xfrm>
            <a:off x="132225" y="1713990"/>
            <a:ext cx="5636808" cy="4674068"/>
          </a:xfrm>
          <a:prstGeom prst="rect">
            <a:avLst/>
          </a:prstGeom>
        </p:spPr>
      </p:pic>
      <p:cxnSp>
        <p:nvCxnSpPr>
          <p:cNvPr id="16" name="Straight Arrow Connector 15">
            <a:extLst>
              <a:ext uri="{FF2B5EF4-FFF2-40B4-BE49-F238E27FC236}">
                <a16:creationId xmlns:a16="http://schemas.microsoft.com/office/drawing/2014/main" id="{BBE4B341-9D8B-60F7-45A2-BB9CD18CD22D}"/>
              </a:ext>
            </a:extLst>
          </p:cNvPr>
          <p:cNvCxnSpPr>
            <a:cxnSpLocks/>
          </p:cNvCxnSpPr>
          <p:nvPr/>
        </p:nvCxnSpPr>
        <p:spPr>
          <a:xfrm flipH="1" flipV="1">
            <a:off x="1995055" y="1986742"/>
            <a:ext cx="4744412" cy="124691"/>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FF57618-315A-657A-113D-C3753C6BBA14}"/>
              </a:ext>
            </a:extLst>
          </p:cNvPr>
          <p:cNvCxnSpPr>
            <a:cxnSpLocks/>
          </p:cNvCxnSpPr>
          <p:nvPr/>
        </p:nvCxnSpPr>
        <p:spPr>
          <a:xfrm flipH="1">
            <a:off x="3017520" y="2528273"/>
            <a:ext cx="3721947" cy="3024629"/>
          </a:xfrm>
          <a:prstGeom prst="straightConnector1">
            <a:avLst/>
          </a:prstGeom>
          <a:ln w="127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59158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Publish an API Product to the Portal</a:t>
            </a:r>
          </a:p>
        </p:txBody>
      </p:sp>
      <p:sp>
        <p:nvSpPr>
          <p:cNvPr id="3" name="Text Placeholder 2"/>
          <p:cNvSpPr>
            <a:spLocks noGrp="1"/>
          </p:cNvSpPr>
          <p:nvPr>
            <p:ph type="body" sz="quarter" idx="11"/>
          </p:nvPr>
        </p:nvSpPr>
        <p:spPr/>
        <p:txBody>
          <a:bodyPr/>
          <a:lstStyle/>
          <a:p>
            <a:r>
              <a:rPr lang="en-US"/>
              <a:t>APIC Product Portal</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The Product and API are now found in the Portal</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B4026A97-8022-4788-9A35-F9172F25C15D}"/>
              </a:ext>
            </a:extLst>
          </p:cNvPr>
          <p:cNvPicPr>
            <a:picLocks noChangeAspect="1"/>
          </p:cNvPicPr>
          <p:nvPr/>
        </p:nvPicPr>
        <p:blipFill>
          <a:blip r:embed="rId2"/>
          <a:stretch>
            <a:fillRect/>
          </a:stretch>
        </p:blipFill>
        <p:spPr>
          <a:xfrm>
            <a:off x="457199" y="1713989"/>
            <a:ext cx="4247147" cy="4646050"/>
          </a:xfrm>
          <a:prstGeom prst="rect">
            <a:avLst/>
          </a:prstGeom>
        </p:spPr>
      </p:pic>
    </p:spTree>
    <p:extLst>
      <p:ext uri="{BB962C8B-B14F-4D97-AF65-F5344CB8AC3E}">
        <p14:creationId xmlns:p14="http://schemas.microsoft.com/office/powerpoint/2010/main" val="3304113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p:txBody>
          <a:bodyPr/>
          <a:lstStyle/>
          <a:p>
            <a:r>
              <a:rPr lang="en-US" sz="2800">
                <a:latin typeface="Arial"/>
                <a:cs typeface="Arial"/>
              </a:rPr>
              <a:t>Delete an API Product from the Portal</a:t>
            </a:r>
            <a:endParaRPr lang="en-US"/>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Introduction</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11272838" cy="4174867"/>
          </a:xfrm>
        </p:spPr>
        <p:txBody>
          <a:bodyPr lIns="91440" tIns="45720" rIns="91440" bIns="45720" anchor="t"/>
          <a:lstStyle/>
          <a:p>
            <a:r>
              <a:rPr lang="en-US" sz="1600">
                <a:latin typeface="Arial"/>
                <a:cs typeface="Arial"/>
              </a:rPr>
              <a:t>This section describes how to delete an API Product from the Development Organization Provider Portal.</a:t>
            </a:r>
          </a:p>
          <a:p>
            <a:endParaRPr lang="en-US" sz="1600"/>
          </a:p>
          <a:p>
            <a:endParaRPr lang="en-US" sz="1600"/>
          </a:p>
          <a:p>
            <a:endParaRPr lang="en-US" sz="1600"/>
          </a:p>
        </p:txBody>
      </p:sp>
    </p:spTree>
    <p:extLst>
      <p:ext uri="{BB962C8B-B14F-4D97-AF65-F5344CB8AC3E}">
        <p14:creationId xmlns:p14="http://schemas.microsoft.com/office/powerpoint/2010/main" val="24516656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Delete an API Product from the Portal</a:t>
            </a:r>
          </a:p>
        </p:txBody>
      </p:sp>
      <p:sp>
        <p:nvSpPr>
          <p:cNvPr id="3" name="Text Placeholder 2"/>
          <p:cNvSpPr>
            <a:spLocks noGrp="1"/>
          </p:cNvSpPr>
          <p:nvPr>
            <p:ph type="body" sz="quarter" idx="11"/>
          </p:nvPr>
        </p:nvSpPr>
        <p:spPr/>
        <p:txBody>
          <a:bodyPr/>
          <a:lstStyle/>
          <a:p>
            <a:r>
              <a:rPr lang="en-US"/>
              <a:t>APIC Product Deletion</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From Manage </a:t>
            </a:r>
          </a:p>
          <a:p>
            <a:r>
              <a:rPr lang="en-US" sz="1600">
                <a:latin typeface="Arial"/>
                <a:cs typeface="Arial"/>
              </a:rPr>
              <a:t>Select the Sandbox within the Development Provider Organization</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306529BC-709E-4FC3-8595-5D788FB1CAA3}"/>
              </a:ext>
            </a:extLst>
          </p:cNvPr>
          <p:cNvPicPr>
            <a:picLocks noChangeAspect="1"/>
          </p:cNvPicPr>
          <p:nvPr/>
        </p:nvPicPr>
        <p:blipFill>
          <a:blip r:embed="rId2"/>
          <a:stretch>
            <a:fillRect/>
          </a:stretch>
        </p:blipFill>
        <p:spPr>
          <a:xfrm>
            <a:off x="252663" y="1713989"/>
            <a:ext cx="3714750" cy="3257550"/>
          </a:xfrm>
          <a:prstGeom prst="rect">
            <a:avLst/>
          </a:prstGeom>
        </p:spPr>
      </p:pic>
    </p:spTree>
    <p:extLst>
      <p:ext uri="{BB962C8B-B14F-4D97-AF65-F5344CB8AC3E}">
        <p14:creationId xmlns:p14="http://schemas.microsoft.com/office/powerpoint/2010/main" val="13556931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Delete an API Product from the Portal</a:t>
            </a:r>
          </a:p>
        </p:txBody>
      </p:sp>
      <p:sp>
        <p:nvSpPr>
          <p:cNvPr id="3" name="Text Placeholder 2"/>
          <p:cNvSpPr>
            <a:spLocks noGrp="1"/>
          </p:cNvSpPr>
          <p:nvPr>
            <p:ph type="body" sz="quarter" idx="11"/>
          </p:nvPr>
        </p:nvSpPr>
        <p:spPr/>
        <p:txBody>
          <a:bodyPr/>
          <a:lstStyle/>
          <a:p>
            <a:r>
              <a:rPr lang="en-US"/>
              <a:t>APIC Product Deletion</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Select the ellipsis to the right of the product</a:t>
            </a:r>
          </a:p>
          <a:p>
            <a:r>
              <a:rPr lang="en-US" sz="1600">
                <a:latin typeface="Arial"/>
                <a:cs typeface="Arial"/>
              </a:rPr>
              <a:t>Select Retire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44C1E719-5268-4795-A5DD-3073E744DB1B}"/>
              </a:ext>
            </a:extLst>
          </p:cNvPr>
          <p:cNvPicPr>
            <a:picLocks noChangeAspect="1"/>
          </p:cNvPicPr>
          <p:nvPr/>
        </p:nvPicPr>
        <p:blipFill>
          <a:blip r:embed="rId2"/>
          <a:stretch>
            <a:fillRect/>
          </a:stretch>
        </p:blipFill>
        <p:spPr>
          <a:xfrm>
            <a:off x="243417" y="1870400"/>
            <a:ext cx="6238875" cy="1781175"/>
          </a:xfrm>
          <a:prstGeom prst="rect">
            <a:avLst/>
          </a:prstGeom>
        </p:spPr>
      </p:pic>
      <p:pic>
        <p:nvPicPr>
          <p:cNvPr id="9" name="Picture 8">
            <a:extLst>
              <a:ext uri="{FF2B5EF4-FFF2-40B4-BE49-F238E27FC236}">
                <a16:creationId xmlns:a16="http://schemas.microsoft.com/office/drawing/2014/main" id="{D104F256-E48D-4D85-9AFB-D6A0864E7FE0}"/>
              </a:ext>
            </a:extLst>
          </p:cNvPr>
          <p:cNvPicPr>
            <a:picLocks noChangeAspect="1"/>
          </p:cNvPicPr>
          <p:nvPr/>
        </p:nvPicPr>
        <p:blipFill>
          <a:blip r:embed="rId3"/>
          <a:stretch>
            <a:fillRect/>
          </a:stretch>
        </p:blipFill>
        <p:spPr>
          <a:xfrm>
            <a:off x="243417" y="4010926"/>
            <a:ext cx="6248121" cy="1960554"/>
          </a:xfrm>
          <a:prstGeom prst="rect">
            <a:avLst/>
          </a:prstGeom>
        </p:spPr>
      </p:pic>
    </p:spTree>
    <p:extLst>
      <p:ext uri="{BB962C8B-B14F-4D97-AF65-F5344CB8AC3E}">
        <p14:creationId xmlns:p14="http://schemas.microsoft.com/office/powerpoint/2010/main" val="26050269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Delete an API Product from the Portal</a:t>
            </a:r>
          </a:p>
        </p:txBody>
      </p:sp>
      <p:sp>
        <p:nvSpPr>
          <p:cNvPr id="3" name="Text Placeholder 2"/>
          <p:cNvSpPr>
            <a:spLocks noGrp="1"/>
          </p:cNvSpPr>
          <p:nvPr>
            <p:ph type="body" sz="quarter" idx="11"/>
          </p:nvPr>
        </p:nvSpPr>
        <p:spPr/>
        <p:txBody>
          <a:bodyPr/>
          <a:lstStyle/>
          <a:p>
            <a:r>
              <a:rPr lang="en-US"/>
              <a:t>APIC Product Deletion</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Select the ellipsis to the right of the product</a:t>
            </a:r>
          </a:p>
          <a:p>
            <a:r>
              <a:rPr lang="en-US" sz="1600">
                <a:latin typeface="Arial"/>
                <a:cs typeface="Arial"/>
              </a:rPr>
              <a:t>Select Delete</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6" name="Picture 5">
            <a:extLst>
              <a:ext uri="{FF2B5EF4-FFF2-40B4-BE49-F238E27FC236}">
                <a16:creationId xmlns:a16="http://schemas.microsoft.com/office/drawing/2014/main" id="{089E7937-43AD-4ACD-958B-3BD5BE010C3A}"/>
              </a:ext>
            </a:extLst>
          </p:cNvPr>
          <p:cNvPicPr>
            <a:picLocks noChangeAspect="1"/>
          </p:cNvPicPr>
          <p:nvPr/>
        </p:nvPicPr>
        <p:blipFill>
          <a:blip r:embed="rId2"/>
          <a:stretch>
            <a:fillRect/>
          </a:stretch>
        </p:blipFill>
        <p:spPr>
          <a:xfrm>
            <a:off x="195653" y="1676400"/>
            <a:ext cx="5808105" cy="3171191"/>
          </a:xfrm>
          <a:prstGeom prst="rect">
            <a:avLst/>
          </a:prstGeom>
        </p:spPr>
      </p:pic>
      <p:pic>
        <p:nvPicPr>
          <p:cNvPr id="10" name="Picture 9">
            <a:extLst>
              <a:ext uri="{FF2B5EF4-FFF2-40B4-BE49-F238E27FC236}">
                <a16:creationId xmlns:a16="http://schemas.microsoft.com/office/drawing/2014/main" id="{779F8EA0-C491-4646-ADAA-FBB607273B50}"/>
              </a:ext>
            </a:extLst>
          </p:cNvPr>
          <p:cNvPicPr>
            <a:picLocks noChangeAspect="1"/>
          </p:cNvPicPr>
          <p:nvPr/>
        </p:nvPicPr>
        <p:blipFill>
          <a:blip r:embed="rId3"/>
          <a:stretch>
            <a:fillRect/>
          </a:stretch>
        </p:blipFill>
        <p:spPr>
          <a:xfrm>
            <a:off x="195653" y="5012463"/>
            <a:ext cx="6343650" cy="1295400"/>
          </a:xfrm>
          <a:prstGeom prst="rect">
            <a:avLst/>
          </a:prstGeom>
        </p:spPr>
      </p:pic>
    </p:spTree>
    <p:extLst>
      <p:ext uri="{BB962C8B-B14F-4D97-AF65-F5344CB8AC3E}">
        <p14:creationId xmlns:p14="http://schemas.microsoft.com/office/powerpoint/2010/main" val="7950700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7C0238-498C-4DFE-AECD-1F79E23F9757}"/>
              </a:ext>
            </a:extLst>
          </p:cNvPr>
          <p:cNvSpPr>
            <a:spLocks noGrp="1"/>
          </p:cNvSpPr>
          <p:nvPr>
            <p:ph type="title"/>
          </p:nvPr>
        </p:nvSpPr>
        <p:spPr>
          <a:xfrm>
            <a:off x="457199" y="246952"/>
            <a:ext cx="9688623" cy="476805"/>
          </a:xfrm>
        </p:spPr>
        <p:txBody>
          <a:bodyPr/>
          <a:lstStyle/>
          <a:p>
            <a:r>
              <a:rPr lang="en-US" sz="2800">
                <a:latin typeface="Arial"/>
                <a:cs typeface="Arial"/>
              </a:rPr>
              <a:t>Download Realization for an API</a:t>
            </a:r>
            <a:endParaRPr lang="en-US"/>
          </a:p>
        </p:txBody>
      </p:sp>
      <p:sp>
        <p:nvSpPr>
          <p:cNvPr id="6" name="Text Placeholder 5">
            <a:extLst>
              <a:ext uri="{FF2B5EF4-FFF2-40B4-BE49-F238E27FC236}">
                <a16:creationId xmlns:a16="http://schemas.microsoft.com/office/drawing/2014/main" id="{7608A91D-12CC-4948-BF7F-7B18983C1226}"/>
              </a:ext>
            </a:extLst>
          </p:cNvPr>
          <p:cNvSpPr>
            <a:spLocks noGrp="1"/>
          </p:cNvSpPr>
          <p:nvPr>
            <p:ph type="body" sz="quarter" idx="11"/>
          </p:nvPr>
        </p:nvSpPr>
        <p:spPr/>
        <p:txBody>
          <a:bodyPr/>
          <a:lstStyle/>
          <a:p>
            <a:r>
              <a:rPr lang="en-US"/>
              <a:t>Introduction</a:t>
            </a:r>
          </a:p>
        </p:txBody>
      </p:sp>
      <p:sp>
        <p:nvSpPr>
          <p:cNvPr id="7" name="Text Placeholder 6">
            <a:extLst>
              <a:ext uri="{FF2B5EF4-FFF2-40B4-BE49-F238E27FC236}">
                <a16:creationId xmlns:a16="http://schemas.microsoft.com/office/drawing/2014/main" id="{223CAA4A-A4F1-4118-8551-9C4C28567CFC}"/>
              </a:ext>
            </a:extLst>
          </p:cNvPr>
          <p:cNvSpPr>
            <a:spLocks noGrp="1"/>
          </p:cNvSpPr>
          <p:nvPr>
            <p:ph type="body" sz="quarter" idx="12"/>
          </p:nvPr>
        </p:nvSpPr>
        <p:spPr>
          <a:xfrm>
            <a:off x="457200" y="1822982"/>
            <a:ext cx="11272838" cy="4174867"/>
          </a:xfrm>
        </p:spPr>
        <p:txBody>
          <a:bodyPr lIns="91440" tIns="45720" rIns="91440" bIns="45720" anchor="t"/>
          <a:lstStyle/>
          <a:p>
            <a:r>
              <a:rPr lang="en-US" sz="1600">
                <a:latin typeface="Arial"/>
                <a:cs typeface="Arial"/>
              </a:rPr>
              <a:t>This section describes how to download an </a:t>
            </a:r>
            <a:r>
              <a:rPr lang="en-US" sz="1600" err="1">
                <a:latin typeface="Arial"/>
                <a:cs typeface="Arial"/>
              </a:rPr>
              <a:t>OpenAPI</a:t>
            </a:r>
            <a:r>
              <a:rPr lang="en-US" sz="1600">
                <a:latin typeface="Arial"/>
                <a:cs typeface="Arial"/>
              </a:rPr>
              <a:t> realization (YAML) from V10.</a:t>
            </a:r>
          </a:p>
          <a:p>
            <a:endParaRPr lang="en-US" sz="1600"/>
          </a:p>
          <a:p>
            <a:endParaRPr lang="en-US" sz="1600"/>
          </a:p>
          <a:p>
            <a:endParaRPr lang="en-US" sz="1600"/>
          </a:p>
        </p:txBody>
      </p:sp>
    </p:spTree>
    <p:extLst>
      <p:ext uri="{BB962C8B-B14F-4D97-AF65-F5344CB8AC3E}">
        <p14:creationId xmlns:p14="http://schemas.microsoft.com/office/powerpoint/2010/main" val="156186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 y="296379"/>
            <a:ext cx="10082463" cy="476805"/>
          </a:xfrm>
        </p:spPr>
        <p:txBody>
          <a:bodyPr/>
          <a:lstStyle/>
          <a:p>
            <a:r>
              <a:rPr lang="en-US" sz="3200">
                <a:latin typeface="Arial"/>
                <a:cs typeface="Arial"/>
              </a:rPr>
              <a:t>Download Realization for an API</a:t>
            </a:r>
          </a:p>
        </p:txBody>
      </p:sp>
      <p:sp>
        <p:nvSpPr>
          <p:cNvPr id="3" name="Text Placeholder 2"/>
          <p:cNvSpPr>
            <a:spLocks noGrp="1"/>
          </p:cNvSpPr>
          <p:nvPr>
            <p:ph type="body" sz="quarter" idx="11"/>
          </p:nvPr>
        </p:nvSpPr>
        <p:spPr/>
        <p:txBody>
          <a:bodyPr/>
          <a:lstStyle/>
          <a:p>
            <a:r>
              <a:rPr lang="en-US"/>
              <a:t>APIC Realization download</a:t>
            </a:r>
          </a:p>
        </p:txBody>
      </p:sp>
      <p:sp>
        <p:nvSpPr>
          <p:cNvPr id="7" name="Text Placeholder 3">
            <a:extLst>
              <a:ext uri="{FF2B5EF4-FFF2-40B4-BE49-F238E27FC236}">
                <a16:creationId xmlns:a16="http://schemas.microsoft.com/office/drawing/2014/main" id="{83C88C68-9043-4559-8238-A387448655EE}"/>
              </a:ext>
            </a:extLst>
          </p:cNvPr>
          <p:cNvSpPr txBox="1">
            <a:spLocks/>
          </p:cNvSpPr>
          <p:nvPr/>
        </p:nvSpPr>
        <p:spPr>
          <a:xfrm>
            <a:off x="6739467" y="1713989"/>
            <a:ext cx="4990570" cy="4593874"/>
          </a:xfrm>
          <a:prstGeom prst="rect">
            <a:avLst/>
          </a:prstGeom>
        </p:spPr>
        <p:txBody>
          <a:bodyPr anchor="t"/>
          <a:lstStyle>
            <a:lvl1pPr marL="0" indent="0" algn="l" defTabSz="914400" rtl="0" eaLnBrk="1" latinLnBrk="0" hangingPunct="1">
              <a:spcBef>
                <a:spcPts val="1200"/>
              </a:spcBef>
              <a:spcAft>
                <a:spcPts val="0"/>
              </a:spcAft>
              <a:buClrTx/>
              <a:buFontTx/>
              <a:buNone/>
              <a:tabLst>
                <a:tab pos="1201738" algn="l"/>
              </a:tabLst>
              <a:defRPr sz="1800" b="0" i="0" kern="1200">
                <a:solidFill>
                  <a:schemeClr val="tx2"/>
                </a:solidFill>
                <a:latin typeface="Arial" panose="020B0604020202020204" pitchFamily="34" charset="0"/>
                <a:ea typeface="Open Sans" panose="020B0606030504020204" pitchFamily="34" charset="0"/>
                <a:cs typeface="Arial" panose="020B0604020202020204" pitchFamily="34" charset="0"/>
                <a:sym typeface="Arial" panose="020B0604020202020204" pitchFamily="34" charset="0"/>
              </a:defRPr>
            </a:lvl1pPr>
            <a:lvl2pPr marL="200025" indent="-200025" algn="l" defTabSz="914400" rtl="0" eaLnBrk="1" latinLnBrk="0" hangingPunct="1">
              <a:spcBef>
                <a:spcPts val="12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2pPr>
            <a:lvl3pPr marL="398463" indent="-200025"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3pPr>
            <a:lvl4pPr marL="622300" indent="-200025" algn="l" defTabSz="914400" rtl="0" eaLnBrk="1" latinLnBrk="0" hangingPunct="1">
              <a:spcBef>
                <a:spcPts val="300"/>
              </a:spcBef>
              <a:spcAft>
                <a:spcPts val="0"/>
              </a:spcAft>
              <a:buClrTx/>
              <a:buFont typeface="Arial" pitchFamily="34" charset="0"/>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4pPr>
            <a:lvl5pPr marL="806450" indent="-182563" algn="l" defTabSz="914400" rtl="0" eaLnBrk="1" latinLnBrk="0" hangingPunct="1">
              <a:spcBef>
                <a:spcPts val="300"/>
              </a:spcBef>
              <a:spcAft>
                <a:spcPts val="0"/>
              </a:spcAft>
              <a:buClrTx/>
              <a:buFont typeface="Lucida Grande"/>
              <a:buChar char="-"/>
              <a:tabLst>
                <a:tab pos="1201738" algn="l"/>
              </a:tabLst>
              <a:defRPr sz="1800" b="0" i="0" kern="1200">
                <a:solidFill>
                  <a:schemeClr val="tx2"/>
                </a:solidFill>
                <a:latin typeface="+mn-lt"/>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latin typeface="Arial"/>
                <a:cs typeface="Arial"/>
              </a:rPr>
              <a:t>Select the ellipsis next to the API to download</a:t>
            </a:r>
          </a:p>
          <a:p>
            <a:r>
              <a:rPr lang="en-US" sz="1600">
                <a:latin typeface="Arial"/>
                <a:cs typeface="Arial"/>
              </a:rPr>
              <a:t>Import the downloaded .YAML file into RSA realization folder within the appropriate API Domain</a:t>
            </a: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sz="1600">
              <a:latin typeface="Arial"/>
              <a:cs typeface="Arial"/>
            </a:endParaRPr>
          </a:p>
          <a:p>
            <a:endParaRPr lang="en-US"/>
          </a:p>
          <a:p>
            <a:endParaRPr lang="en-US" sz="1600"/>
          </a:p>
          <a:p>
            <a:endParaRPr lang="en-US" sz="1600"/>
          </a:p>
          <a:p>
            <a:endParaRPr lang="en-US"/>
          </a:p>
        </p:txBody>
      </p:sp>
      <p:pic>
        <p:nvPicPr>
          <p:cNvPr id="5" name="Picture 4">
            <a:extLst>
              <a:ext uri="{FF2B5EF4-FFF2-40B4-BE49-F238E27FC236}">
                <a16:creationId xmlns:a16="http://schemas.microsoft.com/office/drawing/2014/main" id="{E457A3D2-9833-4D89-A6CB-CED26D13367C}"/>
              </a:ext>
            </a:extLst>
          </p:cNvPr>
          <p:cNvPicPr>
            <a:picLocks noChangeAspect="1"/>
          </p:cNvPicPr>
          <p:nvPr/>
        </p:nvPicPr>
        <p:blipFill>
          <a:blip r:embed="rId2"/>
          <a:stretch>
            <a:fillRect/>
          </a:stretch>
        </p:blipFill>
        <p:spPr>
          <a:xfrm>
            <a:off x="132347" y="1816768"/>
            <a:ext cx="6361531" cy="2788309"/>
          </a:xfrm>
          <a:prstGeom prst="rect">
            <a:avLst/>
          </a:prstGeom>
        </p:spPr>
      </p:pic>
    </p:spTree>
    <p:extLst>
      <p:ext uri="{BB962C8B-B14F-4D97-AF65-F5344CB8AC3E}">
        <p14:creationId xmlns:p14="http://schemas.microsoft.com/office/powerpoint/2010/main" val="42029630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6384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oftheCTO_theme_100218">
  <a:themeElements>
    <a:clrScheme name="Custom 4">
      <a:dk1>
        <a:srgbClr val="000000"/>
      </a:dk1>
      <a:lt1>
        <a:srgbClr val="FFFFFF"/>
      </a:lt1>
      <a:dk2>
        <a:srgbClr val="414141"/>
      </a:dk2>
      <a:lt2>
        <a:srgbClr val="C2C0C0"/>
      </a:lt2>
      <a:accent1>
        <a:srgbClr val="00859B"/>
      </a:accent1>
      <a:accent2>
        <a:srgbClr val="064E69"/>
      </a:accent2>
      <a:accent3>
        <a:srgbClr val="7CC0CC"/>
      </a:accent3>
      <a:accent4>
        <a:srgbClr val="B2DAE1"/>
      </a:accent4>
      <a:accent5>
        <a:srgbClr val="563D82"/>
      </a:accent5>
      <a:accent6>
        <a:srgbClr val="7C3E98"/>
      </a:accent6>
      <a:hlink>
        <a:srgbClr val="563D82"/>
      </a:hlink>
      <a:folHlink>
        <a:srgbClr val="B18BC1"/>
      </a:folHlink>
    </a:clrScheme>
    <a:fontScheme name="Sma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dirty="0" smtClean="0">
            <a:latin typeface="+mj-lt"/>
            <a:cs typeface="Open Sans Bold"/>
          </a:defRPr>
        </a:defPPr>
      </a:lstStyle>
      <a:style>
        <a:lnRef idx="2">
          <a:schemeClr val="accent1">
            <a:shade val="50000"/>
          </a:schemeClr>
        </a:lnRef>
        <a:fillRef idx="1">
          <a:schemeClr val="accent1"/>
        </a:fillRef>
        <a:effectRef idx="0">
          <a:schemeClr val="accent1"/>
        </a:effectRef>
        <a:fontRef idx="minor">
          <a:schemeClr val="lt1"/>
        </a:fontRef>
      </a:style>
    </a:spDef>
    <a:lnDef>
      <a:spPr>
        <a:ln w="12700" cmpd="sng">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defTabSz="456758" fontAlgn="base">
          <a:spcBef>
            <a:spcPts val="1200"/>
          </a:spcBef>
          <a:defRPr dirty="0" err="1" smtClean="0">
            <a:solidFill>
              <a:schemeClr val="tx2"/>
            </a:solidFill>
            <a:cs typeface="Open Sans Light"/>
          </a:defRPr>
        </a:defPPr>
      </a:lstStyle>
    </a:txDef>
  </a:objectDefaults>
  <a:extraClrSchemeLst/>
  <a:extLst>
    <a:ext uri="{05A4C25C-085E-4340-85A3-A5531E510DB2}">
      <thm15:themeFamily xmlns:thm15="http://schemas.microsoft.com/office/thememl/2012/main" name="Office of the CTO - PPT BLANK Template - FINAL (CVS).pptx" id="{19F6D734-EC81-4E16-A698-513174E86162}" vid="{4F6C1644-6671-4109-A055-71140CBCAE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22e03203-ec4c-4c66-96cf-aa9996e77809">
      <UserInfo>
        <DisplayName>Klein, Roy</DisplayName>
        <AccountId>81</AccountId>
        <AccountType/>
      </UserInfo>
      <UserInfo>
        <DisplayName>Waldern, Stephen</DisplayName>
        <AccountId>31</AccountId>
        <AccountType/>
      </UserInfo>
      <UserInfo>
        <DisplayName>Filkins Jr, Charles H</DisplayName>
        <AccountId>89</AccountId>
        <AccountType/>
      </UserInfo>
      <UserInfo>
        <DisplayName>Smith, Glenn M</DisplayName>
        <AccountId>10</AccountId>
        <AccountType/>
      </UserInfo>
      <UserInfo>
        <DisplayName>Sol_Int_Mbr SharePoint Sp00</DisplayName>
        <AccountId>39</AccountId>
        <AccountType/>
      </UserInfo>
      <UserInfo>
        <DisplayName>Kannan, Sevvel</DisplayName>
        <AccountId>160</AccountId>
        <AccountType/>
      </UserInfo>
      <UserInfo>
        <DisplayName>Everyone except external users</DisplayName>
        <AccountId>9</AccountId>
        <AccountType/>
      </UserInfo>
    </SharedWithUsers>
    <IconOverlay xmlns="http://schemas.microsoft.com/sharepoint/v4" xsi:nil="true"/>
    <TaxCatchAll xmlns="22e03203-ec4c-4c66-96cf-aa9996e77809" xsi:nil="true"/>
    <lcf76f155ced4ddcb4097134ff3c332f xmlns="3fa8ab4d-fc80-4ace-9cc0-88393022a38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7459ADBC2489F43806C0A43969E2E78" ma:contentTypeVersion="48" ma:contentTypeDescription="Create a new document." ma:contentTypeScope="" ma:versionID="b400d34fda44c64d5363122b7899c2dc">
  <xsd:schema xmlns:xsd="http://www.w3.org/2001/XMLSchema" xmlns:xs="http://www.w3.org/2001/XMLSchema" xmlns:p="http://schemas.microsoft.com/office/2006/metadata/properties" xmlns:ns2="22e03203-ec4c-4c66-96cf-aa9996e77809" xmlns:ns3="http://schemas.microsoft.com/sharepoint/v4" xmlns:ns4="3fa8ab4d-fc80-4ace-9cc0-88393022a38c" targetNamespace="http://schemas.microsoft.com/office/2006/metadata/properties" ma:root="true" ma:fieldsID="8054a392d58bd660a57e620f6c01af56" ns2:_="" ns3:_="" ns4:_="">
    <xsd:import namespace="22e03203-ec4c-4c66-96cf-aa9996e77809"/>
    <xsd:import namespace="http://schemas.microsoft.com/sharepoint/v4"/>
    <xsd:import namespace="3fa8ab4d-fc80-4ace-9cc0-88393022a38c"/>
    <xsd:element name="properties">
      <xsd:complexType>
        <xsd:sequence>
          <xsd:element name="documentManagement">
            <xsd:complexType>
              <xsd:all>
                <xsd:element ref="ns2:SharedWithUsers" minOccurs="0"/>
                <xsd:element ref="ns2:SharedWithDetails" minOccurs="0"/>
                <xsd:element ref="ns3:IconOverlay" minOccurs="0"/>
                <xsd:element ref="ns4:MediaServiceEventHashCode" minOccurs="0"/>
                <xsd:element ref="ns4:MediaServiceGenerationTime" minOccurs="0"/>
                <xsd:element ref="ns4:MediaServiceAutoKeyPoints" minOccurs="0"/>
                <xsd:element ref="ns4:MediaServiceKeyPoints" minOccurs="0"/>
                <xsd:element ref="ns4:MediaServiceDateTaken" minOccurs="0"/>
                <xsd:element ref="ns4:MediaServiceAutoTags" minOccurs="0"/>
                <xsd:element ref="ns4:MediaServiceOCR" minOccurs="0"/>
                <xsd:element ref="ns4:lcf76f155ced4ddcb4097134ff3c332f" minOccurs="0"/>
                <xsd:element ref="ns2:TaxCatchAll" minOccurs="0"/>
                <xsd:element ref="ns4:MediaServiceObjectDetectorVersion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e03203-ec4c-4c66-96cf-aa9996e77809"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42964c53-8a8f-436d-8e87-8c3a665137ec}" ma:internalName="TaxCatchAll" ma:showField="CatchAllData" ma:web="22e03203-ec4c-4c66-96cf-aa9996e7780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0"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fa8ab4d-fc80-4ace-9cc0-88393022a38c" elementFormDefault="qualified">
    <xsd:import namespace="http://schemas.microsoft.com/office/2006/documentManagement/types"/>
    <xsd:import namespace="http://schemas.microsoft.com/office/infopath/2007/PartnerControls"/>
    <xsd:element name="MediaServiceEventHashCode" ma:index="11" nillable="true" ma:displayName="MediaServiceEventHashCode" ma:hidden="true" ma:internalName="MediaServiceEventHashCode"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3773e5d3-86f4-436a-b35a-a9b626cf631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A4C5460-6341-4A06-8926-FDDA58E91623}">
  <ds:schemaRefs>
    <ds:schemaRef ds:uri="http://schemas.microsoft.com/sharepoint/v3/contenttype/forms"/>
  </ds:schemaRefs>
</ds:datastoreItem>
</file>

<file path=customXml/itemProps2.xml><?xml version="1.0" encoding="utf-8"?>
<ds:datastoreItem xmlns:ds="http://schemas.openxmlformats.org/officeDocument/2006/customXml" ds:itemID="{B24F0FD7-590D-477C-84D8-04F64A55F94D}">
  <ds:schemaRefs>
    <ds:schemaRef ds:uri="22e03203-ec4c-4c66-96cf-aa9996e77809"/>
    <ds:schemaRef ds:uri="3fa8ab4d-fc80-4ace-9cc0-88393022a38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4"/>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CB59E0B-BB93-4F5C-A3ED-AAAA8A8C49AA}">
  <ds:schemaRefs>
    <ds:schemaRef ds:uri="22e03203-ec4c-4c66-96cf-aa9996e77809"/>
    <ds:schemaRef ds:uri="3fa8ab4d-fc80-4ace-9cc0-88393022a38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4"/>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165</Slides>
  <Notes>3</Notes>
  <HiddenSlides>0</HiddenSlides>
  <ScaleCrop>false</ScaleCrop>
  <HeadingPairs>
    <vt:vector size="4" baseType="variant">
      <vt:variant>
        <vt:lpstr>Theme</vt:lpstr>
      </vt:variant>
      <vt:variant>
        <vt:i4>1</vt:i4>
      </vt:variant>
      <vt:variant>
        <vt:lpstr>Slide Titles</vt:lpstr>
      </vt:variant>
      <vt:variant>
        <vt:i4>165</vt:i4>
      </vt:variant>
    </vt:vector>
  </HeadingPairs>
  <TitlesOfParts>
    <vt:vector size="166" baseType="lpstr">
      <vt:lpstr>OfficeoftheCTO_theme_100218</vt:lpstr>
      <vt:lpstr>Table of Contents </vt:lpstr>
      <vt:lpstr>Table of Contents </vt:lpstr>
      <vt:lpstr>Introduction</vt:lpstr>
      <vt:lpstr>Setup</vt:lpstr>
      <vt:lpstr>Setup</vt:lpstr>
      <vt:lpstr>Setup</vt:lpstr>
      <vt:lpstr>Setup</vt:lpstr>
      <vt:lpstr>Setup</vt:lpstr>
      <vt:lpstr>Setup</vt:lpstr>
      <vt:lpstr>Setup</vt:lpstr>
      <vt:lpstr>Setup</vt:lpstr>
      <vt:lpstr>Setup</vt:lpstr>
      <vt:lpstr>Setup</vt:lpstr>
      <vt:lpstr>Setup</vt:lpstr>
      <vt:lpstr>Importing Swagger 2.0 as a proxy</vt:lpstr>
      <vt:lpstr>Importing Swagger 2.0 as a proxy</vt:lpstr>
      <vt:lpstr>Importing Swagger 2.0 as a proxy</vt:lpstr>
      <vt:lpstr>Importing Swagger 2.0 as a proxy</vt:lpstr>
      <vt:lpstr>Importing Swagger 2.0 as a proxy</vt:lpstr>
      <vt:lpstr>Importing Swagger 2.0 as a proxy</vt:lpstr>
      <vt:lpstr>Importing Swagger 2.0 as a proxy</vt:lpstr>
      <vt:lpstr>Importing Swagger 2.0 as a proxy</vt:lpstr>
      <vt:lpstr>Assemble for Proxy Invoke</vt:lpstr>
      <vt:lpstr>Assemble for Proxy Invoke</vt:lpstr>
      <vt:lpstr>Assemble for Proxy Invoke</vt:lpstr>
      <vt:lpstr>Mapping to Swagger Services</vt:lpstr>
      <vt:lpstr>Mapping to Swagger Services</vt:lpstr>
      <vt:lpstr>Mapping to Swagger Services</vt:lpstr>
      <vt:lpstr>Mapping to Swagger Services</vt:lpstr>
      <vt:lpstr>Mapping to Swagger Services</vt:lpstr>
      <vt:lpstr>Mapping to Swagger Services</vt:lpstr>
      <vt:lpstr>Mapping to Swagger Services</vt:lpstr>
      <vt:lpstr>Mapping to Swagger Services</vt:lpstr>
      <vt:lpstr>Mapping to Swagger Services</vt:lpstr>
      <vt:lpstr>Mapping to Swagger Services</vt:lpstr>
      <vt:lpstr>Mapping to XML Services</vt:lpstr>
      <vt:lpstr>Mapping to XML Services</vt:lpstr>
      <vt:lpstr>Mapping to XML Services</vt:lpstr>
      <vt:lpstr>Mapping to XML Services</vt:lpstr>
      <vt:lpstr>Mapping to XML Services</vt:lpstr>
      <vt:lpstr>Mapping to XML Services</vt:lpstr>
      <vt:lpstr>Mapping to XML Services</vt:lpstr>
      <vt:lpstr>Mapping to XML Services</vt:lpstr>
      <vt:lpstr>Mapping to XML Services</vt:lpstr>
      <vt:lpstr>Mapping to XML Services</vt:lpstr>
      <vt:lpstr>Mapping to XML Services</vt:lpstr>
      <vt:lpstr>Mapping to XML Services</vt:lpstr>
      <vt:lpstr>Mapping to XML Services</vt:lpstr>
      <vt:lpstr>Mapping to XML Services</vt:lpstr>
      <vt:lpstr>Mapping to XML Services</vt:lpstr>
      <vt:lpstr>Mapping to XML Services</vt:lpstr>
      <vt:lpstr>Mapping to XML Services</vt:lpstr>
      <vt:lpstr>Mapping to XML Services</vt:lpstr>
      <vt:lpstr>Mapping to XML Services</vt:lpstr>
      <vt:lpstr>Mapping to XML Services</vt:lpstr>
      <vt:lpstr>Move proxy API from V5 to V10</vt:lpstr>
      <vt:lpstr>Move proxy API from V5 to V10</vt:lpstr>
      <vt:lpstr>Move proxy API from V5 to V10</vt:lpstr>
      <vt:lpstr>Move proxy API from V5 to V10</vt:lpstr>
      <vt:lpstr>Move proxy API from V5 to V10</vt:lpstr>
      <vt:lpstr>Move proxy API from V5 to V10</vt:lpstr>
      <vt:lpstr>Move proxy API from V5 to V10</vt:lpstr>
      <vt:lpstr>Move proxy API from V5 to V10</vt:lpstr>
      <vt:lpstr>Moving a mapped API from V5 to V10</vt:lpstr>
      <vt:lpstr>Importing an OpenAPI 3.0 for proxy API</vt:lpstr>
      <vt:lpstr>Importing an OpenAPI 3.0 for proxy API</vt:lpstr>
      <vt:lpstr>Importing an OpenAPI 3.0 for proxy API</vt:lpstr>
      <vt:lpstr>Importing an OpenAPI 3.0 for proxy API</vt:lpstr>
      <vt:lpstr>Importing an OpenAPI 3.0 for proxy API</vt:lpstr>
      <vt:lpstr>Importing an OpenAPI 3.0 for proxy API</vt:lpstr>
      <vt:lpstr>Importing a SOAP proxy API </vt:lpstr>
      <vt:lpstr>Importing a SOAP proxy API</vt:lpstr>
      <vt:lpstr>Importing a SOAP proxy API</vt:lpstr>
      <vt:lpstr>Importing a SOAP proxy API</vt:lpstr>
      <vt:lpstr>Importing a SOAP proxy API</vt:lpstr>
      <vt:lpstr>Importing a SOAP proxy API</vt:lpstr>
      <vt:lpstr>Importing a SOAP proxy API</vt:lpstr>
      <vt:lpstr>Importing a SOAP proxy API</vt:lpstr>
      <vt:lpstr>Importing a SOAP proxy API</vt:lpstr>
      <vt:lpstr>Cloning a V10 API</vt:lpstr>
      <vt:lpstr>Cloning a V10 API</vt:lpstr>
      <vt:lpstr>Cloning a V10 API</vt:lpstr>
      <vt:lpstr>Cloning a V10 API</vt:lpstr>
      <vt:lpstr>Cloning a V10 API</vt:lpstr>
      <vt:lpstr>Create a new V10 API version</vt:lpstr>
      <vt:lpstr>Create a new V10 API version</vt:lpstr>
      <vt:lpstr>Create a new V10 API version</vt:lpstr>
      <vt:lpstr>Create a new OpenAPI 2.0 using APIC V10</vt:lpstr>
      <vt:lpstr>Create a new OpenAPI 2.0 using APIC V10</vt:lpstr>
      <vt:lpstr>Create a new OpenAPI 2.0 using APIC V10</vt:lpstr>
      <vt:lpstr>Create a new OpenAPI 2.0 using APIC V10</vt:lpstr>
      <vt:lpstr>Create a new OpenAPI 2.0 using APIC V10</vt:lpstr>
      <vt:lpstr>Create a new OpenAPI 2.0 using APIC V10</vt:lpstr>
      <vt:lpstr>Create a new OpenAPI 2.0 using APIC V10</vt:lpstr>
      <vt:lpstr>Create a new OpenAPI 2.0 using APIC V10</vt:lpstr>
      <vt:lpstr>Create a new OpenAPI 2.0 using APIC V10</vt:lpstr>
      <vt:lpstr>Create a new OpenAPI 2.0 using APIC V10</vt:lpstr>
      <vt:lpstr>Create a new OpenAPI 2.0 using APIC V10</vt:lpstr>
      <vt:lpstr>Create a new OpenAPI 2.0 using APIC V10</vt:lpstr>
      <vt:lpstr>Create a new OpenAPI 2.0 using APIC V10</vt:lpstr>
      <vt:lpstr>Create a new OpenAPI 2.0 using APIC V10</vt:lpstr>
      <vt:lpstr>Create a complex definition using API Connect V10</vt:lpstr>
      <vt:lpstr>Create a complex definition using API Connect V10</vt:lpstr>
      <vt:lpstr>Create a complex definition using API Connect V10</vt:lpstr>
      <vt:lpstr>Create a complex definition using API Connect V10</vt:lpstr>
      <vt:lpstr>Create a complex definition using API Connect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new OpenAPI 3.0 using APIC V10</vt:lpstr>
      <vt:lpstr>Create a complex schema using API Connect V10</vt:lpstr>
      <vt:lpstr>Create a complex definition using API Connect V10</vt:lpstr>
      <vt:lpstr>Create a complex definition using API Connect V10</vt:lpstr>
      <vt:lpstr>Create a complex definition using API Connect V10</vt:lpstr>
      <vt:lpstr>Create a complex definition using API Connect V10</vt:lpstr>
      <vt:lpstr>Create a complex definition using API Connect V10</vt:lpstr>
      <vt:lpstr>Create a complex definition using API Connect V10</vt:lpstr>
      <vt:lpstr>Create an API Product</vt:lpstr>
      <vt:lpstr>Create an API Product</vt:lpstr>
      <vt:lpstr>Create an API Product</vt:lpstr>
      <vt:lpstr>Create an API Product</vt:lpstr>
      <vt:lpstr>Create an API Product</vt:lpstr>
      <vt:lpstr>Create an API Product</vt:lpstr>
      <vt:lpstr>Create an API Product</vt:lpstr>
      <vt:lpstr>Create an API Product</vt:lpstr>
      <vt:lpstr>Create an API Product</vt:lpstr>
      <vt:lpstr>Create an API Product</vt:lpstr>
      <vt:lpstr>Create an API Product</vt:lpstr>
      <vt:lpstr>Create an API Product</vt:lpstr>
      <vt:lpstr>Create an API Product</vt:lpstr>
      <vt:lpstr>Publish an API Product to the Portal</vt:lpstr>
      <vt:lpstr>Publish an API Product to the Portal</vt:lpstr>
      <vt:lpstr>Publish an API Product to the Portal</vt:lpstr>
      <vt:lpstr>Publish an API Product to the Portal</vt:lpstr>
      <vt:lpstr>Publish an API Product to the Portal</vt:lpstr>
      <vt:lpstr>Publish an API Product to the Portal</vt:lpstr>
      <vt:lpstr>Publish an API Product to the Portal</vt:lpstr>
      <vt:lpstr>Publish an API Product to the Portal</vt:lpstr>
      <vt:lpstr>Publish an API Product to the Portal</vt:lpstr>
      <vt:lpstr>Delete an API Product from the Portal</vt:lpstr>
      <vt:lpstr>Delete an API Product from the Portal</vt:lpstr>
      <vt:lpstr>Delete an API Product from the Portal</vt:lpstr>
      <vt:lpstr>Delete an API Product from the Portal</vt:lpstr>
      <vt:lpstr>Download Realization for an API</vt:lpstr>
      <vt:lpstr>Download Realization for an API</vt:lpstr>
      <vt:lpstr>PowerPoint Presentation</vt:lpstr>
    </vt:vector>
  </TitlesOfParts>
  <Company>Aetna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Waldern, Stephen</dc:creator>
  <cp:revision>2</cp:revision>
  <cp:lastPrinted>2017-04-13T12:11:49Z</cp:lastPrinted>
  <dcterms:created xsi:type="dcterms:W3CDTF">2019-07-17T11:58:25Z</dcterms:created>
  <dcterms:modified xsi:type="dcterms:W3CDTF">2025-10-07T15:43:08Z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0x010100F7459ADBC2489F43806C0A43969E2E78</vt:lpwstr>
  </property>
  <property fmtid="{D5CDD505-2E9C-101B-9397-08002B2CF9AE}" pid="3" name="AuthorIds_UIVersion_12288">
    <vt:lpwstr>325</vt:lpwstr>
  </property>
  <property fmtid="{D5CDD505-2E9C-101B-9397-08002B2CF9AE}" pid="4" name="UnilyDocumentCategory">
    <vt:lpwstr/>
  </property>
  <property fmtid="{D5CDD505-2E9C-101B-9397-08002B2CF9AE}" pid="5" name="AuthorIds_UIVersion_9216">
    <vt:lpwstr>1366</vt:lpwstr>
  </property>
  <property fmtid="{D5CDD505-2E9C-101B-9397-08002B2CF9AE}" pid="6" name="MSIP_Label_67599526-06ca-49cc-9fa9-5307800a949a_Enabled">
    <vt:lpwstr>true</vt:lpwstr>
  </property>
  <property fmtid="{D5CDD505-2E9C-101B-9397-08002B2CF9AE}" pid="7" name="MSIP_Label_67599526-06ca-49cc-9fa9-5307800a949a_SetDate">
    <vt:lpwstr>2021-08-26T15:31:31Z</vt:lpwstr>
  </property>
  <property fmtid="{D5CDD505-2E9C-101B-9397-08002B2CF9AE}" pid="8" name="MSIP_Label_67599526-06ca-49cc-9fa9-5307800a949a_Method">
    <vt:lpwstr>Standard</vt:lpwstr>
  </property>
  <property fmtid="{D5CDD505-2E9C-101B-9397-08002B2CF9AE}" pid="9" name="MSIP_Label_67599526-06ca-49cc-9fa9-5307800a949a_Name">
    <vt:lpwstr>67599526-06ca-49cc-9fa9-5307800a949a</vt:lpwstr>
  </property>
  <property fmtid="{D5CDD505-2E9C-101B-9397-08002B2CF9AE}" pid="10" name="MSIP_Label_67599526-06ca-49cc-9fa9-5307800a949a_SiteId">
    <vt:lpwstr>fabb61b8-3afe-4e75-b934-a47f782b8cd7</vt:lpwstr>
  </property>
  <property fmtid="{D5CDD505-2E9C-101B-9397-08002B2CF9AE}" pid="11" name="MSIP_Label_67599526-06ca-49cc-9fa9-5307800a949a_ActionId">
    <vt:lpwstr/>
  </property>
  <property fmtid="{D5CDD505-2E9C-101B-9397-08002B2CF9AE}" pid="12" name="MSIP_Label_67599526-06ca-49cc-9fa9-5307800a949a_ContentBits">
    <vt:lpwstr>0</vt:lpwstr>
  </property>
  <property fmtid="{D5CDD505-2E9C-101B-9397-08002B2CF9AE}" pid="13" name="MediaServiceImageTags">
    <vt:lpwstr/>
  </property>
</Properties>
</file>