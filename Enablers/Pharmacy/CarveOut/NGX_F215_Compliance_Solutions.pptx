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8384EB8-459C-4BCB-BD71-98B2F6280945}" v="1" dt="2025-10-02T14:08:22.13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2004" y="2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ram Dworkin" userId="312c6f499fd521db" providerId="LiveId" clId="{89FB988F-9949-4D9F-A6F9-A9003FA0DB18}"/>
    <pc:docChg chg="custSel modSld">
      <pc:chgData name="Amram Dworkin" userId="312c6f499fd521db" providerId="LiveId" clId="{89FB988F-9949-4D9F-A6F9-A9003FA0DB18}" dt="2025-10-02T14:08:22.128" v="41"/>
      <pc:docMkLst>
        <pc:docMk/>
      </pc:docMkLst>
      <pc:sldChg chg="addSp modSp mod">
        <pc:chgData name="Amram Dworkin" userId="312c6f499fd521db" providerId="LiveId" clId="{89FB988F-9949-4D9F-A6F9-A9003FA0DB18}" dt="2025-10-02T14:08:22.128" v="41"/>
        <pc:sldMkLst>
          <pc:docMk/>
          <pc:sldMk cId="0" sldId="256"/>
        </pc:sldMkLst>
        <pc:spChg chg="mod">
          <ac:chgData name="Amram Dworkin" userId="312c6f499fd521db" providerId="LiveId" clId="{89FB988F-9949-4D9F-A6F9-A9003FA0DB18}" dt="2025-10-02T14:03:10.693" v="2" actId="20577"/>
          <ac:spMkLst>
            <pc:docMk/>
            <pc:sldMk cId="0" sldId="256"/>
            <ac:spMk id="2" creationId="{00000000-0000-0000-0000-000000000000}"/>
          </ac:spMkLst>
        </pc:spChg>
        <pc:graphicFrameChg chg="add mod">
          <ac:chgData name="Amram Dworkin" userId="312c6f499fd521db" providerId="LiveId" clId="{89FB988F-9949-4D9F-A6F9-A9003FA0DB18}" dt="2025-10-02T14:08:22.128" v="41"/>
          <ac:graphicFrameMkLst>
            <pc:docMk/>
            <pc:sldMk cId="0" sldId="256"/>
            <ac:graphicFrameMk id="4" creationId="{D1BFBCFC-33B1-2E3E-9364-AE3546C92979}"/>
          </ac:graphicFrameMkLst>
        </pc:graphicFrameChg>
      </pc:sldChg>
      <pc:sldChg chg="modSp mod">
        <pc:chgData name="Amram Dworkin" userId="312c6f499fd521db" providerId="LiveId" clId="{89FB988F-9949-4D9F-A6F9-A9003FA0DB18}" dt="2025-10-02T14:04:34.688" v="9" actId="27636"/>
        <pc:sldMkLst>
          <pc:docMk/>
          <pc:sldMk cId="0" sldId="259"/>
        </pc:sldMkLst>
        <pc:spChg chg="mod">
          <ac:chgData name="Amram Dworkin" userId="312c6f499fd521db" providerId="LiveId" clId="{89FB988F-9949-4D9F-A6F9-A9003FA0DB18}" dt="2025-10-02T14:04:34.688" v="9" actId="2763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Amram Dworkin" userId="312c6f499fd521db" providerId="LiveId" clId="{89FB988F-9949-4D9F-A6F9-A9003FA0DB18}" dt="2025-10-02T14:04:58.598" v="21" actId="20577"/>
        <pc:sldMkLst>
          <pc:docMk/>
          <pc:sldMk cId="0" sldId="261"/>
        </pc:sldMkLst>
        <pc:spChg chg="mod">
          <ac:chgData name="Amram Dworkin" userId="312c6f499fd521db" providerId="LiveId" clId="{89FB988F-9949-4D9F-A6F9-A9003FA0DB18}" dt="2025-10-02T14:04:58.598" v="21" actId="20577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Amram Dworkin" userId="312c6f499fd521db" providerId="LiveId" clId="{89FB988F-9949-4D9F-A6F9-A9003FA0DB18}" dt="2025-10-02T14:05:38.414" v="40" actId="20577"/>
        <pc:sldMkLst>
          <pc:docMk/>
          <pc:sldMk cId="0" sldId="262"/>
        </pc:sldMkLst>
        <pc:spChg chg="mod">
          <ac:chgData name="Amram Dworkin" userId="312c6f499fd521db" providerId="LiveId" clId="{89FB988F-9949-4D9F-A6F9-A9003FA0DB18}" dt="2025-10-02T14:05:38.414" v="40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NGX-F215</a:t>
            </a:r>
            <a:r>
              <a:rPr lang="en-US" dirty="0"/>
              <a:t>343</a:t>
            </a:r>
            <a:r>
              <a:rPr dirty="0"/>
              <a:t>: Prescription Claims &amp; Compliance Challenges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Solution Options &amp; Proposed Remediation</a:t>
            </a:r>
          </a:p>
          <a:p>
            <a:r>
              <a:t>Prepared by Lead Solutions Architect</a:t>
            </a:r>
          </a:p>
        </p:txBody>
      </p:sp>
      <p:graphicFrame>
        <p:nvGraphicFramePr>
          <p:cNvPr id="4" name="Object 3">
            <a:extLst>
              <a:ext uri="{FF2B5EF4-FFF2-40B4-BE49-F238E27FC236}">
                <a16:creationId xmlns:a16="http://schemas.microsoft.com/office/drawing/2014/main" id="{D1BFBCFC-33B1-2E3E-9364-AE3546C929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3313063"/>
              </p:ext>
            </p:extLst>
          </p:nvPr>
        </p:nvGraphicFramePr>
        <p:xfrm>
          <a:off x="-2093913" y="815975"/>
          <a:ext cx="2803526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2" imgW="5493397" imgH="7962380" progId="Word.Document.12">
                  <p:embed/>
                </p:oleObj>
              </mc:Choice>
              <mc:Fallback>
                <p:oleObj name="Document" r:id="rId2" imgW="5493397" imgH="7962380" progId="Word.Document.12">
                  <p:embed/>
                  <p:pic>
                    <p:nvPicPr>
                      <p:cNvPr id="4" name="Object 3">
                        <a:extLst>
                          <a:ext uri="{FF2B5EF4-FFF2-40B4-BE49-F238E27FC236}">
                            <a16:creationId xmlns:a16="http://schemas.microsoft.com/office/drawing/2014/main" id="{D1BFBCFC-33B1-2E3E-9364-AE3546C9297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-2093913" y="815975"/>
                        <a:ext cx="2803526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Solution Options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Objective: Ensure prescription claim visibility aligns with membership effective dates</a:t>
            </a:r>
          </a:p>
          <a:p>
            <a:r>
              <a:t>Approaches evaluated: Centralized Service vs Distributed Validation</a:t>
            </a:r>
          </a:p>
          <a:p>
            <a:r>
              <a:t>Focus: Compliance, consistency, scalability, and maintainability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1: Centralized Eligibility &amp; Display Logic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Middleware service between front-end apps and CVS Consolidated Claims API</a:t>
            </a:r>
          </a:p>
          <a:p>
            <a:r>
              <a:rPr dirty="0"/>
              <a:t>Evaluates attestation flags, plan effective dates, carve-out status</a:t>
            </a:r>
          </a:p>
          <a:p>
            <a:r>
              <a:rPr dirty="0"/>
              <a:t>Provides standardized, filtered responses to 5 key integrations</a:t>
            </a:r>
          </a:p>
          <a:p>
            <a:r>
              <a:rPr dirty="0"/>
              <a:t>Benefits: Consistency, simplified governance, centralized compliance control</a:t>
            </a:r>
          </a:p>
          <a:p>
            <a:r>
              <a:rPr dirty="0"/>
              <a:t>Risks: Single point of dependency, requires robust SLAs &amp; monitoring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2: Distributed Validation Libraries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endParaRPr dirty="0"/>
          </a:p>
          <a:p>
            <a:r>
              <a:rPr dirty="0"/>
              <a:t>Shared validation module embedded in each front-end system</a:t>
            </a:r>
          </a:p>
          <a:p>
            <a:r>
              <a:rPr dirty="0"/>
              <a:t>Each integration applies rules for effective dates and carve-ou</a:t>
            </a:r>
            <a:r>
              <a:rPr sz="2800" dirty="0"/>
              <a:t>t</a:t>
            </a:r>
            <a:r>
              <a:rPr dirty="0"/>
              <a:t> checks</a:t>
            </a:r>
          </a:p>
          <a:p>
            <a:r>
              <a:rPr dirty="0"/>
              <a:t>Benefits: Faster independent team delivery, less central infrastructure overhead</a:t>
            </a:r>
          </a:p>
          <a:p>
            <a:r>
              <a:rPr dirty="0"/>
              <a:t>Risks: Higher risk of divergence, inconsistent compliance behavior over time</a:t>
            </a:r>
          </a:p>
          <a:p>
            <a:r>
              <a:rPr dirty="0"/>
              <a:t>Requires rigorous version control and regression testing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Approach: Centralized Service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Centralized gatekeeper ensures consistent application of compliance rules</a:t>
            </a:r>
          </a:p>
          <a:p>
            <a:r>
              <a:t>Simplifies maintenance – rule updates applied once, across all APIs</a:t>
            </a:r>
          </a:p>
          <a:p>
            <a:r>
              <a:t>Supports long-term scalability and auditability</a:t>
            </a:r>
          </a:p>
          <a:p>
            <a:r>
              <a:t>Backed by AWS-native services (Lambda, API Gateway, DynamoDB, ElastiCache)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dirty="0"/>
          </a:p>
          <a:p>
            <a:r>
              <a:rPr dirty="0"/>
              <a:t>Phase 1: Stand up centralized eligibility service with basic filtering rules</a:t>
            </a:r>
          </a:p>
          <a:p>
            <a:r>
              <a:rPr dirty="0"/>
              <a:t>Phase 2: Integrate with PLP, PDB, </a:t>
            </a:r>
            <a:r>
              <a:rPr dirty="0" err="1"/>
              <a:t>PlaceOrder</a:t>
            </a:r>
            <a:r>
              <a:rPr dirty="0"/>
              <a:t>, Ship Consent, i90 APIs</a:t>
            </a:r>
          </a:p>
          <a:p>
            <a:r>
              <a:rPr dirty="0"/>
              <a:t>Phase 3</a:t>
            </a:r>
            <a:r>
              <a:rPr lang="en-US" dirty="0"/>
              <a:t> (optional)</a:t>
            </a:r>
            <a:r>
              <a:rPr dirty="0"/>
              <a:t>: Add caching, observability, and audit logging</a:t>
            </a:r>
          </a:p>
          <a:p>
            <a:r>
              <a:rPr dirty="0"/>
              <a:t>Phase 4: Validate compliance with legal/privacy stakeholders &amp; security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&amp; Compliance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1"/>
            <a:r>
              <a:rPr dirty="0"/>
              <a:t>Eliminates exposure of claims outside valid coverage </a:t>
            </a:r>
            <a:r>
              <a:rPr sz="2600" dirty="0"/>
              <a:t>periods</a:t>
            </a:r>
          </a:p>
          <a:p>
            <a:pPr lvl="1"/>
            <a:r>
              <a:rPr dirty="0"/>
              <a:t>Meets </a:t>
            </a:r>
            <a:r>
              <a:rPr lang="en-US" dirty="0"/>
              <a:t>compliance </a:t>
            </a:r>
            <a:r>
              <a:rPr dirty="0"/>
              <a:t>requirements</a:t>
            </a:r>
          </a:p>
          <a:p>
            <a:pPr lvl="1"/>
            <a:r>
              <a:rPr lang="en-US"/>
              <a:t>E</a:t>
            </a:r>
            <a:r>
              <a:t>nsur</a:t>
            </a:r>
            <a:r>
              <a:rPr lang="en-US"/>
              <a:t>es</a:t>
            </a:r>
            <a:r>
              <a:t> </a:t>
            </a:r>
            <a:r>
              <a:rPr dirty="0"/>
              <a:t>data integrity</a:t>
            </a:r>
          </a:p>
          <a:p>
            <a:pPr lvl="1"/>
            <a:r>
              <a:rPr dirty="0"/>
              <a:t>Improves maintainability with centralized rules engine</a:t>
            </a:r>
          </a:p>
          <a:p>
            <a:pPr lvl="1"/>
            <a:r>
              <a:rPr dirty="0"/>
              <a:t>Positions Aetna/CVS for rapid response to future Medicaid carve-out changes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302</Words>
  <Application>Microsoft Office PowerPoint</Application>
  <PresentationFormat>On-screen Show (4:3)</PresentationFormat>
  <Paragraphs>40</Paragraphs>
  <Slides>7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Office Theme</vt:lpstr>
      <vt:lpstr>Microsoft Word Document</vt:lpstr>
      <vt:lpstr>NGX-F215343: Prescription Claims &amp; Compliance Challenges</vt:lpstr>
      <vt:lpstr>Solution Options Overview</vt:lpstr>
      <vt:lpstr>Option 1: Centralized Eligibility &amp; Display Logic Service</vt:lpstr>
      <vt:lpstr>Option 2: Distributed Validation Libraries</vt:lpstr>
      <vt:lpstr>Recommended Approach: Centralized Service</vt:lpstr>
      <vt:lpstr>Implementation Roadmap</vt:lpstr>
      <vt:lpstr>Business &amp; Compliance Benefits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Amram Dworkin</cp:lastModifiedBy>
  <cp:revision>1</cp:revision>
  <dcterms:created xsi:type="dcterms:W3CDTF">2013-01-27T09:14:16Z</dcterms:created>
  <dcterms:modified xsi:type="dcterms:W3CDTF">2025-10-02T14:08:22Z</dcterms:modified>
  <cp:category/>
</cp:coreProperties>
</file>