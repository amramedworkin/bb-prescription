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PBM Payment Hold Release — /cvs + /v1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REST-only. /cvs = CVS (existing); /v1 = Aetna (new proxy/BFF).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Members release PBM mail-order Payment Holds from the portal</a:t>
            </a:r>
          </a:p>
          <a:p>
            <a:r>
              <a:t>Transport: REST only; No new CVS endpoints</a:t>
            </a:r>
          </a:p>
          <a:p>
            <a:r>
              <a:t>Routing</a:t>
            </a:r>
          </a:p>
          <a:p>
            <a:pPr lvl="1"/>
            <a:r>
              <a:t>Portal → Aetna /v1 → CVS /cvs (Experience API)</a:t>
            </a:r>
          </a:p>
          <a:p>
            <a:pPr lvl="1"/>
            <a:r>
              <a:t>Flow: Eligibility → Consent → Resolve → Refresh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Endpoint Map (Ownership)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Aetna /v1 (new)</a:t>
            </a:r>
          </a:p>
          <a:p>
            <a:pPr lvl="1"/>
            <a:r>
              <a:t>GET  /v1/high-cost-hold?rxId&amp;memberId</a:t>
            </a:r>
          </a:p>
          <a:p>
            <a:pPr lvl="1"/>
            <a:r>
              <a:t>POST /v1/payment-consent</a:t>
            </a:r>
          </a:p>
          <a:p>
            <a:pPr lvl="1"/>
            <a:r>
              <a:t>POST /v1/orders/{orderId}/resolve-payment-hold</a:t>
            </a:r>
          </a:p>
          <a:p>
            <a:pPr lvl="1"/>
            <a:r>
              <a:t>GET  /v1/orders/{orderId}</a:t>
            </a:r>
          </a:p>
          <a:p>
            <a:pPr lvl="1"/>
            <a:r>
              <a:t>Headers: Idempotency-Key (POST), X-Trace-Id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t>CVS /cvs (existing)</a:t>
            </a:r>
          </a:p>
          <a:p>
            <a:pPr lvl="1"/>
            <a:r>
              <a:t>GET  /cvs/high-cost-hold?rxId&amp;memberId</a:t>
            </a:r>
          </a:p>
          <a:p>
            <a:pPr lvl="1"/>
            <a:r>
              <a:t>POST /cvs/payment-consent</a:t>
            </a:r>
          </a:p>
          <a:p>
            <a:pPr lvl="1"/>
            <a:r>
              <a:t>POST /cvs/orders/{orderId}/resolve-payment-hold</a:t>
            </a:r>
          </a:p>
          <a:p>
            <a:pPr lvl="1"/>
            <a:r>
              <a:t>GET  /cvs/orders/{orderId}</a:t>
            </a:r>
          </a:p>
          <a:p>
            <a:pPr lvl="1"/>
            <a:r>
              <a:t>Auth: OAuth2 client credentials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(Happy Path)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GET  /v1/high-cost-hold?rxId&amp;memberId → ELIGIBLE (reason=54)</a:t>
            </a:r>
          </a:p>
          <a:p>
            <a:r>
              <a:t>2) POST /v1/payment-consent → consentReference</a:t>
            </a:r>
          </a:p>
          <a:p>
            <a:r>
              <a:t>3) POST /v1/orders/{orderId}/resolve-payment-hold → released + auditId</a:t>
            </a:r>
          </a:p>
          <a:p>
            <a:r>
              <a:t>4) GET  /v1/orders/{orderId} → holds cleared; cache purge + audit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/v1 Calls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749807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latin typeface="Consolas"/>
              </a:rPr>
              <a:t>GET  /v1/</a:t>
            </a:r>
            <a:r>
              <a:rPr sz="1400" dirty="0" err="1">
                <a:latin typeface="Consolas"/>
              </a:rPr>
              <a:t>high-cost-hold?rxId</a:t>
            </a:r>
            <a:r>
              <a:rPr sz="1400" dirty="0">
                <a:latin typeface="Consolas"/>
              </a:rPr>
              <a:t>=RX123&amp;memberId=M-12345</a:t>
            </a:r>
          </a:p>
          <a:p>
            <a:r>
              <a:rPr sz="1400" dirty="0">
                <a:latin typeface="Consolas"/>
              </a:rPr>
              <a:t>POST /v1/payment-consent</a:t>
            </a:r>
          </a:p>
          <a:p>
            <a:r>
              <a:rPr sz="1400" dirty="0">
                <a:latin typeface="Consolas"/>
              </a:rPr>
              <a:t>{ "orderId":"ORD-10001","rx":[{"rxNumber":"1234567","consentResponse":"Y"}],</a:t>
            </a:r>
          </a:p>
          <a:p>
            <a:r>
              <a:rPr sz="1400" dirty="0">
                <a:latin typeface="Consolas"/>
              </a:rPr>
              <a:t>  "</a:t>
            </a:r>
            <a:r>
              <a:rPr sz="1400" dirty="0" err="1">
                <a:latin typeface="Consolas"/>
              </a:rPr>
              <a:t>paymentInstrument</a:t>
            </a:r>
            <a:r>
              <a:rPr sz="1400" dirty="0">
                <a:latin typeface="Consolas"/>
              </a:rPr>
              <a:t>":{"</a:t>
            </a:r>
            <a:r>
              <a:rPr sz="1400" dirty="0" err="1">
                <a:latin typeface="Consolas"/>
              </a:rPr>
              <a:t>token":"pm</a:t>
            </a:r>
            <a:r>
              <a:rPr sz="1400" dirty="0">
                <a:latin typeface="Consolas"/>
              </a:rPr>
              <a:t>_..."},"memberId":"M-12345","traceId":"TRACE-..." }</a:t>
            </a:r>
          </a:p>
          <a:p>
            <a:r>
              <a:rPr sz="1400" dirty="0">
                <a:latin typeface="Consolas"/>
              </a:rPr>
              <a:t>→ { "status":"accepted","consentReference":"CONS-9f2c3" }</a:t>
            </a:r>
          </a:p>
          <a:p>
            <a:r>
              <a:rPr sz="1400" dirty="0">
                <a:latin typeface="Consolas"/>
              </a:rPr>
              <a:t>POST /v1/orders/ORD-10001/resolve-payment-hold</a:t>
            </a:r>
          </a:p>
          <a:p>
            <a:r>
              <a:rPr sz="1400" dirty="0">
                <a:latin typeface="Consolas"/>
              </a:rPr>
              <a:t>{ "</a:t>
            </a:r>
            <a:r>
              <a:rPr sz="1400" dirty="0" err="1">
                <a:latin typeface="Consolas"/>
              </a:rPr>
              <a:t>rx</a:t>
            </a:r>
            <a:r>
              <a:rPr sz="1400" dirty="0">
                <a:latin typeface="Consolas"/>
              </a:rPr>
              <a:t>":[{"rxNumber":"1234567"}],"memberId":"M-12345","consentReference":"CONS-9f2c3","traceId":"TRACE-..." }</a:t>
            </a:r>
          </a:p>
          <a:p>
            <a:r>
              <a:rPr sz="1400" dirty="0">
                <a:latin typeface="Consolas"/>
              </a:rPr>
              <a:t>→ { "result":"released","auditId":"AUD-20251010-001"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Forwarded — /cvs Calls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749807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Consolas"/>
              </a:rPr>
              <a:t>GET  /cvs/high-cost-hold?rxId=RX123&amp;memberId=M-12345</a:t>
            </a:r>
          </a:p>
          <a:p>
            <a:r>
              <a:rPr sz="1400">
                <a:latin typeface="Consolas"/>
              </a:rPr>
              <a:t>POST /cvs/payment-consent</a:t>
            </a:r>
          </a:p>
          <a:p>
            <a:r>
              <a:rPr sz="1400">
                <a:latin typeface="Consolas"/>
              </a:rPr>
              <a:t>POST /cvs/orders/ORD-10001/resolve-payment-hold</a:t>
            </a:r>
          </a:p>
          <a:p>
            <a:r>
              <a:rPr sz="1400">
                <a:latin typeface="Consolas"/>
              </a:rPr>
              <a:t>GET  /cvs/orders/ORD-10001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Flow</a:t>
            </a:r>
          </a:p>
        </p:txBody>
      </p:sp>
      <p:pic>
        <p:nvPicPr>
          <p:cNvPr id="3" name="Picture 2" descr="Aetna Flow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7315200" cy="38683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1/4 Orders list — context. Delayed card appears when eligible; next → details.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Flow</a:t>
            </a:r>
          </a:p>
        </p:txBody>
      </p:sp>
      <p:pic>
        <p:nvPicPr>
          <p:cNvPr id="3" name="Picture 2" descr="Aetna Flow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7315200" cy="39345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2/4 Order details — 'We need your help' → maps to /v1/high-cost-hold ELIGIBLE (reason=54).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Flow</a:t>
            </a:r>
          </a:p>
        </p:txBody>
      </p:sp>
      <p:pic>
        <p:nvPicPr>
          <p:cNvPr id="3" name="Picture 2" descr="Aetna Flow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7315200" cy="36617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3/4 Delayed card — 'View &amp; approve' → consent capture then POST /v1/payment-consent.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Flow</a:t>
            </a:r>
          </a:p>
        </p:txBody>
      </p:sp>
      <p:pic>
        <p:nvPicPr>
          <p:cNvPr id="3" name="Picture 2" descr="Aetna Flow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7315200" cy="36947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4/4 Dashboard nav — entry to 'View Order Status' returning into this same 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457</Words>
  <Application>Microsoft Office PowerPoint</Application>
  <PresentationFormat>On-screen Show (4:3)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PBM Payment Hold Release — /cvs + /v1</vt:lpstr>
      <vt:lpstr>Executive Summary</vt:lpstr>
      <vt:lpstr>Endpoint Map (Ownership)</vt:lpstr>
      <vt:lpstr>End-to-End (Happy Path)</vt:lpstr>
      <vt:lpstr>Example — /v1 Calls</vt:lpstr>
      <vt:lpstr>Forwarded — /cvs Calls</vt:lpstr>
      <vt:lpstr>UI Flow</vt:lpstr>
      <vt:lpstr>UI Flow</vt:lpstr>
      <vt:lpstr>UI Flow</vt:lpstr>
      <vt:lpstr>UI Flow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Amram Dworkin</dc:creator>
  <cp:keywords/>
  <dc:description>generated using python-pptx</dc:description>
  <cp:lastModifiedBy>Amram Dworkin</cp:lastModifiedBy>
  <cp:revision>1</cp:revision>
  <dcterms:created xsi:type="dcterms:W3CDTF">2013-01-27T09:14:16Z</dcterms:created>
  <dcterms:modified xsi:type="dcterms:W3CDTF">2025-10-10T15:44:04Z</dcterms:modified>
  <cp:category/>
</cp:coreProperties>
</file>