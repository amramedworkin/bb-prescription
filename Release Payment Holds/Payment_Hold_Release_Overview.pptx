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PBM Payment Hold Release — Comprehensive Overview (/cvs + /v1, REST-only)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Combines eligibility, consent, resolve, and refresh with UX/server details for t-shirt estimates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Members release PBM mail-order Payment Holds from the Aetna portal</a:t>
            </a:r>
          </a:p>
          <a:p>
            <a:r>
              <a:rPr dirty="0"/>
              <a:t>Transport</a:t>
            </a:r>
          </a:p>
          <a:p>
            <a:pPr lvl="1"/>
            <a:r>
              <a:rPr dirty="0"/>
              <a:t>REST only</a:t>
            </a:r>
          </a:p>
          <a:p>
            <a:r>
              <a:rPr dirty="0"/>
              <a:t>Ownership &amp; Routing</a:t>
            </a:r>
          </a:p>
          <a:p>
            <a:pPr lvl="1"/>
            <a:r>
              <a:rPr dirty="0"/>
              <a:t>Portal → Aetna /v1 (new proxy/BFF) → CVS /</a:t>
            </a:r>
            <a:r>
              <a:rPr dirty="0" err="1"/>
              <a:t>cvs</a:t>
            </a:r>
            <a:r>
              <a:rPr dirty="0"/>
              <a:t> (existing Experience API)</a:t>
            </a:r>
          </a:p>
          <a:p>
            <a:r>
              <a:rPr dirty="0"/>
              <a:t>Happy Path: Eligibility → Consent → Resolve → Refresh</a:t>
            </a:r>
          </a:p>
          <a:p>
            <a:r>
              <a:rPr dirty="0"/>
              <a:t>Outcomes: faster fulfillment, reduced calls, auditable member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Non-Scope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In Scope</a:t>
            </a:r>
          </a:p>
          <a:p>
            <a:pPr lvl="1"/>
            <a:r>
              <a:t>PBM mail-order Payment Hold (reason=54)</a:t>
            </a:r>
          </a:p>
          <a:p>
            <a:pPr lvl="1"/>
            <a:r>
              <a:t>Portal UX: CTA, consent/payment, success/error</a:t>
            </a:r>
          </a:p>
          <a:p>
            <a:pPr lvl="1"/>
            <a:r>
              <a:t>Aetna /v1 proxy to CVS /cvs</a:t>
            </a:r>
          </a:p>
          <a:p>
            <a:pPr lvl="1"/>
            <a:r>
              <a:t>Cache purge + audit (portal-owned)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Out of Scope</a:t>
            </a:r>
          </a:p>
          <a:p>
            <a:pPr lvl="1"/>
            <a:r>
              <a:t>EBDS Bill Holds</a:t>
            </a:r>
          </a:p>
          <a:p>
            <a:pPr lvl="1"/>
            <a:r>
              <a:t>SLP Payment Holds</a:t>
            </a:r>
          </a:p>
          <a:p>
            <a:pPr lvl="1"/>
            <a:r>
              <a:t>Creating new CVS endpoints</a:t>
            </a:r>
          </a:p>
          <a:p>
            <a:pPr lvl="1"/>
            <a:r>
              <a:t>Payment tokenization changes (reuse existing)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 Map (Who owns what)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Aetna /v1 (new)</a:t>
            </a:r>
          </a:p>
          <a:p>
            <a:pPr lvl="1"/>
            <a:r>
              <a:t>GET  /v1/high-cost-hold?rxId&amp;memberId</a:t>
            </a:r>
          </a:p>
          <a:p>
            <a:pPr lvl="1"/>
            <a:r>
              <a:t>POST /v1/payment-consent</a:t>
            </a:r>
          </a:p>
          <a:p>
            <a:pPr lvl="1"/>
            <a:r>
              <a:t>POST /v1/orders/{orderId}/resolve-payment-hold</a:t>
            </a:r>
          </a:p>
          <a:p>
            <a:pPr lvl="1"/>
            <a:r>
              <a:t>GET  /v1/orders/{orderId}</a:t>
            </a:r>
          </a:p>
          <a:p>
            <a:pPr lvl="1"/>
            <a:r>
              <a:t>Headers: Idempotency-Key (POST), X-Trace-Id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CVS /cvs (existing)</a:t>
            </a:r>
          </a:p>
          <a:p>
            <a:pPr lvl="1"/>
            <a:r>
              <a:t>GET  /cvs/high-cost-hold?rxId&amp;memberId</a:t>
            </a:r>
          </a:p>
          <a:p>
            <a:pPr lvl="1"/>
            <a:r>
              <a:t>POST /cvs/payment-consent</a:t>
            </a:r>
          </a:p>
          <a:p>
            <a:pPr lvl="1"/>
            <a:r>
              <a:t>POST /cvs/orders/{orderId}/resolve-payment-hold</a:t>
            </a:r>
          </a:p>
          <a:p>
            <a:pPr lvl="1"/>
            <a:r>
              <a:t>GET  /cvs/orders/{orderId}</a:t>
            </a:r>
          </a:p>
          <a:p>
            <a:pPr lvl="1"/>
            <a:r>
              <a:t>Auth: OAuth2 client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 (Happy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GET  /v1/high-cost-hold → shows CTA when ELIGIBLE + reason=54</a:t>
            </a:r>
          </a:p>
          <a:p>
            <a:r>
              <a:t>2) POST /v1/payment-consent → returns consentReference</a:t>
            </a:r>
          </a:p>
          <a:p>
            <a:r>
              <a:t>3) POST /v1/orders/{orderId}/resolve-payment-hold → returns released + auditId</a:t>
            </a:r>
          </a:p>
          <a:p>
            <a:r>
              <a:t>4) GET  /v1/orders/{orderId} → verify cleared; purge cache; write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Paths &amp;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Eligibility </a:t>
            </a:r>
            <a:r>
              <a:rPr sz="2600" dirty="0"/>
              <a:t>ineligible</a:t>
            </a:r>
            <a:endParaRPr dirty="0"/>
          </a:p>
          <a:p>
            <a:pPr lvl="1"/>
            <a:r>
              <a:rPr dirty="0"/>
              <a:t>Hide CTA; re-check on navigation/refresh</a:t>
            </a:r>
          </a:p>
          <a:p>
            <a:r>
              <a:rPr dirty="0"/>
              <a:t>Consent rejected (4xx)</a:t>
            </a:r>
          </a:p>
          <a:p>
            <a:pPr lvl="1"/>
            <a:r>
              <a:rPr dirty="0"/>
              <a:t>Show provider message; no retry; allow </a:t>
            </a:r>
            <a:r>
              <a:rPr dirty="0" err="1"/>
              <a:t>edit+resubmit</a:t>
            </a:r>
            <a:endParaRPr dirty="0"/>
          </a:p>
          <a:p>
            <a:r>
              <a:rPr dirty="0"/>
              <a:t>Resolve failed (5xx/429)</a:t>
            </a:r>
          </a:p>
          <a:p>
            <a:pPr lvl="1"/>
            <a:r>
              <a:rPr dirty="0"/>
              <a:t>Exponential backoff; show retry; persist failure audit</a:t>
            </a:r>
          </a:p>
          <a:p>
            <a:r>
              <a:rPr dirty="0"/>
              <a:t>Idempotency replay</a:t>
            </a:r>
          </a:p>
          <a:p>
            <a:pPr lvl="1"/>
            <a:r>
              <a:rPr dirty="0"/>
              <a:t>Return original result; no duplicate side-effects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— Aetna /v1 (proxy/BFF)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GET  /v1/high-cost-hold?rxId=RX123&amp;memberId=M-12345</a:t>
            </a:r>
          </a:p>
          <a:p>
            <a:endParaRPr sz="1400">
              <a:latin typeface="Consolas"/>
            </a:endParaRPr>
          </a:p>
          <a:p>
            <a:r>
              <a:rPr sz="1400">
                <a:latin typeface="Consolas"/>
              </a:rPr>
              <a:t>POST /v1/payment-consent</a:t>
            </a:r>
          </a:p>
          <a:p>
            <a:r>
              <a:rPr sz="1400">
                <a:latin typeface="Consolas"/>
              </a:rPr>
              <a:t>{ "orderId":"ORD-10001",</a:t>
            </a:r>
          </a:p>
          <a:p>
            <a:r>
              <a:rPr sz="1400">
                <a:latin typeface="Consolas"/>
              </a:rPr>
              <a:t>  "rx":[{"rxNumber":"1234567","consentResponse":"Y"}],</a:t>
            </a:r>
          </a:p>
          <a:p>
            <a:r>
              <a:rPr sz="1400">
                <a:latin typeface="Consolas"/>
              </a:rPr>
              <a:t>  "paymentInstrument":{"token":"pm_..."},</a:t>
            </a:r>
          </a:p>
          <a:p>
            <a:r>
              <a:rPr sz="1400">
                <a:latin typeface="Consolas"/>
              </a:rPr>
              <a:t>  "memberId":"M-12345", "traceId":"TRACE-..." }</a:t>
            </a:r>
          </a:p>
          <a:p>
            <a:r>
              <a:rPr sz="1400">
                <a:latin typeface="Consolas"/>
              </a:rPr>
              <a:t>→ { "status":"accepted","consentReference":"CONS-9f2c3" }</a:t>
            </a:r>
          </a:p>
          <a:p>
            <a:endParaRPr sz="1400">
              <a:latin typeface="Consolas"/>
            </a:endParaRPr>
          </a:p>
          <a:p>
            <a:r>
              <a:rPr sz="1400">
                <a:latin typeface="Consolas"/>
              </a:rPr>
              <a:t>POST /v1/orders/ORD-10001/resolve-payment-hold</a:t>
            </a:r>
          </a:p>
          <a:p>
            <a:r>
              <a:rPr sz="1400">
                <a:latin typeface="Consolas"/>
              </a:rPr>
              <a:t>{ "rx":[{"rxNumber":"1234567"}],</a:t>
            </a:r>
          </a:p>
          <a:p>
            <a:r>
              <a:rPr sz="1400">
                <a:latin typeface="Consolas"/>
              </a:rPr>
              <a:t>  "memberId":"M-12345","consentReference":"CONS-9f2c3",</a:t>
            </a:r>
          </a:p>
          <a:p>
            <a:r>
              <a:rPr sz="1400">
                <a:latin typeface="Consolas"/>
              </a:rPr>
              <a:t>  "traceId":"TRACE-..." }</a:t>
            </a:r>
          </a:p>
          <a:p>
            <a:r>
              <a:rPr sz="1400">
                <a:latin typeface="Consolas"/>
              </a:rPr>
              <a:t>→ { "result":"released","auditId":"AUD-20251010-001"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Forwarded — CVS /cvs (Experience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49807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Consolas"/>
              </a:rPr>
              <a:t>GET  /cvs/high-cost-hold?rxId=RX123&amp;memberId=M-12345</a:t>
            </a:r>
          </a:p>
          <a:p>
            <a:r>
              <a:rPr sz="1400">
                <a:latin typeface="Consolas"/>
              </a:rPr>
              <a:t>POST /cvs/payment-consent</a:t>
            </a:r>
          </a:p>
          <a:p>
            <a:r>
              <a:rPr sz="1400">
                <a:latin typeface="Consolas"/>
              </a:rPr>
              <a:t>POST /cvs/orders/ORD-10001/resolve-payment-hold</a:t>
            </a:r>
          </a:p>
          <a:p>
            <a:r>
              <a:rPr sz="1400">
                <a:latin typeface="Consolas"/>
              </a:rPr>
              <a:t>GET  /cvs/orders/ORD-10001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CTA visible only when ELIGIBLE + PAYMENT_HOLD + reason=54</a:t>
            </a:r>
          </a:p>
          <a:p>
            <a:r>
              <a:t>Consent dialog</a:t>
            </a:r>
          </a:p>
          <a:p>
            <a:pPr lvl="1"/>
            <a:r>
              <a:t>member-friendly copy</a:t>
            </a:r>
          </a:p>
          <a:p>
            <a:pPr lvl="1"/>
            <a:r>
              <a:t>reuse tokenized payment UI</a:t>
            </a:r>
          </a:p>
          <a:p>
            <a:r>
              <a:t>Success toast + auto-refresh of RX details</a:t>
            </a:r>
          </a:p>
          <a:p>
            <a:r>
              <a:t>Error copy from provider messages; retry affordance; accessibility (SR/live region)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Requirements (/v1 + Portal)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OAuth2 client credentials for /cvs; secrets rotation</a:t>
            </a:r>
          </a:p>
          <a:p>
            <a:r>
              <a:t>Idempotency-Key (POST), X-Trace-Id propagation (all)</a:t>
            </a:r>
          </a:p>
          <a:p>
            <a:r>
              <a:t>Retries: backoff on 5xx/429; no retry on 4xx</a:t>
            </a:r>
          </a:p>
          <a:p>
            <a:r>
              <a:t>Cache purge and append-only audit on success/failure</a:t>
            </a:r>
          </a:p>
          <a:p>
            <a:r>
              <a:t>Dashboards: success/error rates, retries, time-to-release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Availability: read path usable if actions down</a:t>
            </a:r>
          </a:p>
          <a:p>
            <a:r>
              <a:t>Latency: p95 GET ≤ 300 ms; POST ≤ 600 ms</a:t>
            </a:r>
          </a:p>
          <a:p>
            <a:r>
              <a:t>Security: tokenized payment only; minimum identifiers</a:t>
            </a:r>
          </a:p>
          <a:p>
            <a:r>
              <a:t>Compliance: audit retention per policy</a:t>
            </a:r>
          </a:p>
          <a:p>
            <a:r>
              <a:t>Rate limits: align with /cvs quotas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CVS /</a:t>
            </a:r>
            <a:r>
              <a:rPr dirty="0" err="1"/>
              <a:t>cvs</a:t>
            </a:r>
            <a:r>
              <a:rPr dirty="0"/>
              <a:t> exposes 4 routes</a:t>
            </a:r>
          </a:p>
          <a:p>
            <a:r>
              <a:rPr dirty="0"/>
              <a:t>Proper scopes: </a:t>
            </a:r>
            <a:r>
              <a:rPr dirty="0" err="1"/>
              <a:t>experience.read</a:t>
            </a:r>
            <a:r>
              <a:rPr dirty="0"/>
              <a:t> &amp; </a:t>
            </a:r>
            <a:r>
              <a:rPr dirty="0" err="1"/>
              <a:t>experience.write</a:t>
            </a:r>
            <a:endParaRPr dirty="0"/>
          </a:p>
          <a:p>
            <a:r>
              <a:rPr dirty="0"/>
              <a:t>Portal has existing payment tokenization + PCI segmentation</a:t>
            </a:r>
          </a:p>
          <a:p>
            <a:r>
              <a:rPr dirty="0"/>
              <a:t>Seeded test data for reason=54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Contract drift with /</a:t>
            </a:r>
            <a:r>
              <a:rPr dirty="0" err="1"/>
              <a:t>cvs</a:t>
            </a:r>
            <a:endParaRPr dirty="0"/>
          </a:p>
          <a:p>
            <a:pPr lvl="1"/>
            <a:r>
              <a:rPr dirty="0"/>
              <a:t>Contract tests in CI; sandbox parity; alerts</a:t>
            </a:r>
          </a:p>
          <a:p>
            <a:r>
              <a:rPr dirty="0"/>
              <a:t>Eligibility flaps mid-session</a:t>
            </a:r>
          </a:p>
          <a:p>
            <a:pPr lvl="1"/>
            <a:r>
              <a:rPr dirty="0"/>
              <a:t>Re-check before POST; disable if state changed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T-Shirt Sizing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Work Items</a:t>
            </a:r>
          </a:p>
          <a:p>
            <a:pPr lvl="1"/>
            <a:r>
              <a:t>UX: 2–3 screens (detail, consent/payment, success/error)</a:t>
            </a:r>
          </a:p>
          <a:p>
            <a:pPr lvl="1"/>
            <a:r>
              <a:t>FE: 4 /v1 calls, idempotency, retry, cache purge</a:t>
            </a:r>
          </a:p>
          <a:p>
            <a:pPr lvl="1"/>
            <a:r>
              <a:t>BE (/v1): thin proxy, OAuth2, logging, metrics</a:t>
            </a:r>
          </a:p>
          <a:p>
            <a:pPr lvl="1"/>
            <a:r>
              <a:t>QA: happy, edge, and error paths; automation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Cross-Cutting</a:t>
            </a:r>
          </a:p>
          <a:p>
            <a:pPr lvl="1"/>
            <a:r>
              <a:t>Security: secrets, scopes, headers</a:t>
            </a:r>
          </a:p>
          <a:p>
            <a:pPr lvl="1"/>
            <a:r>
              <a:t>Ops: dashboards, alerts, runbook</a:t>
            </a:r>
          </a:p>
          <a:p>
            <a:pPr lvl="1"/>
            <a:r>
              <a:t>Release: dark launch → phased GA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Strawman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W1: Confirm /cvs contracts; UX copy; /v1 scaffolding; OAuth2 creds</a:t>
            </a:r>
          </a:p>
          <a:p>
            <a:r>
              <a:t>W2–W3: FE flows + /v1 proxy; error mapping; idempotency</a:t>
            </a:r>
          </a:p>
          <a:p>
            <a:r>
              <a:t>W4: QA + sandbox E2E; dashboards; bug-bash</a:t>
            </a:r>
          </a:p>
          <a:p>
            <a:r>
              <a:t>W5: Dark launch (5–10%); observe; GA roll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8683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1/4 Orders list — context. Delayed card visible when ELIGIBLE; leads to details.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9345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2/4 Order details — 'We need your help' = eligibility (reason=54) → Approve CTA.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6617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3/4 Delayed card — 'View &amp; approve' → consent capture then POST /v1/payment-consent.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Flow</a:t>
            </a:r>
          </a:p>
        </p:txBody>
      </p:sp>
      <p:pic>
        <p:nvPicPr>
          <p:cNvPr id="3" name="Picture 2" descr="Aetna Flow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315200" cy="3694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4/4 Dashboard nav — 'View Order Status' entry into the same 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OpenAPI Paths (excerpt)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638630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latin typeface="Consolas"/>
              </a:rPr>
              <a:t>GET  /v1/</a:t>
            </a:r>
            <a:r>
              <a:rPr sz="1400" dirty="0" err="1">
                <a:latin typeface="Consolas"/>
              </a:rPr>
              <a:t>high-cost-hold?rxId&amp;memberId</a:t>
            </a:r>
            <a:r>
              <a:rPr sz="1400" dirty="0">
                <a:latin typeface="Consolas"/>
              </a:rPr>
              <a:t>   → forwards to /</a:t>
            </a:r>
            <a:r>
              <a:rPr sz="1400" dirty="0" err="1">
                <a:latin typeface="Consolas"/>
              </a:rPr>
              <a:t>cvs</a:t>
            </a:r>
            <a:r>
              <a:rPr sz="1400" dirty="0">
                <a:latin typeface="Consolas"/>
              </a:rPr>
              <a:t>/high-cost-hold</a:t>
            </a:r>
          </a:p>
          <a:p>
            <a:r>
              <a:rPr sz="1400" dirty="0">
                <a:latin typeface="Consolas"/>
              </a:rPr>
              <a:t>POST /v1/payment-consent                → forwards to /</a:t>
            </a:r>
            <a:r>
              <a:rPr sz="1400" dirty="0" err="1">
                <a:latin typeface="Consolas"/>
              </a:rPr>
              <a:t>cvs</a:t>
            </a:r>
            <a:r>
              <a:rPr sz="1400" dirty="0">
                <a:latin typeface="Consolas"/>
              </a:rPr>
              <a:t>/payment-consent</a:t>
            </a:r>
          </a:p>
          <a:p>
            <a:r>
              <a:rPr sz="1400" dirty="0">
                <a:latin typeface="Consolas"/>
              </a:rPr>
              <a:t>POST /v1/orders/{</a:t>
            </a:r>
            <a:r>
              <a:rPr sz="1400" dirty="0" err="1">
                <a:latin typeface="Consolas"/>
              </a:rPr>
              <a:t>orderId</a:t>
            </a:r>
            <a:r>
              <a:rPr sz="1400" dirty="0">
                <a:latin typeface="Consolas"/>
              </a:rPr>
              <a:t>}/resolve-payment-hold </a:t>
            </a:r>
            <a:endParaRPr lang="en-US" sz="1400" dirty="0">
              <a:latin typeface="Consolas"/>
            </a:endParaRPr>
          </a:p>
          <a:p>
            <a:r>
              <a:rPr lang="en-US" sz="1400" dirty="0">
                <a:latin typeface="Consolas"/>
              </a:rPr>
              <a:t>	</a:t>
            </a:r>
            <a:r>
              <a:rPr sz="1400" dirty="0">
                <a:latin typeface="Consolas"/>
              </a:rPr>
              <a:t>→ forwards to /</a:t>
            </a:r>
            <a:r>
              <a:rPr sz="1400" dirty="0" err="1">
                <a:latin typeface="Consolas"/>
              </a:rPr>
              <a:t>cvs</a:t>
            </a:r>
            <a:r>
              <a:rPr sz="1400" dirty="0">
                <a:latin typeface="Consolas"/>
              </a:rPr>
              <a:t>/.../resolve-payment-hold</a:t>
            </a:r>
          </a:p>
          <a:p>
            <a:r>
              <a:rPr sz="1400" dirty="0">
                <a:latin typeface="Consolas"/>
              </a:rPr>
              <a:t>GET  /v1/orders/{</a:t>
            </a:r>
            <a:r>
              <a:rPr sz="1400" dirty="0" err="1">
                <a:latin typeface="Consolas"/>
              </a:rPr>
              <a:t>orderId</a:t>
            </a:r>
            <a:r>
              <a:rPr sz="1400" dirty="0">
                <a:latin typeface="Consolas"/>
              </a:rPr>
              <a:t>}               → forwards to /</a:t>
            </a:r>
            <a:r>
              <a:rPr sz="1400" dirty="0" err="1">
                <a:latin typeface="Consolas"/>
              </a:rPr>
              <a:t>cvs</a:t>
            </a:r>
            <a:r>
              <a:rPr sz="1400" dirty="0">
                <a:latin typeface="Consolas"/>
              </a:rPr>
              <a:t>/orders/{</a:t>
            </a:r>
            <a:r>
              <a:rPr sz="1400" dirty="0" err="1">
                <a:latin typeface="Consolas"/>
              </a:rPr>
              <a:t>orderId</a:t>
            </a: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1020</Words>
  <Application>Microsoft Office PowerPoint</Application>
  <PresentationFormat>On-screen Show (4:3)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PBM Payment Hold Release — Comprehensive Overview (/cvs + /v1, REST-only)</vt:lpstr>
      <vt:lpstr>Executive Summary</vt:lpstr>
      <vt:lpstr>Scope &amp; Non-Scope</vt:lpstr>
      <vt:lpstr>Endpoint Map (Who owns what)</vt:lpstr>
      <vt:lpstr>End-to-End Flow (Happy Path)</vt:lpstr>
      <vt:lpstr>Error Paths &amp; Handling</vt:lpstr>
      <vt:lpstr>Examples — Aetna /v1 (proxy/BFF)</vt:lpstr>
      <vt:lpstr>Forwarded — CVS /cvs (Experience API)</vt:lpstr>
      <vt:lpstr>UX Requirements</vt:lpstr>
      <vt:lpstr>Engineering Requirements (/v1 + Portal)</vt:lpstr>
      <vt:lpstr>Non-Functional Requirements</vt:lpstr>
      <vt:lpstr>Assumptions &amp; Dependencies</vt:lpstr>
      <vt:lpstr>Risks &amp; Mitigations</vt:lpstr>
      <vt:lpstr>T-Shirt Sizing Inputs</vt:lpstr>
      <vt:lpstr>Timeline Strawman</vt:lpstr>
      <vt:lpstr>UI Flow</vt:lpstr>
      <vt:lpstr>UI Flow</vt:lpstr>
      <vt:lpstr>UI Flow</vt:lpstr>
      <vt:lpstr>UI Flow</vt:lpstr>
      <vt:lpstr>Appendix — OpenAPI Paths (excerpt)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Amram Dworkin</dc:creator>
  <cp:keywords/>
  <dc:description>generated using python-pptx</dc:description>
  <cp:lastModifiedBy>Amram Dworkin</cp:lastModifiedBy>
  <cp:revision>2</cp:revision>
  <dcterms:created xsi:type="dcterms:W3CDTF">2013-01-27T09:14:16Z</dcterms:created>
  <dcterms:modified xsi:type="dcterms:W3CDTF">2025-10-10T15:26:00Z</dcterms:modified>
  <cp:category/>
</cp:coreProperties>
</file>